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785" r:id="rId2"/>
    <p:sldId id="791" r:id="rId3"/>
    <p:sldId id="543" r:id="rId4"/>
    <p:sldId id="794" r:id="rId5"/>
    <p:sldId id="488" r:id="rId6"/>
    <p:sldId id="795" r:id="rId7"/>
    <p:sldId id="418" r:id="rId8"/>
    <p:sldId id="419" r:id="rId9"/>
    <p:sldId id="486" r:id="rId10"/>
    <p:sldId id="487" r:id="rId11"/>
    <p:sldId id="522" r:id="rId12"/>
    <p:sldId id="421" r:id="rId13"/>
    <p:sldId id="483" r:id="rId14"/>
    <p:sldId id="482" r:id="rId15"/>
    <p:sldId id="489" r:id="rId16"/>
    <p:sldId id="796" r:id="rId17"/>
    <p:sldId id="797" r:id="rId18"/>
    <p:sldId id="798" r:id="rId19"/>
    <p:sldId id="799" r:id="rId20"/>
    <p:sldId id="800" r:id="rId21"/>
    <p:sldId id="801" r:id="rId22"/>
    <p:sldId id="807" r:id="rId23"/>
    <p:sldId id="802" r:id="rId24"/>
    <p:sldId id="803" r:id="rId25"/>
    <p:sldId id="804" r:id="rId26"/>
    <p:sldId id="805" r:id="rId27"/>
    <p:sldId id="806" r:id="rId28"/>
    <p:sldId id="484" r:id="rId29"/>
    <p:sldId id="490" r:id="rId30"/>
    <p:sldId id="793" r:id="rId31"/>
    <p:sldId id="491" r:id="rId32"/>
    <p:sldId id="503" r:id="rId33"/>
    <p:sldId id="507" r:id="rId34"/>
    <p:sldId id="415" r:id="rId35"/>
    <p:sldId id="527" r:id="rId36"/>
    <p:sldId id="534" r:id="rId37"/>
    <p:sldId id="532" r:id="rId38"/>
    <p:sldId id="537" r:id="rId39"/>
    <p:sldId id="535" r:id="rId40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6"/>
    <p:restoredTop sz="94589"/>
  </p:normalViewPr>
  <p:slideViewPr>
    <p:cSldViewPr snapToGrid="0">
      <p:cViewPr varScale="1">
        <p:scale>
          <a:sx n="120" d="100"/>
          <a:sy n="120" d="100"/>
        </p:scale>
        <p:origin x="808" y="1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6D2FDA67-24CA-54D8-B1B4-CE061F2DAD41}"/>
    <pc:docChg chg="modSld">
      <pc:chgData name="Schlesinger, Sebastian" userId="d814e6c9-e9fb-4b77-84f7-ccd8aa3529bb" providerId="ADAL" clId="{6D2FDA67-24CA-54D8-B1B4-CE061F2DAD41}" dt="2026-10-15T20:39:05.875" v="20" actId="20577"/>
      <pc:docMkLst>
        <pc:docMk/>
      </pc:docMkLst>
      <pc:sldChg chg="modSp mod">
        <pc:chgData name="Schlesinger, Sebastian" userId="d814e6c9-e9fb-4b77-84f7-ccd8aa3529bb" providerId="ADAL" clId="{6D2FDA67-24CA-54D8-B1B4-CE061F2DAD41}" dt="2026-10-15T20:39:05.875" v="20" actId="20577"/>
        <pc:sldMkLst>
          <pc:docMk/>
          <pc:sldMk cId="2039478384" sldId="785"/>
        </pc:sldMkLst>
        <pc:spChg chg="mod">
          <ac:chgData name="Schlesinger, Sebastian" userId="d814e6c9-e9fb-4b77-84f7-ccd8aa3529bb" providerId="ADAL" clId="{6D2FDA67-24CA-54D8-B1B4-CE061F2DAD41}" dt="2026-10-15T20:39:05.875" v="20" actId="20577"/>
          <ac:spMkLst>
            <pc:docMk/>
            <pc:sldMk cId="2039478384" sldId="785"/>
            <ac:spMk id="4" creationId="{1E39F0E3-8C0D-B9FB-C5FC-26F66EBAD3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5AE8-00EA-A144-98E2-750A331B48B7}" type="datetimeFigureOut">
              <a:rPr lang="en-DE" smtClean="0"/>
              <a:t>10/15/26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A5A92-C89D-CC45-A26D-4CE9A4E8794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762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844BD-24B7-46FF-891B-10CD66679B9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554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844BD-24B7-46FF-891B-10CD66679B9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66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robmosys.eu/wiki/composition:dependency-graphs:start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lideplayer.org/slide/66075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" y="0"/>
            <a:ext cx="6858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860" y="2259449"/>
            <a:ext cx="4840224" cy="1354217"/>
          </a:xfrm>
        </p:spPr>
        <p:txBody>
          <a:bodyPr/>
          <a:lstStyle/>
          <a:p>
            <a:r>
              <a:rPr lang="de-DE" dirty="0">
                <a:solidFill>
                  <a:srgbClr val="D50C2F"/>
                </a:solidFill>
              </a:rPr>
              <a:t>Digital Technologies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Software Engineering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78860" y="5143000"/>
            <a:ext cx="4745140" cy="830997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074" y="1993547"/>
            <a:ext cx="10522292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Understand</a:t>
            </a:r>
            <a:r>
              <a:rPr lang="de-DE" sz="2400" dirty="0"/>
              <a:t> </a:t>
            </a:r>
            <a:r>
              <a:rPr lang="de-DE" sz="2400" dirty="0" err="1"/>
              <a:t>how</a:t>
            </a:r>
            <a:r>
              <a:rPr lang="de-DE" sz="2400" dirty="0"/>
              <a:t> </a:t>
            </a:r>
            <a:r>
              <a:rPr lang="de-DE" sz="2400" dirty="0" err="1"/>
              <a:t>software</a:t>
            </a:r>
            <a:r>
              <a:rPr lang="de-DE" sz="2400" dirty="0"/>
              <a:t> </a:t>
            </a:r>
            <a:r>
              <a:rPr lang="de-DE" sz="2400" dirty="0" err="1"/>
              <a:t>engineering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generally</a:t>
            </a:r>
            <a:r>
              <a:rPr lang="de-DE" sz="2400" dirty="0"/>
              <a:t> </a:t>
            </a:r>
            <a:r>
              <a:rPr lang="de-DE" sz="2400" dirty="0" err="1"/>
              <a:t>done</a:t>
            </a:r>
            <a:r>
              <a:rPr lang="de-DE" sz="2400" dirty="0"/>
              <a:t>, </a:t>
            </a:r>
            <a:r>
              <a:rPr lang="de-DE" sz="2400" dirty="0" err="1"/>
              <a:t>how</a:t>
            </a:r>
            <a:r>
              <a:rPr lang="de-DE" sz="2400" dirty="0"/>
              <a:t> </a:t>
            </a:r>
            <a:r>
              <a:rPr lang="de-DE" sz="2400" dirty="0" err="1"/>
              <a:t>systems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built</a:t>
            </a:r>
            <a:endParaRPr lang="de-DE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Particularly</a:t>
            </a:r>
            <a:r>
              <a:rPr lang="de-DE" sz="2400" dirty="0"/>
              <a:t> </a:t>
            </a:r>
            <a:r>
              <a:rPr lang="de-DE" sz="2400" dirty="0" err="1"/>
              <a:t>some</a:t>
            </a:r>
            <a:r>
              <a:rPr lang="de-DE" sz="2400" dirty="0"/>
              <a:t> </a:t>
            </a:r>
            <a:r>
              <a:rPr lang="de-DE" sz="2400" dirty="0" err="1"/>
              <a:t>techniques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requirements</a:t>
            </a:r>
            <a:r>
              <a:rPr lang="de-DE" sz="2400" dirty="0"/>
              <a:t> </a:t>
            </a:r>
            <a:r>
              <a:rPr lang="de-DE" sz="2400" dirty="0" err="1"/>
              <a:t>engineering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Understand</a:t>
            </a:r>
            <a:r>
              <a:rPr lang="de-DE" sz="2400" dirty="0"/>
              <a:t> fundamental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structures</a:t>
            </a:r>
            <a:r>
              <a:rPr lang="de-DE" sz="2400" dirty="0"/>
              <a:t>, </a:t>
            </a:r>
            <a:r>
              <a:rPr lang="de-DE" sz="2400" dirty="0" err="1"/>
              <a:t>how</a:t>
            </a:r>
            <a:r>
              <a:rPr lang="de-DE" sz="2400" dirty="0"/>
              <a:t> and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they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applied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3135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D6CD-00B5-6D15-F6A8-5A038AFA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64" y="467035"/>
            <a:ext cx="7948402" cy="984885"/>
          </a:xfrm>
        </p:spPr>
        <p:txBody>
          <a:bodyPr/>
          <a:lstStyle/>
          <a:p>
            <a:r>
              <a:rPr lang="en-DE" dirty="0"/>
              <a:t>Two Worlds – Web Applications and Embedded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31496-68D5-02E5-B808-41A3F28C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B54B4-34AE-E547-39D9-84A19C69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756" y="1749426"/>
            <a:ext cx="3563240" cy="3774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CDA909-ED5D-1F2F-6241-44C121AF9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815" y="1749426"/>
            <a:ext cx="4332391" cy="36877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6C3513-E6D5-4451-6FDF-6AC8D25EB912}"/>
              </a:ext>
            </a:extLst>
          </p:cNvPr>
          <p:cNvSpPr/>
          <p:nvPr/>
        </p:nvSpPr>
        <p:spPr>
          <a:xfrm>
            <a:off x="1062567" y="1653702"/>
            <a:ext cx="4683102" cy="429962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D3887-02C4-F69E-388A-96A9696F3F55}"/>
              </a:ext>
            </a:extLst>
          </p:cNvPr>
          <p:cNvSpPr txBox="1"/>
          <p:nvPr/>
        </p:nvSpPr>
        <p:spPr>
          <a:xfrm>
            <a:off x="1062567" y="5953328"/>
            <a:ext cx="481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Emphasis: Mean Time To Repair (MTTR), scalability, resilience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AFBB4-CA0B-B500-160E-637F0D7C2FA5}"/>
              </a:ext>
            </a:extLst>
          </p:cNvPr>
          <p:cNvSpPr txBox="1"/>
          <p:nvPr/>
        </p:nvSpPr>
        <p:spPr>
          <a:xfrm>
            <a:off x="6796617" y="5603086"/>
            <a:ext cx="4819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98% of chips, often in safety-critical environments, Emphasis: Mean Time Between Failure (MTBF)</a:t>
            </a:r>
          </a:p>
        </p:txBody>
      </p:sp>
    </p:spTree>
    <p:extLst>
      <p:ext uri="{BB962C8B-B14F-4D97-AF65-F5344CB8AC3E}">
        <p14:creationId xmlns:p14="http://schemas.microsoft.com/office/powerpoint/2010/main" val="220835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0E16-1975-75C0-2070-477551E3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772399" cy="1477328"/>
          </a:xfrm>
        </p:spPr>
        <p:txBody>
          <a:bodyPr/>
          <a:lstStyle/>
          <a:p>
            <a:r>
              <a:rPr lang="en-DE" dirty="0"/>
              <a:t>Software Development Lifecycle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B2723-664D-9D06-7643-90038C74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49" y="1700316"/>
            <a:ext cx="9581030" cy="4230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07CEE0-BA66-500F-A74F-F524DC24D1B9}"/>
              </a:ext>
            </a:extLst>
          </p:cNvPr>
          <p:cNvSpPr txBox="1"/>
          <p:nvPr/>
        </p:nvSpPr>
        <p:spPr>
          <a:xfrm>
            <a:off x="1593849" y="6101608"/>
            <a:ext cx="610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Source: https://reliasoftware.com/blog/software-development-life-cycle-sdlc</a:t>
            </a:r>
          </a:p>
        </p:txBody>
      </p:sp>
    </p:spTree>
    <p:extLst>
      <p:ext uri="{BB962C8B-B14F-4D97-AF65-F5344CB8AC3E}">
        <p14:creationId xmlns:p14="http://schemas.microsoft.com/office/powerpoint/2010/main" val="409401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51AF-1082-464D-6B88-30748114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62" y="364449"/>
            <a:ext cx="7870581" cy="492443"/>
          </a:xfrm>
        </p:spPr>
        <p:txBody>
          <a:bodyPr/>
          <a:lstStyle/>
          <a:p>
            <a:r>
              <a:rPr lang="en-DE" dirty="0"/>
              <a:t>Software Development Lifecycle (SDLC)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01748-B776-6031-FA09-29B74814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C8853-9378-6665-8C1D-DB8EB10F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40" y="1637310"/>
            <a:ext cx="10456980" cy="4242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48F59-6A50-4EF0-B34E-6F6248583319}"/>
              </a:ext>
            </a:extLst>
          </p:cNvPr>
          <p:cNvSpPr txBox="1"/>
          <p:nvPr/>
        </p:nvSpPr>
        <p:spPr>
          <a:xfrm>
            <a:off x="1779815" y="6062505"/>
            <a:ext cx="61115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Source: https://brocoders.com/blog/agile-software-development-life-cycle/</a:t>
            </a:r>
          </a:p>
        </p:txBody>
      </p:sp>
    </p:spTree>
    <p:extLst>
      <p:ext uri="{BB962C8B-B14F-4D97-AF65-F5344CB8AC3E}">
        <p14:creationId xmlns:p14="http://schemas.microsoft.com/office/powerpoint/2010/main" val="399534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CBCC-DE93-FFAB-5CD4-610B24A0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8 Models for SDLC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0E523-0A5B-1D0D-E597-295BD662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75" y="1699288"/>
            <a:ext cx="9009989" cy="4216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40CFA-62D6-09B6-CCCA-89DE81E48F63}"/>
              </a:ext>
            </a:extLst>
          </p:cNvPr>
          <p:cNvSpPr txBox="1"/>
          <p:nvPr/>
        </p:nvSpPr>
        <p:spPr>
          <a:xfrm>
            <a:off x="1355679" y="6091267"/>
            <a:ext cx="610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Source: https://reliasoftware.com/blog/software-development-life-cycle-sdlc</a:t>
            </a:r>
          </a:p>
        </p:txBody>
      </p:sp>
    </p:spTree>
    <p:extLst>
      <p:ext uri="{BB962C8B-B14F-4D97-AF65-F5344CB8AC3E}">
        <p14:creationId xmlns:p14="http://schemas.microsoft.com/office/powerpoint/2010/main" val="365009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76AF-BA1B-503B-22D2-73446640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Manifesto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08082-AA4D-8718-619E-9F07FE83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4A2B8-663C-ADEF-C1E1-ABF4CE08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35" y="2131458"/>
            <a:ext cx="8497246" cy="344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90F-6833-860A-55B2-FCAD8361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4518-D1DB-B899-B13C-19C253B7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B56F5-813C-B9A2-9B83-2D92D6C60B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3428" y="1318242"/>
            <a:ext cx="7380556" cy="51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2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60B3-37E5-10BA-C163-998483E8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400951" cy="984885"/>
          </a:xfrm>
        </p:spPr>
        <p:txBody>
          <a:bodyPr/>
          <a:lstStyle/>
          <a:p>
            <a:r>
              <a:rPr lang="en-DE" dirty="0"/>
              <a:t>Test-Driven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01E0-EE97-3E3B-4E4A-1503F72A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E908D-CF86-F8D3-2CD0-FC3FDECE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1582171"/>
            <a:ext cx="7772400" cy="452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1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622A-4032-6269-7B4B-DFD39E7E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733688"/>
            <a:ext cx="7578751" cy="1477328"/>
          </a:xfrm>
        </p:spPr>
        <p:txBody>
          <a:bodyPr/>
          <a:lstStyle/>
          <a:p>
            <a:r>
              <a:rPr lang="en-DE" dirty="0"/>
              <a:t>Staging und Production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8F5A2-FF1B-9476-3069-1413510B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E7123-A8DF-5382-B75A-09C89FCA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1608333"/>
            <a:ext cx="7772400" cy="45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0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5143-424F-B4A3-2304-D1C77894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48" y="472439"/>
            <a:ext cx="8899551" cy="1969770"/>
          </a:xfrm>
        </p:spPr>
        <p:txBody>
          <a:bodyPr/>
          <a:lstStyle/>
          <a:p>
            <a:r>
              <a:rPr lang="en-US" dirty="0"/>
              <a:t>Continuous Integration, Continuous Deployment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97C73-9320-FAA4-C599-D2A34CD5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23BE5-6ADE-A367-93DD-C8FB257C0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9" y="1580657"/>
            <a:ext cx="9839046" cy="472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DA24-4EA5-4FDD-632D-D34FC76B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31" y="323268"/>
            <a:ext cx="8823351" cy="1969770"/>
          </a:xfrm>
        </p:spPr>
        <p:txBody>
          <a:bodyPr/>
          <a:lstStyle/>
          <a:p>
            <a:r>
              <a:rPr lang="en-US" dirty="0"/>
              <a:t>Continuous Integration, Continuous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FEF9F-60FA-8D1D-5735-97F0050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1296AF-7E61-D9F9-D00F-0791708D4629}"/>
              </a:ext>
            </a:extLst>
          </p:cNvPr>
          <p:cNvSpPr/>
          <p:nvPr/>
        </p:nvSpPr>
        <p:spPr>
          <a:xfrm>
            <a:off x="903513" y="4465311"/>
            <a:ext cx="341402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ea typeface="MS PGothic" pitchFamily="34" charset="-128"/>
                <a:cs typeface="ＭＳ Ｐゴシック" pitchFamily="-109" charset="-128"/>
              </a:rPr>
              <a:t>DevOps</a:t>
            </a:r>
            <a:br>
              <a:rPr lang="de-DE" dirty="0">
                <a:ea typeface="MS PGothic" pitchFamily="34" charset="-128"/>
                <a:cs typeface="ＭＳ Ｐゴシック" pitchFamily="-109" charset="-128"/>
              </a:rPr>
            </a:b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„</a:t>
            </a:r>
            <a:r>
              <a:rPr lang="de-DE" sz="1400" i="1" dirty="0" err="1">
                <a:ea typeface="MS PGothic" pitchFamily="34" charset="-128"/>
                <a:cs typeface="ＭＳ Ｐゴシック" pitchFamily="-109" charset="-128"/>
              </a:rPr>
              <a:t>You</a:t>
            </a: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 </a:t>
            </a:r>
            <a:r>
              <a:rPr lang="de-DE" sz="1400" i="1" dirty="0" err="1">
                <a:ea typeface="MS PGothic" pitchFamily="34" charset="-128"/>
                <a:cs typeface="ＭＳ Ｐゴシック" pitchFamily="-109" charset="-128"/>
              </a:rPr>
              <a:t>build</a:t>
            </a: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 </a:t>
            </a:r>
            <a:r>
              <a:rPr lang="de-DE" sz="1400" i="1" dirty="0" err="1">
                <a:ea typeface="MS PGothic" pitchFamily="34" charset="-128"/>
                <a:cs typeface="ＭＳ Ｐゴシック" pitchFamily="-109" charset="-128"/>
              </a:rPr>
              <a:t>it</a:t>
            </a: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, </a:t>
            </a:r>
            <a:r>
              <a:rPr lang="de-DE" sz="1400" i="1" dirty="0" err="1">
                <a:ea typeface="MS PGothic" pitchFamily="34" charset="-128"/>
                <a:cs typeface="ＭＳ Ｐゴシック" pitchFamily="-109" charset="-128"/>
              </a:rPr>
              <a:t>you</a:t>
            </a: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 </a:t>
            </a:r>
            <a:r>
              <a:rPr lang="de-DE" sz="1400" i="1" dirty="0" err="1">
                <a:ea typeface="MS PGothic" pitchFamily="34" charset="-128"/>
                <a:cs typeface="ＭＳ Ｐゴシック" pitchFamily="-109" charset="-128"/>
              </a:rPr>
              <a:t>run</a:t>
            </a:r>
            <a:r>
              <a:rPr lang="de-DE" sz="1400" i="1" dirty="0">
                <a:ea typeface="MS PGothic" pitchFamily="34" charset="-128"/>
                <a:cs typeface="ＭＳ Ｐゴシック" pitchFamily="-109" charset="-128"/>
              </a:rPr>
              <a:t> it.“ Werner Vogels, Amazon</a:t>
            </a:r>
            <a:endParaRPr lang="de-DE" i="1" dirty="0">
              <a:ea typeface="MS PGothic" pitchFamily="34" charset="-128"/>
              <a:cs typeface="ＭＳ Ｐゴシック" pitchFamily="-109" charset="-128"/>
            </a:endParaRPr>
          </a:p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ea typeface="MS PGothic" pitchFamily="34" charset="-128"/>
                <a:cs typeface="ＭＳ Ｐゴシック" pitchFamily="-109" charset="-128"/>
              </a:rPr>
              <a:t>Continuous</a:t>
            </a:r>
            <a:r>
              <a:rPr lang="de-DE" dirty="0">
                <a:ea typeface="MS PGothic" pitchFamily="34" charset="-128"/>
                <a:cs typeface="ＭＳ Ｐゴシック" pitchFamily="-109" charset="-128"/>
              </a:rPr>
              <a:t> Integration / </a:t>
            </a:r>
            <a:br>
              <a:rPr lang="de-DE" dirty="0">
                <a:ea typeface="MS PGothic" pitchFamily="34" charset="-128"/>
                <a:cs typeface="ＭＳ Ｐゴシック" pitchFamily="-109" charset="-128"/>
              </a:rPr>
            </a:br>
            <a:r>
              <a:rPr lang="de-DE" dirty="0" err="1">
                <a:ea typeface="MS PGothic" pitchFamily="34" charset="-128"/>
                <a:cs typeface="ＭＳ Ｐゴシック" pitchFamily="-109" charset="-128"/>
              </a:rPr>
              <a:t>Continuous</a:t>
            </a:r>
            <a:r>
              <a:rPr lang="de-DE" dirty="0">
                <a:ea typeface="MS PGothic" pitchFamily="34" charset="-128"/>
                <a:cs typeface="ＭＳ Ｐゴシック" pitchFamily="-109" charset="-128"/>
              </a:rPr>
              <a:t> </a:t>
            </a:r>
            <a:r>
              <a:rPr lang="de-DE" dirty="0" err="1">
                <a:ea typeface="MS PGothic" pitchFamily="34" charset="-128"/>
                <a:cs typeface="ＭＳ Ｐゴシック" pitchFamily="-109" charset="-128"/>
              </a:rPr>
              <a:t>Delivery</a:t>
            </a:r>
            <a:endParaRPr lang="de-DE" dirty="0">
              <a:ea typeface="MS PGothic" pitchFamily="34" charset="-128"/>
              <a:cs typeface="ＭＳ Ｐゴシック" pitchFamily="-109" charset="-128"/>
            </a:endParaRPr>
          </a:p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ea typeface="MS PGothic" pitchFamily="34" charset="-128"/>
                <a:cs typeface="ＭＳ Ｐゴシック" pitchFamily="-109" charset="-128"/>
              </a:rPr>
              <a:t>Infrastructure </a:t>
            </a:r>
            <a:r>
              <a:rPr lang="de-DE" dirty="0" err="1">
                <a:ea typeface="MS PGothic" pitchFamily="34" charset="-128"/>
                <a:cs typeface="ＭＳ Ｐゴシック" pitchFamily="-109" charset="-128"/>
              </a:rPr>
              <a:t>as</a:t>
            </a:r>
            <a:r>
              <a:rPr lang="de-DE" dirty="0">
                <a:ea typeface="MS PGothic" pitchFamily="34" charset="-128"/>
                <a:cs typeface="ＭＳ Ｐゴシック" pitchFamily="-109" charset="-128"/>
              </a:rPr>
              <a:t>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7156F-363E-1558-AD0D-1376B8D82B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3344" y="1298338"/>
            <a:ext cx="4755076" cy="3119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B76EBD-8909-B271-065A-0D12112FA8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9207" y="3578411"/>
            <a:ext cx="5298023" cy="3077690"/>
          </a:xfrm>
          <a:prstGeom prst="rect">
            <a:avLst/>
          </a:prstGeom>
        </p:spPr>
      </p:pic>
      <p:pic>
        <p:nvPicPr>
          <p:cNvPr id="3" name="Grafik 7">
            <a:extLst>
              <a:ext uri="{FF2B5EF4-FFF2-40B4-BE49-F238E27FC236}">
                <a16:creationId xmlns:a16="http://schemas.microsoft.com/office/drawing/2014/main" id="{CA7318E7-51A5-5B75-54DB-5BFFEE0E545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889" y="1908453"/>
            <a:ext cx="2594987" cy="1955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4F439A-0979-3DE3-FE64-7059136432F3}"/>
              </a:ext>
            </a:extLst>
          </p:cNvPr>
          <p:cNvSpPr txBox="1"/>
          <p:nvPr/>
        </p:nvSpPr>
        <p:spPr>
          <a:xfrm>
            <a:off x="1922896" y="1459608"/>
            <a:ext cx="126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World: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ABA5E-CF19-60BC-3209-DA04A1F273AC}"/>
              </a:ext>
            </a:extLst>
          </p:cNvPr>
          <p:cNvSpPr txBox="1"/>
          <p:nvPr/>
        </p:nvSpPr>
        <p:spPr>
          <a:xfrm>
            <a:off x="1922894" y="4048681"/>
            <a:ext cx="156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World:</a:t>
            </a:r>
          </a:p>
        </p:txBody>
      </p:sp>
    </p:spTree>
    <p:extLst>
      <p:ext uri="{BB962C8B-B14F-4D97-AF65-F5344CB8AC3E}">
        <p14:creationId xmlns:p14="http://schemas.microsoft.com/office/powerpoint/2010/main" val="395968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E65D-CCE9-351E-C33B-25E8DD74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65" y="629166"/>
            <a:ext cx="8233746" cy="492443"/>
          </a:xfrm>
        </p:spPr>
        <p:txBody>
          <a:bodyPr/>
          <a:lstStyle/>
          <a:p>
            <a:r>
              <a:rPr lang="en-DE" dirty="0"/>
              <a:t>Requirements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24011-D1BE-82CD-9ED4-738FD351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068AA-32ED-0115-AE60-2E4142F6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13" y="2131068"/>
            <a:ext cx="4973988" cy="3440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110566-17B5-263C-1D84-D89A22DB113B}"/>
              </a:ext>
            </a:extLst>
          </p:cNvPr>
          <p:cNvSpPr txBox="1"/>
          <p:nvPr/>
        </p:nvSpPr>
        <p:spPr>
          <a:xfrm>
            <a:off x="6470213" y="1577927"/>
            <a:ext cx="379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Sequential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59565D-7912-34F3-2FEC-CCB5BA9F8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22" y="2131068"/>
            <a:ext cx="3851544" cy="3851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7DB512-1077-CB2D-E065-F49FCECA035F}"/>
              </a:ext>
            </a:extLst>
          </p:cNvPr>
          <p:cNvSpPr txBox="1"/>
          <p:nvPr/>
        </p:nvSpPr>
        <p:spPr>
          <a:xfrm>
            <a:off x="2132993" y="1563903"/>
            <a:ext cx="240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285304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04DD-FACD-3986-BDD9-2A42906AC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r>
              <a:rPr lang="en-DE" dirty="0"/>
              <a:t>State of a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9186F-5BC0-7E4D-07CB-EFDC705D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3AC6C-42EE-E745-EBAC-990448B7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49" y="2376364"/>
            <a:ext cx="5353975" cy="3181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F8038D-2396-898F-5F60-6EC36C8E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678" y="2376364"/>
            <a:ext cx="4772052" cy="312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203DE7-877E-273A-E7AC-3C94F7D406F7}"/>
              </a:ext>
            </a:extLst>
          </p:cNvPr>
          <p:cNvSpPr txBox="1"/>
          <p:nvPr/>
        </p:nvSpPr>
        <p:spPr>
          <a:xfrm>
            <a:off x="7859742" y="1869055"/>
            <a:ext cx="260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Timed Automata</a:t>
            </a:r>
          </a:p>
        </p:txBody>
      </p:sp>
    </p:spTree>
    <p:extLst>
      <p:ext uri="{BB962C8B-B14F-4D97-AF65-F5344CB8AC3E}">
        <p14:creationId xmlns:p14="http://schemas.microsoft.com/office/powerpoint/2010/main" val="2168679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24011-D1BE-82CD-9ED4-738FD351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BEB07C-7507-E880-EC23-02D8E7EE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171" y="2621017"/>
            <a:ext cx="5560590" cy="28485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8610C0-71FF-9056-4FFA-8F5625316B45}"/>
              </a:ext>
            </a:extLst>
          </p:cNvPr>
          <p:cNvSpPr txBox="1"/>
          <p:nvPr/>
        </p:nvSpPr>
        <p:spPr>
          <a:xfrm>
            <a:off x="8022168" y="2032063"/>
            <a:ext cx="240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Activity Diagrams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F6840E-6E5B-505C-03F1-E80230B6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50" y="2442233"/>
            <a:ext cx="5394301" cy="28485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320FCE-FA9F-1BFF-CE91-0222FC29C87E}"/>
              </a:ext>
            </a:extLst>
          </p:cNvPr>
          <p:cNvSpPr txBox="1"/>
          <p:nvPr/>
        </p:nvSpPr>
        <p:spPr>
          <a:xfrm>
            <a:off x="2200512" y="2000555"/>
            <a:ext cx="240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State Charts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9A6166-8448-0C26-E8B6-BEE68A54077C}"/>
              </a:ext>
            </a:extLst>
          </p:cNvPr>
          <p:cNvSpPr txBox="1">
            <a:spLocks/>
          </p:cNvSpPr>
          <p:nvPr/>
        </p:nvSpPr>
        <p:spPr>
          <a:xfrm>
            <a:off x="339565" y="629166"/>
            <a:ext cx="823374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DE" dirty="0"/>
              <a:t>Requirements Engineering</a:t>
            </a:r>
          </a:p>
        </p:txBody>
      </p:sp>
    </p:spTree>
    <p:extLst>
      <p:ext uri="{BB962C8B-B14F-4D97-AF65-F5344CB8AC3E}">
        <p14:creationId xmlns:p14="http://schemas.microsoft.com/office/powerpoint/2010/main" val="278321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066B-1BA7-D623-3D1C-AB824970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680351" cy="1477328"/>
          </a:xfrm>
        </p:spPr>
        <p:txBody>
          <a:bodyPr/>
          <a:lstStyle/>
          <a:p>
            <a:r>
              <a:rPr lang="en-DE" dirty="0"/>
              <a:t>Requirements Engineering</a:t>
            </a:r>
            <a:br>
              <a:rPr lang="en-DE" dirty="0"/>
            </a:b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25DF6-3369-76D5-A615-D8D9F574D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019" y="2275966"/>
            <a:ext cx="5314633" cy="41368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923A8C-8E35-42E9-4025-AD0D970C7D2B}"/>
              </a:ext>
            </a:extLst>
          </p:cNvPr>
          <p:cNvSpPr txBox="1"/>
          <p:nvPr/>
        </p:nvSpPr>
        <p:spPr>
          <a:xfrm>
            <a:off x="6419396" y="6412857"/>
            <a:ext cx="5563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/>
              <a:t>Source: </a:t>
            </a:r>
            <a:r>
              <a:rPr lang="en-GB" sz="1000" dirty="0"/>
              <a:t>https://</a:t>
            </a:r>
            <a:r>
              <a:rPr lang="en-GB" sz="1000" dirty="0" err="1"/>
              <a:t>medium.com</a:t>
            </a:r>
            <a:r>
              <a:rPr lang="en-GB" sz="1000" dirty="0"/>
              <a:t>/@</a:t>
            </a:r>
            <a:r>
              <a:rPr lang="en-GB" sz="1000" dirty="0" err="1"/>
              <a:t>smagid_allThings</a:t>
            </a:r>
            <a:r>
              <a:rPr lang="en-GB" sz="1000" dirty="0"/>
              <a:t>/uml-class-diagrams-tutorial-step-by-step-520fd83b300b</a:t>
            </a:r>
            <a:endParaRPr lang="en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582C7-E0AF-1656-ABF5-9FF0254691CF}"/>
              </a:ext>
            </a:extLst>
          </p:cNvPr>
          <p:cNvSpPr txBox="1"/>
          <p:nvPr/>
        </p:nvSpPr>
        <p:spPr>
          <a:xfrm>
            <a:off x="8198396" y="1769903"/>
            <a:ext cx="260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UML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D7C83-7066-6A03-14CC-DBD6ABDD2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48" y="2974362"/>
            <a:ext cx="6022311" cy="22035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4E832B-7A0D-61EF-D660-7FA65215357B}"/>
              </a:ext>
            </a:extLst>
          </p:cNvPr>
          <p:cNvSpPr txBox="1"/>
          <p:nvPr/>
        </p:nvSpPr>
        <p:spPr>
          <a:xfrm>
            <a:off x="1905928" y="1769903"/>
            <a:ext cx="260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Entity Relationship Model</a:t>
            </a:r>
          </a:p>
        </p:txBody>
      </p:sp>
    </p:spTree>
    <p:extLst>
      <p:ext uri="{BB962C8B-B14F-4D97-AF65-F5344CB8AC3E}">
        <p14:creationId xmlns:p14="http://schemas.microsoft.com/office/powerpoint/2010/main" val="382505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5AE1-9709-0D83-9FF9-563DAE8F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41A90E-0E68-302F-B7D8-36B9DEB0B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9416" y="2376587"/>
            <a:ext cx="4532313" cy="306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C192CF-58E1-4032-1AF4-8088F293D9F1}"/>
              </a:ext>
            </a:extLst>
          </p:cNvPr>
          <p:cNvSpPr txBox="1"/>
          <p:nvPr/>
        </p:nvSpPr>
        <p:spPr>
          <a:xfrm>
            <a:off x="5764576" y="2658254"/>
            <a:ext cx="6108852" cy="250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de-DE" sz="2800" dirty="0"/>
              <a:t>Street </a:t>
            </a:r>
            <a:r>
              <a:rPr lang="de-DE" sz="2800" dirty="0" err="1"/>
              <a:t>crossing</a:t>
            </a:r>
            <a:r>
              <a:rPr lang="de-DE" sz="2800" dirty="0"/>
              <a:t> a </a:t>
            </a:r>
            <a:r>
              <a:rPr lang="de-DE" sz="2800" dirty="0" err="1"/>
              <a:t>train</a:t>
            </a:r>
            <a:r>
              <a:rPr lang="de-DE" sz="2800" dirty="0"/>
              <a:t> track</a:t>
            </a:r>
            <a:br>
              <a:rPr lang="de-DE" sz="2800" dirty="0"/>
            </a:br>
            <a:r>
              <a:rPr lang="de-DE" sz="2800" dirty="0" err="1"/>
              <a:t>three</a:t>
            </a:r>
            <a:r>
              <a:rPr lang="de-DE" sz="2800" dirty="0"/>
              <a:t> </a:t>
            </a:r>
            <a:r>
              <a:rPr lang="de-DE" sz="2800" dirty="0" err="1"/>
              <a:t>components</a:t>
            </a:r>
            <a:r>
              <a:rPr lang="de-DE" sz="2800" dirty="0"/>
              <a:t>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de-DE" sz="2800" dirty="0" err="1"/>
              <a:t>train</a:t>
            </a:r>
            <a:endParaRPr lang="de-DE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de-DE" sz="2800" dirty="0" err="1"/>
              <a:t>gate</a:t>
            </a:r>
            <a:endParaRPr lang="de-DE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de-DE" sz="2800" dirty="0" err="1"/>
              <a:t>controller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940084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8740-C352-A92D-D702-FA28BFC1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</a:t>
            </a:r>
          </a:p>
        </p:txBody>
      </p:sp>
      <p:sp>
        <p:nvSpPr>
          <p:cNvPr id="4" name="Ellipse 7">
            <a:extLst>
              <a:ext uri="{FF2B5EF4-FFF2-40B4-BE49-F238E27FC236}">
                <a16:creationId xmlns:a16="http://schemas.microsoft.com/office/drawing/2014/main" id="{946FBEF1-C3C4-537D-68AD-5189BEF79685}"/>
              </a:ext>
            </a:extLst>
          </p:cNvPr>
          <p:cNvSpPr/>
          <p:nvPr/>
        </p:nvSpPr>
        <p:spPr>
          <a:xfrm>
            <a:off x="7091363" y="32256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t</a:t>
            </a:r>
            <a:r>
              <a:rPr lang="en-US" sz="1600" baseline="-250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Ellipse 10">
            <a:extLst>
              <a:ext uri="{FF2B5EF4-FFF2-40B4-BE49-F238E27FC236}">
                <a16:creationId xmlns:a16="http://schemas.microsoft.com/office/drawing/2014/main" id="{0703B0CE-FBC5-EED8-7FC6-25CFFD598FB9}"/>
              </a:ext>
            </a:extLst>
          </p:cNvPr>
          <p:cNvSpPr/>
          <p:nvPr/>
        </p:nvSpPr>
        <p:spPr>
          <a:xfrm>
            <a:off x="4233863" y="32256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t</a:t>
            </a:r>
            <a:r>
              <a:rPr lang="de-DE" sz="1600" baseline="-25000">
                <a:solidFill>
                  <a:schemeClr val="tx1"/>
                </a:solidFill>
              </a:rPr>
              <a:t>0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11">
            <a:extLst>
              <a:ext uri="{FF2B5EF4-FFF2-40B4-BE49-F238E27FC236}">
                <a16:creationId xmlns:a16="http://schemas.microsoft.com/office/drawing/2014/main" id="{33A1D50C-2F1A-D2B6-C118-57E45C1FCEF2}"/>
              </a:ext>
            </a:extLst>
          </p:cNvPr>
          <p:cNvSpPr/>
          <p:nvPr/>
        </p:nvSpPr>
        <p:spPr>
          <a:xfrm>
            <a:off x="7091363" y="493541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t</a:t>
            </a:r>
            <a:r>
              <a:rPr lang="en-US" sz="1600" baseline="-25000" dirty="0">
                <a:solidFill>
                  <a:schemeClr val="tx1"/>
                </a:solidFill>
              </a:rPr>
              <a:t>2</a:t>
            </a:r>
            <a:endParaRPr lang="en-US" sz="16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x </a:t>
            </a:r>
            <a:r>
              <a:rPr lang="en-US" sz="1600" dirty="0">
                <a:solidFill>
                  <a:schemeClr val="tx1"/>
                </a:solidFill>
                <a:cs typeface="Arial"/>
              </a:rPr>
              <a:t>≤ </a:t>
            </a:r>
            <a:r>
              <a:rPr lang="en-US" sz="1600" dirty="0">
                <a:solidFill>
                  <a:schemeClr val="tx1"/>
                </a:solidFill>
              </a:rPr>
              <a:t>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7" name="Ellipse 12">
            <a:extLst>
              <a:ext uri="{FF2B5EF4-FFF2-40B4-BE49-F238E27FC236}">
                <a16:creationId xmlns:a16="http://schemas.microsoft.com/office/drawing/2014/main" id="{164B7F9F-B854-1D3C-BABC-F5AF8810A303}"/>
              </a:ext>
            </a:extLst>
          </p:cNvPr>
          <p:cNvSpPr/>
          <p:nvPr/>
        </p:nvSpPr>
        <p:spPr>
          <a:xfrm>
            <a:off x="4233863" y="49401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t</a:t>
            </a:r>
            <a:r>
              <a:rPr lang="en-US" sz="1600" baseline="-25000" dirty="0">
                <a:solidFill>
                  <a:schemeClr val="tx1"/>
                </a:solidFill>
              </a:rPr>
              <a:t>3</a:t>
            </a:r>
            <a:endParaRPr lang="en-US" sz="16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x </a:t>
            </a:r>
            <a:r>
              <a:rPr lang="en-US" sz="1600" dirty="0">
                <a:solidFill>
                  <a:schemeClr val="tx1"/>
                </a:solidFill>
                <a:cs typeface="Arial"/>
              </a:rPr>
              <a:t>≤ </a:t>
            </a:r>
            <a:r>
              <a:rPr lang="en-US" sz="1600" dirty="0">
                <a:solidFill>
                  <a:schemeClr val="tx1"/>
                </a:solidFill>
              </a:rPr>
              <a:t>3</a:t>
            </a:r>
            <a:endParaRPr lang="de-DE" sz="1600" dirty="0">
              <a:solidFill>
                <a:schemeClr val="tx1"/>
              </a:solidFill>
            </a:endParaRPr>
          </a:p>
        </p:txBody>
      </p:sp>
      <p:cxnSp>
        <p:nvCxnSpPr>
          <p:cNvPr id="8" name="Gerade Verbindung mit Pfeil 14">
            <a:extLst>
              <a:ext uri="{FF2B5EF4-FFF2-40B4-BE49-F238E27FC236}">
                <a16:creationId xmlns:a16="http://schemas.microsoft.com/office/drawing/2014/main" id="{4472D6B1-B96A-C488-7A01-D13646B5D002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4881563" y="3549526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15">
            <a:extLst>
              <a:ext uri="{FF2B5EF4-FFF2-40B4-BE49-F238E27FC236}">
                <a16:creationId xmlns:a16="http://schemas.microsoft.com/office/drawing/2014/main" id="{9A0E1B6D-D36E-9A2C-33C0-CAF9498252AF}"/>
              </a:ext>
            </a:extLst>
          </p:cNvPr>
          <p:cNvCxnSpPr>
            <a:stCxn id="4" idx="4"/>
            <a:endCxn id="6" idx="0"/>
          </p:cNvCxnSpPr>
          <p:nvPr/>
        </p:nvCxnSpPr>
        <p:spPr>
          <a:xfrm rot="5400000">
            <a:off x="6884194" y="4404395"/>
            <a:ext cx="106045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18">
            <a:extLst>
              <a:ext uri="{FF2B5EF4-FFF2-40B4-BE49-F238E27FC236}">
                <a16:creationId xmlns:a16="http://schemas.microsoft.com/office/drawing/2014/main" id="{1DA00FC9-3318-E93F-E5C5-7A1F18A9BACA}"/>
              </a:ext>
            </a:extLst>
          </p:cNvPr>
          <p:cNvCxnSpPr>
            <a:stCxn id="6" idx="2"/>
            <a:endCxn id="7" idx="6"/>
          </p:cNvCxnSpPr>
          <p:nvPr/>
        </p:nvCxnSpPr>
        <p:spPr>
          <a:xfrm rot="10800000" flipV="1">
            <a:off x="4881563" y="5264026"/>
            <a:ext cx="2209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21">
            <a:extLst>
              <a:ext uri="{FF2B5EF4-FFF2-40B4-BE49-F238E27FC236}">
                <a16:creationId xmlns:a16="http://schemas.microsoft.com/office/drawing/2014/main" id="{AC997CA0-B682-BC93-FBDB-893095C2EFBE}"/>
              </a:ext>
            </a:extLst>
          </p:cNvPr>
          <p:cNvCxnSpPr>
            <a:stCxn id="7" idx="0"/>
            <a:endCxn id="5" idx="4"/>
          </p:cNvCxnSpPr>
          <p:nvPr/>
        </p:nvCxnSpPr>
        <p:spPr>
          <a:xfrm rot="5400000" flipH="1" flipV="1">
            <a:off x="4023519" y="4407570"/>
            <a:ext cx="1066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24">
            <a:extLst>
              <a:ext uri="{FF2B5EF4-FFF2-40B4-BE49-F238E27FC236}">
                <a16:creationId xmlns:a16="http://schemas.microsoft.com/office/drawing/2014/main" id="{F31BD9DA-C022-0BA9-A80C-E2114F1889B3}"/>
              </a:ext>
            </a:extLst>
          </p:cNvPr>
          <p:cNvCxnSpPr>
            <a:endCxn id="5" idx="2"/>
          </p:cNvCxnSpPr>
          <p:nvPr/>
        </p:nvCxnSpPr>
        <p:spPr>
          <a:xfrm flipV="1">
            <a:off x="3738563" y="3549526"/>
            <a:ext cx="4953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29">
            <a:extLst>
              <a:ext uri="{FF2B5EF4-FFF2-40B4-BE49-F238E27FC236}">
                <a16:creationId xmlns:a16="http://schemas.microsoft.com/office/drawing/2014/main" id="{AD6894D5-E337-79FA-E87F-CE5CC3462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9" y="3212976"/>
            <a:ext cx="19094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sz="1800" dirty="0"/>
              <a:t>pproach!, x := 0</a:t>
            </a:r>
            <a:endParaRPr lang="de-DE" sz="1800" dirty="0"/>
          </a:p>
        </p:txBody>
      </p:sp>
      <p:sp>
        <p:nvSpPr>
          <p:cNvPr id="14" name="Textfeld 30">
            <a:extLst>
              <a:ext uri="{FF2B5EF4-FFF2-40B4-BE49-F238E27FC236}">
                <a16:creationId xmlns:a16="http://schemas.microsoft.com/office/drawing/2014/main" id="{BB44D7A1-A8C8-5F75-4BD7-CB6308A86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8814" y="5213226"/>
            <a:ext cx="504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out</a:t>
            </a:r>
            <a:endParaRPr lang="de-DE" sz="1800"/>
          </a:p>
        </p:txBody>
      </p:sp>
      <p:sp>
        <p:nvSpPr>
          <p:cNvPr id="15" name="Textfeld 31">
            <a:extLst>
              <a:ext uri="{FF2B5EF4-FFF2-40B4-BE49-F238E27FC236}">
                <a16:creationId xmlns:a16="http://schemas.microsoft.com/office/drawing/2014/main" id="{E66F1411-BFB1-FFD8-F7CA-B679C8D8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9" y="4141664"/>
            <a:ext cx="18325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x &gt;= 2, in, x := 0</a:t>
            </a:r>
            <a:endParaRPr lang="de-DE" sz="1800" dirty="0"/>
          </a:p>
        </p:txBody>
      </p:sp>
      <p:sp>
        <p:nvSpPr>
          <p:cNvPr id="16" name="Textfeld 32">
            <a:extLst>
              <a:ext uri="{FF2B5EF4-FFF2-40B4-BE49-F238E27FC236}">
                <a16:creationId xmlns:a16="http://schemas.microsoft.com/office/drawing/2014/main" id="{FBD255A5-0E64-F10C-4540-F42136556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4225801"/>
            <a:ext cx="6078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e</a:t>
            </a:r>
            <a:r>
              <a:rPr lang="en-US" sz="1800" dirty="0"/>
              <a:t>xit!</a:t>
            </a:r>
            <a:endParaRPr lang="de-DE" sz="1800" dirty="0"/>
          </a:p>
        </p:txBody>
      </p:sp>
      <p:sp>
        <p:nvSpPr>
          <p:cNvPr id="17" name="Textfeld 34">
            <a:extLst>
              <a:ext uri="{FF2B5EF4-FFF2-40B4-BE49-F238E27FC236}">
                <a16:creationId xmlns:a16="http://schemas.microsoft.com/office/drawing/2014/main" id="{0E6F8280-9074-6E17-C847-E73EAF503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514" y="4225801"/>
            <a:ext cx="9556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TRAIN</a:t>
            </a:r>
            <a:endParaRPr lang="de-DE" sz="2000">
              <a:solidFill>
                <a:schemeClr val="tx2"/>
              </a:solidFill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00E8BDD-796B-85BC-7658-9D36DC974EFA}"/>
              </a:ext>
            </a:extLst>
          </p:cNvPr>
          <p:cNvSpPr txBox="1">
            <a:spLocks noChangeArrowheads="1"/>
          </p:cNvSpPr>
          <p:nvPr/>
        </p:nvSpPr>
        <p:spPr>
          <a:xfrm>
            <a:off x="250449" y="1791167"/>
            <a:ext cx="1147202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40000"/>
              </a:spcBef>
            </a:pPr>
            <a:r>
              <a:rPr lang="de-DE" sz="2400" dirty="0"/>
              <a:t>Train </a:t>
            </a:r>
            <a:r>
              <a:rPr lang="de-DE" sz="2400" dirty="0" err="1"/>
              <a:t>sends</a:t>
            </a:r>
            <a:r>
              <a:rPr lang="de-DE" sz="2400" dirty="0"/>
              <a:t> </a:t>
            </a:r>
            <a:r>
              <a:rPr lang="de-DE" sz="2400" dirty="0" err="1"/>
              <a:t>signal</a:t>
            </a:r>
            <a:r>
              <a:rPr lang="de-DE" sz="2400" dirty="0"/>
              <a:t> (</a:t>
            </a:r>
            <a:r>
              <a:rPr lang="de-DE" sz="2400" dirty="0" err="1"/>
              <a:t>approach</a:t>
            </a:r>
            <a:r>
              <a:rPr lang="de-DE" sz="2400" dirty="0"/>
              <a:t>) at least </a:t>
            </a:r>
            <a:r>
              <a:rPr lang="de-DE" sz="2400" dirty="0" err="1"/>
              <a:t>two</a:t>
            </a:r>
            <a:r>
              <a:rPr lang="de-DE" sz="2400" dirty="0"/>
              <a:t> time </a:t>
            </a:r>
            <a:r>
              <a:rPr lang="de-DE" sz="2400" dirty="0" err="1"/>
              <a:t>steps</a:t>
            </a:r>
            <a:r>
              <a:rPr lang="de-DE" sz="2400" dirty="0"/>
              <a:t> </a:t>
            </a:r>
            <a:r>
              <a:rPr lang="de-DE" sz="2400" dirty="0" err="1"/>
              <a:t>before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train</a:t>
            </a:r>
            <a:r>
              <a:rPr lang="de-DE" sz="2400" dirty="0"/>
              <a:t> </a:t>
            </a:r>
            <a:r>
              <a:rPr lang="de-DE" sz="2400" dirty="0" err="1"/>
              <a:t>reaches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crossing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controller</a:t>
            </a:r>
            <a:r>
              <a:rPr lang="de-DE" sz="2400" dirty="0"/>
              <a:t> and </a:t>
            </a:r>
            <a:r>
              <a:rPr lang="de-DE" sz="2400" dirty="0" err="1"/>
              <a:t>stays</a:t>
            </a:r>
            <a:r>
              <a:rPr lang="de-DE" sz="2400" dirty="0"/>
              <a:t> at </a:t>
            </a:r>
            <a:r>
              <a:rPr lang="de-DE" sz="2400" dirty="0" err="1"/>
              <a:t>most</a:t>
            </a:r>
            <a:r>
              <a:rPr lang="de-DE" sz="2400" dirty="0"/>
              <a:t> </a:t>
            </a:r>
            <a:r>
              <a:rPr lang="de-DE" sz="2400" dirty="0" err="1"/>
              <a:t>three</a:t>
            </a:r>
            <a:r>
              <a:rPr lang="de-DE" sz="2400" dirty="0"/>
              <a:t> time </a:t>
            </a:r>
            <a:r>
              <a:rPr lang="de-DE" sz="2400" dirty="0" err="1"/>
              <a:t>steps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crossing</a:t>
            </a:r>
            <a:r>
              <a:rPr lang="de-DE" sz="2400" dirty="0"/>
              <a:t>, </a:t>
            </a:r>
            <a:r>
              <a:rPr lang="de-DE" sz="2400" dirty="0" err="1"/>
              <a:t>then</a:t>
            </a:r>
            <a:r>
              <a:rPr lang="de-DE" sz="2400" dirty="0"/>
              <a:t> </a:t>
            </a:r>
            <a:r>
              <a:rPr lang="de-DE" sz="2400" dirty="0" err="1"/>
              <a:t>sends</a:t>
            </a:r>
            <a:r>
              <a:rPr lang="de-DE" sz="2400" dirty="0"/>
              <a:t> </a:t>
            </a:r>
            <a:r>
              <a:rPr lang="de-DE" sz="2400" dirty="0" err="1"/>
              <a:t>exit</a:t>
            </a:r>
            <a:r>
              <a:rPr lang="de-DE" sz="2400" dirty="0"/>
              <a:t> </a:t>
            </a:r>
            <a:r>
              <a:rPr lang="de-DE" sz="2400" dirty="0" err="1"/>
              <a:t>signal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56824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5F18-D396-D130-0D54-4045FE19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C6776-9CC0-88CE-DCB5-6FB8612F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853462"/>
            <a:ext cx="10263194" cy="738664"/>
          </a:xfrm>
        </p:spPr>
        <p:txBody>
          <a:bodyPr/>
          <a:lstStyle/>
          <a:p>
            <a:r>
              <a:rPr lang="en-DE" sz="2400" dirty="0"/>
              <a:t>Gate opens and closes when signals are received</a:t>
            </a:r>
          </a:p>
          <a:p>
            <a:r>
              <a:rPr lang="en-DE" sz="2400" dirty="0"/>
              <a:t>Gate takes at most one time step for closing, 1-2 for opening</a:t>
            </a:r>
          </a:p>
        </p:txBody>
      </p:sp>
      <p:sp>
        <p:nvSpPr>
          <p:cNvPr id="4" name="Ellipse 6">
            <a:extLst>
              <a:ext uri="{FF2B5EF4-FFF2-40B4-BE49-F238E27FC236}">
                <a16:creationId xmlns:a16="http://schemas.microsoft.com/office/drawing/2014/main" id="{A6558576-4847-022A-4C82-3FBAC06ECC4D}"/>
              </a:ext>
            </a:extLst>
          </p:cNvPr>
          <p:cNvSpPr/>
          <p:nvPr/>
        </p:nvSpPr>
        <p:spPr>
          <a:xfrm>
            <a:off x="7091354" y="30943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g</a:t>
            </a:r>
            <a:r>
              <a:rPr lang="en-US" sz="1600" baseline="-250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y </a:t>
            </a:r>
            <a:r>
              <a:rPr lang="en-US" sz="1600" dirty="0">
                <a:solidFill>
                  <a:schemeClr val="tx1"/>
                </a:solidFill>
                <a:cs typeface="Arial"/>
              </a:rPr>
              <a:t>≤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Ellipse 7">
            <a:extLst>
              <a:ext uri="{FF2B5EF4-FFF2-40B4-BE49-F238E27FC236}">
                <a16:creationId xmlns:a16="http://schemas.microsoft.com/office/drawing/2014/main" id="{18AB3B62-3F24-0B41-5C0D-F9C8DE2BE870}"/>
              </a:ext>
            </a:extLst>
          </p:cNvPr>
          <p:cNvSpPr/>
          <p:nvPr/>
        </p:nvSpPr>
        <p:spPr>
          <a:xfrm>
            <a:off x="4233854" y="30943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g</a:t>
            </a:r>
            <a:r>
              <a:rPr lang="de-DE" sz="1600" baseline="-25000">
                <a:solidFill>
                  <a:schemeClr val="tx1"/>
                </a:solidFill>
              </a:rPr>
              <a:t>0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8">
            <a:extLst>
              <a:ext uri="{FF2B5EF4-FFF2-40B4-BE49-F238E27FC236}">
                <a16:creationId xmlns:a16="http://schemas.microsoft.com/office/drawing/2014/main" id="{4D68E417-D140-DBBD-1BB3-370B68912D8F}"/>
              </a:ext>
            </a:extLst>
          </p:cNvPr>
          <p:cNvSpPr/>
          <p:nvPr/>
        </p:nvSpPr>
        <p:spPr>
          <a:xfrm>
            <a:off x="7091354" y="4802510"/>
            <a:ext cx="647700" cy="64928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g</a:t>
            </a:r>
            <a:r>
              <a:rPr lang="en-US" sz="1600" baseline="-25000">
                <a:solidFill>
                  <a:schemeClr val="tx1"/>
                </a:solidFill>
              </a:rPr>
              <a:t>2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9">
            <a:extLst>
              <a:ext uri="{FF2B5EF4-FFF2-40B4-BE49-F238E27FC236}">
                <a16:creationId xmlns:a16="http://schemas.microsoft.com/office/drawing/2014/main" id="{11F3FB36-AF4E-728B-E85A-4F0A226A4529}"/>
              </a:ext>
            </a:extLst>
          </p:cNvPr>
          <p:cNvSpPr/>
          <p:nvPr/>
        </p:nvSpPr>
        <p:spPr>
          <a:xfrm>
            <a:off x="4233854" y="48088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g</a:t>
            </a:r>
            <a:r>
              <a:rPr lang="en-US" sz="1600" baseline="-25000">
                <a:solidFill>
                  <a:schemeClr val="tx1"/>
                </a:solidFill>
              </a:rPr>
              <a:t>3</a:t>
            </a:r>
            <a:endParaRPr lang="en-US" sz="160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y </a:t>
            </a:r>
            <a:r>
              <a:rPr lang="en-US" sz="1600">
                <a:solidFill>
                  <a:schemeClr val="tx1"/>
                </a:solidFill>
                <a:cs typeface="Arial"/>
              </a:rPr>
              <a:t>≤ 2</a:t>
            </a:r>
            <a:endParaRPr lang="de-DE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10">
            <a:extLst>
              <a:ext uri="{FF2B5EF4-FFF2-40B4-BE49-F238E27FC236}">
                <a16:creationId xmlns:a16="http://schemas.microsoft.com/office/drawing/2014/main" id="{870A3531-7377-9ABC-5446-1DFDAB616440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4881554" y="3418210"/>
            <a:ext cx="2209800" cy="1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11">
            <a:extLst>
              <a:ext uri="{FF2B5EF4-FFF2-40B4-BE49-F238E27FC236}">
                <a16:creationId xmlns:a16="http://schemas.microsoft.com/office/drawing/2014/main" id="{3D199BDC-5713-C9A9-7709-25E025C0FEB6}"/>
              </a:ext>
            </a:extLst>
          </p:cNvPr>
          <p:cNvCxnSpPr>
            <a:stCxn id="4" idx="4"/>
            <a:endCxn id="6" idx="0"/>
          </p:cNvCxnSpPr>
          <p:nvPr/>
        </p:nvCxnSpPr>
        <p:spPr>
          <a:xfrm rot="5400000">
            <a:off x="6883392" y="4272284"/>
            <a:ext cx="1062037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12">
            <a:extLst>
              <a:ext uri="{FF2B5EF4-FFF2-40B4-BE49-F238E27FC236}">
                <a16:creationId xmlns:a16="http://schemas.microsoft.com/office/drawing/2014/main" id="{F9F1E080-8FC4-BBD8-B837-AB0C256A899D}"/>
              </a:ext>
            </a:extLst>
          </p:cNvPr>
          <p:cNvCxnSpPr>
            <a:stCxn id="6" idx="2"/>
            <a:endCxn id="7" idx="6"/>
          </p:cNvCxnSpPr>
          <p:nvPr/>
        </p:nvCxnSpPr>
        <p:spPr>
          <a:xfrm rot="10800000" flipV="1">
            <a:off x="4881554" y="5132709"/>
            <a:ext cx="2209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3">
            <a:extLst>
              <a:ext uri="{FF2B5EF4-FFF2-40B4-BE49-F238E27FC236}">
                <a16:creationId xmlns:a16="http://schemas.microsoft.com/office/drawing/2014/main" id="{D23E197F-9E36-32F0-3B2E-00CC2E06025D}"/>
              </a:ext>
            </a:extLst>
          </p:cNvPr>
          <p:cNvCxnSpPr>
            <a:stCxn id="7" idx="0"/>
            <a:endCxn id="5" idx="4"/>
          </p:cNvCxnSpPr>
          <p:nvPr/>
        </p:nvCxnSpPr>
        <p:spPr>
          <a:xfrm rot="5400000" flipH="1" flipV="1">
            <a:off x="4023510" y="4274665"/>
            <a:ext cx="1066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4">
            <a:extLst>
              <a:ext uri="{FF2B5EF4-FFF2-40B4-BE49-F238E27FC236}">
                <a16:creationId xmlns:a16="http://schemas.microsoft.com/office/drawing/2014/main" id="{DE315DE9-77DE-7C82-9E7E-2ED1713E9082}"/>
              </a:ext>
            </a:extLst>
          </p:cNvPr>
          <p:cNvCxnSpPr>
            <a:endCxn id="5" idx="2"/>
          </p:cNvCxnSpPr>
          <p:nvPr/>
        </p:nvCxnSpPr>
        <p:spPr>
          <a:xfrm flipV="1">
            <a:off x="3738554" y="3418209"/>
            <a:ext cx="4953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5">
            <a:extLst>
              <a:ext uri="{FF2B5EF4-FFF2-40B4-BE49-F238E27FC236}">
                <a16:creationId xmlns:a16="http://schemas.microsoft.com/office/drawing/2014/main" id="{6CC48E48-59ED-6B82-653F-685386DA8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29" y="3068960"/>
            <a:ext cx="15632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  <a:r>
              <a:rPr lang="en-US" sz="1800" dirty="0"/>
              <a:t>ower?, y := 0</a:t>
            </a:r>
            <a:endParaRPr lang="de-DE" sz="1800" dirty="0"/>
          </a:p>
        </p:txBody>
      </p:sp>
      <p:sp>
        <p:nvSpPr>
          <p:cNvPr id="14" name="Textfeld 16">
            <a:extLst>
              <a:ext uri="{FF2B5EF4-FFF2-40B4-BE49-F238E27FC236}">
                <a16:creationId xmlns:a16="http://schemas.microsoft.com/office/drawing/2014/main" id="{52AD0295-8CD6-C8E2-567A-5B4E2CA3C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79" y="5081910"/>
            <a:ext cx="15119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  <a:r>
              <a:rPr lang="en-US" sz="1800" dirty="0"/>
              <a:t>aise?, y := 0</a:t>
            </a:r>
            <a:endParaRPr lang="de-DE" sz="1800" dirty="0"/>
          </a:p>
        </p:txBody>
      </p:sp>
      <p:sp>
        <p:nvSpPr>
          <p:cNvPr id="15" name="Textfeld 17">
            <a:extLst>
              <a:ext uri="{FF2B5EF4-FFF2-40B4-BE49-F238E27FC236}">
                <a16:creationId xmlns:a16="http://schemas.microsoft.com/office/drawing/2014/main" id="{3D5E4A8A-4676-78AF-B339-92967AB48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79" y="4010346"/>
            <a:ext cx="8002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down!</a:t>
            </a:r>
            <a:endParaRPr lang="de-DE" sz="1800" dirty="0"/>
          </a:p>
        </p:txBody>
      </p:sp>
      <p:sp>
        <p:nvSpPr>
          <p:cNvPr id="16" name="Textfeld 18">
            <a:extLst>
              <a:ext uri="{FF2B5EF4-FFF2-40B4-BE49-F238E27FC236}">
                <a16:creationId xmlns:a16="http://schemas.microsoft.com/office/drawing/2014/main" id="{2340A0D5-9152-D3E6-4E96-8C28BB492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16" y="4094484"/>
            <a:ext cx="11318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y </a:t>
            </a:r>
            <a:r>
              <a:rPr lang="en-US" sz="1800" dirty="0">
                <a:cs typeface="Arial" charset="0"/>
              </a:rPr>
              <a:t>≥ 1, up</a:t>
            </a:r>
            <a:r>
              <a:rPr lang="en-US" sz="1800" dirty="0"/>
              <a:t> </a:t>
            </a:r>
            <a:endParaRPr lang="de-DE" sz="1800" dirty="0"/>
          </a:p>
        </p:txBody>
      </p:sp>
      <p:sp>
        <p:nvSpPr>
          <p:cNvPr id="17" name="Textfeld 19">
            <a:extLst>
              <a:ext uri="{FF2B5EF4-FFF2-40B4-BE49-F238E27FC236}">
                <a16:creationId xmlns:a16="http://schemas.microsoft.com/office/drawing/2014/main" id="{9BEA2EF2-62D4-0072-D337-948133F35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491" y="4094484"/>
            <a:ext cx="8651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GATE</a:t>
            </a:r>
            <a:endParaRPr lang="de-DE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290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3A8A-8734-D4E0-304F-91A6370F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D5AF3-8F19-0A82-499E-49707DFB5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947227"/>
            <a:ext cx="11419965" cy="738664"/>
          </a:xfrm>
        </p:spPr>
        <p:txBody>
          <a:bodyPr/>
          <a:lstStyle/>
          <a:p>
            <a:r>
              <a:rPr lang="en-DE" sz="2400" dirty="0"/>
              <a:t>Controller sends 1 time step the command lower after having received signal approach to gate and command raise after at most 1 time step of receiving exit</a:t>
            </a:r>
          </a:p>
        </p:txBody>
      </p:sp>
      <p:sp>
        <p:nvSpPr>
          <p:cNvPr id="4" name="Ellipse 6">
            <a:extLst>
              <a:ext uri="{FF2B5EF4-FFF2-40B4-BE49-F238E27FC236}">
                <a16:creationId xmlns:a16="http://schemas.microsoft.com/office/drawing/2014/main" id="{FD642EF9-9F61-B37B-EE29-20D18C8267AF}"/>
              </a:ext>
            </a:extLst>
          </p:cNvPr>
          <p:cNvSpPr/>
          <p:nvPr/>
        </p:nvSpPr>
        <p:spPr>
          <a:xfrm>
            <a:off x="7091363" y="315503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c</a:t>
            </a:r>
            <a:r>
              <a:rPr lang="en-US" sz="1600" baseline="-25000">
                <a:solidFill>
                  <a:schemeClr val="tx1"/>
                </a:solidFill>
              </a:rPr>
              <a:t>1</a:t>
            </a:r>
            <a:endParaRPr lang="en-US" sz="160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z </a:t>
            </a:r>
            <a:r>
              <a:rPr lang="en-US" sz="1600">
                <a:solidFill>
                  <a:schemeClr val="tx1"/>
                </a:solidFill>
                <a:cs typeface="Arial"/>
              </a:rPr>
              <a:t>≤ 1</a:t>
            </a: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" name="Ellipse 7">
            <a:extLst>
              <a:ext uri="{FF2B5EF4-FFF2-40B4-BE49-F238E27FC236}">
                <a16:creationId xmlns:a16="http://schemas.microsoft.com/office/drawing/2014/main" id="{C79E177E-7606-F9C2-4A37-69F3563A4913}"/>
              </a:ext>
            </a:extLst>
          </p:cNvPr>
          <p:cNvSpPr/>
          <p:nvPr/>
        </p:nvSpPr>
        <p:spPr>
          <a:xfrm>
            <a:off x="4233863" y="315503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c</a:t>
            </a:r>
            <a:r>
              <a:rPr lang="de-DE" sz="1600" baseline="-25000">
                <a:solidFill>
                  <a:schemeClr val="tx1"/>
                </a:solidFill>
              </a:rPr>
              <a:t>0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8">
            <a:extLst>
              <a:ext uri="{FF2B5EF4-FFF2-40B4-BE49-F238E27FC236}">
                <a16:creationId xmlns:a16="http://schemas.microsoft.com/office/drawing/2014/main" id="{F064E12B-BF3C-6D64-8BF3-6A454F6B810D}"/>
              </a:ext>
            </a:extLst>
          </p:cNvPr>
          <p:cNvSpPr/>
          <p:nvPr/>
        </p:nvSpPr>
        <p:spPr>
          <a:xfrm>
            <a:off x="7091363" y="486477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c</a:t>
            </a:r>
            <a:r>
              <a:rPr lang="en-US" sz="1600" baseline="-25000">
                <a:solidFill>
                  <a:schemeClr val="tx1"/>
                </a:solidFill>
              </a:rPr>
              <a:t>2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9">
            <a:extLst>
              <a:ext uri="{FF2B5EF4-FFF2-40B4-BE49-F238E27FC236}">
                <a16:creationId xmlns:a16="http://schemas.microsoft.com/office/drawing/2014/main" id="{4DE3C08D-9728-CB86-267B-8CEE9A6225A5}"/>
              </a:ext>
            </a:extLst>
          </p:cNvPr>
          <p:cNvSpPr/>
          <p:nvPr/>
        </p:nvSpPr>
        <p:spPr>
          <a:xfrm>
            <a:off x="4233863" y="486953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c</a:t>
            </a:r>
            <a:r>
              <a:rPr lang="en-US" sz="1600" baseline="-25000">
                <a:solidFill>
                  <a:schemeClr val="tx1"/>
                </a:solidFill>
              </a:rPr>
              <a:t>3</a:t>
            </a:r>
            <a:endParaRPr lang="en-US" sz="160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1600">
                <a:solidFill>
                  <a:schemeClr val="tx1"/>
                </a:solidFill>
              </a:rPr>
              <a:t>z </a:t>
            </a:r>
            <a:r>
              <a:rPr lang="en-US" sz="1600">
                <a:solidFill>
                  <a:schemeClr val="tx1"/>
                </a:solidFill>
                <a:cs typeface="Arial"/>
              </a:rPr>
              <a:t>≤ 1</a:t>
            </a:r>
            <a:endParaRPr lang="de-DE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10">
            <a:extLst>
              <a:ext uri="{FF2B5EF4-FFF2-40B4-BE49-F238E27FC236}">
                <a16:creationId xmlns:a16="http://schemas.microsoft.com/office/drawing/2014/main" id="{0592EE6C-2983-08D8-67D1-54CACBBAF34B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4881563" y="3478882"/>
            <a:ext cx="2209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11">
            <a:extLst>
              <a:ext uri="{FF2B5EF4-FFF2-40B4-BE49-F238E27FC236}">
                <a16:creationId xmlns:a16="http://schemas.microsoft.com/office/drawing/2014/main" id="{F63007D0-D548-E880-2472-43E118264952}"/>
              </a:ext>
            </a:extLst>
          </p:cNvPr>
          <p:cNvCxnSpPr>
            <a:stCxn id="4" idx="4"/>
            <a:endCxn id="6" idx="0"/>
          </p:cNvCxnSpPr>
          <p:nvPr/>
        </p:nvCxnSpPr>
        <p:spPr>
          <a:xfrm rot="5400000">
            <a:off x="6884194" y="4333751"/>
            <a:ext cx="106045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12">
            <a:extLst>
              <a:ext uri="{FF2B5EF4-FFF2-40B4-BE49-F238E27FC236}">
                <a16:creationId xmlns:a16="http://schemas.microsoft.com/office/drawing/2014/main" id="{A9EB4B33-8C6D-45F0-4541-A568A410AF13}"/>
              </a:ext>
            </a:extLst>
          </p:cNvPr>
          <p:cNvCxnSpPr>
            <a:stCxn id="6" idx="2"/>
            <a:endCxn id="7" idx="6"/>
          </p:cNvCxnSpPr>
          <p:nvPr/>
        </p:nvCxnSpPr>
        <p:spPr>
          <a:xfrm rot="10800000" flipV="1">
            <a:off x="4881563" y="5193382"/>
            <a:ext cx="2209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3">
            <a:extLst>
              <a:ext uri="{FF2B5EF4-FFF2-40B4-BE49-F238E27FC236}">
                <a16:creationId xmlns:a16="http://schemas.microsoft.com/office/drawing/2014/main" id="{B2CE3ABE-84F4-7E3E-E903-744A3EF4351B}"/>
              </a:ext>
            </a:extLst>
          </p:cNvPr>
          <p:cNvCxnSpPr>
            <a:stCxn id="7" idx="0"/>
            <a:endCxn id="5" idx="4"/>
          </p:cNvCxnSpPr>
          <p:nvPr/>
        </p:nvCxnSpPr>
        <p:spPr>
          <a:xfrm rot="5400000" flipH="1" flipV="1">
            <a:off x="4023519" y="4336926"/>
            <a:ext cx="1066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4">
            <a:extLst>
              <a:ext uri="{FF2B5EF4-FFF2-40B4-BE49-F238E27FC236}">
                <a16:creationId xmlns:a16="http://schemas.microsoft.com/office/drawing/2014/main" id="{2DA77A31-065D-294B-C595-CEAE56ABBED1}"/>
              </a:ext>
            </a:extLst>
          </p:cNvPr>
          <p:cNvCxnSpPr>
            <a:endCxn id="5" idx="2"/>
          </p:cNvCxnSpPr>
          <p:nvPr/>
        </p:nvCxnSpPr>
        <p:spPr>
          <a:xfrm flipV="1">
            <a:off x="3738563" y="3478882"/>
            <a:ext cx="4953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5">
            <a:extLst>
              <a:ext uri="{FF2B5EF4-FFF2-40B4-BE49-F238E27FC236}">
                <a16:creationId xmlns:a16="http://schemas.microsoft.com/office/drawing/2014/main" id="{520F8997-8733-E2CF-020E-B30ECFB60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9" y="3142332"/>
            <a:ext cx="19736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sz="1800" dirty="0"/>
              <a:t>pproach?, z := 0</a:t>
            </a:r>
            <a:endParaRPr lang="de-DE" sz="1800" dirty="0"/>
          </a:p>
        </p:txBody>
      </p:sp>
      <p:sp>
        <p:nvSpPr>
          <p:cNvPr id="14" name="Textfeld 16">
            <a:extLst>
              <a:ext uri="{FF2B5EF4-FFF2-40B4-BE49-F238E27FC236}">
                <a16:creationId xmlns:a16="http://schemas.microsoft.com/office/drawing/2014/main" id="{C1B770D1-C2B1-5EBE-881E-5445ABDF1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4" y="5142582"/>
            <a:ext cx="13067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exit?</a:t>
            </a:r>
            <a:r>
              <a:rPr lang="en-US" sz="1800" dirty="0"/>
              <a:t>, z:= 0</a:t>
            </a:r>
            <a:endParaRPr lang="de-DE" sz="1800" dirty="0"/>
          </a:p>
        </p:txBody>
      </p:sp>
      <p:sp>
        <p:nvSpPr>
          <p:cNvPr id="15" name="Textfeld 17">
            <a:extLst>
              <a:ext uri="{FF2B5EF4-FFF2-40B4-BE49-F238E27FC236}">
                <a16:creationId xmlns:a16="http://schemas.microsoft.com/office/drawing/2014/main" id="{9A559701-7CDF-EC40-0A01-D931341E4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8" y="4071021"/>
            <a:ext cx="14350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z = 1, lower!</a:t>
            </a:r>
            <a:endParaRPr lang="de-DE" sz="1800" dirty="0"/>
          </a:p>
        </p:txBody>
      </p:sp>
      <p:sp>
        <p:nvSpPr>
          <p:cNvPr id="16" name="Textfeld 18">
            <a:extLst>
              <a:ext uri="{FF2B5EF4-FFF2-40B4-BE49-F238E27FC236}">
                <a16:creationId xmlns:a16="http://schemas.microsoft.com/office/drawing/2014/main" id="{07C21AF9-5556-39FD-3205-F31745A75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4155157"/>
            <a:ext cx="7489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  <a:r>
              <a:rPr lang="en-US" sz="1800" dirty="0"/>
              <a:t>aise!</a:t>
            </a:r>
            <a:endParaRPr lang="de-DE" sz="1800" dirty="0"/>
          </a:p>
        </p:txBody>
      </p:sp>
      <p:sp>
        <p:nvSpPr>
          <p:cNvPr id="17" name="Textfeld 19">
            <a:extLst>
              <a:ext uri="{FF2B5EF4-FFF2-40B4-BE49-F238E27FC236}">
                <a16:creationId xmlns:a16="http://schemas.microsoft.com/office/drawing/2014/main" id="{3DEFAE20-F0E8-6DB6-4746-9CB7FACF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4" y="4155157"/>
            <a:ext cx="1939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CONTROLLER</a:t>
            </a:r>
            <a:endParaRPr lang="de-DE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32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D700-304B-19FF-A45A-0A7E31CB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</a:t>
            </a:r>
          </a:p>
        </p:txBody>
      </p:sp>
      <p:grpSp>
        <p:nvGrpSpPr>
          <p:cNvPr id="4" name="Gruppieren 52">
            <a:extLst>
              <a:ext uri="{FF2B5EF4-FFF2-40B4-BE49-F238E27FC236}">
                <a16:creationId xmlns:a16="http://schemas.microsoft.com/office/drawing/2014/main" id="{C76F0416-10D5-B119-1645-46F3BF751F39}"/>
              </a:ext>
            </a:extLst>
          </p:cNvPr>
          <p:cNvGrpSpPr>
            <a:grpSpLocks/>
          </p:cNvGrpSpPr>
          <p:nvPr/>
        </p:nvGrpSpPr>
        <p:grpSpPr bwMode="auto">
          <a:xfrm>
            <a:off x="6281986" y="1730672"/>
            <a:ext cx="4093710" cy="2260613"/>
            <a:chOff x="4603389" y="1357298"/>
            <a:chExt cx="4462548" cy="2405391"/>
          </a:xfrm>
        </p:grpSpPr>
        <p:sp>
          <p:nvSpPr>
            <p:cNvPr id="5" name="Ellipse 5">
              <a:extLst>
                <a:ext uri="{FF2B5EF4-FFF2-40B4-BE49-F238E27FC236}">
                  <a16:creationId xmlns:a16="http://schemas.microsoft.com/office/drawing/2014/main" id="{69D1F717-C046-074C-55F6-BCA10F1AB8CF}"/>
                </a:ext>
              </a:extLst>
            </p:cNvPr>
            <p:cNvSpPr/>
            <p:nvPr/>
          </p:nvSpPr>
          <p:spPr>
            <a:xfrm>
              <a:off x="7879286" y="1380946"/>
              <a:ext cx="648949" cy="6486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g</a:t>
              </a:r>
              <a:r>
                <a:rPr lang="en-US" sz="1600" baseline="-25000">
                  <a:solidFill>
                    <a:schemeClr val="tx1"/>
                  </a:solidFill>
                </a:rPr>
                <a:t>1</a:t>
              </a:r>
              <a:endParaRPr lang="en-US" sz="160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y </a:t>
              </a:r>
              <a:r>
                <a:rPr lang="en-US" sz="1600">
                  <a:solidFill>
                    <a:schemeClr val="tx1"/>
                  </a:solidFill>
                  <a:cs typeface="Arial"/>
                </a:rPr>
                <a:t>≤ 1</a:t>
              </a:r>
              <a:endParaRPr lang="de-DE" sz="1600">
                <a:solidFill>
                  <a:schemeClr val="tx1"/>
                </a:solidFill>
              </a:endParaRPr>
            </a:p>
          </p:txBody>
        </p:sp>
        <p:sp>
          <p:nvSpPr>
            <p:cNvPr id="6" name="Ellipse 6">
              <a:extLst>
                <a:ext uri="{FF2B5EF4-FFF2-40B4-BE49-F238E27FC236}">
                  <a16:creationId xmlns:a16="http://schemas.microsoft.com/office/drawing/2014/main" id="{0211BC56-E279-32E4-90BC-44046668F3BC}"/>
                </a:ext>
              </a:extLst>
            </p:cNvPr>
            <p:cNvSpPr/>
            <p:nvPr/>
          </p:nvSpPr>
          <p:spPr>
            <a:xfrm>
              <a:off x="5022178" y="1380946"/>
              <a:ext cx="647219" cy="6486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g</a:t>
              </a:r>
              <a:r>
                <a:rPr lang="de-DE" sz="1600" baseline="-25000">
                  <a:solidFill>
                    <a:schemeClr val="tx1"/>
                  </a:solidFill>
                </a:rPr>
                <a:t>0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7" name="Ellipse 7">
              <a:extLst>
                <a:ext uri="{FF2B5EF4-FFF2-40B4-BE49-F238E27FC236}">
                  <a16:creationId xmlns:a16="http://schemas.microsoft.com/office/drawing/2014/main" id="{5EF55D96-EB82-9E24-E87B-907277B3D98E}"/>
                </a:ext>
              </a:extLst>
            </p:cNvPr>
            <p:cNvSpPr/>
            <p:nvPr/>
          </p:nvSpPr>
          <p:spPr>
            <a:xfrm>
              <a:off x="7879286" y="3090386"/>
              <a:ext cx="648949" cy="6486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g</a:t>
              </a:r>
              <a:r>
                <a:rPr lang="en-US" sz="1600" baseline="-25000">
                  <a:solidFill>
                    <a:schemeClr val="tx1"/>
                  </a:solidFill>
                </a:rPr>
                <a:t>2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8" name="Ellipse 8">
              <a:extLst>
                <a:ext uri="{FF2B5EF4-FFF2-40B4-BE49-F238E27FC236}">
                  <a16:creationId xmlns:a16="http://schemas.microsoft.com/office/drawing/2014/main" id="{03F7D248-59D8-C611-3B22-E3FBFFCF97F7}"/>
                </a:ext>
              </a:extLst>
            </p:cNvPr>
            <p:cNvSpPr/>
            <p:nvPr/>
          </p:nvSpPr>
          <p:spPr>
            <a:xfrm>
              <a:off x="5022178" y="3095453"/>
              <a:ext cx="647219" cy="6486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g</a:t>
              </a:r>
              <a:r>
                <a:rPr lang="en-US" sz="1600" baseline="-25000">
                  <a:solidFill>
                    <a:schemeClr val="tx1"/>
                  </a:solidFill>
                </a:rPr>
                <a:t>3</a:t>
              </a:r>
              <a:endParaRPr lang="en-US" sz="160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y </a:t>
              </a:r>
              <a:r>
                <a:rPr lang="en-US" sz="1600">
                  <a:solidFill>
                    <a:schemeClr val="tx1"/>
                  </a:solidFill>
                  <a:cs typeface="Arial"/>
                </a:rPr>
                <a:t>≤ 2</a:t>
              </a:r>
              <a:endParaRPr lang="de-DE" sz="1600">
                <a:solidFill>
                  <a:schemeClr val="tx1"/>
                </a:solidFill>
              </a:endParaRPr>
            </a:p>
          </p:txBody>
        </p:sp>
        <p:cxnSp>
          <p:nvCxnSpPr>
            <p:cNvPr id="9" name="Gerade Verbindung mit Pfeil 9">
              <a:extLst>
                <a:ext uri="{FF2B5EF4-FFF2-40B4-BE49-F238E27FC236}">
                  <a16:creationId xmlns:a16="http://schemas.microsoft.com/office/drawing/2014/main" id="{5AF83025-1213-340D-B2E6-0FCC6ACCE420}"/>
                </a:ext>
              </a:extLst>
            </p:cNvPr>
            <p:cNvCxnSpPr>
              <a:stCxn id="6" idx="6"/>
              <a:endCxn id="5" idx="2"/>
            </p:cNvCxnSpPr>
            <p:nvPr/>
          </p:nvCxnSpPr>
          <p:spPr>
            <a:xfrm>
              <a:off x="5669396" y="1705267"/>
              <a:ext cx="2209889" cy="16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10">
              <a:extLst>
                <a:ext uri="{FF2B5EF4-FFF2-40B4-BE49-F238E27FC236}">
                  <a16:creationId xmlns:a16="http://schemas.microsoft.com/office/drawing/2014/main" id="{04071A6D-4CD2-6173-9D28-4A8BC2A6208A}"/>
                </a:ext>
              </a:extLst>
            </p:cNvPr>
            <p:cNvCxnSpPr>
              <a:stCxn id="5" idx="4"/>
              <a:endCxn id="7" idx="0"/>
            </p:cNvCxnSpPr>
            <p:nvPr/>
          </p:nvCxnSpPr>
          <p:spPr>
            <a:xfrm rot="5400000">
              <a:off x="7672516" y="2559966"/>
              <a:ext cx="1062487" cy="17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1">
              <a:extLst>
                <a:ext uri="{FF2B5EF4-FFF2-40B4-BE49-F238E27FC236}">
                  <a16:creationId xmlns:a16="http://schemas.microsoft.com/office/drawing/2014/main" id="{00E0B96C-DBF7-F0BD-4D0A-C782544F9166}"/>
                </a:ext>
              </a:extLst>
            </p:cNvPr>
            <p:cNvCxnSpPr>
              <a:stCxn id="7" idx="2"/>
              <a:endCxn id="8" idx="6"/>
            </p:cNvCxnSpPr>
            <p:nvPr/>
          </p:nvCxnSpPr>
          <p:spPr>
            <a:xfrm rot="10800000" flipV="1">
              <a:off x="5669396" y="3419773"/>
              <a:ext cx="220988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2">
              <a:extLst>
                <a:ext uri="{FF2B5EF4-FFF2-40B4-BE49-F238E27FC236}">
                  <a16:creationId xmlns:a16="http://schemas.microsoft.com/office/drawing/2014/main" id="{D5A12C8F-D27F-9586-A20A-90DC8B82C245}"/>
                </a:ext>
              </a:extLst>
            </p:cNvPr>
            <p:cNvCxnSpPr>
              <a:stCxn id="8" idx="0"/>
              <a:endCxn id="6" idx="4"/>
            </p:cNvCxnSpPr>
            <p:nvPr/>
          </p:nvCxnSpPr>
          <p:spPr>
            <a:xfrm rot="5400000" flipH="1" flipV="1">
              <a:off x="4812876" y="2562500"/>
              <a:ext cx="1067555" cy="17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3">
              <a:extLst>
                <a:ext uri="{FF2B5EF4-FFF2-40B4-BE49-F238E27FC236}">
                  <a16:creationId xmlns:a16="http://schemas.microsoft.com/office/drawing/2014/main" id="{DB1BDCA2-8980-602D-68D2-60786DFB4D0C}"/>
                </a:ext>
              </a:extLst>
            </p:cNvPr>
            <p:cNvCxnSpPr>
              <a:endCxn id="6" idx="2"/>
            </p:cNvCxnSpPr>
            <p:nvPr/>
          </p:nvCxnSpPr>
          <p:spPr>
            <a:xfrm flipV="1">
              <a:off x="4714143" y="1705267"/>
              <a:ext cx="3080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4">
              <a:extLst>
                <a:ext uri="{FF2B5EF4-FFF2-40B4-BE49-F238E27FC236}">
                  <a16:creationId xmlns:a16="http://schemas.microsoft.com/office/drawing/2014/main" id="{F302B313-7D4F-A1BC-E49C-88FF7320F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644" y="1357298"/>
              <a:ext cx="1704095" cy="392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lower?, y := 0</a:t>
              </a:r>
              <a:endParaRPr lang="de-DE" sz="1800"/>
            </a:p>
          </p:txBody>
        </p:sp>
        <p:sp>
          <p:nvSpPr>
            <p:cNvPr id="15" name="Textfeld 15">
              <a:extLst>
                <a:ext uri="{FF2B5EF4-FFF2-40B4-BE49-F238E27FC236}">
                  <a16:creationId xmlns:a16="http://schemas.microsoft.com/office/drawing/2014/main" id="{9B8C5B7C-9817-4EDB-B37A-E1507CBC9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0519" y="3369704"/>
              <a:ext cx="1648177" cy="392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raise?, y := 0</a:t>
              </a:r>
              <a:endParaRPr lang="de-DE" sz="1800"/>
            </a:p>
          </p:txBody>
        </p:sp>
        <p:sp>
          <p:nvSpPr>
            <p:cNvPr id="16" name="Textfeld 16">
              <a:extLst>
                <a:ext uri="{FF2B5EF4-FFF2-40B4-BE49-F238E27FC236}">
                  <a16:creationId xmlns:a16="http://schemas.microsoft.com/office/drawing/2014/main" id="{7FF1549F-2046-7CD2-7BAD-4C548961D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3619" y="2298134"/>
              <a:ext cx="872318" cy="392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down!</a:t>
              </a:r>
              <a:endParaRPr lang="de-DE" sz="1800"/>
            </a:p>
          </p:txBody>
        </p:sp>
        <p:sp>
          <p:nvSpPr>
            <p:cNvPr id="17" name="Textfeld 17">
              <a:extLst>
                <a:ext uri="{FF2B5EF4-FFF2-40B4-BE49-F238E27FC236}">
                  <a16:creationId xmlns:a16="http://schemas.microsoft.com/office/drawing/2014/main" id="{07CF2FA3-92AB-E711-9A46-A660E049C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3389" y="2214554"/>
              <a:ext cx="884551" cy="687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y </a:t>
              </a:r>
              <a:r>
                <a:rPr lang="en-US" sz="1800">
                  <a:cs typeface="Arial" charset="0"/>
                </a:rPr>
                <a:t>≥ 1, </a:t>
              </a:r>
            </a:p>
            <a:p>
              <a:r>
                <a:rPr lang="en-US" sz="1800">
                  <a:cs typeface="Arial" charset="0"/>
                </a:rPr>
                <a:t>up!</a:t>
              </a:r>
              <a:r>
                <a:rPr lang="en-US" sz="1800"/>
                <a:t> </a:t>
              </a:r>
              <a:endParaRPr lang="de-DE" sz="1800"/>
            </a:p>
          </p:txBody>
        </p:sp>
        <p:sp>
          <p:nvSpPr>
            <p:cNvPr id="18" name="Textfeld 18">
              <a:extLst>
                <a:ext uri="{FF2B5EF4-FFF2-40B4-BE49-F238E27FC236}">
                  <a16:creationId xmlns:a16="http://schemas.microsoft.com/office/drawing/2014/main" id="{2750EA39-9824-7015-16C0-5CD2489F0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3066" y="2381714"/>
              <a:ext cx="942425" cy="425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</a:rPr>
                <a:t>GATE</a:t>
              </a:r>
              <a:endParaRPr lang="de-DE" sz="200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Gruppieren 51">
            <a:extLst>
              <a:ext uri="{FF2B5EF4-FFF2-40B4-BE49-F238E27FC236}">
                <a16:creationId xmlns:a16="http://schemas.microsoft.com/office/drawing/2014/main" id="{01370B80-72AD-4ED1-2ABE-E121F4524F82}"/>
              </a:ext>
            </a:extLst>
          </p:cNvPr>
          <p:cNvGrpSpPr>
            <a:grpSpLocks/>
          </p:cNvGrpSpPr>
          <p:nvPr/>
        </p:nvGrpSpPr>
        <p:grpSpPr bwMode="auto">
          <a:xfrm>
            <a:off x="2178271" y="1730672"/>
            <a:ext cx="4061435" cy="2294919"/>
            <a:chOff x="179473" y="1411536"/>
            <a:chExt cx="4392793" cy="2383919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42432FF8-B8BD-E916-478E-6DDD2479E0DB}"/>
                </a:ext>
              </a:extLst>
            </p:cNvPr>
            <p:cNvSpPr/>
            <p:nvPr/>
          </p:nvSpPr>
          <p:spPr>
            <a:xfrm>
              <a:off x="3295892" y="1423079"/>
              <a:ext cx="647316" cy="6480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t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72CC23BA-9BCC-FCF9-77F4-A75F64B43F62}"/>
                </a:ext>
              </a:extLst>
            </p:cNvPr>
            <p:cNvSpPr/>
            <p:nvPr/>
          </p:nvSpPr>
          <p:spPr>
            <a:xfrm>
              <a:off x="438773" y="1423079"/>
              <a:ext cx="647316" cy="6480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t</a:t>
              </a:r>
              <a:r>
                <a:rPr lang="de-DE" sz="1600" baseline="-25000">
                  <a:solidFill>
                    <a:schemeClr val="tx1"/>
                  </a:solidFill>
                </a:rPr>
                <a:t>0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0BA4BE0-F7B8-73B4-98E5-2D01816F3B11}"/>
                </a:ext>
              </a:extLst>
            </p:cNvPr>
            <p:cNvSpPr/>
            <p:nvPr/>
          </p:nvSpPr>
          <p:spPr>
            <a:xfrm>
              <a:off x="3295892" y="3133160"/>
              <a:ext cx="647316" cy="6480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t</a:t>
              </a:r>
              <a:r>
                <a:rPr lang="en-US" sz="1600" baseline="-25000" dirty="0">
                  <a:solidFill>
                    <a:schemeClr val="tx1"/>
                  </a:solidFill>
                </a:rPr>
                <a:t>2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x </a:t>
              </a:r>
              <a:r>
                <a:rPr lang="en-US" sz="1600" dirty="0">
                  <a:solidFill>
                    <a:schemeClr val="tx1"/>
                  </a:solidFill>
                  <a:cs typeface="Arial"/>
                </a:rPr>
                <a:t>≤ </a:t>
              </a:r>
              <a:r>
                <a:rPr lang="en-US" sz="1600" dirty="0">
                  <a:solidFill>
                    <a:schemeClr val="tx1"/>
                  </a:solidFill>
                </a:rPr>
                <a:t>3</a:t>
              </a:r>
              <a:endParaRPr lang="de-DE" sz="1600" dirty="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7BAED9DE-8621-7255-DF08-90977C46EA45}"/>
                </a:ext>
              </a:extLst>
            </p:cNvPr>
            <p:cNvSpPr/>
            <p:nvPr/>
          </p:nvSpPr>
          <p:spPr>
            <a:xfrm>
              <a:off x="438773" y="3138107"/>
              <a:ext cx="647316" cy="6480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t</a:t>
              </a:r>
              <a:r>
                <a:rPr lang="en-US" sz="1600" baseline="-25000" dirty="0">
                  <a:solidFill>
                    <a:schemeClr val="tx1"/>
                  </a:solidFill>
                </a:rPr>
                <a:t>3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x </a:t>
              </a:r>
              <a:r>
                <a:rPr lang="en-US" sz="1600" dirty="0">
                  <a:solidFill>
                    <a:schemeClr val="tx1"/>
                  </a:solidFill>
                  <a:cs typeface="Arial"/>
                </a:rPr>
                <a:t>≤ </a:t>
              </a:r>
              <a:r>
                <a:rPr lang="en-US" sz="1600" dirty="0">
                  <a:solidFill>
                    <a:schemeClr val="tx1"/>
                  </a:solidFill>
                </a:rPr>
                <a:t>3</a:t>
              </a:r>
              <a:endParaRPr lang="de-DE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FABADD39-1B7D-365C-BFD9-BC5CD7250DA4}"/>
                </a:ext>
              </a:extLst>
            </p:cNvPr>
            <p:cNvCxnSpPr>
              <a:stCxn id="21" idx="6"/>
              <a:endCxn id="20" idx="2"/>
            </p:cNvCxnSpPr>
            <p:nvPr/>
          </p:nvCxnSpPr>
          <p:spPr>
            <a:xfrm>
              <a:off x="1086090" y="1747945"/>
              <a:ext cx="2209802" cy="16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017C57E6-0E81-3944-0308-7174C831DE34}"/>
                </a:ext>
              </a:extLst>
            </p:cNvPr>
            <p:cNvCxnSpPr>
              <a:stCxn id="20" idx="4"/>
              <a:endCxn id="22" idx="0"/>
            </p:cNvCxnSpPr>
            <p:nvPr/>
          </p:nvCxnSpPr>
          <p:spPr>
            <a:xfrm rot="5400000">
              <a:off x="3089375" y="2602127"/>
              <a:ext cx="1060349" cy="17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A034D3B2-9745-16FC-66F0-8C909B3B6F38}"/>
                </a:ext>
              </a:extLst>
            </p:cNvPr>
            <p:cNvCxnSpPr>
              <a:stCxn id="22" idx="2"/>
              <a:endCxn id="23" idx="6"/>
            </p:cNvCxnSpPr>
            <p:nvPr/>
          </p:nvCxnSpPr>
          <p:spPr>
            <a:xfrm rot="10800000" flipV="1">
              <a:off x="1086090" y="3462973"/>
              <a:ext cx="220980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57B9371D-0B82-D4D7-E316-B644BC0BFB51}"/>
                </a:ext>
              </a:extLst>
            </p:cNvPr>
            <p:cNvCxnSpPr>
              <a:stCxn id="23" idx="0"/>
              <a:endCxn id="21" idx="4"/>
            </p:cNvCxnSpPr>
            <p:nvPr/>
          </p:nvCxnSpPr>
          <p:spPr>
            <a:xfrm rot="5400000" flipH="1" flipV="1">
              <a:off x="228958" y="2605425"/>
              <a:ext cx="1066946" cy="17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96B96D2F-B087-FADE-CFFE-3A0487139CA0}"/>
                </a:ext>
              </a:extLst>
            </p:cNvPr>
            <p:cNvCxnSpPr>
              <a:endCxn id="21" idx="2"/>
            </p:cNvCxnSpPr>
            <p:nvPr/>
          </p:nvCxnSpPr>
          <p:spPr>
            <a:xfrm>
              <a:off x="179504" y="1714964"/>
              <a:ext cx="25926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BA3B31B-D680-9C79-5874-7383DBF64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935" y="1411536"/>
              <a:ext cx="2065286" cy="3836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approach!, x := 0</a:t>
              </a:r>
              <a:endParaRPr lang="de-DE" sz="180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6DB4401-1A2D-AF91-7211-7716E0CCF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430" y="3411800"/>
              <a:ext cx="615841" cy="3836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/>
                <a:t>out!</a:t>
              </a:r>
              <a:endParaRPr lang="de-DE" sz="1800" dirty="0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A612CCC-D0B6-3152-B35A-33B9469F1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668" y="2143540"/>
              <a:ext cx="962598" cy="959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/>
                <a:t>x &gt;= 2,</a:t>
              </a:r>
            </a:p>
            <a:p>
              <a:r>
                <a:rPr lang="en-US" sz="1800" dirty="0"/>
                <a:t>in!,</a:t>
              </a:r>
            </a:p>
            <a:p>
              <a:r>
                <a:rPr lang="en-US" sz="1800" dirty="0"/>
                <a:t>x := 0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78E7C2AC-6B41-D3A0-82C5-3ACFF1877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73" y="2423810"/>
              <a:ext cx="657452" cy="3836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exit!</a:t>
              </a:r>
              <a:endParaRPr lang="de-DE" sz="1800"/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8D41801A-C9AF-D490-3F63-6BC77CA55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2099" y="2423810"/>
              <a:ext cx="1033684" cy="415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</a:rPr>
                <a:t>TRAIN</a:t>
              </a:r>
              <a:endParaRPr lang="de-DE" sz="2000">
                <a:solidFill>
                  <a:schemeClr val="tx2"/>
                </a:solidFill>
              </a:endParaRPr>
            </a:p>
          </p:txBody>
        </p:sp>
      </p:grpSp>
      <p:grpSp>
        <p:nvGrpSpPr>
          <p:cNvPr id="34" name="Gruppieren 53">
            <a:extLst>
              <a:ext uri="{FF2B5EF4-FFF2-40B4-BE49-F238E27FC236}">
                <a16:creationId xmlns:a16="http://schemas.microsoft.com/office/drawing/2014/main" id="{9CAD5DAA-0605-4C91-89D2-058DE4C233B7}"/>
              </a:ext>
            </a:extLst>
          </p:cNvPr>
          <p:cNvGrpSpPr>
            <a:grpSpLocks/>
          </p:cNvGrpSpPr>
          <p:nvPr/>
        </p:nvGrpSpPr>
        <p:grpSpPr bwMode="auto">
          <a:xfrm>
            <a:off x="3927724" y="4230983"/>
            <a:ext cx="4945338" cy="2249454"/>
            <a:chOff x="2071670" y="3929066"/>
            <a:chExt cx="5165355" cy="2393197"/>
          </a:xfrm>
        </p:grpSpPr>
        <p:sp>
          <p:nvSpPr>
            <p:cNvPr id="35" name="Ellipse 37">
              <a:extLst>
                <a:ext uri="{FF2B5EF4-FFF2-40B4-BE49-F238E27FC236}">
                  <a16:creationId xmlns:a16="http://schemas.microsoft.com/office/drawing/2014/main" id="{F9FC7306-C187-613A-0CDB-47ABBAE178C6}"/>
                </a:ext>
              </a:extLst>
            </p:cNvPr>
            <p:cNvSpPr/>
            <p:nvPr/>
          </p:nvSpPr>
          <p:spPr>
            <a:xfrm>
              <a:off x="5424404" y="3940889"/>
              <a:ext cx="648327" cy="6485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c</a:t>
              </a:r>
              <a:r>
                <a:rPr lang="en-US" sz="1600" baseline="-25000">
                  <a:solidFill>
                    <a:schemeClr val="tx1"/>
                  </a:solidFill>
                </a:rPr>
                <a:t>1</a:t>
              </a:r>
              <a:endParaRPr lang="en-US" sz="160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z </a:t>
              </a:r>
              <a:r>
                <a:rPr lang="en-US" sz="1600">
                  <a:solidFill>
                    <a:schemeClr val="tx1"/>
                  </a:solidFill>
                  <a:cs typeface="Arial"/>
                </a:rPr>
                <a:t>≤ 1</a:t>
              </a:r>
              <a:endParaRPr lang="de-DE" sz="1600">
                <a:solidFill>
                  <a:schemeClr val="tx1"/>
                </a:solidFill>
              </a:endParaRPr>
            </a:p>
          </p:txBody>
        </p:sp>
        <p:sp>
          <p:nvSpPr>
            <p:cNvPr id="36" name="Ellipse 38">
              <a:extLst>
                <a:ext uri="{FF2B5EF4-FFF2-40B4-BE49-F238E27FC236}">
                  <a16:creationId xmlns:a16="http://schemas.microsoft.com/office/drawing/2014/main" id="{B9A30879-7A1A-938F-D960-94E27AD26BB0}"/>
                </a:ext>
              </a:extLst>
            </p:cNvPr>
            <p:cNvSpPr/>
            <p:nvPr/>
          </p:nvSpPr>
          <p:spPr>
            <a:xfrm>
              <a:off x="2567450" y="3940889"/>
              <a:ext cx="646670" cy="6485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c</a:t>
              </a:r>
              <a:r>
                <a:rPr lang="de-DE" sz="1600" baseline="-25000">
                  <a:solidFill>
                    <a:schemeClr val="tx1"/>
                  </a:solidFill>
                </a:rPr>
                <a:t>0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7" name="Ellipse 39">
              <a:extLst>
                <a:ext uri="{FF2B5EF4-FFF2-40B4-BE49-F238E27FC236}">
                  <a16:creationId xmlns:a16="http://schemas.microsoft.com/office/drawing/2014/main" id="{F65C17A7-A3B1-163B-5881-7A23BDD74E39}"/>
                </a:ext>
              </a:extLst>
            </p:cNvPr>
            <p:cNvSpPr/>
            <p:nvPr/>
          </p:nvSpPr>
          <p:spPr>
            <a:xfrm>
              <a:off x="5424404" y="5650100"/>
              <a:ext cx="648327" cy="6485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c</a:t>
              </a:r>
              <a:r>
                <a:rPr lang="en-US" sz="1600" baseline="-25000">
                  <a:solidFill>
                    <a:schemeClr val="tx1"/>
                  </a:solidFill>
                </a:rPr>
                <a:t>2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8" name="Ellipse 40">
              <a:extLst>
                <a:ext uri="{FF2B5EF4-FFF2-40B4-BE49-F238E27FC236}">
                  <a16:creationId xmlns:a16="http://schemas.microsoft.com/office/drawing/2014/main" id="{5F315623-50D5-3C69-D3F8-42CE01BDEF04}"/>
                </a:ext>
              </a:extLst>
            </p:cNvPr>
            <p:cNvSpPr/>
            <p:nvPr/>
          </p:nvSpPr>
          <p:spPr>
            <a:xfrm>
              <a:off x="2567450" y="5655166"/>
              <a:ext cx="646670" cy="6485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0" rIns="0" bIns="0" anchor="ctr" anchorCtr="1"/>
            <a:lstStyle/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c</a:t>
              </a:r>
              <a:r>
                <a:rPr lang="en-US" sz="1600" baseline="-25000">
                  <a:solidFill>
                    <a:schemeClr val="tx1"/>
                  </a:solidFill>
                </a:rPr>
                <a:t>3</a:t>
              </a:r>
              <a:endParaRPr lang="en-US" sz="160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600">
                  <a:solidFill>
                    <a:schemeClr val="tx1"/>
                  </a:solidFill>
                </a:rPr>
                <a:t>z </a:t>
              </a:r>
              <a:r>
                <a:rPr lang="en-US" sz="1600">
                  <a:solidFill>
                    <a:schemeClr val="tx1"/>
                  </a:solidFill>
                  <a:cs typeface="Arial"/>
                </a:rPr>
                <a:t>≤ 1</a:t>
              </a:r>
              <a:endParaRPr lang="de-DE" sz="1600">
                <a:solidFill>
                  <a:schemeClr val="tx1"/>
                </a:solidFill>
              </a:endParaRPr>
            </a:p>
          </p:txBody>
        </p:sp>
        <p:cxnSp>
          <p:nvCxnSpPr>
            <p:cNvPr id="39" name="Gerade Verbindung mit Pfeil 41">
              <a:extLst>
                <a:ext uri="{FF2B5EF4-FFF2-40B4-BE49-F238E27FC236}">
                  <a16:creationId xmlns:a16="http://schemas.microsoft.com/office/drawing/2014/main" id="{AB515B32-4A60-644F-7952-0CE83680C1C4}"/>
                </a:ext>
              </a:extLst>
            </p:cNvPr>
            <p:cNvCxnSpPr>
              <a:stCxn id="36" idx="6"/>
              <a:endCxn id="35" idx="2"/>
            </p:cNvCxnSpPr>
            <p:nvPr/>
          </p:nvCxnSpPr>
          <p:spPr>
            <a:xfrm>
              <a:off x="3214119" y="4265166"/>
              <a:ext cx="2210284" cy="1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42">
              <a:extLst>
                <a:ext uri="{FF2B5EF4-FFF2-40B4-BE49-F238E27FC236}">
                  <a16:creationId xmlns:a16="http://schemas.microsoft.com/office/drawing/2014/main" id="{24C7DA8F-A01B-D21F-D666-2B0A8F5AF45E}"/>
                </a:ext>
              </a:extLst>
            </p:cNvPr>
            <p:cNvCxnSpPr>
              <a:stCxn id="35" idx="4"/>
              <a:endCxn id="37" idx="0"/>
            </p:cNvCxnSpPr>
            <p:nvPr/>
          </p:nvCxnSpPr>
          <p:spPr>
            <a:xfrm rot="5400000">
              <a:off x="5217394" y="5119787"/>
              <a:ext cx="1062345" cy="16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3">
              <a:extLst>
                <a:ext uri="{FF2B5EF4-FFF2-40B4-BE49-F238E27FC236}">
                  <a16:creationId xmlns:a16="http://schemas.microsoft.com/office/drawing/2014/main" id="{F186AC59-6ADC-F618-91EC-67A5CB55B113}"/>
                </a:ext>
              </a:extLst>
            </p:cNvPr>
            <p:cNvCxnSpPr>
              <a:stCxn id="37" idx="2"/>
              <a:endCxn id="38" idx="6"/>
            </p:cNvCxnSpPr>
            <p:nvPr/>
          </p:nvCxnSpPr>
          <p:spPr>
            <a:xfrm rot="10800000" flipV="1">
              <a:off x="3214119" y="5979443"/>
              <a:ext cx="221028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4">
              <a:extLst>
                <a:ext uri="{FF2B5EF4-FFF2-40B4-BE49-F238E27FC236}">
                  <a16:creationId xmlns:a16="http://schemas.microsoft.com/office/drawing/2014/main" id="{80DD9746-02B9-E966-2EBE-E641FC3C267D}"/>
                </a:ext>
              </a:extLst>
            </p:cNvPr>
            <p:cNvCxnSpPr>
              <a:stCxn id="38" idx="0"/>
              <a:endCxn id="36" idx="4"/>
            </p:cNvCxnSpPr>
            <p:nvPr/>
          </p:nvCxnSpPr>
          <p:spPr>
            <a:xfrm rot="5400000" flipH="1" flipV="1">
              <a:off x="2356250" y="5122320"/>
              <a:ext cx="1067412" cy="16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5">
              <a:extLst>
                <a:ext uri="{FF2B5EF4-FFF2-40B4-BE49-F238E27FC236}">
                  <a16:creationId xmlns:a16="http://schemas.microsoft.com/office/drawing/2014/main" id="{199C75E3-57FE-1609-6B15-14BF2C2C5025}"/>
                </a:ext>
              </a:extLst>
            </p:cNvPr>
            <p:cNvCxnSpPr>
              <a:endCxn id="36" idx="2"/>
            </p:cNvCxnSpPr>
            <p:nvPr/>
          </p:nvCxnSpPr>
          <p:spPr>
            <a:xfrm flipV="1">
              <a:off x="2071670" y="4265166"/>
              <a:ext cx="4957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6">
              <a:extLst>
                <a:ext uri="{FF2B5EF4-FFF2-40B4-BE49-F238E27FC236}">
                  <a16:creationId xmlns:a16="http://schemas.microsoft.com/office/drawing/2014/main" id="{A6731A85-F2AE-6C68-84F8-0EE144B3A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3650" y="3929066"/>
              <a:ext cx="2061423" cy="392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approach?, z := 0</a:t>
              </a:r>
              <a:endParaRPr lang="de-DE" sz="1800"/>
            </a:p>
          </p:txBody>
        </p:sp>
        <p:sp>
          <p:nvSpPr>
            <p:cNvPr id="45" name="Textfeld 47">
              <a:extLst>
                <a:ext uri="{FF2B5EF4-FFF2-40B4-BE49-F238E27FC236}">
                  <a16:creationId xmlns:a16="http://schemas.microsoft.com/office/drawing/2014/main" id="{14FE722F-BFB1-8572-38D3-D1A8549D1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1347" y="5929330"/>
              <a:ext cx="1364906" cy="392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exit?, z:= 0</a:t>
              </a:r>
              <a:endParaRPr lang="de-DE" sz="1800"/>
            </a:p>
          </p:txBody>
        </p:sp>
        <p:sp>
          <p:nvSpPr>
            <p:cNvPr id="46" name="Textfeld 48">
              <a:extLst>
                <a:ext uri="{FF2B5EF4-FFF2-40B4-BE49-F238E27FC236}">
                  <a16:creationId xmlns:a16="http://schemas.microsoft.com/office/drawing/2014/main" id="{D392D74F-4BE9-1F8F-0535-AFED4CB56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8174" y="4857760"/>
              <a:ext cx="1498851" cy="392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z = 1, lower!</a:t>
              </a:r>
              <a:endParaRPr lang="de-DE" sz="1800"/>
            </a:p>
          </p:txBody>
        </p:sp>
        <p:sp>
          <p:nvSpPr>
            <p:cNvPr id="47" name="Textfeld 49">
              <a:extLst>
                <a:ext uri="{FF2B5EF4-FFF2-40B4-BE49-F238E27FC236}">
                  <a16:creationId xmlns:a16="http://schemas.microsoft.com/office/drawing/2014/main" id="{B091835A-C057-83B8-51D4-488E0F0F4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790" y="4941340"/>
              <a:ext cx="782242" cy="392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raise!</a:t>
              </a:r>
              <a:endParaRPr lang="de-DE" sz="1800"/>
            </a:p>
          </p:txBody>
        </p:sp>
        <p:sp>
          <p:nvSpPr>
            <p:cNvPr id="48" name="Textfeld 50">
              <a:extLst>
                <a:ext uri="{FF2B5EF4-FFF2-40B4-BE49-F238E27FC236}">
                  <a16:creationId xmlns:a16="http://schemas.microsoft.com/office/drawing/2014/main" id="{666A7F60-0A9D-481A-1E4E-E8D4BC6C6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7863" y="4941340"/>
              <a:ext cx="2026263" cy="425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</a:rPr>
                <a:t>CONTROLLER</a:t>
              </a:r>
              <a:endParaRPr lang="de-DE" sz="200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441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1088-C507-1F81-FBCA-AF9FDAF9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r>
              <a:rPr lang="en-DE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D0448-5C7E-A74D-C9F2-AC7F4EFF7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400" dirty="0"/>
              <a:t>Split in 5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400" dirty="0"/>
              <a:t>Each chooses one of the following exercises and tries to solve it</a:t>
            </a:r>
          </a:p>
        </p:txBody>
      </p:sp>
    </p:spTree>
    <p:extLst>
      <p:ext uri="{BB962C8B-B14F-4D97-AF65-F5344CB8AC3E}">
        <p14:creationId xmlns:p14="http://schemas.microsoft.com/office/powerpoint/2010/main" val="421352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E173-C9B6-77DB-3888-88A88D3A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Exercise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DC21D-886E-9BBB-1B98-2DC76625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15873"/>
            <a:ext cx="11607252" cy="4431983"/>
          </a:xfrm>
        </p:spPr>
        <p:txBody>
          <a:bodyPr/>
          <a:lstStyle/>
          <a:p>
            <a:r>
              <a:rPr lang="en-GB" b="1" dirty="0"/>
              <a:t>Task 1: Traffic Light Controller</a:t>
            </a:r>
          </a:p>
          <a:p>
            <a:endParaRPr lang="en-GB" dirty="0"/>
          </a:p>
          <a:p>
            <a:r>
              <a:rPr lang="en-GB" dirty="0"/>
              <a:t>Design a timed automaton that models the </a:t>
            </a:r>
            <a:r>
              <a:rPr lang="en-GB" dirty="0" err="1"/>
              <a:t>behavior</a:t>
            </a:r>
            <a:r>
              <a:rPr lang="en-GB" dirty="0"/>
              <a:t> of a simple </a:t>
            </a:r>
            <a:r>
              <a:rPr lang="en-GB" b="1" dirty="0"/>
              <a:t>traffic light</a:t>
            </a:r>
            <a:r>
              <a:rPr lang="en-GB" dirty="0"/>
              <a:t> for cars at a junction.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traffic light has four main phases: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Red, Red-Yellow, Green, Yellow.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phase lasts a specific amount of time: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Red: 10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Red-Yellow: 2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Green: 15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Yellow: 3 seconds</a:t>
            </a:r>
          </a:p>
          <a:p>
            <a:endParaRPr lang="en-GB" dirty="0"/>
          </a:p>
          <a:p>
            <a:r>
              <a:rPr lang="en-GB" b="1" dirty="0"/>
              <a:t>Tasks:</a:t>
            </a:r>
          </a:p>
          <a:p>
            <a:r>
              <a:rPr lang="en-GB" dirty="0"/>
              <a:t>Define the </a:t>
            </a:r>
            <a:r>
              <a:rPr lang="en-GB" b="1" dirty="0"/>
              <a:t>set of states</a:t>
            </a:r>
            <a:r>
              <a:rPr lang="en-GB" dirty="0"/>
              <a:t>, </a:t>
            </a:r>
            <a:r>
              <a:rPr lang="en-GB" b="1" dirty="0"/>
              <a:t>transitions</a:t>
            </a:r>
            <a:r>
              <a:rPr lang="en-GB" dirty="0"/>
              <a:t>, and </a:t>
            </a:r>
            <a:r>
              <a:rPr lang="en-GB" b="1" dirty="0"/>
              <a:t>clock variables</a:t>
            </a:r>
            <a:r>
              <a:rPr lang="en-GB" dirty="0"/>
              <a:t>.</a:t>
            </a:r>
          </a:p>
          <a:p>
            <a:r>
              <a:rPr lang="en-GB" dirty="0"/>
              <a:t>(Hint: You can use one clock x that resets at each transition.)</a:t>
            </a:r>
          </a:p>
          <a:p>
            <a:r>
              <a:rPr lang="en-GB" dirty="0"/>
              <a:t>Specify the </a:t>
            </a:r>
            <a:r>
              <a:rPr lang="en-GB" b="1" dirty="0"/>
              <a:t>guards</a:t>
            </a:r>
            <a:r>
              <a:rPr lang="en-GB" dirty="0"/>
              <a:t> and </a:t>
            </a:r>
            <a:r>
              <a:rPr lang="en-GB" b="1" dirty="0"/>
              <a:t>invariants</a:t>
            </a:r>
            <a:r>
              <a:rPr lang="en-GB" dirty="0"/>
              <a:t> for each state:</a:t>
            </a:r>
          </a:p>
          <a:p>
            <a:r>
              <a:rPr lang="en-GB" dirty="0"/>
              <a:t>e.g. transition Red → Red-Yellow when x ≥ 10.</a:t>
            </a:r>
          </a:p>
        </p:txBody>
      </p:sp>
    </p:spTree>
    <p:extLst>
      <p:ext uri="{BB962C8B-B14F-4D97-AF65-F5344CB8AC3E}">
        <p14:creationId xmlns:p14="http://schemas.microsoft.com/office/powerpoint/2010/main" val="2312533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EC78-A0B7-2E86-EEBE-072A2E60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Exercise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F0696-F82E-4532-F661-0FC8F667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21260"/>
            <a:ext cx="11858270" cy="4985980"/>
          </a:xfrm>
        </p:spPr>
        <p:txBody>
          <a:bodyPr/>
          <a:lstStyle/>
          <a:p>
            <a:r>
              <a:rPr lang="en-GB" b="1" dirty="0"/>
              <a:t>Task 2: Elevator Door Controller</a:t>
            </a:r>
          </a:p>
          <a:p>
            <a:br>
              <a:rPr lang="en-GB" dirty="0"/>
            </a:br>
            <a:r>
              <a:rPr lang="en-GB" dirty="0"/>
              <a:t>Model the </a:t>
            </a:r>
            <a:r>
              <a:rPr lang="en-GB" dirty="0" err="1"/>
              <a:t>behavior</a:t>
            </a:r>
            <a:r>
              <a:rPr lang="en-GB" dirty="0"/>
              <a:t> of an </a:t>
            </a:r>
            <a:r>
              <a:rPr lang="en-GB" b="1" dirty="0"/>
              <a:t>elevator door</a:t>
            </a:r>
            <a:r>
              <a:rPr lang="en-GB" dirty="0"/>
              <a:t> that opens and closes automatically after a delay.</a:t>
            </a:r>
          </a:p>
          <a:p>
            <a:br>
              <a:rPr lang="en-GB" dirty="0"/>
            </a:br>
            <a:r>
              <a:rPr lang="en-GB" dirty="0"/>
              <a:t>The door has the following main states: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Closing</a:t>
            </a:r>
          </a:p>
          <a:p>
            <a:r>
              <a:rPr lang="en-GB" b="1" dirty="0"/>
              <a:t>Tasks:</a:t>
            </a:r>
          </a:p>
          <a:p>
            <a:r>
              <a:rPr lang="en-GB" dirty="0"/>
              <a:t>Define a </a:t>
            </a:r>
            <a:r>
              <a:rPr lang="en-GB" b="1" dirty="0"/>
              <a:t>timed automaton</a:t>
            </a:r>
            <a:r>
              <a:rPr lang="en-GB" dirty="0"/>
              <a:t> with:</a:t>
            </a:r>
          </a:p>
          <a:p>
            <a:r>
              <a:rPr lang="en-GB" dirty="0"/>
              <a:t>A clock variable x that measures time within each state.</a:t>
            </a:r>
          </a:p>
          <a:p>
            <a:r>
              <a:rPr lang="en-GB" dirty="0"/>
              <a:t>Transitions triggered by conditions on x and external events.</a:t>
            </a:r>
          </a:p>
          <a:p>
            <a:r>
              <a:rPr lang="en-GB" dirty="0"/>
              <a:t>Include the following </a:t>
            </a:r>
            <a:r>
              <a:rPr lang="en-GB" dirty="0" err="1"/>
              <a:t>behavior</a:t>
            </a:r>
            <a:r>
              <a:rPr lang="en-GB" dirty="0"/>
              <a:t>:</a:t>
            </a:r>
          </a:p>
          <a:p>
            <a:r>
              <a:rPr lang="en-GB" dirty="0"/>
              <a:t>Opening takes 3 seconds → transition Opening → Open when x ≥ 3.</a:t>
            </a:r>
          </a:p>
          <a:p>
            <a:r>
              <a:rPr lang="en-GB" dirty="0"/>
              <a:t>The door remains open for 10 seconds → Open → Closing when x ≥ 10.</a:t>
            </a:r>
          </a:p>
          <a:p>
            <a:r>
              <a:rPr lang="en-GB" dirty="0"/>
              <a:t>Closing takes 3 seconds → Closing → Closed when x ≥ 3.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18601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63AB-B07D-70F0-CE55-824D9C54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Exercise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559B3-256A-AFFC-0787-DA9E89122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87361"/>
            <a:ext cx="11717421" cy="4154984"/>
          </a:xfrm>
        </p:spPr>
        <p:txBody>
          <a:bodyPr/>
          <a:lstStyle/>
          <a:p>
            <a:r>
              <a:rPr lang="en-GB" b="1" dirty="0"/>
              <a:t>Task 3: Library System (UML Class Diagram)</a:t>
            </a:r>
          </a:p>
          <a:p>
            <a:br>
              <a:rPr lang="en-GB" dirty="0"/>
            </a:br>
            <a:r>
              <a:rPr lang="en-GB" dirty="0"/>
              <a:t>Design a class diagram for a small </a:t>
            </a:r>
            <a:r>
              <a:rPr lang="en-GB" b="1" dirty="0"/>
              <a:t>library management system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system manages books, users, and loans.</a:t>
            </a:r>
          </a:p>
          <a:p>
            <a:br>
              <a:rPr lang="en-GB" dirty="0"/>
            </a:br>
            <a:r>
              <a:rPr lang="en-GB" b="1" dirty="0"/>
              <a:t>Tasks:</a:t>
            </a:r>
          </a:p>
          <a:p>
            <a:r>
              <a:rPr lang="en-GB" dirty="0"/>
              <a:t>Identify the main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Library, Book, Copy, User, Loan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Define meaningful </a:t>
            </a:r>
            <a:r>
              <a:rPr lang="en-GB" b="1" dirty="0"/>
              <a:t>attributes</a:t>
            </a:r>
            <a:r>
              <a:rPr lang="en-GB" dirty="0"/>
              <a:t> (e.g. title, author, </a:t>
            </a:r>
            <a:r>
              <a:rPr lang="en-GB" dirty="0" err="1"/>
              <a:t>dueDate</a:t>
            </a:r>
            <a:r>
              <a:rPr lang="en-GB" dirty="0"/>
              <a:t>) and </a:t>
            </a:r>
            <a:r>
              <a:rPr lang="en-GB" b="1" dirty="0"/>
              <a:t>operations</a:t>
            </a:r>
            <a:r>
              <a:rPr lang="en-GB" dirty="0"/>
              <a:t> (e.g. borrow(), return()).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Specify </a:t>
            </a:r>
            <a:r>
              <a:rPr lang="en-GB" b="1" dirty="0"/>
              <a:t>relationships</a:t>
            </a:r>
            <a:r>
              <a:rPr lang="en-GB" dirty="0"/>
              <a:t> and </a:t>
            </a:r>
            <a:r>
              <a:rPr lang="en-GB" b="1" dirty="0"/>
              <a:t>multiplicities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Library manages many Books.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Book can have several Copies.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User can have multiple Loans, each linked to a single Copy.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8067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ACF1-2284-5EF6-DCF5-4D67EB6E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Exercise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A1652-347F-CA6C-A06B-A40924A3F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21260"/>
            <a:ext cx="11596235" cy="4708981"/>
          </a:xfrm>
        </p:spPr>
        <p:txBody>
          <a:bodyPr/>
          <a:lstStyle/>
          <a:p>
            <a:r>
              <a:rPr lang="en-GB" b="1" dirty="0"/>
              <a:t>Task 4: Online Shop (UML Class Diagram)</a:t>
            </a:r>
          </a:p>
          <a:p>
            <a:endParaRPr lang="en-GB" dirty="0"/>
          </a:p>
          <a:p>
            <a:r>
              <a:rPr lang="en-GB" dirty="0"/>
              <a:t>Model a simplified </a:t>
            </a:r>
            <a:r>
              <a:rPr lang="en-GB" b="1" dirty="0"/>
              <a:t>online shopping system</a:t>
            </a:r>
            <a:r>
              <a:rPr lang="en-GB" dirty="0"/>
              <a:t>.</a:t>
            </a:r>
          </a:p>
          <a:p>
            <a:r>
              <a:rPr lang="en-GB" dirty="0"/>
              <a:t>The system handles products, customers, orders, and payments.</a:t>
            </a:r>
          </a:p>
          <a:p>
            <a:endParaRPr lang="en-GB" dirty="0"/>
          </a:p>
          <a:p>
            <a:r>
              <a:rPr lang="en-GB" b="1" dirty="0"/>
              <a:t>Tasks:</a:t>
            </a:r>
          </a:p>
          <a:p>
            <a:r>
              <a:rPr lang="en-GB" dirty="0"/>
              <a:t>Identify key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Product, Customer, Order, </a:t>
            </a:r>
            <a:r>
              <a:rPr lang="en-GB" dirty="0" err="1"/>
              <a:t>OrderItem</a:t>
            </a:r>
            <a:r>
              <a:rPr lang="en-GB" dirty="0"/>
              <a:t>, Payment, Shipment</a:t>
            </a:r>
          </a:p>
          <a:p>
            <a:r>
              <a:rPr lang="en-GB" dirty="0"/>
              <a:t>Specify relationships: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Order is composed of several </a:t>
            </a:r>
            <a:r>
              <a:rPr lang="en-GB" dirty="0" err="1"/>
              <a:t>OrderItems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</a:t>
            </a:r>
            <a:r>
              <a:rPr lang="en-GB" dirty="0" err="1"/>
              <a:t>OrderItem</a:t>
            </a:r>
            <a:r>
              <a:rPr lang="en-GB" dirty="0"/>
              <a:t> refers to one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Customer can place multiple Orders.</a:t>
            </a:r>
          </a:p>
          <a:p>
            <a:r>
              <a:rPr lang="en-GB" dirty="0"/>
              <a:t>Add a </a:t>
            </a:r>
            <a:r>
              <a:rPr lang="en-GB" b="1" dirty="0"/>
              <a:t>payment hierarchy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Abstract class Payment</a:t>
            </a:r>
          </a:p>
          <a:p>
            <a:r>
              <a:rPr lang="en-GB" dirty="0"/>
              <a:t>→ Subclasses: </a:t>
            </a:r>
            <a:r>
              <a:rPr lang="en-GB" dirty="0" err="1"/>
              <a:t>CreditCardPayment</a:t>
            </a:r>
            <a:r>
              <a:rPr lang="en-GB" dirty="0"/>
              <a:t>, </a:t>
            </a:r>
            <a:r>
              <a:rPr lang="en-GB" dirty="0" err="1"/>
              <a:t>PayPalPayment</a:t>
            </a:r>
            <a:r>
              <a:rPr lang="en-GB" dirty="0"/>
              <a:t>, </a:t>
            </a:r>
            <a:r>
              <a:rPr lang="en-GB" dirty="0" err="1"/>
              <a:t>InvoicePayment</a:t>
            </a:r>
            <a:r>
              <a:rPr lang="en-GB" dirty="0"/>
              <a:t>.</a:t>
            </a:r>
          </a:p>
          <a:p>
            <a:r>
              <a:rPr lang="en-GB" dirty="0"/>
              <a:t>Add useful attributes and methods (e.g. </a:t>
            </a:r>
            <a:r>
              <a:rPr lang="en-GB" dirty="0" err="1"/>
              <a:t>calculateTotal</a:t>
            </a:r>
            <a:r>
              <a:rPr lang="en-GB" dirty="0"/>
              <a:t>(), </a:t>
            </a:r>
            <a:r>
              <a:rPr lang="en-GB" dirty="0" err="1"/>
              <a:t>confirmPayment</a:t>
            </a:r>
            <a:r>
              <a:rPr lang="en-GB" dirty="0"/>
              <a:t>()).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0482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96E4-1ED5-D728-1E93-F33AB3CD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Exercise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D4DE7-9684-7E9C-6C16-2E31F16A0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864479"/>
            <a:ext cx="11353483" cy="4154984"/>
          </a:xfrm>
        </p:spPr>
        <p:txBody>
          <a:bodyPr/>
          <a:lstStyle/>
          <a:p>
            <a:r>
              <a:rPr lang="en-GB" b="1" dirty="0"/>
              <a:t>Task 5: Coffee Machine (Combining Structural &amp; </a:t>
            </a:r>
            <a:r>
              <a:rPr lang="en-GB" b="1" dirty="0" err="1"/>
              <a:t>Behavioral</a:t>
            </a:r>
            <a:r>
              <a:rPr lang="en-GB" b="1" dirty="0"/>
              <a:t> Models)</a:t>
            </a:r>
          </a:p>
          <a:p>
            <a:endParaRPr lang="en-GB" dirty="0"/>
          </a:p>
          <a:p>
            <a:r>
              <a:rPr lang="en-GB" dirty="0"/>
              <a:t>Model a </a:t>
            </a:r>
            <a:r>
              <a:rPr lang="en-GB" b="1" dirty="0"/>
              <a:t>coffee vending machine</a:t>
            </a:r>
            <a:r>
              <a:rPr lang="en-GB" dirty="0"/>
              <a:t> that allows a user to select a drink, pay, and receive the coffee.</a:t>
            </a:r>
          </a:p>
          <a:p>
            <a:br>
              <a:rPr lang="en-GB" dirty="0"/>
            </a:br>
            <a:r>
              <a:rPr lang="en-GB" b="1" dirty="0"/>
              <a:t>Tasks:</a:t>
            </a:r>
          </a:p>
          <a:p>
            <a:r>
              <a:rPr lang="en-GB" dirty="0"/>
              <a:t>Create a </a:t>
            </a:r>
            <a:r>
              <a:rPr lang="en-GB" b="1" dirty="0" err="1"/>
              <a:t>Statechart</a:t>
            </a:r>
            <a:r>
              <a:rPr lang="en-GB" b="1" dirty="0"/>
              <a:t> Diagram</a:t>
            </a:r>
            <a:r>
              <a:rPr lang="en-GB" dirty="0"/>
              <a:t> describing the system’s </a:t>
            </a:r>
            <a:r>
              <a:rPr lang="en-GB" dirty="0" err="1"/>
              <a:t>behavior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States: Idle, Selection, Payment, Brewing, Dispensing,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Events: button pressed, payment completed, coffee ready, error detected.</a:t>
            </a:r>
          </a:p>
          <a:p>
            <a:r>
              <a:rPr lang="en-GB" dirty="0"/>
              <a:t>Create a </a:t>
            </a:r>
            <a:r>
              <a:rPr lang="en-GB" b="1" dirty="0"/>
              <a:t>Class Diagram</a:t>
            </a:r>
            <a:r>
              <a:rPr lang="en-GB" dirty="0"/>
              <a:t> describing the system’s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CoffeeMachine</a:t>
            </a:r>
            <a:r>
              <a:rPr lang="en-GB" dirty="0"/>
              <a:t>, </a:t>
            </a:r>
            <a:r>
              <a:rPr lang="en-GB" dirty="0" err="1"/>
              <a:t>UserInterface</a:t>
            </a:r>
            <a:r>
              <a:rPr lang="en-GB" dirty="0"/>
              <a:t>, </a:t>
            </a:r>
            <a:r>
              <a:rPr lang="en-GB" dirty="0" err="1"/>
              <a:t>PaymentModule</a:t>
            </a:r>
            <a:r>
              <a:rPr lang="en-GB" dirty="0"/>
              <a:t>, </a:t>
            </a:r>
            <a:r>
              <a:rPr lang="en-GB" dirty="0" err="1"/>
              <a:t>BrewingUnit</a:t>
            </a:r>
            <a:r>
              <a:rPr lang="en-GB" dirty="0"/>
              <a:t>, Sensor</a:t>
            </a:r>
          </a:p>
          <a:p>
            <a:r>
              <a:rPr lang="en-GB" dirty="0"/>
              <a:t>Indicate how objects collaborate: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</a:t>
            </a:r>
            <a:r>
              <a:rPr lang="en-GB" dirty="0" err="1"/>
              <a:t>UserInterface</a:t>
            </a:r>
            <a:r>
              <a:rPr lang="en-GB" dirty="0"/>
              <a:t> sends commands to </a:t>
            </a:r>
            <a:r>
              <a:rPr lang="en-GB" dirty="0" err="1"/>
              <a:t>PaymentModule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BrewingUnit</a:t>
            </a:r>
            <a:r>
              <a:rPr lang="en-GB" dirty="0"/>
              <a:t> reports status to the controller.</a:t>
            </a:r>
          </a:p>
          <a:p>
            <a:r>
              <a:rPr lang="en-GB" dirty="0"/>
              <a:t>(Optional) Draw a </a:t>
            </a:r>
            <a:r>
              <a:rPr lang="en-GB" b="1" dirty="0"/>
              <a:t>Sequence Diagram</a:t>
            </a:r>
            <a:r>
              <a:rPr lang="en-GB" dirty="0"/>
              <a:t> showing the flow for one coffee purchase.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67065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CDB98-6C5F-3498-4748-3FDA5A9D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9E60A3-C9F8-2851-33BE-BB22ECA6891B}"/>
              </a:ext>
            </a:extLst>
          </p:cNvPr>
          <p:cNvSpPr txBox="1">
            <a:spLocks/>
          </p:cNvSpPr>
          <p:nvPr/>
        </p:nvSpPr>
        <p:spPr>
          <a:xfrm>
            <a:off x="339565" y="629166"/>
            <a:ext cx="8233746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DE" dirty="0"/>
              <a:t>Requirements Engineering</a:t>
            </a:r>
          </a:p>
          <a:p>
            <a:r>
              <a:rPr lang="en-DE" sz="2400" dirty="0"/>
              <a:t>Software Quality</a:t>
            </a:r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2EA42C-085D-0F61-69A5-531B27DB2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11" y="1933353"/>
            <a:ext cx="10692410" cy="3751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25D3C9-E6BD-62EA-8562-4E9F6BACCFBE}"/>
              </a:ext>
            </a:extLst>
          </p:cNvPr>
          <p:cNvSpPr txBox="1"/>
          <p:nvPr/>
        </p:nvSpPr>
        <p:spPr>
          <a:xfrm>
            <a:off x="1015311" y="5927061"/>
            <a:ext cx="6108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Source: https://asq.org/quality-resources/software-quality?srsltid=AfmBOooQA2b0lzfMKqED4y6G_hTpkSs_kgfZcIsdJ8J-b76lgh54_2m_</a:t>
            </a:r>
          </a:p>
        </p:txBody>
      </p:sp>
    </p:spTree>
    <p:extLst>
      <p:ext uri="{BB962C8B-B14F-4D97-AF65-F5344CB8AC3E}">
        <p14:creationId xmlns:p14="http://schemas.microsoft.com/office/powerpoint/2010/main" val="1606127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ADEB-B9E5-E7D4-C980-CA6AD99BC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5F3B4-F5FD-0A59-A100-7B701D25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29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93CA4-3558-3E1F-F213-EEAA6F022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01" y="1736702"/>
            <a:ext cx="5360349" cy="4515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42EA7-523E-C5FD-AC95-F4E204E6E2A6}"/>
              </a:ext>
            </a:extLst>
          </p:cNvPr>
          <p:cNvSpPr txBox="1"/>
          <p:nvPr/>
        </p:nvSpPr>
        <p:spPr>
          <a:xfrm>
            <a:off x="1287001" y="1633928"/>
            <a:ext cx="240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BC575B-B621-A655-8AD0-4253F0482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404" y="2246642"/>
            <a:ext cx="5273863" cy="3495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7B18DD-FE6A-8E5E-8E4A-95BF8DC98306}"/>
              </a:ext>
            </a:extLst>
          </p:cNvPr>
          <p:cNvSpPr txBox="1"/>
          <p:nvPr/>
        </p:nvSpPr>
        <p:spPr>
          <a:xfrm>
            <a:off x="8105887" y="1552036"/>
            <a:ext cx="240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063464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6462-9EEE-ECFB-2890-1DDDF280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25" y="376939"/>
            <a:ext cx="5617722" cy="984885"/>
          </a:xfrm>
        </p:spPr>
        <p:txBody>
          <a:bodyPr/>
          <a:lstStyle/>
          <a:p>
            <a:r>
              <a:rPr lang="en-DE" dirty="0"/>
              <a:t>Software Engineering is diffcult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FC6D8-962C-C67F-A7FB-903CBA2D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4" y="1599567"/>
            <a:ext cx="10812429" cy="488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56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3F4B-10F6-F434-7822-36DDAFC2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6986008" cy="984885"/>
          </a:xfrm>
        </p:spPr>
        <p:txBody>
          <a:bodyPr/>
          <a:lstStyle/>
          <a:p>
            <a:r>
              <a:rPr lang="en-DE" dirty="0"/>
              <a:t>Verification and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9CDAF-D439-9AFD-12A0-AAC2FF27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A881-A212-A0F2-7336-8E2D466E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1" y="1829536"/>
            <a:ext cx="6986008" cy="4364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7A4F75-F62E-ABDD-3262-93C997F29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679" y="2068603"/>
            <a:ext cx="4176926" cy="4001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4E9900-917D-4CEB-AB89-3106ACC40693}"/>
              </a:ext>
            </a:extLst>
          </p:cNvPr>
          <p:cNvSpPr txBox="1"/>
          <p:nvPr/>
        </p:nvSpPr>
        <p:spPr>
          <a:xfrm>
            <a:off x="8305660" y="1579737"/>
            <a:ext cx="339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State Space Coverage</a:t>
            </a:r>
          </a:p>
        </p:txBody>
      </p:sp>
    </p:spTree>
    <p:extLst>
      <p:ext uri="{BB962C8B-B14F-4D97-AF65-F5344CB8AC3E}">
        <p14:creationId xmlns:p14="http://schemas.microsoft.com/office/powerpoint/2010/main" val="4169930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287E-B19A-B3F7-6E58-F4489AB5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DA1CD-DC3B-7AE2-FB5C-104616EC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32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56443-18EB-B035-6EFA-50A5D534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67" y="2567013"/>
            <a:ext cx="5297286" cy="2554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D771B2-4FB2-6E95-16DE-CE5901CFE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304" y="2567013"/>
            <a:ext cx="4445253" cy="34473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D6D54B-F013-23E5-01C3-797F79CBB978}"/>
              </a:ext>
            </a:extLst>
          </p:cNvPr>
          <p:cNvSpPr txBox="1"/>
          <p:nvPr/>
        </p:nvSpPr>
        <p:spPr>
          <a:xfrm>
            <a:off x="2004658" y="1891554"/>
            <a:ext cx="386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Hashmaps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097BD-85A7-4819-4201-4AAFD9072B42}"/>
              </a:ext>
            </a:extLst>
          </p:cNvPr>
          <p:cNvSpPr txBox="1"/>
          <p:nvPr/>
        </p:nvSpPr>
        <p:spPr>
          <a:xfrm>
            <a:off x="8500889" y="1894813"/>
            <a:ext cx="2525111" cy="37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Trees</a:t>
            </a:r>
          </a:p>
        </p:txBody>
      </p:sp>
    </p:spTree>
    <p:extLst>
      <p:ext uri="{BB962C8B-B14F-4D97-AF65-F5344CB8AC3E}">
        <p14:creationId xmlns:p14="http://schemas.microsoft.com/office/powerpoint/2010/main" val="2486296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152D-E5F3-B603-69C3-675F6628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7371228" cy="1477328"/>
          </a:xfrm>
        </p:spPr>
        <p:txBody>
          <a:bodyPr/>
          <a:lstStyle/>
          <a:p>
            <a:r>
              <a:rPr lang="en-DE" dirty="0"/>
              <a:t>Structural Data Representation - 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0FB8-D5D7-21C4-5389-441A102E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84EFC-A590-0809-DB77-BD5BC5EA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92" y="1870022"/>
            <a:ext cx="6032500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D881D-1E08-E2C0-C2B2-1FB1AA9A0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92" y="3429000"/>
            <a:ext cx="60325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03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5CFA-9BDA-06F8-F594-EF13FF28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79" y="470120"/>
            <a:ext cx="6002870" cy="1477328"/>
          </a:xfrm>
        </p:spPr>
        <p:txBody>
          <a:bodyPr/>
          <a:lstStyle/>
          <a:p>
            <a:r>
              <a:rPr lang="en-US" dirty="0"/>
              <a:t>Programming Languages -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F25C9-A724-78BC-FB9B-41A87F978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594" y="1854886"/>
            <a:ext cx="3454282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procedural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object-oriented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3634F-F68B-CB6C-84DA-D499CDA0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7DA6E5-0874-0BAC-8173-C19CA4336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494" y="2310878"/>
            <a:ext cx="4754690" cy="3211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1A8F7E-410E-8B19-42B8-464F44083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74" y="3062307"/>
            <a:ext cx="6145323" cy="1959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C2838C-BBB9-F276-C23F-2B47926CA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71" y="4846955"/>
            <a:ext cx="4576960" cy="182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10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5F54-4F10-ADAB-6ADF-F3E2A738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09" y="452859"/>
            <a:ext cx="5665644" cy="1477328"/>
          </a:xfrm>
        </p:spPr>
        <p:txBody>
          <a:bodyPr/>
          <a:lstStyle/>
          <a:p>
            <a:r>
              <a:rPr lang="en-DE" dirty="0"/>
              <a:t>Types in Programming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144A2-0389-94A7-C1D2-ACD484F9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35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AF8C7-85A9-1E54-28D8-B228D5C99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33" y="1930187"/>
            <a:ext cx="7772400" cy="41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7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6197-3AC7-F4F6-C05E-C0A92AB9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04" y="525400"/>
            <a:ext cx="5834258" cy="984885"/>
          </a:xfrm>
        </p:spPr>
        <p:txBody>
          <a:bodyPr/>
          <a:lstStyle/>
          <a:p>
            <a:r>
              <a:rPr lang="en-DE" dirty="0"/>
              <a:t>Software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9E30B-1C73-C833-1818-B609FB0A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36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EC7D8-3E5A-0E4C-EC4E-348EEA5B8336}"/>
              </a:ext>
            </a:extLst>
          </p:cNvPr>
          <p:cNvSpPr txBox="1"/>
          <p:nvPr/>
        </p:nvSpPr>
        <p:spPr>
          <a:xfrm>
            <a:off x="365505" y="1809345"/>
            <a:ext cx="5120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Two Main Types:</a:t>
            </a:r>
          </a:p>
          <a:p>
            <a:pPr marL="285750" indent="-285750">
              <a:buFontTx/>
              <a:buChar char="-"/>
            </a:pPr>
            <a:r>
              <a:rPr lang="en-DE" dirty="0"/>
              <a:t>External: Libraries</a:t>
            </a:r>
          </a:p>
          <a:p>
            <a:pPr marL="285750" indent="-285750">
              <a:buFontTx/>
              <a:buChar char="-"/>
            </a:pPr>
            <a:r>
              <a:rPr lang="en-DE" dirty="0"/>
              <a:t>Internal: Dependencies between classes / modules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EE5D0-ECCB-8A01-79DC-7843223F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921" y="1869100"/>
            <a:ext cx="6321358" cy="42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19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B909-CFF8-A21A-D0CB-9ECE4812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09" y="505309"/>
            <a:ext cx="6463312" cy="1354217"/>
          </a:xfrm>
        </p:spPr>
        <p:txBody>
          <a:bodyPr/>
          <a:lstStyle/>
          <a:p>
            <a:r>
              <a:rPr lang="en-DE" dirty="0"/>
              <a:t>Software Dependencies</a:t>
            </a:r>
            <a:br>
              <a:rPr lang="en-DE" dirty="0"/>
            </a:br>
            <a:r>
              <a:rPr lang="en-DE" sz="2400" dirty="0"/>
              <a:t>Internal Dependencies</a:t>
            </a:r>
            <a:br>
              <a:rPr lang="en-DE" dirty="0"/>
            </a:b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92176-2FD2-4065-6922-C6E73111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8E475-422F-2CFE-6855-63F35A22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670" y="1645254"/>
            <a:ext cx="6783560" cy="4953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4FC5B0-51F0-5D18-79AE-3A36F8980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06" y="2572781"/>
            <a:ext cx="4422899" cy="289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96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BB05-17FB-EC17-6DC7-36C84D5F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79" y="557827"/>
            <a:ext cx="8720130" cy="984885"/>
          </a:xfrm>
        </p:spPr>
        <p:txBody>
          <a:bodyPr/>
          <a:lstStyle/>
          <a:p>
            <a:r>
              <a:rPr lang="en-DE" dirty="0"/>
              <a:t>Dependencies are everywhere – System Engineering is difficult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9CA2D-9D25-AD90-1D5E-BD1D7A97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38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F8812-C61F-5A5A-FC5E-0370AB93A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1749426"/>
            <a:ext cx="7772400" cy="363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612EEF-80F6-5C11-65F3-A4685E2C023F}"/>
              </a:ext>
            </a:extLst>
          </p:cNvPr>
          <p:cNvSpPr txBox="1"/>
          <p:nvPr/>
        </p:nvSpPr>
        <p:spPr>
          <a:xfrm>
            <a:off x="1290401" y="6185616"/>
            <a:ext cx="7110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/>
              <a:t>Quelle: </a:t>
            </a:r>
            <a:r>
              <a:rPr lang="en-GB" sz="1000" dirty="0">
                <a:hlinkClick r:id="rId3"/>
              </a:rPr>
              <a:t>https://robmosys.eu/wiki/composition:dependency-graphs:start</a:t>
            </a:r>
            <a:r>
              <a:rPr lang="en-GB" sz="1000" dirty="0"/>
              <a:t> 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2841764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2F22-761D-573B-BFDB-382BA19B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3" y="599302"/>
            <a:ext cx="8026770" cy="984885"/>
          </a:xfrm>
        </p:spPr>
        <p:txBody>
          <a:bodyPr/>
          <a:lstStyle/>
          <a:p>
            <a:r>
              <a:rPr lang="en-DE" dirty="0"/>
              <a:t>Managing complexity: Modularisation, Encapsulation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D2595-6D7B-E63C-5B2E-66B72445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08726"/>
            <a:ext cx="2878667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412CF81-FBD2-4988-8D72-9A03E2875460}" type="slidenum">
              <a:rPr lang="de-DE" smtClean="0"/>
              <a:pPr>
                <a:defRPr/>
              </a:pPr>
              <a:t>39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3FCA2-9E81-0EB5-825A-AEFD4E585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43" y="2198777"/>
            <a:ext cx="5846499" cy="3495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AB723C-89CB-56EF-1B71-248DB314E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60" y="2458904"/>
            <a:ext cx="5756625" cy="29751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55FA61-F511-14F9-DC36-333D5B7C2024}"/>
              </a:ext>
            </a:extLst>
          </p:cNvPr>
          <p:cNvSpPr txBox="1"/>
          <p:nvPr/>
        </p:nvSpPr>
        <p:spPr>
          <a:xfrm>
            <a:off x="1062567" y="6504203"/>
            <a:ext cx="2626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/>
              <a:t>Quelle: </a:t>
            </a:r>
            <a:r>
              <a:rPr lang="en-GB" sz="1000" dirty="0">
                <a:hlinkClick r:id="rId4"/>
              </a:rPr>
              <a:t>https://slideplayer.org/slide/660759/</a:t>
            </a:r>
            <a:r>
              <a:rPr lang="en-GB" sz="1000" dirty="0"/>
              <a:t> 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282798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3512</TotalTime>
  <Words>1252</Words>
  <Application>Microsoft Macintosh PowerPoint</Application>
  <PresentationFormat>Custom</PresentationFormat>
  <Paragraphs>255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MS PGothic</vt:lpstr>
      <vt:lpstr>Aptos</vt:lpstr>
      <vt:lpstr>Arial</vt:lpstr>
      <vt:lpstr>Calibri</vt:lpstr>
      <vt:lpstr>Trebuchet MS</vt:lpstr>
      <vt:lpstr>Office Theme</vt:lpstr>
      <vt:lpstr>Digital Technologies  Software Engineering</vt:lpstr>
      <vt:lpstr>Goals of this lecture</vt:lpstr>
      <vt:lpstr>Two Worlds – Web Applications and Embedded Systems</vt:lpstr>
      <vt:lpstr>Software Development Lifecycle</vt:lpstr>
      <vt:lpstr>Software Development Lifecycle (SDLC)</vt:lpstr>
      <vt:lpstr>8 Models for SDLC</vt:lpstr>
      <vt:lpstr>Agile Manifesto</vt:lpstr>
      <vt:lpstr>Scrum</vt:lpstr>
      <vt:lpstr>Test-Driven Development</vt:lpstr>
      <vt:lpstr>Staging und Production Environments</vt:lpstr>
      <vt:lpstr>Continuous Integration, Continuous Deployment</vt:lpstr>
      <vt:lpstr>Continuous Integration, Continuous Deployment</vt:lpstr>
      <vt:lpstr>Requirements Engineering</vt:lpstr>
      <vt:lpstr>State of a System</vt:lpstr>
      <vt:lpstr>PowerPoint Presentation</vt:lpstr>
      <vt:lpstr>Requirements Engineering </vt:lpstr>
      <vt:lpstr>Example</vt:lpstr>
      <vt:lpstr>Example</vt:lpstr>
      <vt:lpstr>Example</vt:lpstr>
      <vt:lpstr>Example</vt:lpstr>
      <vt:lpstr>Example</vt:lpstr>
      <vt:lpstr>Exercises</vt:lpstr>
      <vt:lpstr>Exercise 1</vt:lpstr>
      <vt:lpstr>Exercise 2</vt:lpstr>
      <vt:lpstr>Exercise 3</vt:lpstr>
      <vt:lpstr>Exercise 4</vt:lpstr>
      <vt:lpstr>Exercise 5</vt:lpstr>
      <vt:lpstr>PowerPoint Presentation</vt:lpstr>
      <vt:lpstr>Architecture</vt:lpstr>
      <vt:lpstr>Software Engineering is diffcult</vt:lpstr>
      <vt:lpstr>Verification and Validation</vt:lpstr>
      <vt:lpstr>Data Structures</vt:lpstr>
      <vt:lpstr>Structural Data Representation - JSON</vt:lpstr>
      <vt:lpstr>Programming Languages - Paradigms</vt:lpstr>
      <vt:lpstr>Types in Programming Languages</vt:lpstr>
      <vt:lpstr>Software Dependencies</vt:lpstr>
      <vt:lpstr>Software Dependencies Internal Dependencies </vt:lpstr>
      <vt:lpstr>Dependencies are everywhere – System Engineering is difficult</vt:lpstr>
      <vt:lpstr>Managing complexity: Modularisation, Encapsulation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8</cp:revision>
  <dcterms:created xsi:type="dcterms:W3CDTF">2023-01-30T17:03:51Z</dcterms:created>
  <dcterms:modified xsi:type="dcterms:W3CDTF">2026-10-15T20:39:10Z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