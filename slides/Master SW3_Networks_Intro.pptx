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39"/>
  </p:notesMasterIdLst>
  <p:sldIdLst>
    <p:sldId id="785" r:id="rId2"/>
    <p:sldId id="1221" r:id="rId3"/>
    <p:sldId id="957" r:id="rId4"/>
    <p:sldId id="959" r:id="rId5"/>
    <p:sldId id="961" r:id="rId6"/>
    <p:sldId id="965" r:id="rId7"/>
    <p:sldId id="966" r:id="rId8"/>
    <p:sldId id="967" r:id="rId9"/>
    <p:sldId id="1195" r:id="rId10"/>
    <p:sldId id="982" r:id="rId11"/>
    <p:sldId id="985" r:id="rId12"/>
    <p:sldId id="1201" r:id="rId13"/>
    <p:sldId id="1202" r:id="rId14"/>
    <p:sldId id="991" r:id="rId15"/>
    <p:sldId id="992" r:id="rId16"/>
    <p:sldId id="995" r:id="rId17"/>
    <p:sldId id="994" r:id="rId18"/>
    <p:sldId id="996" r:id="rId19"/>
    <p:sldId id="997" r:id="rId20"/>
    <p:sldId id="998" r:id="rId21"/>
    <p:sldId id="999" r:id="rId22"/>
    <p:sldId id="962" r:id="rId23"/>
    <p:sldId id="963" r:id="rId24"/>
    <p:sldId id="1029" r:id="rId25"/>
    <p:sldId id="1208" r:id="rId26"/>
    <p:sldId id="1209" r:id="rId27"/>
    <p:sldId id="1216" r:id="rId28"/>
    <p:sldId id="1212" r:id="rId29"/>
    <p:sldId id="1030" r:id="rId30"/>
    <p:sldId id="1040" r:id="rId31"/>
    <p:sldId id="1261" r:id="rId32"/>
    <p:sldId id="1262" r:id="rId33"/>
    <p:sldId id="1263" r:id="rId34"/>
    <p:sldId id="1264" r:id="rId35"/>
    <p:sldId id="1265" r:id="rId36"/>
    <p:sldId id="1266" r:id="rId37"/>
    <p:sldId id="1268" r:id="rId3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8119"/>
    <p:restoredTop sz="77055"/>
  </p:normalViewPr>
  <p:slideViewPr>
    <p:cSldViewPr snapToGrid="0" snapToObjects="1">
      <p:cViewPr varScale="1">
        <p:scale>
          <a:sx n="96" d="100"/>
          <a:sy n="96" d="100"/>
        </p:scale>
        <p:origin x="904" y="17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chlesinger, Sebastian" userId="d814e6c9-e9fb-4b77-84f7-ccd8aa3529bb" providerId="ADAL" clId="{6D2FDA67-24CA-54D8-B1B4-CE061F2DAD41}"/>
    <pc:docChg chg="modSld">
      <pc:chgData name="Schlesinger, Sebastian" userId="d814e6c9-e9fb-4b77-84f7-ccd8aa3529bb" providerId="ADAL" clId="{6D2FDA67-24CA-54D8-B1B4-CE061F2DAD41}" dt="2026-10-15T20:39:19.778" v="0" actId="20577"/>
      <pc:docMkLst>
        <pc:docMk/>
      </pc:docMkLst>
      <pc:sldChg chg="modSp mod">
        <pc:chgData name="Schlesinger, Sebastian" userId="d814e6c9-e9fb-4b77-84f7-ccd8aa3529bb" providerId="ADAL" clId="{6D2FDA67-24CA-54D8-B1B4-CE061F2DAD41}" dt="2026-10-15T20:39:19.778" v="0" actId="20577"/>
        <pc:sldMkLst>
          <pc:docMk/>
          <pc:sldMk cId="2039478384" sldId="785"/>
        </pc:sldMkLst>
        <pc:spChg chg="mod">
          <ac:chgData name="Schlesinger, Sebastian" userId="d814e6c9-e9fb-4b77-84f7-ccd8aa3529bb" providerId="ADAL" clId="{6D2FDA67-24CA-54D8-B1B4-CE061F2DAD41}" dt="2026-10-15T20:39:19.778" v="0" actId="20577"/>
          <ac:spMkLst>
            <pc:docMk/>
            <pc:sldMk cId="2039478384" sldId="785"/>
            <ac:spMk id="4" creationId="{1E39F0E3-8C0D-B9FB-C5FC-26F66EBAD397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10/15/26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846930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68653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204700" h="6858000">
                <a:moveTo>
                  <a:pt x="12204192" y="0"/>
                </a:moveTo>
                <a:lnTo>
                  <a:pt x="0" y="0"/>
                </a:lnTo>
                <a:lnTo>
                  <a:pt x="0" y="6858000"/>
                </a:lnTo>
                <a:lnTo>
                  <a:pt x="12204192" y="6858000"/>
                </a:lnTo>
                <a:lnTo>
                  <a:pt x="12204192" y="0"/>
                </a:lnTo>
                <a:close/>
              </a:path>
            </a:pathLst>
          </a:custGeom>
          <a:solidFill>
            <a:srgbClr val="F4F4F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346907" y="2523316"/>
            <a:ext cx="5763606" cy="4428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197" b="1" i="0">
                <a:solidFill>
                  <a:srgbClr val="005589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3062843" y="5197737"/>
            <a:ext cx="6798214" cy="3877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449" b="1" i="0">
                <a:solidFill>
                  <a:srgbClr val="005589"/>
                </a:solidFill>
                <a:latin typeface="Trebuchet MS"/>
                <a:cs typeface="Trebuchet MS"/>
              </a:defRPr>
            </a:lvl1pPr>
          </a:lstStyle>
          <a:p>
            <a:pPr marL="1802231">
              <a:lnSpc>
                <a:spcPts val="1503"/>
              </a:lnSpc>
            </a:pPr>
            <a:fld id="{81D60167-4931-47E6-BA6A-407CBD079E47}" type="slidenum">
              <a:rPr lang="en-DE" spc="-20" smtClean="0"/>
              <a:pPr marL="1802231">
                <a:lnSpc>
                  <a:spcPts val="1503"/>
                </a:lnSpc>
              </a:pPr>
              <a:t>‹#›</a:t>
            </a:fld>
            <a:endParaRPr lang="en-DE" spc="-2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D6803FE-B66A-E2D2-240B-5C71AF30074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4603" y="535260"/>
            <a:ext cx="3058011" cy="7005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793392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7646581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8260A80C-C532-A447-CD98-B8ED7AE8455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702" y="535259"/>
            <a:ext cx="3061196" cy="7005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Datumsplatzhalter 3">
            <a:extLst>
              <a:ext uri="{FF2B5EF4-FFF2-40B4-BE49-F238E27FC236}">
                <a16:creationId xmlns:a16="http://schemas.microsoft.com/office/drawing/2014/main" id="{58CDC9BB-9559-54D1-EEA9-B1AF99944A1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08725"/>
            <a:ext cx="1798637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/>
              <a:t>4. Dezember 2013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EC4564B7-E62E-06D0-E93D-9F56E9D187C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468019" y="6308725"/>
            <a:ext cx="28956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9" name="Foliennummernplatzhalter 5">
            <a:extLst>
              <a:ext uri="{FF2B5EF4-FFF2-40B4-BE49-F238E27FC236}">
                <a16:creationId xmlns:a16="http://schemas.microsoft.com/office/drawing/2014/main" id="{16D39FA6-BF7C-9BE6-82CC-56A333EE1B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94800" y="6308725"/>
            <a:ext cx="21590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12CF81-FBD2-4988-8D72-9A03E2875460}" type="slidenum">
              <a:rPr lang="de-DE"/>
              <a:pPr>
                <a:defRPr/>
              </a:pPr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5" r:id="rId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FF0000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8.png"/><Relationship Id="rId4" Type="http://schemas.openxmlformats.org/officeDocument/2006/relationships/image" Target="../media/image27.jp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21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1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1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1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3.png"/><Relationship Id="rId4" Type="http://schemas.openxmlformats.org/officeDocument/2006/relationships/image" Target="../media/image2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44" y="3568"/>
            <a:ext cx="6850864" cy="6850864"/>
          </a:xfrm>
          <a:prstGeom prst="rect">
            <a:avLst/>
          </a:prstGeom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1E39F0E3-8C0D-B9FB-C5FC-26F66EBAD39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390" y="2837179"/>
            <a:ext cx="4835187" cy="1660583"/>
          </a:xfrm>
        </p:spPr>
        <p:txBody>
          <a:bodyPr/>
          <a:lstStyle/>
          <a:p>
            <a:br>
              <a:rPr lang="de-DE" dirty="0">
                <a:solidFill>
                  <a:srgbClr val="D50C2F"/>
                </a:solidFill>
              </a:rPr>
            </a:br>
            <a:r>
              <a:rPr lang="de-DE" dirty="0">
                <a:solidFill>
                  <a:srgbClr val="D50C2F"/>
                </a:solidFill>
              </a:rPr>
              <a:t>Digital Technologies</a:t>
            </a:r>
            <a:br>
              <a:rPr lang="en-US" dirty="0">
                <a:solidFill>
                  <a:srgbClr val="FF0000"/>
                </a:solidFill>
              </a:rPr>
            </a:br>
            <a:br>
              <a:rPr lang="en-US" dirty="0">
                <a:solidFill>
                  <a:srgbClr val="FF0000"/>
                </a:solidFill>
              </a:rPr>
            </a:br>
            <a:r>
              <a:rPr lang="en-US" sz="2398" dirty="0">
                <a:solidFill>
                  <a:srgbClr val="FF0000"/>
                </a:solidFill>
              </a:rPr>
              <a:t>Networks Intro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9D07C4BB-AF59-5A16-7633-E602C0400043}"/>
              </a:ext>
            </a:extLst>
          </p:cNvPr>
          <p:cNvSpPr>
            <a:spLocks noGrp="1"/>
          </p:cNvSpPr>
          <p:nvPr>
            <p:ph type="subTitle" idx="4"/>
          </p:nvPr>
        </p:nvSpPr>
        <p:spPr>
          <a:xfrm>
            <a:off x="7171390" y="4496898"/>
            <a:ext cx="4740202" cy="2583271"/>
          </a:xfrm>
        </p:spPr>
        <p:txBody>
          <a:bodyPr/>
          <a:lstStyle/>
          <a:p>
            <a:r>
              <a:rPr lang="en-US" dirty="0"/>
              <a:t>Prof. Dr.-Ing. Sebastian Schlesinger</a:t>
            </a:r>
          </a:p>
          <a:p>
            <a:r>
              <a:rPr lang="en-US" dirty="0"/>
              <a:t>Professor of Business Computer Science </a:t>
            </a:r>
          </a:p>
          <a:p>
            <a:r>
              <a:rPr lang="en-US" dirty="0"/>
              <a:t>Cybersecurity and Embedded Systems Engineering</a:t>
            </a:r>
          </a:p>
        </p:txBody>
      </p:sp>
    </p:spTree>
    <p:extLst>
      <p:ext uri="{BB962C8B-B14F-4D97-AF65-F5344CB8AC3E}">
        <p14:creationId xmlns:p14="http://schemas.microsoft.com/office/powerpoint/2010/main" val="2039478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7776752-D942-8C06-8D14-1CC18E90C0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Short history of the internet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DA0285-51B2-414B-0406-96F691BDE7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4880515-F851-27CD-3CEB-4B6DE86C297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92162" y="1989138"/>
            <a:ext cx="7848289" cy="3960812"/>
          </a:xfrm>
        </p:spPr>
        <p:txBody>
          <a:bodyPr>
            <a:normAutofit fontScale="85000" lnSpcReduction="10000"/>
          </a:bodyPr>
          <a:lstStyle/>
          <a:p>
            <a:r>
              <a:rPr lang="en-DE" dirty="0"/>
              <a:t>1963 – first message between two computers (Stanford and UCLA), message: ‘login’, crashed after letters L and O</a:t>
            </a:r>
          </a:p>
          <a:p>
            <a:r>
              <a:rPr lang="en-DE" dirty="0"/>
              <a:t>1969 – ARPANET</a:t>
            </a:r>
          </a:p>
          <a:p>
            <a:r>
              <a:rPr lang="en-DE" dirty="0"/>
              <a:t>1971 – Email</a:t>
            </a:r>
          </a:p>
          <a:p>
            <a:r>
              <a:rPr lang="en-DE" dirty="0"/>
              <a:t>1980’s – internet for commercial use, dial-up (modems, telephones)</a:t>
            </a:r>
          </a:p>
          <a:p>
            <a:r>
              <a:rPr lang="en-DE" dirty="0"/>
              <a:t>1998 – speed around 56 Kbps</a:t>
            </a:r>
          </a:p>
          <a:p>
            <a:r>
              <a:rPr lang="en-DE" dirty="0"/>
              <a:t>1990 – Tim Berners-Lee invents HTML and URL </a:t>
            </a:r>
            <a:r>
              <a:rPr lang="en-DE" dirty="0">
                <a:sym typeface="Wingdings" pitchFamily="2" charset="2"/>
              </a:rPr>
              <a:t> WWW</a:t>
            </a:r>
          </a:p>
          <a:p>
            <a:r>
              <a:rPr lang="en-DE" dirty="0"/>
              <a:t>2000s – e-Commerce and dot-com bubble</a:t>
            </a:r>
          </a:p>
          <a:p>
            <a:r>
              <a:rPr lang="en-DE" dirty="0"/>
              <a:t>2003 – launch of Myspace as first social media platform </a:t>
            </a:r>
          </a:p>
          <a:p>
            <a:endParaRPr lang="en-DE" dirty="0"/>
          </a:p>
        </p:txBody>
      </p:sp>
    </p:spTree>
    <p:extLst>
      <p:ext uri="{BB962C8B-B14F-4D97-AF65-F5344CB8AC3E}">
        <p14:creationId xmlns:p14="http://schemas.microsoft.com/office/powerpoint/2010/main" val="24826249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7854454" cy="894622"/>
          </a:xfrm>
        </p:spPr>
        <p:txBody>
          <a:bodyPr/>
          <a:lstStyle/>
          <a:p>
            <a:r>
              <a:rPr lang="en-US" altLang="ja-JP" dirty="0"/>
              <a:t>What is the Internet?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7522917" cy="894622"/>
          </a:xfrm>
        </p:spPr>
        <p:txBody>
          <a:bodyPr>
            <a:normAutofit/>
          </a:bodyPr>
          <a:lstStyle/>
          <a:p>
            <a:r>
              <a:rPr lang="en-US" altLang="ja-JP" dirty="0"/>
              <a:t>What is the Internet?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7577363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7915718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7745368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7898921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7861099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8159896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7891608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8159896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7704283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7991948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8080315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8037667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8005788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1627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29383" y="1071409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7940808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8110939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7646894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8038780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7712208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</TotalTime>
  <Words>3329</Words>
  <Application>Microsoft Macintosh PowerPoint</Application>
  <PresentationFormat>Widescreen</PresentationFormat>
  <Paragraphs>1587</Paragraphs>
  <Slides>37</Slides>
  <Notes>29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37</vt:i4>
      </vt:variant>
    </vt:vector>
  </HeadingPairs>
  <TitlesOfParts>
    <vt:vector size="46" baseType="lpstr">
      <vt:lpstr>ＭＳ Ｐゴシック</vt:lpstr>
      <vt:lpstr>Arial</vt:lpstr>
      <vt:lpstr>Calibri</vt:lpstr>
      <vt:lpstr>Comic Sans MS</vt:lpstr>
      <vt:lpstr>Gill Sans MT</vt:lpstr>
      <vt:lpstr>Times New Roman</vt:lpstr>
      <vt:lpstr>Trebuchet MS</vt:lpstr>
      <vt:lpstr>Wingdings</vt:lpstr>
      <vt:lpstr>Office Theme</vt:lpstr>
      <vt:lpstr> Digital Technologies  Networks Intro</vt:lpstr>
      <vt:lpstr>Short history of the internet</vt:lpstr>
      <vt:lpstr>What is the Internet?</vt:lpstr>
      <vt:lpstr>What is the Internet?</vt:lpstr>
      <vt:lpstr>The Internet: a “services” view</vt:lpstr>
      <vt:lpstr>A closer look at Internet structure</vt:lpstr>
      <vt:lpstr>A closer look at Internet structure</vt:lpstr>
      <vt:lpstr>A closer look at Internet structure</vt:lpstr>
      <vt:lpstr>Access networks: data center networks</vt:lpstr>
      <vt:lpstr>The network core</vt:lpstr>
      <vt:lpstr>Two key network-core functions</vt:lpstr>
      <vt:lpstr>PowerPoint Presentation</vt:lpstr>
      <vt:lpstr>PowerPoint Presentation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What’s a protocol?</vt:lpstr>
      <vt:lpstr>What’s a protocol?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Services, Layering and Encapsulation</vt:lpstr>
      <vt:lpstr>Encapsulation: an end-end view</vt:lpstr>
      <vt:lpstr>ISO/OSI reference model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Schlesinger, Sebastian</cp:lastModifiedBy>
  <cp:revision>172</cp:revision>
  <dcterms:created xsi:type="dcterms:W3CDTF">2020-01-18T07:24:59Z</dcterms:created>
  <dcterms:modified xsi:type="dcterms:W3CDTF">2026-10-15T20:39:23Z</dcterms:modified>
</cp:coreProperties>
</file>