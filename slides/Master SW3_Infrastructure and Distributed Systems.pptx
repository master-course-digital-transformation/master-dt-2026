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heme/theme2.xml" ContentType="application/vnd.openxmlformats-officedocument.theme+xml"/>
  <Override PartName="/ppt/tags/tag30.xml" ContentType="application/vnd.openxmlformats-officedocument.presentationml.tags+xml"/>
  <Override PartName="/ppt/notesSlides/notesSlide1.xml" ContentType="application/vnd.openxmlformats-officedocument.presentationml.notesSlide+xml"/>
  <Override PartName="/ppt/tags/tag31.xml" ContentType="application/vnd.openxmlformats-officedocument.presentationml.tags+xml"/>
  <Override PartName="/ppt/notesSlides/notesSlide2.xml" ContentType="application/vnd.openxmlformats-officedocument.presentationml.notesSlide+xml"/>
  <Override PartName="/ppt/tags/tag32.xml" ContentType="application/vnd.openxmlformats-officedocument.presentationml.tags+xml"/>
  <Override PartName="/ppt/notesSlides/notesSlide3.xml" ContentType="application/vnd.openxmlformats-officedocument.presentationml.notesSlide+xml"/>
  <Override PartName="/ppt/tags/tag33.xml" ContentType="application/vnd.openxmlformats-officedocument.presentationml.tags+xml"/>
  <Override PartName="/ppt/notesSlides/notesSlide4.xml" ContentType="application/vnd.openxmlformats-officedocument.presentationml.notesSlide+xml"/>
  <Override PartName="/ppt/tags/tag34.xml" ContentType="application/vnd.openxmlformats-officedocument.presentationml.tags+xml"/>
  <Override PartName="/ppt/notesSlides/notesSlide5.xml" ContentType="application/vnd.openxmlformats-officedocument.presentationml.notesSlide+xml"/>
  <Override PartName="/ppt/tags/tag35.xml" ContentType="application/vnd.openxmlformats-officedocument.presentationml.tags+xml"/>
  <Override PartName="/ppt/notesSlides/notesSlide6.xml" ContentType="application/vnd.openxmlformats-officedocument.presentationml.notesSlide+xml"/>
  <Override PartName="/ppt/tags/tag36.xml" ContentType="application/vnd.openxmlformats-officedocument.presentationml.tags+xml"/>
  <Override PartName="/ppt/notesSlides/notesSlide7.xml" ContentType="application/vnd.openxmlformats-officedocument.presentationml.notesSlide+xml"/>
  <Override PartName="/ppt/tags/tag37.xml" ContentType="application/vnd.openxmlformats-officedocument.presentationml.tags+xml"/>
  <Override PartName="/ppt/notesSlides/notesSlide8.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9.xml" ContentType="application/vnd.openxmlformats-officedocument.presentationml.notesSlide+xml"/>
  <Override PartName="/ppt/tags/tag40.xml" ContentType="application/vnd.openxmlformats-officedocument.presentationml.tags+xml"/>
  <Override PartName="/ppt/notesSlides/notesSlide10.xml" ContentType="application/vnd.openxmlformats-officedocument.presentationml.notesSlide+xml"/>
  <Override PartName="/ppt/tags/tag41.xml" ContentType="application/vnd.openxmlformats-officedocument.presentationml.tags+xml"/>
  <Override PartName="/ppt/notesSlides/notesSlide11.xml" ContentType="application/vnd.openxmlformats-officedocument.presentationml.notesSlide+xml"/>
  <Override PartName="/ppt/tags/tag42.xml" ContentType="application/vnd.openxmlformats-officedocument.presentationml.tags+xml"/>
  <Override PartName="/ppt/notesSlides/notesSlide12.xml" ContentType="application/vnd.openxmlformats-officedocument.presentationml.notesSlide+xml"/>
  <Override PartName="/ppt/tags/tag43.xml" ContentType="application/vnd.openxmlformats-officedocument.presentationml.tags+xml"/>
  <Override PartName="/ppt/notesSlides/notesSlide13.xml" ContentType="application/vnd.openxmlformats-officedocument.presentationml.notesSlide+xml"/>
  <Override PartName="/ppt/tags/tag44.xml" ContentType="application/vnd.openxmlformats-officedocument.presentationml.tags+xml"/>
  <Override PartName="/ppt/notesSlides/notesSlide14.xml" ContentType="application/vnd.openxmlformats-officedocument.presentationml.notesSlide+xml"/>
  <Override PartName="/ppt/tags/tag45.xml" ContentType="application/vnd.openxmlformats-officedocument.presentationml.tags+xml"/>
  <Override PartName="/ppt/notesSlides/notesSlide15.xml" ContentType="application/vnd.openxmlformats-officedocument.presentationml.notesSlide+xml"/>
  <Override PartName="/ppt/tags/tag46.xml" ContentType="application/vnd.openxmlformats-officedocument.presentationml.tags+xml"/>
  <Override PartName="/ppt/notesSlides/notesSlide16.xml" ContentType="application/vnd.openxmlformats-officedocument.presentationml.notesSlide+xml"/>
  <Override PartName="/ppt/tags/tag47.xml" ContentType="application/vnd.openxmlformats-officedocument.presentationml.tags+xml"/>
  <Override PartName="/ppt/notesSlides/notesSlide17.xml" ContentType="application/vnd.openxmlformats-officedocument.presentationml.notesSlide+xml"/>
  <Override PartName="/ppt/tags/tag48.xml" ContentType="application/vnd.openxmlformats-officedocument.presentationml.tags+xml"/>
  <Override PartName="/ppt/notesSlides/notesSlide18.xml" ContentType="application/vnd.openxmlformats-officedocument.presentationml.notesSlide+xml"/>
  <Override PartName="/ppt/tags/tag49.xml" ContentType="application/vnd.openxmlformats-officedocument.presentationml.tags+xml"/>
  <Override PartName="/ppt/notesSlides/notesSlide19.xml" ContentType="application/vnd.openxmlformats-officedocument.presentationml.notesSlide+xml"/>
  <Override PartName="/ppt/tags/tag50.xml" ContentType="application/vnd.openxmlformats-officedocument.presentationml.tags+xml"/>
  <Override PartName="/ppt/notesSlides/notesSlide20.xml" ContentType="application/vnd.openxmlformats-officedocument.presentationml.notesSlide+xml"/>
  <Override PartName="/ppt/tags/tag51.xml" ContentType="application/vnd.openxmlformats-officedocument.presentationml.tags+xml"/>
  <Override PartName="/ppt/notesSlides/notesSlide21.xml" ContentType="application/vnd.openxmlformats-officedocument.presentationml.notesSlide+xml"/>
  <Override PartName="/ppt/tags/tag52.xml" ContentType="application/vnd.openxmlformats-officedocument.presentationml.tags+xml"/>
  <Override PartName="/ppt/notesSlides/notesSlide22.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notesSlides/notesSlide23.xml" ContentType="application/vnd.openxmlformats-officedocument.presentationml.notesSlide+xml"/>
  <Override PartName="/ppt/tags/tag55.xml" ContentType="application/vnd.openxmlformats-officedocument.presentationml.tags+xml"/>
  <Override PartName="/ppt/notesSlides/notesSlide24.xml" ContentType="application/vnd.openxmlformats-officedocument.presentationml.notesSlide+xml"/>
  <Override PartName="/ppt/tags/tag56.xml" ContentType="application/vnd.openxmlformats-officedocument.presentationml.tags+xml"/>
  <Override PartName="/ppt/notesSlides/notesSlide25.xml" ContentType="application/vnd.openxmlformats-officedocument.presentationml.notesSlide+xml"/>
  <Override PartName="/ppt/tags/tag57.xml" ContentType="application/vnd.openxmlformats-officedocument.presentationml.tags+xml"/>
  <Override PartName="/ppt/notesSlides/notesSlide26.xml" ContentType="application/vnd.openxmlformats-officedocument.presentationml.notesSlide+xml"/>
  <Override PartName="/ppt/tags/tag58.xml" ContentType="application/vnd.openxmlformats-officedocument.presentationml.tags+xml"/>
  <Override PartName="/ppt/notesSlides/notesSlide27.xml" ContentType="application/vnd.openxmlformats-officedocument.presentationml.notesSlide+xml"/>
  <Override PartName="/ppt/tags/tag59.xml" ContentType="application/vnd.openxmlformats-officedocument.presentationml.tags+xml"/>
  <Override PartName="/ppt/notesSlides/notesSlide28.xml" ContentType="application/vnd.openxmlformats-officedocument.presentationml.notesSlide+xml"/>
  <Override PartName="/ppt/tags/tag60.xml" ContentType="application/vnd.openxmlformats-officedocument.presentationml.tags+xml"/>
  <Override PartName="/ppt/notesSlides/notesSlide29.xml" ContentType="application/vnd.openxmlformats-officedocument.presentationml.notesSlide+xml"/>
  <Override PartName="/ppt/tags/tag61.xml" ContentType="application/vnd.openxmlformats-officedocument.presentationml.tags+xml"/>
  <Override PartName="/ppt/notesSlides/notesSlide30.xml" ContentType="application/vnd.openxmlformats-officedocument.presentationml.notesSlide+xml"/>
  <Override PartName="/ppt/tags/tag62.xml" ContentType="application/vnd.openxmlformats-officedocument.presentationml.tags+xml"/>
  <Override PartName="/ppt/notesSlides/notesSlide3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6"/>
  </p:notesMasterIdLst>
  <p:sldIdLst>
    <p:sldId id="888" r:id="rId2"/>
    <p:sldId id="867" r:id="rId3"/>
    <p:sldId id="815" r:id="rId4"/>
    <p:sldId id="816" r:id="rId5"/>
    <p:sldId id="889" r:id="rId6"/>
    <p:sldId id="834" r:id="rId7"/>
    <p:sldId id="892" r:id="rId8"/>
    <p:sldId id="878" r:id="rId9"/>
    <p:sldId id="890" r:id="rId10"/>
    <p:sldId id="836" r:id="rId11"/>
    <p:sldId id="891" r:id="rId12"/>
    <p:sldId id="883" r:id="rId13"/>
    <p:sldId id="814" r:id="rId14"/>
    <p:sldId id="840" r:id="rId15"/>
    <p:sldId id="841" r:id="rId16"/>
    <p:sldId id="911" r:id="rId17"/>
    <p:sldId id="855" r:id="rId18"/>
    <p:sldId id="505" r:id="rId19"/>
    <p:sldId id="354" r:id="rId20"/>
    <p:sldId id="355" r:id="rId21"/>
    <p:sldId id="356" r:id="rId22"/>
    <p:sldId id="323" r:id="rId23"/>
    <p:sldId id="324" r:id="rId24"/>
    <p:sldId id="325" r:id="rId25"/>
    <p:sldId id="373" r:id="rId26"/>
    <p:sldId id="327" r:id="rId27"/>
    <p:sldId id="331" r:id="rId28"/>
    <p:sldId id="506" r:id="rId29"/>
    <p:sldId id="508" r:id="rId30"/>
    <p:sldId id="507" r:id="rId31"/>
    <p:sldId id="509" r:id="rId32"/>
    <p:sldId id="510" r:id="rId33"/>
    <p:sldId id="332" r:id="rId34"/>
    <p:sldId id="623" r:id="rId35"/>
    <p:sldId id="339" r:id="rId36"/>
    <p:sldId id="582" r:id="rId37"/>
    <p:sldId id="624" r:id="rId38"/>
    <p:sldId id="322" r:id="rId39"/>
    <p:sldId id="333" r:id="rId40"/>
    <p:sldId id="432" r:id="rId41"/>
    <p:sldId id="433" r:id="rId42"/>
    <p:sldId id="434" r:id="rId43"/>
    <p:sldId id="435" r:id="rId44"/>
    <p:sldId id="864" r:id="rId45"/>
    <p:sldId id="885" r:id="rId46"/>
    <p:sldId id="403" r:id="rId47"/>
    <p:sldId id="635" r:id="rId48"/>
    <p:sldId id="629" r:id="rId49"/>
    <p:sldId id="628" r:id="rId50"/>
    <p:sldId id="630" r:id="rId51"/>
    <p:sldId id="631" r:id="rId52"/>
    <p:sldId id="632" r:id="rId53"/>
    <p:sldId id="910" r:id="rId54"/>
    <p:sldId id="636" r:id="rId55"/>
  </p:sldIdLst>
  <p:sldSz cx="12204700" cy="6858000"/>
  <p:notesSz cx="122047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55"/>
    <p:restoredTop sz="94452"/>
  </p:normalViewPr>
  <p:slideViewPr>
    <p:cSldViewPr snapToGrid="0">
      <p:cViewPr varScale="1">
        <p:scale>
          <a:sx n="120" d="100"/>
          <a:sy n="120" d="100"/>
        </p:scale>
        <p:origin x="528" y="17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hlesinger, Sebastian" userId="d814e6c9-e9fb-4b77-84f7-ccd8aa3529bb" providerId="ADAL" clId="{6D2FDA67-24CA-54D8-B1B4-CE061F2DAD41}"/>
    <pc:docChg chg="modSld">
      <pc:chgData name="Schlesinger, Sebastian" userId="d814e6c9-e9fb-4b77-84f7-ccd8aa3529bb" providerId="ADAL" clId="{6D2FDA67-24CA-54D8-B1B4-CE061F2DAD41}" dt="2026-10-15T20:39:31.832" v="1" actId="6549"/>
      <pc:docMkLst>
        <pc:docMk/>
      </pc:docMkLst>
      <pc:sldChg chg="modSp mod">
        <pc:chgData name="Schlesinger, Sebastian" userId="d814e6c9-e9fb-4b77-84f7-ccd8aa3529bb" providerId="ADAL" clId="{6D2FDA67-24CA-54D8-B1B4-CE061F2DAD41}" dt="2026-10-15T20:39:31.832" v="1" actId="6549"/>
        <pc:sldMkLst>
          <pc:docMk/>
          <pc:sldMk cId="1254934176" sldId="888"/>
        </pc:sldMkLst>
        <pc:spChg chg="mod">
          <ac:chgData name="Schlesinger, Sebastian" userId="d814e6c9-e9fb-4b77-84f7-ccd8aa3529bb" providerId="ADAL" clId="{6D2FDA67-24CA-54D8-B1B4-CE061F2DAD41}" dt="2026-10-15T20:39:31.832" v="1" actId="6549"/>
          <ac:spMkLst>
            <pc:docMk/>
            <pc:sldMk cId="1254934176" sldId="888"/>
            <ac:spMk id="4" creationId="{1E39F0E3-8C0D-B9FB-C5FC-26F66EBAD39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7963"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13563" y="0"/>
            <a:ext cx="5287962" cy="344488"/>
          </a:xfrm>
          <a:prstGeom prst="rect">
            <a:avLst/>
          </a:prstGeom>
        </p:spPr>
        <p:txBody>
          <a:bodyPr vert="horz" lIns="91440" tIns="45720" rIns="91440" bIns="45720" rtlCol="0"/>
          <a:lstStyle>
            <a:lvl1pPr algn="r">
              <a:defRPr sz="1200"/>
            </a:lvl1pPr>
          </a:lstStyle>
          <a:p>
            <a:fld id="{B8817E12-894C-4849-8C66-6DE4F2D4004B}" type="datetimeFigureOut">
              <a:rPr lang="en-US" smtClean="0"/>
              <a:t>10/15/26</a:t>
            </a:fld>
            <a:endParaRPr lang="en-US"/>
          </a:p>
        </p:txBody>
      </p:sp>
      <p:sp>
        <p:nvSpPr>
          <p:cNvPr id="4" name="Slide Image Placeholder 3"/>
          <p:cNvSpPr>
            <a:spLocks noGrp="1" noRot="1" noChangeAspect="1"/>
          </p:cNvSpPr>
          <p:nvPr>
            <p:ph type="sldImg" idx="2"/>
          </p:nvPr>
        </p:nvSpPr>
        <p:spPr>
          <a:xfrm>
            <a:off x="4043363" y="857250"/>
            <a:ext cx="4117975"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20788" y="3300413"/>
            <a:ext cx="9763125"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7963"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13563" y="6513513"/>
            <a:ext cx="5287962" cy="344487"/>
          </a:xfrm>
          <a:prstGeom prst="rect">
            <a:avLst/>
          </a:prstGeom>
        </p:spPr>
        <p:txBody>
          <a:bodyPr vert="horz" lIns="91440" tIns="45720" rIns="91440" bIns="45720" rtlCol="0" anchor="b"/>
          <a:lstStyle>
            <a:lvl1pPr algn="r">
              <a:defRPr sz="1200"/>
            </a:lvl1pPr>
          </a:lstStyle>
          <a:p>
            <a:fld id="{C6555D80-2959-43CF-A0C1-227DCE9833BC}" type="slidenum">
              <a:rPr lang="en-US" smtClean="0"/>
              <a:t>‹#›</a:t>
            </a:fld>
            <a:endParaRPr lang="en-US"/>
          </a:p>
        </p:txBody>
      </p:sp>
    </p:spTree>
    <p:extLst>
      <p:ext uri="{BB962C8B-B14F-4D97-AF65-F5344CB8AC3E}">
        <p14:creationId xmlns:p14="http://schemas.microsoft.com/office/powerpoint/2010/main" val="902076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techcrunch.com/2016/07/02/andy-jassys-brief-history-of-the-genesis-of-aws/"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aws.amazon.com/what-is-cloud-computing/"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aws.amazon.com/about-aws/global-infrastructure/#AWS_Global_Infrastructure_Map" TargetMode="External"/><Relationship Id="rId2" Type="http://schemas.openxmlformats.org/officeDocument/2006/relationships/slide" Target="../slides/slide34.xml"/><Relationship Id="rId1" Type="http://schemas.openxmlformats.org/officeDocument/2006/relationships/notesMaster" Target="../notesMasters/notesMaster1.xml"/><Relationship Id="rId4" Type="http://schemas.openxmlformats.org/officeDocument/2006/relationships/hyperlink" Target="https://aws.amazon.com/about-aws/global-infrastructure/regions_az/"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www.cloudping.info/" TargetMode="External"/><Relationship Id="rId2" Type="http://schemas.openxmlformats.org/officeDocument/2006/relationships/slide" Target="../slides/slide36.xml"/><Relationship Id="rId1" Type="http://schemas.openxmlformats.org/officeDocument/2006/relationships/notesMaster" Target="../notesMasters/notesMaster1.xml"/><Relationship Id="rId4" Type="http://schemas.openxmlformats.org/officeDocument/2006/relationships/hyperlink" Target="https://aws.amazon.com/about-aws/global-infrastructure/regional-product-services/?p=tgi&amp;loc=4"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aws.amazon.com/products/"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understand what cloud architecting is and why it’s important, first consider an example of what software development is like in its absence. </a:t>
            </a:r>
          </a:p>
          <a:p>
            <a:endParaRPr lang="en-US"/>
          </a:p>
          <a:p>
            <a:r>
              <a:rPr lang="en-US"/>
              <a:t>Around 2000, Amazon was trying to create an ecommerce service that would enable third-party sellers to build their own online shopping sites on top of the Amazon ecommerce engine. The company was struggling to make its new shopping website highly available and scalable.</a:t>
            </a:r>
          </a:p>
        </p:txBody>
      </p:sp>
    </p:spTree>
    <p:extLst>
      <p:ext uri="{BB962C8B-B14F-4D97-AF65-F5344CB8AC3E}">
        <p14:creationId xmlns:p14="http://schemas.microsoft.com/office/powerpoint/2010/main" val="25845962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In a </a:t>
            </a:r>
            <a:r>
              <a:rPr lang="en-US" dirty="0">
                <a:ea typeface="Amazon Ember Light" panose="020B0403020204020204" pitchFamily="34" charset="0"/>
                <a:cs typeface="Amazon Ember Light" panose="020B0403020204020204" pitchFamily="34" charset="0"/>
                <a:hlinkClick r:id="rId3"/>
              </a:rPr>
              <a:t>TechCrunch interview about the genesis of AWS</a:t>
            </a:r>
            <a:r>
              <a:rPr lang="en-US"/>
              <a:t>, AWS Chief Executive Officer (CEO) Andy Jassy said that in the beginning, the Amazon ecommerce tools were a “jumbled mess.” Applications and architectures were being built without proper planning. Jassy also said that it was “a huge challenge to separate the various services to make a centralized development platform.”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solution to this problem was to create a set of well-documented application programming interfaces (APIs) to organize the development environment.</a:t>
            </a:r>
          </a:p>
        </p:txBody>
      </p:sp>
    </p:spTree>
    <p:extLst>
      <p:ext uri="{BB962C8B-B14F-4D97-AF65-F5344CB8AC3E}">
        <p14:creationId xmlns:p14="http://schemas.microsoft.com/office/powerpoint/2010/main" val="1567860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Amazon still struggled to build applications quickly as the company grew and more software engineers were hired:</a:t>
            </a:r>
          </a:p>
          <a:p>
            <a:pPr marL="171450" indent="-171450">
              <a:buFont typeface="Arial" panose="020B0604020202020204" pitchFamily="34" charset="0"/>
              <a:buChar char="•"/>
            </a:pPr>
            <a:r>
              <a:rPr lang="en-US" dirty="0"/>
              <a:t>It took 3 months to build database, compute, and storage components for an entire project that was expected to take 3 months.</a:t>
            </a:r>
          </a:p>
          <a:p>
            <a:pPr marL="171450" indent="-171450">
              <a:buFont typeface="Arial" panose="020B0604020202020204" pitchFamily="34" charset="0"/>
              <a:buChar char="•"/>
            </a:pPr>
            <a:r>
              <a:rPr lang="en-US" dirty="0"/>
              <a:t>Each team built their own resources without planning for scalability or reusability.</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The solution was to build internal services to create highly available, scalable, and reliable architectures on top of the Amazon infrastructure. In 2006, Amazon started selling these services as AWS.</a:t>
            </a:r>
          </a:p>
        </p:txBody>
      </p:sp>
    </p:spTree>
    <p:extLst>
      <p:ext uri="{BB962C8B-B14F-4D97-AF65-F5344CB8AC3E}">
        <p14:creationId xmlns:p14="http://schemas.microsoft.com/office/powerpoint/2010/main" val="518575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Cloud computing enables you to stop thinking of your infrastructure as hardware, and instead think of (and use) it as software. But what does this mean?</a:t>
            </a:r>
          </a:p>
        </p:txBody>
      </p:sp>
      <p:sp>
        <p:nvSpPr>
          <p:cNvPr id="5" name="Slide Image Placeholder 4">
            <a:extLst>
              <a:ext uri="{FF2B5EF4-FFF2-40B4-BE49-F238E27FC236}">
                <a16:creationId xmlns:a16="http://schemas.microsoft.com/office/drawing/2014/main" id="{B3FAA523-4DD2-FB42-3A07-786AEDE30092}"/>
              </a:ext>
            </a:extLst>
          </p:cNvPr>
          <p:cNvSpPr>
            <a:spLocks noGrp="1" noRot="1" noChangeAspect="1"/>
          </p:cNvSpPr>
          <p:nvPr>
            <p:ph type="sldImg"/>
          </p:nvPr>
        </p:nvSpPr>
        <p:spPr/>
      </p:sp>
    </p:spTree>
    <p:extLst>
      <p:ext uri="{BB962C8B-B14F-4D97-AF65-F5344CB8AC3E}">
        <p14:creationId xmlns:p14="http://schemas.microsoft.com/office/powerpoint/2010/main" val="13365813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In the traditional computing model, infrastructure is thought of as hardware. Hardware solutions are physical, which means they require space, staff, physical security, planning, and capital expenditure. </a:t>
            </a:r>
          </a:p>
          <a:p>
            <a:endParaRPr lang="en-US" dirty="0"/>
          </a:p>
          <a:p>
            <a:r>
              <a:rPr lang="en-US" dirty="0"/>
              <a:t>In addition to significant upfront investment, another prohibitive aspect of traditional computing is the long hardware procurement cycle that involves acquiring, provisioning, and maintaining on-premises infrastructure. </a:t>
            </a:r>
          </a:p>
          <a:p>
            <a:endParaRPr lang="en-US" dirty="0"/>
          </a:p>
          <a:p>
            <a:r>
              <a:rPr lang="en-US" dirty="0"/>
              <a:t>With a hardware solution, you must ask if there is enough resource capacity or sufficient storage to meet your needs, and you provision capacity by guessing theoretical maximum peaks. If you don’t meet your projected maximum peak, then you pay for expensive resources that stay idle. If you exceed your projected maximum peak, then you don’t have sufficient capacity to meet your needs. And if your needs change, then you must spend the time, effort, and money required to implement a new solution.</a:t>
            </a:r>
          </a:p>
          <a:p>
            <a:endParaRPr lang="en-US" dirty="0"/>
          </a:p>
          <a:p>
            <a:r>
              <a:rPr lang="en-US" dirty="0"/>
              <a:t>For example, if you wanted to provision a new website, you would need to buy the hardware, rack and stack it, put it in a data center, and then manage it or have someone else manage it. This approach is expensive and time-consuming.</a:t>
            </a:r>
          </a:p>
        </p:txBody>
      </p:sp>
      <p:sp>
        <p:nvSpPr>
          <p:cNvPr id="5" name="Slide Image Placeholder 4">
            <a:extLst>
              <a:ext uri="{FF2B5EF4-FFF2-40B4-BE49-F238E27FC236}">
                <a16:creationId xmlns:a16="http://schemas.microsoft.com/office/drawing/2014/main" id="{E702BC91-4BB2-6030-8548-A8C547DB8A97}"/>
              </a:ext>
            </a:extLst>
          </p:cNvPr>
          <p:cNvSpPr>
            <a:spLocks noGrp="1" noRot="1" noChangeAspect="1"/>
          </p:cNvSpPr>
          <p:nvPr>
            <p:ph type="sldImg"/>
          </p:nvPr>
        </p:nvSpPr>
        <p:spPr/>
      </p:sp>
    </p:spTree>
    <p:extLst>
      <p:ext uri="{BB962C8B-B14F-4D97-AF65-F5344CB8AC3E}">
        <p14:creationId xmlns:p14="http://schemas.microsoft.com/office/powerpoint/2010/main" val="1189745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By contrast, cloud computing enables you to think of your infrastructure as software. Software solutions are flexible. You can select the cloud services that best match your needs, provision and terminate those resources on-demand, and pay for what you use. You can elastically scale resources up and down in an automated fashion. With the cloud computing model, you can treat resources as temporary and disposable. The flexibility that cloud computing offers enables businesses to implement new solutions quickly and with low upfront costs. </a:t>
            </a:r>
          </a:p>
          <a:p>
            <a:endParaRPr lang="en-US" dirty="0"/>
          </a:p>
          <a:p>
            <a:r>
              <a:rPr lang="en-US" dirty="0"/>
              <a:t>Compared to hardware solutions, software solutions can change much more quickly, easily, and cost-effectively. </a:t>
            </a:r>
          </a:p>
          <a:p>
            <a:endParaRPr lang="en-US" dirty="0"/>
          </a:p>
          <a:p>
            <a:pPr lvl="0"/>
            <a:r>
              <a:rPr lang="en-US" dirty="0"/>
              <a:t>Cloud computing helps developers and IT departments avoid undifferentiated work like procurement, maintenance, and capacity planning, thus enabling them to focus on what matters most. </a:t>
            </a:r>
          </a:p>
          <a:p>
            <a:pPr lvl="0"/>
            <a:endParaRPr lang="en-US" dirty="0"/>
          </a:p>
          <a:p>
            <a:pPr lvl="0"/>
            <a:r>
              <a:rPr lang="en-US" dirty="0"/>
              <a:t>As cloud computing has grown in popularity, several different service models and deployment strategies have emerged to help meet the specific needs of different users. Each type of cloud service model and deployment strategy provides you with a different level of control, flexibility, and management. Understanding the differences between these cloud service models and deployment strategies can help you decide what set of services is right for your needs.</a:t>
            </a:r>
          </a:p>
        </p:txBody>
      </p:sp>
      <p:sp>
        <p:nvSpPr>
          <p:cNvPr id="5" name="Slide Image Placeholder 4">
            <a:extLst>
              <a:ext uri="{FF2B5EF4-FFF2-40B4-BE49-F238E27FC236}">
                <a16:creationId xmlns:a16="http://schemas.microsoft.com/office/drawing/2014/main" id="{65DF3C25-EEC2-C838-18FB-6E12A9BBAF17}"/>
              </a:ext>
            </a:extLst>
          </p:cNvPr>
          <p:cNvSpPr>
            <a:spLocks noGrp="1" noRot="1" noChangeAspect="1"/>
          </p:cNvSpPr>
          <p:nvPr>
            <p:ph type="sldImg"/>
          </p:nvPr>
        </p:nvSpPr>
        <p:spPr/>
      </p:sp>
    </p:spTree>
    <p:extLst>
      <p:ext uri="{BB962C8B-B14F-4D97-AF65-F5344CB8AC3E}">
        <p14:creationId xmlns:p14="http://schemas.microsoft.com/office/powerpoint/2010/main" val="25705524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There are three main cloud service models. Each model represents a different part of the cloud computing stack and gives you a different level of control over your IT resources:</a:t>
            </a:r>
          </a:p>
          <a:p>
            <a:pPr marL="171450" indent="-171450">
              <a:buFont typeface="Arial" panose="020B0604020202020204" pitchFamily="34" charset="0"/>
              <a:buChar char="•"/>
            </a:pPr>
            <a:r>
              <a:rPr lang="en-US" b="1" dirty="0"/>
              <a:t>Infrastructure as a service (IaaS):</a:t>
            </a:r>
            <a:r>
              <a:rPr lang="en-US" dirty="0"/>
              <a:t> Services in this category are the basic building blocks for cloud IT and typically provide you with access to networking features, computers (virtual or on dedicated hardware), and data storage space. IaaS provides you with the highest level of flexibility and management control over your IT resources. It is the most similar to existing IT resources that many IT departments and developers are familiar with today.</a:t>
            </a:r>
          </a:p>
          <a:p>
            <a:pPr marL="171450" indent="-171450">
              <a:buFont typeface="Arial" panose="020B0604020202020204" pitchFamily="34" charset="0"/>
              <a:buChar char="•"/>
            </a:pPr>
            <a:r>
              <a:rPr lang="en-US" b="1" dirty="0"/>
              <a:t>Platform as a service (PaaS): </a:t>
            </a:r>
            <a:r>
              <a:rPr lang="en-US" dirty="0"/>
              <a:t>Services in this category reduce the need for you to manage the underlying infrastructure (usually hardware and operating systems) and enable you to focus on the deployment and management of your applications. </a:t>
            </a:r>
          </a:p>
          <a:p>
            <a:pPr marL="171450" indent="-171450">
              <a:buFont typeface="Arial" panose="020B0604020202020204" pitchFamily="34" charset="0"/>
              <a:buChar char="•"/>
            </a:pPr>
            <a:r>
              <a:rPr lang="en-US" b="1" dirty="0"/>
              <a:t>Software as a service (SaaS):</a:t>
            </a:r>
            <a:r>
              <a:rPr lang="en-US" dirty="0"/>
              <a:t> Services in this category provide you with a completed product that the service provider runs and manages. In most cases, software as a service refers to end-user applications. With a SaaS offering, you do not have to think about how the service is maintained or how the underlying infrastructure is managed. You need to think only about how you plan to use that particular piece of software. A common example of a SaaS application is web-based email, where you can send and receive email without managing feature additions to the email product or maintaining the servers and operating systems that the email program runs on.</a:t>
            </a:r>
          </a:p>
        </p:txBody>
      </p:sp>
      <p:sp>
        <p:nvSpPr>
          <p:cNvPr id="5" name="Slide Image Placeholder 4">
            <a:extLst>
              <a:ext uri="{FF2B5EF4-FFF2-40B4-BE49-F238E27FC236}">
                <a16:creationId xmlns:a16="http://schemas.microsoft.com/office/drawing/2014/main" id="{E8FF6089-AC39-78F1-7EE9-4EA51AC739C7}"/>
              </a:ext>
            </a:extLst>
          </p:cNvPr>
          <p:cNvSpPr>
            <a:spLocks noGrp="1" noRot="1" noChangeAspect="1"/>
          </p:cNvSpPr>
          <p:nvPr>
            <p:ph type="sldImg"/>
          </p:nvPr>
        </p:nvSpPr>
        <p:spPr/>
      </p:sp>
    </p:spTree>
    <p:extLst>
      <p:ext uri="{BB962C8B-B14F-4D97-AF65-F5344CB8AC3E}">
        <p14:creationId xmlns:p14="http://schemas.microsoft.com/office/powerpoint/2010/main" val="4179487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7"/>
            <a:ext cx="6216650" cy="4541837"/>
          </a:xfrm>
        </p:spPr>
        <p:txBody>
          <a:bodyPr/>
          <a:lstStyle/>
          <a:p>
            <a:r>
              <a:rPr lang="en-US" dirty="0"/>
              <a:t>There are three main cloud computing deployment models, which represent the cloud environments that your applications can be deployed in:</a:t>
            </a:r>
          </a:p>
          <a:p>
            <a:pPr marL="171450" indent="-171450">
              <a:buFont typeface="Arial" panose="020B0604020202020204" pitchFamily="34" charset="0"/>
              <a:buChar char="•"/>
            </a:pPr>
            <a:r>
              <a:rPr lang="en-US" b="1" dirty="0"/>
              <a:t>Cloud: </a:t>
            </a:r>
            <a:r>
              <a:rPr lang="en-US" dirty="0"/>
              <a:t>A cloud-based application is fully deployed in the cloud, and all parts of the application run in the cloud. Applications in the cloud have either been created in the cloud or have been migrated from an existing infrastructure to take advantage of </a:t>
            </a:r>
            <a:r>
              <a:rPr lang="en-US" dirty="0">
                <a:effectLst/>
                <a:ea typeface="Calibri" panose="020F0502020204030204" pitchFamily="34" charset="0"/>
                <a:cs typeface="Times New Roman" panose="02020603050405020304" pitchFamily="18" charset="0"/>
              </a:rPr>
              <a:t>the benefits of cloud computing (see </a:t>
            </a:r>
            <a:r>
              <a:rPr lang="en-US" u="sng" dirty="0">
                <a:solidFill>
                  <a:srgbClr val="0563C1"/>
                </a:solidFill>
                <a:effectLst/>
                <a:ea typeface="Calibri" panose="020F0502020204030204" pitchFamily="34" charset="0"/>
                <a:cs typeface="Times New Roman" panose="02020603050405020304" pitchFamily="18" charset="0"/>
                <a:hlinkClick r:id="rId3"/>
              </a:rPr>
              <a:t>https://aws.amazon.com/what-is-cloud-computing/</a:t>
            </a:r>
            <a:r>
              <a:rPr lang="en-US" dirty="0">
                <a:effectLst/>
                <a:ea typeface="Calibri" panose="020F0502020204030204" pitchFamily="34" charset="0"/>
                <a:cs typeface="Times New Roman" panose="02020603050405020304" pitchFamily="18" charset="0"/>
              </a:rPr>
              <a:t>). </a:t>
            </a:r>
            <a:r>
              <a:rPr lang="en-US" dirty="0"/>
              <a:t>Cloud-based applications can be built on low-level infrastructure pieces or they can use higher-level services that provide abstraction from the management, architecting, and scaling requirements of core infrastructure.</a:t>
            </a:r>
          </a:p>
          <a:p>
            <a:pPr marL="171450" indent="-171450">
              <a:buFont typeface="Arial" panose="020B0604020202020204" pitchFamily="34" charset="0"/>
              <a:buChar char="•"/>
            </a:pPr>
            <a:r>
              <a:rPr lang="en-US" b="1" dirty="0"/>
              <a:t>Hybrid: </a:t>
            </a:r>
            <a:r>
              <a:rPr lang="en-US" dirty="0"/>
              <a:t>A hybrid deployment is a way to connect infrastructure and applications between cloud-based resources and existing resources that are not located in the cloud. The most common method of hybrid deployment is between the cloud and existing on-premises infrastructure. This model enables an organization to extend and grow their infrastructure into the cloud while connecting cloud resources to internal systems. </a:t>
            </a:r>
          </a:p>
          <a:p>
            <a:pPr marL="171450" indent="-171450">
              <a:buFont typeface="Arial" panose="020B0604020202020204" pitchFamily="34" charset="0"/>
              <a:buChar char="•"/>
            </a:pPr>
            <a:r>
              <a:rPr lang="en-US" b="1" dirty="0"/>
              <a:t>On-premises: </a:t>
            </a:r>
            <a:r>
              <a:rPr lang="en-US" dirty="0"/>
              <a:t>Deploying resources on-premises, using virtualization and resource management tools, is sometimes called private cloud. While on-premises deployment does not provide many of the benefits of cloud computing, it is sometimes sought for its ability to provide dedicated resources. In most cases, this deployment model is the same as legacy IT infrastructure, but it might also use application management and virtualization technologies to increase resource utilization.</a:t>
            </a:r>
          </a:p>
        </p:txBody>
      </p:sp>
      <p:sp>
        <p:nvSpPr>
          <p:cNvPr id="5" name="Slide Image Placeholder 4">
            <a:extLst>
              <a:ext uri="{FF2B5EF4-FFF2-40B4-BE49-F238E27FC236}">
                <a16:creationId xmlns:a16="http://schemas.microsoft.com/office/drawing/2014/main" id="{BAD9909B-540F-79D9-7F6E-959E23FE1F49}"/>
              </a:ext>
            </a:extLst>
          </p:cNvPr>
          <p:cNvSpPr>
            <a:spLocks noGrp="1" noRot="1" noChangeAspect="1"/>
          </p:cNvSpPr>
          <p:nvPr>
            <p:ph type="sldImg"/>
          </p:nvPr>
        </p:nvSpPr>
        <p:spPr/>
      </p:sp>
    </p:spTree>
    <p:extLst>
      <p:ext uri="{BB962C8B-B14F-4D97-AF65-F5344CB8AC3E}">
        <p14:creationId xmlns:p14="http://schemas.microsoft.com/office/powerpoint/2010/main" val="3646046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There are many similarities between AWS and the traditional, on-premises IT space:</a:t>
            </a:r>
          </a:p>
          <a:p>
            <a:pPr marL="171450" lvl="0" indent="-171450">
              <a:buFont typeface="Arial" panose="020B0604020202020204" pitchFamily="34" charset="0"/>
              <a:buChar char="•"/>
            </a:pPr>
            <a:r>
              <a:rPr lang="en-US" dirty="0"/>
              <a:t>AWS security groups, network access control lists (network ACLs), and AWS Identity and Access Management (IAM) are similar to firewalls, access control lists (ACLs), and administrators.</a:t>
            </a:r>
          </a:p>
          <a:p>
            <a:pPr marL="171450" lvl="0" indent="-171450">
              <a:buFont typeface="Arial" panose="020B0604020202020204" pitchFamily="34" charset="0"/>
              <a:buChar char="•"/>
            </a:pPr>
            <a:r>
              <a:rPr lang="en-US" dirty="0"/>
              <a:t>Elastic Load Balancing and Amazon Virtual Private Cloud (Amazon VPC) are similar to routers, network pipelines, and switches.</a:t>
            </a:r>
          </a:p>
          <a:p>
            <a:pPr marL="171450" lvl="0" indent="-171450">
              <a:buFont typeface="Arial" panose="020B0604020202020204" pitchFamily="34" charset="0"/>
              <a:buChar char="•"/>
            </a:pPr>
            <a:r>
              <a:rPr lang="en-US" dirty="0"/>
              <a:t>Amazon Machine Images (AMIs) and Amazon Elastic Compute Cloud (Amazon EC2) instances are similar to on-premises servers.</a:t>
            </a:r>
          </a:p>
          <a:p>
            <a:pPr marL="171450" lvl="0" indent="-171450">
              <a:buFont typeface="Arial" panose="020B0604020202020204" pitchFamily="34" charset="0"/>
              <a:buChar char="•"/>
            </a:pPr>
            <a:r>
              <a:rPr lang="en-US" dirty="0"/>
              <a:t>Amazon Elastic Block Store (Amazon EBS), Amazon Elastic File System (Amazon EFS), Amazon Simple Storage Service (Amazon S3), and Amazon Relational Database Service (Amazon RDS) are similar to direct attached storage (DAS), storage area networks (SAN), network attached storage (NAS), and a relational database management service (RDBMS).</a:t>
            </a:r>
          </a:p>
          <a:p>
            <a:pPr lvl="0"/>
            <a:endParaRPr lang="en-US" dirty="0"/>
          </a:p>
          <a:p>
            <a:pPr lvl="0"/>
            <a:r>
              <a:rPr lang="en-US" dirty="0"/>
              <a:t>With AWS services and features, you can do almost everything that you would want to do with a traditional data center.</a:t>
            </a:r>
          </a:p>
        </p:txBody>
      </p:sp>
      <p:sp>
        <p:nvSpPr>
          <p:cNvPr id="5" name="Slide Image Placeholder 4">
            <a:extLst>
              <a:ext uri="{FF2B5EF4-FFF2-40B4-BE49-F238E27FC236}">
                <a16:creationId xmlns:a16="http://schemas.microsoft.com/office/drawing/2014/main" id="{78EFB6A0-F8C9-569F-BB75-3991BAC245AB}"/>
              </a:ext>
            </a:extLst>
          </p:cNvPr>
          <p:cNvSpPr>
            <a:spLocks noGrp="1" noRot="1" noChangeAspect="1"/>
          </p:cNvSpPr>
          <p:nvPr>
            <p:ph type="sldImg"/>
          </p:nvPr>
        </p:nvSpPr>
        <p:spPr/>
      </p:sp>
    </p:spTree>
    <p:extLst>
      <p:ext uri="{BB962C8B-B14F-4D97-AF65-F5344CB8AC3E}">
        <p14:creationId xmlns:p14="http://schemas.microsoft.com/office/powerpoint/2010/main" val="4038375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b="1" dirty="0"/>
              <a:t>Advantage #6—Go global in minutes: </a:t>
            </a:r>
            <a:r>
              <a:rPr lang="en-US" dirty="0"/>
              <a:t>You can deploy your application in multiple AWS Regions around the world with just a few clicks. As a result, you can provide a lower latency and better experience for your customers simply and at minimal cost.</a:t>
            </a:r>
          </a:p>
        </p:txBody>
      </p:sp>
      <p:sp>
        <p:nvSpPr>
          <p:cNvPr id="5" name="Slide Image Placeholder 4">
            <a:extLst>
              <a:ext uri="{FF2B5EF4-FFF2-40B4-BE49-F238E27FC236}">
                <a16:creationId xmlns:a16="http://schemas.microsoft.com/office/drawing/2014/main" id="{D0DEF427-BD69-2601-1351-14864544237C}"/>
              </a:ext>
            </a:extLst>
          </p:cNvPr>
          <p:cNvSpPr>
            <a:spLocks noGrp="1" noRot="1" noChangeAspect="1"/>
          </p:cNvSpPr>
          <p:nvPr>
            <p:ph type="sldImg"/>
          </p:nvPr>
        </p:nvSpPr>
        <p:spPr/>
      </p:sp>
    </p:spTree>
    <p:extLst>
      <p:ext uri="{BB962C8B-B14F-4D97-AF65-F5344CB8AC3E}">
        <p14:creationId xmlns:p14="http://schemas.microsoft.com/office/powerpoint/2010/main" val="539224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To learn more about the AWS Regions that are currently available, use one of the following links: </a:t>
            </a:r>
          </a:p>
          <a:p>
            <a:pPr marL="171450" lvl="0" indent="-171450">
              <a:buFont typeface="Arial" panose="020B0604020202020204" pitchFamily="34" charset="0"/>
              <a:buChar char="•"/>
            </a:pPr>
            <a:r>
              <a:rPr lang="en-US" dirty="0">
                <a:hlinkClick r:id="rId3"/>
              </a:rPr>
              <a:t>https://aws.amazon.com/about-aws/global-infrastructure/#AWS_Global_Infrastructure_Map</a:t>
            </a:r>
            <a:endParaRPr lang="en-US" dirty="0"/>
          </a:p>
          <a:p>
            <a:pPr marL="171450" lvl="0" indent="-171450">
              <a:buFont typeface="Arial" panose="020B0604020202020204" pitchFamily="34" charset="0"/>
              <a:buChar char="•"/>
            </a:pPr>
            <a:r>
              <a:rPr lang="en-US" dirty="0">
                <a:hlinkClick r:id="rId4"/>
              </a:rPr>
              <a:t>https://aws.amazon.com/about-aws/global-infrastructure/regions_az/</a:t>
            </a:r>
            <a:r>
              <a:rPr lang="en-US" dirty="0"/>
              <a:t> </a:t>
            </a:r>
          </a:p>
          <a:p>
            <a:pPr lvl="0"/>
            <a:endParaRPr lang="en-US" dirty="0"/>
          </a:p>
          <a:p>
            <a:r>
              <a:rPr lang="en-US" dirty="0"/>
              <a:t>These resources are updated frequently to show current and planned AWS infrastructure. </a:t>
            </a:r>
          </a:p>
        </p:txBody>
      </p:sp>
      <p:sp>
        <p:nvSpPr>
          <p:cNvPr id="5" name="Slide Image Placeholder 4">
            <a:extLst>
              <a:ext uri="{FF2B5EF4-FFF2-40B4-BE49-F238E27FC236}">
                <a16:creationId xmlns:a16="http://schemas.microsoft.com/office/drawing/2014/main" id="{D30DF71E-12D8-1B71-B022-E1BDD0056F4E}"/>
              </a:ext>
            </a:extLst>
          </p:cNvPr>
          <p:cNvSpPr>
            <a:spLocks noGrp="1" noRot="1" noChangeAspect="1"/>
          </p:cNvSpPr>
          <p:nvPr>
            <p:ph type="sldImg"/>
          </p:nvPr>
        </p:nvSpPr>
        <p:spPr/>
      </p:sp>
    </p:spTree>
    <p:extLst>
      <p:ext uri="{BB962C8B-B14F-4D97-AF65-F5344CB8AC3E}">
        <p14:creationId xmlns:p14="http://schemas.microsoft.com/office/powerpoint/2010/main" val="2508224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7"/>
            <a:ext cx="6216650" cy="4690211"/>
          </a:xfrm>
        </p:spPr>
        <p:txBody>
          <a:bodyPr/>
          <a:lstStyle/>
          <a:p>
            <a:r>
              <a:rPr lang="en-US" dirty="0"/>
              <a:t>The AWS Cloud infrastructure is built around Regions. AWS has 22 Regions worldwide. An </a:t>
            </a:r>
            <a:r>
              <a:rPr lang="en-US" b="1" dirty="0"/>
              <a:t>AWS Region</a:t>
            </a:r>
            <a:r>
              <a:rPr lang="en-US" dirty="0"/>
              <a:t> is a physical geographical location with one or more </a:t>
            </a:r>
            <a:r>
              <a:rPr lang="en-US" b="1" dirty="0"/>
              <a:t>Availability Zones</a:t>
            </a:r>
            <a:r>
              <a:rPr lang="en-US" dirty="0"/>
              <a:t>. Availability Zones in turn consist of one or more </a:t>
            </a:r>
            <a:r>
              <a:rPr lang="en-US" b="1" dirty="0"/>
              <a:t>data centers</a:t>
            </a:r>
            <a:r>
              <a:rPr lang="en-US" dirty="0"/>
              <a:t>.</a:t>
            </a:r>
          </a:p>
          <a:p>
            <a:endParaRPr lang="en-US" dirty="0"/>
          </a:p>
          <a:p>
            <a:r>
              <a:rPr lang="en-US" dirty="0"/>
              <a:t>To achieve fault tolerance and stability, Regions are isolated from one another. Resources in one Region are not automatically replicated to other Regions. When you store data in a specific Region, it is not replicated outside that Region. </a:t>
            </a:r>
          </a:p>
          <a:p>
            <a:endParaRPr lang="en-US" dirty="0"/>
          </a:p>
          <a:p>
            <a:r>
              <a:rPr lang="en-US" dirty="0"/>
              <a:t>It is your responsibility to replicate data across Regions, if your business needs require it. </a:t>
            </a:r>
          </a:p>
          <a:p>
            <a:endParaRPr lang="en-US" dirty="0"/>
          </a:p>
          <a:p>
            <a:r>
              <a:rPr lang="en-US" dirty="0"/>
              <a:t>AWS Regions that were introduced before March 20, 2019 are enabled by default. Regions that were introduced after March 20, 2019—such as Asia Pacific (Hong Kong) and Middle East (Bahrain)—are disabled by default. You must enable these Regions before you can use them. You can use the AWS Management Console to enable or disable a Region. </a:t>
            </a:r>
          </a:p>
          <a:p>
            <a:endParaRPr lang="en-US" dirty="0"/>
          </a:p>
          <a:p>
            <a:r>
              <a:rPr lang="en-US" dirty="0"/>
              <a:t>Some Regions have restricted access. An Amazon AWS (</a:t>
            </a:r>
            <a:r>
              <a:rPr lang="en-US" b="1" dirty="0"/>
              <a:t>China</a:t>
            </a:r>
            <a:r>
              <a:rPr lang="en-US" dirty="0"/>
              <a:t>) account provides access to the Beijing and Ningxia Regions only. To learn more about AWS in China, see: https://www.amazonaws.cn/en/about-aws/china/. The isolated </a:t>
            </a:r>
            <a:r>
              <a:rPr lang="en-US" b="1" dirty="0"/>
              <a:t>AWS GovCloud (US) </a:t>
            </a:r>
            <a:r>
              <a:rPr lang="en-US" dirty="0"/>
              <a:t>Region is designed to allow US government agencies and customers to move sensitive workloads into the cloud by addressing their specific regulatory and compliance requirements. </a:t>
            </a:r>
          </a:p>
          <a:p>
            <a:endParaRPr lang="en-US" dirty="0"/>
          </a:p>
          <a:p>
            <a:r>
              <a:rPr lang="en-AU" b="1" dirty="0">
                <a:effectLst/>
                <a:ea typeface="Calibri" panose="020F0502020204030204" pitchFamily="34" charset="0"/>
              </a:rPr>
              <a:t>For accessibility:</a:t>
            </a:r>
            <a:r>
              <a:rPr lang="en-AU" dirty="0">
                <a:effectLst/>
                <a:ea typeface="Calibri" panose="020F0502020204030204" pitchFamily="34" charset="0"/>
              </a:rPr>
              <a:t> Snapshot from the </a:t>
            </a:r>
            <a:r>
              <a:rPr lang="en-AU" dirty="0" err="1">
                <a:effectLst/>
                <a:ea typeface="Calibri" panose="020F0502020204030204" pitchFamily="34" charset="0"/>
              </a:rPr>
              <a:t>infrastructure.aws</a:t>
            </a:r>
            <a:r>
              <a:rPr lang="en-AU" dirty="0">
                <a:effectLst/>
                <a:ea typeface="Calibri" panose="020F0502020204030204" pitchFamily="34" charset="0"/>
              </a:rPr>
              <a:t> website that shows a picture of downtown London including the Tower Bridge and the Shard. It notes that there are three Availability Zones in the London region. </a:t>
            </a:r>
            <a:r>
              <a:rPr lang="en-AU" b="1" dirty="0">
                <a:effectLst/>
                <a:ea typeface="Calibri" panose="020F0502020204030204" pitchFamily="34" charset="0"/>
              </a:rPr>
              <a:t>End of accessibility description.</a:t>
            </a:r>
            <a:endParaRPr lang="en-US" dirty="0"/>
          </a:p>
          <a:p>
            <a:endParaRPr lang="en-US" dirty="0"/>
          </a:p>
        </p:txBody>
      </p:sp>
      <p:sp>
        <p:nvSpPr>
          <p:cNvPr id="5" name="Slide Image Placeholder 4">
            <a:extLst>
              <a:ext uri="{FF2B5EF4-FFF2-40B4-BE49-F238E27FC236}">
                <a16:creationId xmlns:a16="http://schemas.microsoft.com/office/drawing/2014/main" id="{36CBD436-5DDF-FB1A-C44F-0E998FAE8ED8}"/>
              </a:ext>
            </a:extLst>
          </p:cNvPr>
          <p:cNvSpPr>
            <a:spLocks noGrp="1" noRot="1" noChangeAspect="1"/>
          </p:cNvSpPr>
          <p:nvPr>
            <p:ph type="sldImg"/>
          </p:nvPr>
        </p:nvSpPr>
        <p:spPr/>
      </p:sp>
    </p:spTree>
    <p:extLst>
      <p:ext uri="{BB962C8B-B14F-4D97-AF65-F5344CB8AC3E}">
        <p14:creationId xmlns:p14="http://schemas.microsoft.com/office/powerpoint/2010/main" val="14475947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There are a few factors that you should consider when you select the optimal Region or Regions where you store data and use AWS services. </a:t>
            </a:r>
          </a:p>
          <a:p>
            <a:endParaRPr lang="en-US" dirty="0"/>
          </a:p>
          <a:p>
            <a:r>
              <a:rPr lang="en-US" dirty="0"/>
              <a:t>One essential consideration is </a:t>
            </a:r>
            <a:r>
              <a:rPr lang="en-US" b="1" dirty="0"/>
              <a:t>data governance and legal requirements. </a:t>
            </a:r>
            <a:r>
              <a:rPr lang="en-US" dirty="0"/>
              <a:t>Local laws might require that certain information be kept within geographical boundaries. Such laws might restrict the Regions where you can offer content or services. For example, consider the European Union (EU) Data Protection Directive. </a:t>
            </a:r>
          </a:p>
          <a:p>
            <a:endParaRPr lang="en-US" dirty="0"/>
          </a:p>
          <a:p>
            <a:r>
              <a:rPr lang="en-US" dirty="0"/>
              <a:t>All else being equal, it is generally desirable to run your applications and store your data in a Region that is as close as possible to the user and systems that will access them. This will help you </a:t>
            </a:r>
            <a:r>
              <a:rPr lang="en-US" b="1" dirty="0"/>
              <a:t>reduce latency. </a:t>
            </a:r>
            <a:r>
              <a:rPr lang="en-US" dirty="0"/>
              <a:t>CloudPing is one website that you can use to test latency between your location and all AWS Regions. To learn more about CloudPing, see: </a:t>
            </a:r>
            <a:r>
              <a:rPr lang="en-US" dirty="0">
                <a:hlinkClick r:id="rId3"/>
              </a:rPr>
              <a:t>http://www.cloudping.info/</a:t>
            </a:r>
            <a:endParaRPr lang="en-US" dirty="0"/>
          </a:p>
          <a:p>
            <a:endParaRPr lang="en-US" dirty="0"/>
          </a:p>
          <a:p>
            <a:r>
              <a:rPr lang="en-US" dirty="0"/>
              <a:t>Keep in mind that not all services are available in all Regions. To learn more, see: </a:t>
            </a:r>
            <a:r>
              <a:rPr lang="en-US" dirty="0">
                <a:hlinkClick r:id="rId4"/>
              </a:rPr>
              <a:t>https://aws.amazon.com/about-aws/global-infrastructure/regional-product-services/?p=tgi&amp;loc=4</a:t>
            </a:r>
            <a:r>
              <a:rPr lang="en-US" dirty="0"/>
              <a:t>.</a:t>
            </a:r>
          </a:p>
          <a:p>
            <a:endParaRPr lang="en-US" dirty="0"/>
          </a:p>
          <a:p>
            <a:r>
              <a:rPr lang="en-US" dirty="0"/>
              <a:t>Finally, there is some variation in the cost of running services, which can depend on which Region you choose. For example, as of this writing, running an On-Demand t3.medium size Amazon Elastic Compute Cloud (Amazon EC2) Linux instance in the US East (Ohio) Region costs $0.0416 per hour, but running the same instance in the Asia Pacific (Tokyo) Region costs $0.0544 per hour.</a:t>
            </a:r>
          </a:p>
        </p:txBody>
      </p:sp>
      <p:sp>
        <p:nvSpPr>
          <p:cNvPr id="7" name="Slide Image Placeholder 6">
            <a:extLst>
              <a:ext uri="{FF2B5EF4-FFF2-40B4-BE49-F238E27FC236}">
                <a16:creationId xmlns:a16="http://schemas.microsoft.com/office/drawing/2014/main" id="{A14D29D9-5AA0-CF71-9656-4B4A16635B0F}"/>
              </a:ext>
            </a:extLst>
          </p:cNvPr>
          <p:cNvSpPr>
            <a:spLocks noGrp="1" noRot="1" noChangeAspect="1"/>
          </p:cNvSpPr>
          <p:nvPr>
            <p:ph type="sldImg"/>
          </p:nvPr>
        </p:nvSpPr>
        <p:spPr/>
      </p:sp>
    </p:spTree>
    <p:extLst>
      <p:ext uri="{BB962C8B-B14F-4D97-AF65-F5344CB8AC3E}">
        <p14:creationId xmlns:p14="http://schemas.microsoft.com/office/powerpoint/2010/main" val="32529392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Each AWS Region has multiple, isolated locations that are known as Availability Zones. </a:t>
            </a:r>
          </a:p>
          <a:p>
            <a:endParaRPr lang="en-US" dirty="0"/>
          </a:p>
          <a:p>
            <a:r>
              <a:rPr lang="en-US" dirty="0"/>
              <a:t>Each Availability Zone provides the ability to operate applications and databases that are more highly available, fault-tolerant, and scalable than would be possible with a single data center. Each Availability Zone can include multiple data centers (typically three), and at full-scale, they can include hundreds of thousands of servers. They are fully isolated partitions of the AWS Global Infrastructure. Availability Zones have their own power infrastructure, and they are physically separated by many kilometers from other Availability Zones—though all Availability Zones are within 100 km of each other.</a:t>
            </a:r>
            <a:br>
              <a:rPr lang="en-US" dirty="0"/>
            </a:br>
            <a:endParaRPr lang="en-US" dirty="0"/>
          </a:p>
          <a:p>
            <a:r>
              <a:rPr lang="en-US" dirty="0"/>
              <a:t>All Availability Zones are interconnected with high-bandwidth, low-latency networking over fully redundant, dedicated fiber that provides high-throughput between Availability Zones. The network accomplishes synchronous replication between Availability Zones. </a:t>
            </a:r>
          </a:p>
          <a:p>
            <a:endParaRPr lang="en-US" dirty="0"/>
          </a:p>
          <a:p>
            <a:r>
              <a:rPr lang="en-US" dirty="0"/>
              <a:t>Availability Zones help build highly available applications. When an application is partitioned across Availability Zones, companies are better isolated and protected from issues such as lightning, tornadoes, earthquakes, and more.</a:t>
            </a:r>
          </a:p>
          <a:p>
            <a:r>
              <a:rPr lang="en-US" dirty="0"/>
              <a:t> </a:t>
            </a:r>
          </a:p>
          <a:p>
            <a:r>
              <a:rPr lang="en-US" dirty="0"/>
              <a:t>You are responsible for selecting the Availability Zones where your systems will reside. Systems can span multiple Availability Zones. AWS recommends replicating across Availability Zones for resiliency. You should design your systems to survive the temporary or prolonged failure of an Availability Zone if a disaster occurs. </a:t>
            </a:r>
          </a:p>
          <a:p>
            <a:endParaRPr lang="en-US" dirty="0"/>
          </a:p>
        </p:txBody>
      </p:sp>
      <p:sp>
        <p:nvSpPr>
          <p:cNvPr id="5" name="Slide Image Placeholder 4">
            <a:extLst>
              <a:ext uri="{FF2B5EF4-FFF2-40B4-BE49-F238E27FC236}">
                <a16:creationId xmlns:a16="http://schemas.microsoft.com/office/drawing/2014/main" id="{5559D383-6D06-4B13-C182-CE66612711E5}"/>
              </a:ext>
            </a:extLst>
          </p:cNvPr>
          <p:cNvSpPr>
            <a:spLocks noGrp="1" noRot="1" noChangeAspect="1"/>
          </p:cNvSpPr>
          <p:nvPr>
            <p:ph type="sldImg"/>
          </p:nvPr>
        </p:nvSpPr>
        <p:spPr/>
      </p:sp>
    </p:spTree>
    <p:extLst>
      <p:ext uri="{BB962C8B-B14F-4D97-AF65-F5344CB8AC3E}">
        <p14:creationId xmlns:p14="http://schemas.microsoft.com/office/powerpoint/2010/main" val="40167378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605370"/>
          </a:xfrm>
        </p:spPr>
        <p:txBody>
          <a:bodyPr/>
          <a:lstStyle/>
          <a:p>
            <a:r>
              <a:rPr lang="en-US" dirty="0"/>
              <a:t>The foundation for the AWS infrastructure is the data centers. Customers do not specify a data center for the deployment of resources. Instead, an Availability Zone is the most granular level of specification that a customer can make. However, a data center is the location where the actual data resides. Amazon operates state-of-the-art, highly available data centers. Although rare, failures can occur that affect the availability of instances in the same location. If you host all your instances in a single location that is affected by such a failure, none of your instances will be available.</a:t>
            </a:r>
          </a:p>
          <a:p>
            <a:r>
              <a:rPr lang="en-US" dirty="0"/>
              <a:t> </a:t>
            </a:r>
          </a:p>
          <a:p>
            <a:r>
              <a:rPr lang="en-US" dirty="0"/>
              <a:t>Data centers are securely designed with several factors in mind:</a:t>
            </a:r>
          </a:p>
          <a:p>
            <a:endParaRPr lang="en-US" dirty="0"/>
          </a:p>
          <a:p>
            <a:pPr lvl="0"/>
            <a:r>
              <a:rPr lang="en-US" dirty="0"/>
              <a:t>Each location is carefully evaluated to </a:t>
            </a:r>
            <a:r>
              <a:rPr lang="en-US" b="1" dirty="0"/>
              <a:t>mitigate environmental risk. </a:t>
            </a:r>
          </a:p>
          <a:p>
            <a:pPr marL="171450" lvl="0" indent="-171450">
              <a:buFont typeface="Arial" panose="020B0604020202020204" pitchFamily="34" charset="0"/>
              <a:buChar char="•"/>
            </a:pPr>
            <a:r>
              <a:rPr lang="en-US" dirty="0"/>
              <a:t>Data centers have a </a:t>
            </a:r>
            <a:r>
              <a:rPr lang="en-US" b="1" dirty="0"/>
              <a:t>redundant design </a:t>
            </a:r>
            <a:r>
              <a:rPr lang="en-US" dirty="0"/>
              <a:t>that anticipates and tolerates failure while maintaining service levels. </a:t>
            </a:r>
          </a:p>
          <a:p>
            <a:pPr marL="171450" lvl="0" indent="-171450">
              <a:buFont typeface="Arial" panose="020B0604020202020204" pitchFamily="34" charset="0"/>
              <a:buChar char="•"/>
            </a:pPr>
            <a:r>
              <a:rPr lang="en-US" dirty="0"/>
              <a:t>To ensure availability, </a:t>
            </a:r>
            <a:r>
              <a:rPr lang="en-US" b="1" dirty="0"/>
              <a:t>critical system components are backed up </a:t>
            </a:r>
            <a:r>
              <a:rPr lang="en-US" dirty="0"/>
              <a:t>across multiple Availability Zones. </a:t>
            </a:r>
          </a:p>
          <a:p>
            <a:pPr marL="171450" lvl="0" indent="-171450">
              <a:buFont typeface="Arial" panose="020B0604020202020204" pitchFamily="34" charset="0"/>
              <a:buChar char="•"/>
            </a:pPr>
            <a:r>
              <a:rPr lang="en-US" dirty="0"/>
              <a:t>To ensure capacity, AWS continuously monitors service usage to deploy infrastructure to support availability commitments and requirements. </a:t>
            </a:r>
          </a:p>
          <a:p>
            <a:pPr marL="171450" lvl="0" indent="-171450">
              <a:buFont typeface="Arial" panose="020B0604020202020204" pitchFamily="34" charset="0"/>
              <a:buChar char="•"/>
            </a:pPr>
            <a:r>
              <a:rPr lang="en-US" dirty="0"/>
              <a:t>Data center </a:t>
            </a:r>
            <a:r>
              <a:rPr lang="en-US" b="1" dirty="0"/>
              <a:t>locations are not disclosed </a:t>
            </a:r>
            <a:r>
              <a:rPr lang="en-US" dirty="0"/>
              <a:t>and all access to them is restricted.</a:t>
            </a:r>
          </a:p>
          <a:p>
            <a:pPr marL="171450" lvl="0" indent="-171450">
              <a:buFont typeface="Arial" panose="020B0604020202020204" pitchFamily="34" charset="0"/>
              <a:buChar char="•"/>
            </a:pPr>
            <a:r>
              <a:rPr lang="en-US" dirty="0"/>
              <a:t>In case of failure, automated processes move data traffic away from the affected area. </a:t>
            </a:r>
          </a:p>
          <a:p>
            <a:r>
              <a:rPr lang="en-US" dirty="0"/>
              <a:t> </a:t>
            </a:r>
          </a:p>
          <a:p>
            <a:pPr lvl="0"/>
            <a:r>
              <a:rPr lang="en-US" dirty="0"/>
              <a:t>AWS uses </a:t>
            </a:r>
            <a:r>
              <a:rPr lang="en-US" b="1" dirty="0"/>
              <a:t>custom network equipment </a:t>
            </a:r>
            <a:r>
              <a:rPr lang="en-US" dirty="0"/>
              <a:t>sourced from </a:t>
            </a:r>
            <a:r>
              <a:rPr lang="en-US" b="1" dirty="0"/>
              <a:t>multiple original device manufacturers (ODMs).</a:t>
            </a:r>
            <a:r>
              <a:rPr lang="en-US" dirty="0"/>
              <a:t> ODMs design and manufacture products based on specifications from a second company. The second company then rebrands the products for sale. </a:t>
            </a:r>
          </a:p>
        </p:txBody>
      </p:sp>
      <p:sp>
        <p:nvSpPr>
          <p:cNvPr id="5" name="Slide Image Placeholder 4">
            <a:extLst>
              <a:ext uri="{FF2B5EF4-FFF2-40B4-BE49-F238E27FC236}">
                <a16:creationId xmlns:a16="http://schemas.microsoft.com/office/drawing/2014/main" id="{3B8CEF8B-6E6B-0186-08D8-64577FDD4A66}"/>
              </a:ext>
            </a:extLst>
          </p:cNvPr>
          <p:cNvSpPr>
            <a:spLocks noGrp="1" noRot="1" noChangeAspect="1"/>
          </p:cNvSpPr>
          <p:nvPr>
            <p:ph type="sldImg"/>
          </p:nvPr>
        </p:nvSpPr>
        <p:spPr/>
      </p:sp>
    </p:spTree>
    <p:extLst>
      <p:ext uri="{BB962C8B-B14F-4D97-AF65-F5344CB8AC3E}">
        <p14:creationId xmlns:p14="http://schemas.microsoft.com/office/powerpoint/2010/main" val="40832400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Now that you have a good understanding of the major components that comprise the AWS Global Infrastructure, let's consider the benefits provided by this infrastructure.</a:t>
            </a:r>
          </a:p>
          <a:p>
            <a:endParaRPr lang="en-US" dirty="0"/>
          </a:p>
          <a:p>
            <a:r>
              <a:rPr lang="en-US" dirty="0"/>
              <a:t>The AWS Global Infrastructure has several valuable features:</a:t>
            </a:r>
          </a:p>
          <a:p>
            <a:pPr marL="171450" lvl="0" indent="-171450">
              <a:buFont typeface="Arial" panose="020B0604020202020204" pitchFamily="34" charset="0"/>
              <a:buChar char="•"/>
            </a:pPr>
            <a:r>
              <a:rPr lang="en-US" dirty="0"/>
              <a:t>First, it is </a:t>
            </a:r>
            <a:r>
              <a:rPr lang="en-US" b="1" dirty="0"/>
              <a:t>elastic</a:t>
            </a:r>
            <a:r>
              <a:rPr lang="en-US" dirty="0"/>
              <a:t> and </a:t>
            </a:r>
            <a:r>
              <a:rPr lang="en-US" b="1" dirty="0"/>
              <a:t>scalable. </a:t>
            </a:r>
            <a:r>
              <a:rPr lang="en-US" dirty="0"/>
              <a:t>This means resources can dynamically adjust to increases or decreases in capacity requirements. It can also rapidly adjust to accommodate growth.</a:t>
            </a:r>
          </a:p>
          <a:p>
            <a:pPr marL="171450" lvl="0" indent="-171450">
              <a:buFont typeface="Arial" panose="020B0604020202020204" pitchFamily="34" charset="0"/>
              <a:buChar char="•"/>
            </a:pPr>
            <a:r>
              <a:rPr lang="en-US" dirty="0"/>
              <a:t>Second, this infrastructure is </a:t>
            </a:r>
            <a:r>
              <a:rPr lang="en-US" b="1" dirty="0"/>
              <a:t>fault tolerant, </a:t>
            </a:r>
            <a:r>
              <a:rPr lang="en-US" dirty="0"/>
              <a:t>which means it has built-in component redundancy which enables it to continue operations despite a failed component.</a:t>
            </a:r>
          </a:p>
          <a:p>
            <a:pPr marL="171450" lvl="0" indent="-171450">
              <a:buFont typeface="Arial" panose="020B0604020202020204" pitchFamily="34" charset="0"/>
              <a:buChar char="•"/>
            </a:pPr>
            <a:r>
              <a:rPr lang="en-US" dirty="0"/>
              <a:t>Finally, it requires minimal to no human intervention, while providing </a:t>
            </a:r>
            <a:r>
              <a:rPr lang="en-US" b="1" dirty="0"/>
              <a:t>high availability </a:t>
            </a:r>
            <a:r>
              <a:rPr lang="en-US" dirty="0"/>
              <a:t>with minimal down time.</a:t>
            </a:r>
          </a:p>
        </p:txBody>
      </p:sp>
      <p:sp>
        <p:nvSpPr>
          <p:cNvPr id="5" name="Slide Image Placeholder 4">
            <a:extLst>
              <a:ext uri="{FF2B5EF4-FFF2-40B4-BE49-F238E27FC236}">
                <a16:creationId xmlns:a16="http://schemas.microsoft.com/office/drawing/2014/main" id="{A700A264-5D00-755E-92EF-8704DE23E9D3}"/>
              </a:ext>
            </a:extLst>
          </p:cNvPr>
          <p:cNvSpPr>
            <a:spLocks noGrp="1" noRot="1" noChangeAspect="1"/>
          </p:cNvSpPr>
          <p:nvPr>
            <p:ph type="sldImg"/>
          </p:nvPr>
        </p:nvSpPr>
        <p:spPr/>
      </p:sp>
    </p:spTree>
    <p:extLst>
      <p:ext uri="{BB962C8B-B14F-4D97-AF65-F5344CB8AC3E}">
        <p14:creationId xmlns:p14="http://schemas.microsoft.com/office/powerpoint/2010/main" val="796471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6775" y="1257300"/>
            <a:ext cx="6038850" cy="3394075"/>
          </a:xfrm>
          <a:prstGeom prst="rect">
            <a:avLst/>
          </a:prstGeom>
        </p:spPr>
      </p:sp>
      <p:sp>
        <p:nvSpPr>
          <p:cNvPr id="4" name="Notes Placeholder 3"/>
          <p:cNvSpPr>
            <a:spLocks noGrp="1"/>
          </p:cNvSpPr>
          <p:nvPr>
            <p:ph type="body" sz="quarter" idx="10"/>
          </p:nvPr>
        </p:nvSpPr>
        <p:spPr>
          <a:xfrm>
            <a:off x="777875" y="4840288"/>
            <a:ext cx="6216650" cy="3960812"/>
          </a:xfrm>
          <a:prstGeom prst="rect">
            <a:avLst/>
          </a:prstGeom>
        </p:spPr>
        <p:txBody>
          <a:bodyPr/>
          <a:lstStyle/>
          <a:p>
            <a:r>
              <a:rPr lang="en-US"/>
              <a:t>Security and compliance are a shared responsibility between AWS and the customer. This shared responsibility model is designed to help relieve the customer’s operational burden. At the same time, to provide the flexibility and customer control that enables the deployment of customer solutions on AWS, the customer remains responsible for some aspects of the overall security. The differentiation of who is responsible for what is commonly referred to as </a:t>
            </a:r>
            <a:r>
              <a:rPr lang="en-US" i="1"/>
              <a:t>security “of” the cloud</a:t>
            </a:r>
            <a:r>
              <a:rPr lang="en-US"/>
              <a:t> versus </a:t>
            </a:r>
            <a:r>
              <a:rPr lang="en-US" i="1"/>
              <a:t>security “in” the cloud</a:t>
            </a:r>
            <a:r>
              <a:rPr lang="en-US"/>
              <a:t>.</a:t>
            </a:r>
          </a:p>
          <a:p>
            <a:endParaRPr lang="en-US" b="1"/>
          </a:p>
          <a:p>
            <a:r>
              <a:rPr lang="en-US" b="1"/>
              <a:t>AWS </a:t>
            </a:r>
            <a:r>
              <a:rPr lang="en-US" b="0"/>
              <a:t>operates, manages, and controls the components from the software </a:t>
            </a:r>
            <a:r>
              <a:rPr lang="en-US"/>
              <a:t>virtualization layer down to the physical security of the facilities where AWS services operate.</a:t>
            </a:r>
            <a:r>
              <a:rPr lang="en-US" b="1"/>
              <a:t> AWS is responsible</a:t>
            </a:r>
            <a:r>
              <a:rPr lang="en-US"/>
              <a:t> for protecting the infrastructure that runs all the services that</a:t>
            </a:r>
            <a:r>
              <a:rPr lang="en-US" baseline="0"/>
              <a:t> are </a:t>
            </a:r>
            <a:r>
              <a:rPr lang="en-US"/>
              <a:t>offered in the AWS Cloud. This infrastructure is composed of the hardware, software, networking, and facilities that run the AWS Cloud services.</a:t>
            </a:r>
          </a:p>
          <a:p>
            <a:endParaRPr lang="en-US"/>
          </a:p>
          <a:p>
            <a:r>
              <a:rPr lang="en-US" b="1"/>
              <a:t>The customer is responsible</a:t>
            </a:r>
            <a:r>
              <a:rPr lang="en-US"/>
              <a:t> for the encryption of data at rest and data in transit. The customer should also ensure that the network is configured for security and that security credentials and logins are managed safely. Additionally, the customer is responsible for the configuration of security groups and the configuration of the operating system that run on compute instances that they launch (including updates and security patches). </a:t>
            </a:r>
          </a:p>
          <a:p>
            <a:endParaRPr lang="en-US" sz="1100"/>
          </a:p>
        </p:txBody>
      </p:sp>
    </p:spTree>
    <p:extLst>
      <p:ext uri="{BB962C8B-B14F-4D97-AF65-F5344CB8AC3E}">
        <p14:creationId xmlns:p14="http://schemas.microsoft.com/office/powerpoint/2010/main" val="2742813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6775" y="1257300"/>
            <a:ext cx="6038850" cy="3394075"/>
          </a:xfrm>
          <a:prstGeom prst="rect">
            <a:avLst/>
          </a:prstGeom>
        </p:spPr>
      </p:sp>
      <p:sp>
        <p:nvSpPr>
          <p:cNvPr id="3" name="Notes Placeholder 2"/>
          <p:cNvSpPr>
            <a:spLocks noGrp="1"/>
          </p:cNvSpPr>
          <p:nvPr>
            <p:ph type="body" idx="1"/>
          </p:nvPr>
        </p:nvSpPr>
        <p:spPr>
          <a:xfrm>
            <a:off x="777875" y="4840287"/>
            <a:ext cx="6216650" cy="4733203"/>
          </a:xfrm>
          <a:prstGeom prst="rect">
            <a:avLst/>
          </a:prstGeom>
        </p:spPr>
        <p:txBody>
          <a:bodyPr/>
          <a:lstStyle/>
          <a:p>
            <a:r>
              <a:rPr lang="en-US"/>
              <a:t>AWS is responsible for security </a:t>
            </a:r>
            <a:r>
              <a:rPr lang="en-US" b="1" i="1"/>
              <a:t>of</a:t>
            </a:r>
            <a:r>
              <a:rPr lang="en-US" i="1"/>
              <a:t> </a:t>
            </a:r>
            <a:r>
              <a:rPr lang="en-US"/>
              <a:t>the cloud. But what does that mean?</a:t>
            </a:r>
          </a:p>
          <a:p>
            <a:endParaRPr lang="en-US"/>
          </a:p>
          <a:p>
            <a:r>
              <a:rPr lang="en-US"/>
              <a:t>Under the AWS shared responsibility model, AWS operates, manages, and controls the components from the bare metal host operating system and hypervisor virtualization layer down to the physical security of the facilities where the services operate. It means that AWS is responsible for protecting the global infrastructure that runs all the services that are offered in the AWS Cloud. The global infrastructure includes AWS Regions, Availability Zones, and edge locations.</a:t>
            </a:r>
          </a:p>
          <a:p>
            <a:r>
              <a:rPr lang="en-US"/>
              <a:t> </a:t>
            </a:r>
          </a:p>
          <a:p>
            <a:r>
              <a:rPr lang="en-US"/>
              <a:t>AWS is responsible for the physical infrastructure that hosts your resources, including:</a:t>
            </a:r>
          </a:p>
          <a:p>
            <a:pPr marL="171450" lvl="0" indent="-171450">
              <a:buFont typeface="Arial" panose="020B0604020202020204" pitchFamily="34" charset="0"/>
              <a:buChar char="•"/>
            </a:pPr>
            <a:r>
              <a:rPr lang="en-US" b="1"/>
              <a:t>Physical security of data centers </a:t>
            </a:r>
            <a:r>
              <a:rPr lang="en-US"/>
              <a:t>with controlled, need-based access; located in nondescript facilities, with 24/7 security guards;</a:t>
            </a:r>
            <a:r>
              <a:rPr lang="en-US" baseline="0"/>
              <a:t> </a:t>
            </a:r>
            <a:r>
              <a:rPr lang="en-US"/>
              <a:t>two-factor authentication; access logging and review; video surveillance; and disk degaussing and destruction.</a:t>
            </a:r>
          </a:p>
          <a:p>
            <a:pPr marL="171450" lvl="0" indent="-171450">
              <a:buFont typeface="Arial" panose="020B0604020202020204" pitchFamily="34" charset="0"/>
              <a:buChar char="•"/>
            </a:pPr>
            <a:r>
              <a:rPr lang="en-US" b="1"/>
              <a:t>Hardware infrastructure</a:t>
            </a:r>
            <a:r>
              <a:rPr lang="en-US" b="0"/>
              <a:t>,</a:t>
            </a:r>
            <a:r>
              <a:rPr lang="en-US" b="1"/>
              <a:t> </a:t>
            </a:r>
            <a:r>
              <a:rPr lang="en-US"/>
              <a:t>such as servers, storage devices, and other appliances that AWS relies on.</a:t>
            </a:r>
          </a:p>
          <a:p>
            <a:pPr marL="171450" lvl="0" indent="-171450">
              <a:buFont typeface="Arial" panose="020B0604020202020204" pitchFamily="34" charset="0"/>
              <a:buChar char="•"/>
            </a:pPr>
            <a:r>
              <a:rPr lang="en-US" b="1"/>
              <a:t>Software infrastructure</a:t>
            </a:r>
            <a:r>
              <a:rPr lang="en-US" b="0"/>
              <a:t>,</a:t>
            </a:r>
            <a:r>
              <a:rPr lang="en-US" b="1"/>
              <a:t> </a:t>
            </a:r>
            <a:r>
              <a:rPr lang="en-US"/>
              <a:t>which hosts operating systems, service applications, and virtualization software.</a:t>
            </a:r>
          </a:p>
          <a:p>
            <a:pPr marL="171450" lvl="0" indent="-171450">
              <a:buFont typeface="Arial" panose="020B0604020202020204" pitchFamily="34" charset="0"/>
              <a:buChar char="•"/>
            </a:pPr>
            <a:r>
              <a:rPr lang="en-US" b="1"/>
              <a:t>Network infrastructure</a:t>
            </a:r>
            <a:r>
              <a:rPr lang="en-US" b="0"/>
              <a:t>, such as</a:t>
            </a:r>
            <a:r>
              <a:rPr lang="en-US" b="1"/>
              <a:t> </a:t>
            </a:r>
            <a:r>
              <a:rPr lang="en-US"/>
              <a:t>routers, switches, load balancers, firewalls, and cabling. AWS also continuously monitors the network at external boundaries, secures access points, and provides redundant infrastructure with intrusion detection.</a:t>
            </a:r>
            <a:br>
              <a:rPr lang="en-US"/>
            </a:br>
            <a:endParaRPr lang="en-US"/>
          </a:p>
          <a:p>
            <a:r>
              <a:rPr lang="en-US"/>
              <a:t>Protecting this infrastructure is the top priority for AWS. While you cannot visit AWS data centers or offices to see this protection firsthand, Amazon provides several reports from third-party auditors who have verified our compliance with a variety of computer security standards and regulations.</a:t>
            </a:r>
          </a:p>
        </p:txBody>
      </p:sp>
    </p:spTree>
    <p:extLst>
      <p:ext uri="{BB962C8B-B14F-4D97-AF65-F5344CB8AC3E}">
        <p14:creationId xmlns:p14="http://schemas.microsoft.com/office/powerpoint/2010/main" val="4582662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6775" y="1257300"/>
            <a:ext cx="603885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indent="0" algn="l" defTabSz="457200" rtl="0" eaLnBrk="1" fontAlgn="auto" latinLnBrk="0" hangingPunct="1">
              <a:lnSpc>
                <a:spcPct val="100000"/>
              </a:lnSpc>
              <a:spcBef>
                <a:spcPts val="0"/>
              </a:spcBef>
              <a:spcAft>
                <a:spcPts val="600"/>
              </a:spcAft>
              <a:buClrTx/>
              <a:buSzTx/>
              <a:buFontTx/>
              <a:buNone/>
              <a:tabLst/>
              <a:defRPr/>
            </a:pPr>
            <a:r>
              <a:rPr lang="en-US" kern="1200">
                <a:solidFill>
                  <a:schemeClr val="tx1"/>
                </a:solidFill>
                <a:effectLst/>
                <a:latin typeface="+mn-lt"/>
                <a:ea typeface="+mn-ea"/>
                <a:cs typeface="+mn-cs"/>
              </a:rPr>
              <a:t>While the cloud infrastructure is secured and maintained by AWS, customers are responsible for security of everything they put </a:t>
            </a:r>
            <a:r>
              <a:rPr lang="en-US" b="1" i="1" kern="1200">
                <a:solidFill>
                  <a:schemeClr val="tx1"/>
                </a:solidFill>
                <a:effectLst/>
                <a:latin typeface="+mn-lt"/>
                <a:ea typeface="+mn-ea"/>
                <a:cs typeface="+mn-cs"/>
              </a:rPr>
              <a:t>in</a:t>
            </a:r>
            <a:r>
              <a:rPr lang="en-US" kern="1200">
                <a:solidFill>
                  <a:schemeClr val="tx1"/>
                </a:solidFill>
                <a:effectLst/>
                <a:latin typeface="+mn-lt"/>
                <a:ea typeface="+mn-ea"/>
                <a:cs typeface="+mn-cs"/>
              </a:rPr>
              <a:t> the cloud. </a:t>
            </a:r>
          </a:p>
          <a:p>
            <a:pPr marL="0" marR="0" indent="0" algn="l" defTabSz="457200" rtl="0" eaLnBrk="1" fontAlgn="auto" latinLnBrk="0" hangingPunct="1">
              <a:lnSpc>
                <a:spcPct val="100000"/>
              </a:lnSpc>
              <a:spcBef>
                <a:spcPts val="0"/>
              </a:spcBef>
              <a:spcAft>
                <a:spcPts val="600"/>
              </a:spcAft>
              <a:buClrTx/>
              <a:buSzTx/>
              <a:buFontTx/>
              <a:buNone/>
              <a:tabLst/>
              <a:defRPr/>
            </a:pPr>
            <a:r>
              <a:rPr lang="en-US" kern="1200">
                <a:solidFill>
                  <a:schemeClr val="tx1"/>
                </a:solidFill>
                <a:effectLst/>
                <a:ea typeface="+mn-ea"/>
                <a:cs typeface="+mn-cs"/>
              </a:rPr>
              <a:t>The </a:t>
            </a:r>
            <a:r>
              <a:rPr lang="en-US" b="1" kern="1200">
                <a:solidFill>
                  <a:schemeClr val="tx1"/>
                </a:solidFill>
                <a:effectLst/>
                <a:ea typeface="+mn-ea"/>
                <a:cs typeface="+mn-cs"/>
              </a:rPr>
              <a:t>customer is responsible</a:t>
            </a:r>
            <a:r>
              <a:rPr lang="en-US" kern="1200">
                <a:solidFill>
                  <a:schemeClr val="tx1"/>
                </a:solidFill>
                <a:effectLst/>
                <a:ea typeface="+mn-ea"/>
                <a:cs typeface="+mn-cs"/>
              </a:rPr>
              <a:t> for what is implemented by using AWS services and for the applications that are connected to AWS. The security steps</a:t>
            </a:r>
            <a:r>
              <a:rPr lang="en-US" kern="1200" baseline="0">
                <a:solidFill>
                  <a:schemeClr val="tx1"/>
                </a:solidFill>
                <a:effectLst/>
                <a:ea typeface="+mn-ea"/>
                <a:cs typeface="+mn-cs"/>
              </a:rPr>
              <a:t> that</a:t>
            </a:r>
            <a:r>
              <a:rPr lang="en-US" kern="1200">
                <a:solidFill>
                  <a:schemeClr val="tx1"/>
                </a:solidFill>
                <a:effectLst/>
                <a:ea typeface="+mn-ea"/>
                <a:cs typeface="+mn-cs"/>
              </a:rPr>
              <a:t> you must take depend on the services that you use and the complexity of your system.</a:t>
            </a:r>
          </a:p>
          <a:p>
            <a:pPr defTabSz="457200">
              <a:spcAft>
                <a:spcPts val="600"/>
              </a:spcAft>
              <a:defRPr/>
            </a:pPr>
            <a:r>
              <a:rPr lang="en-US"/>
              <a:t>Customer responsibilities include selecting and securing any instance operating systems, securing the applications that are launched on AWS resources, security group configurations, firewall configurations, network configurations, and secure account management. </a:t>
            </a:r>
          </a:p>
          <a:p>
            <a:pPr defTabSz="457200">
              <a:spcAft>
                <a:spcPts val="600"/>
              </a:spcAft>
              <a:defRPr/>
            </a:pPr>
            <a:r>
              <a:rPr lang="en-US" kern="1200">
                <a:solidFill>
                  <a:schemeClr val="tx1"/>
                </a:solidFill>
                <a:effectLst/>
                <a:latin typeface="+mn-lt"/>
                <a:ea typeface="+mn-ea"/>
                <a:cs typeface="+mn-cs"/>
              </a:rPr>
              <a:t>When customers use AWS services, they maintain complete control over their content.</a:t>
            </a:r>
            <a:r>
              <a:rPr lang="en-US" kern="1200" baseline="0">
                <a:solidFill>
                  <a:schemeClr val="tx1"/>
                </a:solidFill>
                <a:effectLst/>
                <a:latin typeface="+mn-lt"/>
                <a:ea typeface="+mn-ea"/>
                <a:cs typeface="+mn-cs"/>
              </a:rPr>
              <a:t> Customers </a:t>
            </a:r>
            <a:r>
              <a:rPr lang="en-US" kern="1200">
                <a:solidFill>
                  <a:schemeClr val="tx1"/>
                </a:solidFill>
                <a:effectLst/>
                <a:latin typeface="+mn-lt"/>
                <a:ea typeface="+mn-ea"/>
                <a:cs typeface="+mn-cs"/>
              </a:rPr>
              <a:t>are responsible for managing critical content security requirements, including: </a:t>
            </a:r>
          </a:p>
          <a:p>
            <a:pPr marL="171450" lvl="0" indent="-171450">
              <a:buFont typeface="Arial" panose="020B0604020202020204" pitchFamily="34" charset="0"/>
              <a:buChar char="•"/>
            </a:pPr>
            <a:r>
              <a:rPr lang="en-US" kern="1200">
                <a:solidFill>
                  <a:schemeClr val="tx1"/>
                </a:solidFill>
                <a:effectLst/>
                <a:latin typeface="+mn-lt"/>
                <a:ea typeface="+mn-ea"/>
                <a:cs typeface="+mn-cs"/>
              </a:rPr>
              <a:t>What content they choose to store on AWS</a:t>
            </a:r>
          </a:p>
          <a:p>
            <a:pPr marL="171450" lvl="0" indent="-171450">
              <a:buFont typeface="Arial" panose="020B0604020202020204" pitchFamily="34" charset="0"/>
              <a:buChar char="•"/>
            </a:pPr>
            <a:r>
              <a:rPr lang="en-US" kern="1200">
                <a:solidFill>
                  <a:schemeClr val="tx1"/>
                </a:solidFill>
                <a:effectLst/>
                <a:latin typeface="+mn-lt"/>
                <a:ea typeface="+mn-ea"/>
                <a:cs typeface="+mn-cs"/>
              </a:rPr>
              <a:t>Which AWS services are used with the content</a:t>
            </a:r>
          </a:p>
          <a:p>
            <a:pPr marL="171450" lvl="0" indent="-171450">
              <a:buFont typeface="Arial" panose="020B0604020202020204" pitchFamily="34" charset="0"/>
              <a:buChar char="•"/>
            </a:pPr>
            <a:r>
              <a:rPr lang="en-US" kern="1200">
                <a:solidFill>
                  <a:schemeClr val="tx1"/>
                </a:solidFill>
                <a:effectLst/>
                <a:latin typeface="+mn-lt"/>
                <a:ea typeface="+mn-ea"/>
                <a:cs typeface="+mn-cs"/>
              </a:rPr>
              <a:t>In what country that content is stored</a:t>
            </a:r>
          </a:p>
          <a:p>
            <a:pPr marL="171450" lvl="0" indent="-171450">
              <a:buFont typeface="Arial" panose="020B0604020202020204" pitchFamily="34" charset="0"/>
              <a:buChar char="•"/>
            </a:pPr>
            <a:r>
              <a:rPr lang="en-US" kern="1200">
                <a:solidFill>
                  <a:schemeClr val="tx1"/>
                </a:solidFill>
                <a:effectLst/>
                <a:latin typeface="+mn-lt"/>
                <a:ea typeface="+mn-ea"/>
                <a:cs typeface="+mn-cs"/>
              </a:rPr>
              <a:t>The format and structure of that content and whether it is masked, anonymized, or encrypted</a:t>
            </a:r>
          </a:p>
          <a:p>
            <a:pPr marL="171450" lvl="0" indent="-171450">
              <a:buFont typeface="Arial" panose="020B0604020202020204" pitchFamily="34" charset="0"/>
              <a:buChar char="•"/>
            </a:pPr>
            <a:r>
              <a:rPr lang="en-US" kern="1200">
                <a:solidFill>
                  <a:schemeClr val="tx1"/>
                </a:solidFill>
                <a:effectLst/>
                <a:latin typeface="+mn-lt"/>
                <a:ea typeface="+mn-ea"/>
                <a:cs typeface="+mn-cs"/>
              </a:rPr>
              <a:t>Who has access to that content and how those access rights are granted, managed, and revoked</a:t>
            </a:r>
          </a:p>
          <a:p>
            <a:pPr lvl="0"/>
            <a:endParaRPr lang="en-US"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kern="1200">
                <a:solidFill>
                  <a:schemeClr val="tx1"/>
                </a:solidFill>
                <a:effectLst/>
                <a:latin typeface="+mn-lt"/>
                <a:ea typeface="+mn-ea"/>
                <a:cs typeface="+mn-cs"/>
              </a:rPr>
              <a:t>Customers retain control of what security they choose to implement to protect their own data, environment, applications, IAM configurations, and operating systems. </a:t>
            </a:r>
          </a:p>
        </p:txBody>
      </p:sp>
    </p:spTree>
    <p:extLst>
      <p:ext uri="{BB962C8B-B14F-4D97-AF65-F5344CB8AC3E}">
        <p14:creationId xmlns:p14="http://schemas.microsoft.com/office/powerpoint/2010/main" val="5998130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6775" y="1257300"/>
            <a:ext cx="6038850" cy="3394075"/>
          </a:xfrm>
          <a:prstGeom prst="rect">
            <a:avLst/>
          </a:prstGeom>
        </p:spPr>
      </p:sp>
      <p:sp>
        <p:nvSpPr>
          <p:cNvPr id="3" name="Notes Placeholder 2"/>
          <p:cNvSpPr>
            <a:spLocks noGrp="1"/>
          </p:cNvSpPr>
          <p:nvPr>
            <p:ph type="body" idx="1"/>
          </p:nvPr>
        </p:nvSpPr>
        <p:spPr>
          <a:xfrm>
            <a:off x="777875" y="4840288"/>
            <a:ext cx="6216650" cy="4677785"/>
          </a:xfrm>
          <a:prstGeom prst="rect">
            <a:avLst/>
          </a:prstGeom>
        </p:spPr>
        <p:txBody>
          <a:bodyPr/>
          <a:lstStyle/>
          <a:p>
            <a:r>
              <a:rPr lang="en-US" b="1"/>
              <a:t>Infrastructure as a service (IaaS) </a:t>
            </a:r>
            <a:r>
              <a:rPr lang="en-US"/>
              <a:t>refers to services that provide basic building blocks for cloud </a:t>
            </a:r>
            <a:r>
              <a:rPr lang="en-US" b="0"/>
              <a:t>IT</a:t>
            </a:r>
            <a:r>
              <a:rPr lang="en-US"/>
              <a:t>, typically including access to configure networking, computers (virtual or on dedicated hardware), and data storage space. Cloud services that can be characterized as IaaS </a:t>
            </a:r>
            <a:r>
              <a:rPr lang="en-US" b="1"/>
              <a:t>provide the customer with the highest level of flexibility and management control</a:t>
            </a:r>
            <a:r>
              <a:rPr lang="en-US"/>
              <a:t> over IT resources.</a:t>
            </a:r>
            <a:r>
              <a:rPr lang="en-US" baseline="0"/>
              <a:t> IaaS services </a:t>
            </a:r>
            <a:r>
              <a:rPr lang="en-US"/>
              <a:t>are most similar to existing on-premises computing resources that many IT departments are familiar with today.</a:t>
            </a:r>
          </a:p>
          <a:p>
            <a:endParaRPr lang="en-US"/>
          </a:p>
          <a:p>
            <a:r>
              <a:rPr lang="en-US"/>
              <a:t>AWS services—such as </a:t>
            </a:r>
            <a:r>
              <a:rPr lang="en-US" b="1"/>
              <a:t>Amazon EC2</a:t>
            </a:r>
            <a:r>
              <a:rPr lang="en-US" b="0"/>
              <a:t>—</a:t>
            </a:r>
            <a:r>
              <a:rPr lang="en-US"/>
              <a:t>can be categorized as </a:t>
            </a:r>
            <a:r>
              <a:rPr lang="en-US" b="1"/>
              <a:t>IaaS </a:t>
            </a:r>
            <a:r>
              <a:rPr lang="en-US"/>
              <a:t>and thus </a:t>
            </a:r>
            <a:r>
              <a:rPr lang="en-US" b="1"/>
              <a:t>require the customer to perform all necessary security configuration and management tasks</a:t>
            </a:r>
            <a:r>
              <a:rPr lang="en-US"/>
              <a:t>. Customers who deploy EC2 instances are responsible for managing the guest operating system (including updates and security patches), any application software that is installed on the instances, and the configuration of the security groups that</a:t>
            </a:r>
            <a:r>
              <a:rPr lang="en-US" baseline="0"/>
              <a:t> were provided by </a:t>
            </a:r>
            <a:r>
              <a:rPr lang="en-US"/>
              <a:t>AWS.</a:t>
            </a:r>
          </a:p>
          <a:p>
            <a:endParaRPr lang="en-US"/>
          </a:p>
          <a:p>
            <a:r>
              <a:rPr lang="en-US" b="1" i="0" kern="1200">
                <a:solidFill>
                  <a:schemeClr val="tx1"/>
                </a:solidFill>
                <a:effectLst/>
                <a:ea typeface="+mn-ea"/>
                <a:cs typeface="+mn-cs"/>
              </a:rPr>
              <a:t>Platform as a service (PaaS) </a:t>
            </a:r>
            <a:r>
              <a:rPr lang="en-US"/>
              <a:t>refers to services that </a:t>
            </a:r>
            <a:r>
              <a:rPr lang="en-US" b="0" i="0" kern="1200">
                <a:solidFill>
                  <a:schemeClr val="tx1"/>
                </a:solidFill>
                <a:effectLst/>
                <a:ea typeface="+mn-ea"/>
                <a:cs typeface="+mn-cs"/>
              </a:rPr>
              <a:t>remove the need for the customer to manage the underlying infrastructure (hardware, operating systems, etc.). PaaS services enable the customer to focus entirely on deploying and managing applications. Customers don’t need to worry about resource procurement, capacity planning, software maintenance, or patching.</a:t>
            </a:r>
            <a:endParaRPr lang="en-US"/>
          </a:p>
          <a:p>
            <a:endParaRPr lang="en-US"/>
          </a:p>
          <a:p>
            <a:r>
              <a:rPr lang="en-US"/>
              <a:t>AWS services such as </a:t>
            </a:r>
            <a:r>
              <a:rPr lang="en-US" b="1"/>
              <a:t>AWS Lambda </a:t>
            </a:r>
            <a:r>
              <a:rPr lang="en-US"/>
              <a:t>and </a:t>
            </a:r>
            <a:r>
              <a:rPr lang="en-US" b="1"/>
              <a:t>Amazon RDS </a:t>
            </a:r>
            <a:r>
              <a:rPr lang="en-US"/>
              <a:t>can be categorized as </a:t>
            </a:r>
            <a:r>
              <a:rPr lang="en-US" b="1"/>
              <a:t>PaaS</a:t>
            </a:r>
            <a:r>
              <a:rPr lang="en-US" b="0"/>
              <a:t> because </a:t>
            </a:r>
            <a:r>
              <a:rPr lang="en-US" b="1"/>
              <a:t>AWS operates the infrastructure layer, the operating system, and platforms</a:t>
            </a:r>
            <a:r>
              <a:rPr lang="en-US" b="0"/>
              <a:t>.</a:t>
            </a:r>
            <a:r>
              <a:rPr lang="en-US" b="0" baseline="0"/>
              <a:t> C</a:t>
            </a:r>
            <a:r>
              <a:rPr lang="en-US"/>
              <a:t>ustomers only</a:t>
            </a:r>
            <a:r>
              <a:rPr lang="en-US" baseline="0"/>
              <a:t> need to</a:t>
            </a:r>
            <a:r>
              <a:rPr lang="en-US"/>
              <a:t> access the endpoints to store and retrieve data. With PaaS services, customers are responsible for managing their data, classifying their assets, and applying the appropriate permissions.</a:t>
            </a:r>
            <a:r>
              <a:rPr lang="en-US" baseline="0"/>
              <a:t> However, </a:t>
            </a:r>
            <a:r>
              <a:rPr lang="en-US"/>
              <a:t>these service act more like managed services, with AWS handling a larger portion of the security requirements. For these services, AWS handles basic security tasks—such as operating system and database patching, firewall configuration, and disaster recovery. </a:t>
            </a:r>
          </a:p>
          <a:p>
            <a:endParaRPr lang="en-US"/>
          </a:p>
          <a:p>
            <a:endParaRPr lang="en-US"/>
          </a:p>
        </p:txBody>
      </p:sp>
    </p:spTree>
    <p:extLst>
      <p:ext uri="{BB962C8B-B14F-4D97-AF65-F5344CB8AC3E}">
        <p14:creationId xmlns:p14="http://schemas.microsoft.com/office/powerpoint/2010/main" val="34299497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6775" y="1257300"/>
            <a:ext cx="6038850" cy="3394075"/>
          </a:xfrm>
          <a:prstGeom prst="rect">
            <a:avLst/>
          </a:prstGeom>
        </p:spPr>
      </p:sp>
      <p:sp>
        <p:nvSpPr>
          <p:cNvPr id="3" name="Notes Placeholder 2"/>
          <p:cNvSpPr>
            <a:spLocks noGrp="1"/>
          </p:cNvSpPr>
          <p:nvPr>
            <p:ph type="body" idx="1"/>
          </p:nvPr>
        </p:nvSpPr>
        <p:spPr>
          <a:xfrm>
            <a:off x="777875" y="4840288"/>
            <a:ext cx="6216650" cy="435913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Software as a service (SaaS) </a:t>
            </a:r>
            <a:r>
              <a:rPr lang="en-US"/>
              <a:t>refers to services that provide centrally hosted software that is typically accessible via a web browser, mobile app, or application</a:t>
            </a:r>
            <a:r>
              <a:rPr lang="en-US" baseline="0"/>
              <a:t> programming interface (</a:t>
            </a:r>
            <a:r>
              <a:rPr lang="en-US"/>
              <a:t>API). The licensing model for SaaS offerings is typically subscription or pay as you go. With SaaS offerings, customers do not need to manage the infrastructure that supports the service. Some AWS services—such as </a:t>
            </a:r>
            <a:r>
              <a:rPr lang="en-US" b="1"/>
              <a:t>AWS Trusted Advisor, AWS Shield, </a:t>
            </a:r>
            <a:r>
              <a:rPr lang="en-US" b="0"/>
              <a:t>and</a:t>
            </a:r>
            <a:r>
              <a:rPr lang="en-US" b="1"/>
              <a:t> Amazon Chime</a:t>
            </a:r>
            <a:r>
              <a:rPr lang="en-US" b="0"/>
              <a:t>—</a:t>
            </a:r>
            <a:r>
              <a:rPr lang="en-US"/>
              <a:t>could be categorized as </a:t>
            </a:r>
            <a:r>
              <a:rPr lang="en-US" b="0"/>
              <a:t>SaaS offerings, given their characteristics.</a:t>
            </a:r>
          </a:p>
          <a:p>
            <a:endParaRPr lang="en-US"/>
          </a:p>
          <a:p>
            <a:r>
              <a:rPr lang="en-US" b="1" i="0" kern="1200">
                <a:solidFill>
                  <a:schemeClr val="tx1"/>
                </a:solidFill>
                <a:effectLst/>
                <a:latin typeface="+mn-lt"/>
                <a:ea typeface="+mn-ea"/>
                <a:cs typeface="+mn-cs"/>
              </a:rPr>
              <a:t>AWS Trusted Advisor </a:t>
            </a:r>
            <a:r>
              <a:rPr lang="en-US" b="0" i="0" kern="1200">
                <a:solidFill>
                  <a:schemeClr val="tx1"/>
                </a:solidFill>
                <a:effectLst/>
                <a:latin typeface="+mn-lt"/>
                <a:ea typeface="+mn-ea"/>
                <a:cs typeface="+mn-cs"/>
              </a:rPr>
              <a:t>is an online tool that analyzes your AWS environment and provides </a:t>
            </a:r>
            <a:r>
              <a:rPr lang="en-US"/>
              <a:t>real-time guidance and recommendations to help you provision your resources by following AWS best practices. </a:t>
            </a:r>
            <a:r>
              <a:rPr lang="en-US" b="0" i="0" kern="1200">
                <a:solidFill>
                  <a:schemeClr val="tx1"/>
                </a:solidFill>
                <a:effectLst/>
                <a:latin typeface="+mn-lt"/>
                <a:ea typeface="+mn-ea"/>
                <a:cs typeface="+mn-cs"/>
              </a:rPr>
              <a:t>The Trusted Advisor service is offered as part of your AWS Support plan. Some of the Trusted Advisor features are free to all accounts, but Business Support and Enterprise Support customers have access to the full set of Trusted Advisor checks and recommendations.</a:t>
            </a:r>
          </a:p>
          <a:p>
            <a:endParaRPr lang="en-US" b="0" i="0" kern="1200">
              <a:solidFill>
                <a:schemeClr val="tx1"/>
              </a:solidFill>
              <a:effectLst/>
              <a:latin typeface="+mn-lt"/>
              <a:ea typeface="+mn-ea"/>
              <a:cs typeface="+mn-cs"/>
            </a:endParaRPr>
          </a:p>
          <a:p>
            <a:r>
              <a:rPr lang="en-US" b="1" i="0" kern="1200">
                <a:solidFill>
                  <a:schemeClr val="tx1"/>
                </a:solidFill>
                <a:effectLst/>
                <a:latin typeface="+mn-lt"/>
                <a:ea typeface="+mn-ea"/>
                <a:cs typeface="+mn-cs"/>
              </a:rPr>
              <a:t>AWS Shield </a:t>
            </a:r>
            <a:r>
              <a:rPr lang="en-US" b="0" i="0" kern="1200">
                <a:solidFill>
                  <a:schemeClr val="tx1"/>
                </a:solidFill>
                <a:effectLst/>
                <a:latin typeface="+mn-lt"/>
                <a:ea typeface="+mn-ea"/>
                <a:cs typeface="+mn-cs"/>
              </a:rPr>
              <a:t>is a managed distributed denial of service (DDoS) protection service that safeguards applications running on AWS. It provides always-on detection and automatic inline mitigations that minimize application downtime and latency, so there is no need to engage AWS Support to benefit from DDoS protection. AWS Shield Advanced is available to all customers.</a:t>
            </a:r>
            <a:r>
              <a:rPr lang="en-US" b="0" i="0" kern="1200" baseline="0">
                <a:solidFill>
                  <a:schemeClr val="tx1"/>
                </a:solidFill>
                <a:effectLst/>
                <a:latin typeface="+mn-lt"/>
                <a:ea typeface="+mn-ea"/>
                <a:cs typeface="+mn-cs"/>
              </a:rPr>
              <a:t> H</a:t>
            </a:r>
            <a:r>
              <a:rPr lang="en-US" b="0" i="0" kern="1200">
                <a:solidFill>
                  <a:schemeClr val="tx1"/>
                </a:solidFill>
                <a:effectLst/>
                <a:latin typeface="+mn-lt"/>
                <a:ea typeface="+mn-ea"/>
                <a:cs typeface="+mn-cs"/>
              </a:rPr>
              <a:t>owever, to contact the DDoS Response Team, customers must have either Enterprise Support or Business Support from AWS Support.</a:t>
            </a:r>
          </a:p>
          <a:p>
            <a:endParaRPr lang="en-US" b="0" i="0" kern="1200">
              <a:solidFill>
                <a:schemeClr val="tx1"/>
              </a:solidFill>
              <a:effectLst/>
              <a:latin typeface="+mn-lt"/>
              <a:ea typeface="+mn-ea"/>
              <a:cs typeface="+mn-cs"/>
            </a:endParaRPr>
          </a:p>
          <a:p>
            <a:r>
              <a:rPr lang="en-US" b="1" i="0" kern="1200">
                <a:solidFill>
                  <a:schemeClr val="tx1"/>
                </a:solidFill>
                <a:effectLst/>
                <a:latin typeface="+mn-lt"/>
                <a:ea typeface="+mn-ea"/>
                <a:cs typeface="+mn-cs"/>
              </a:rPr>
              <a:t>Amazon Chime </a:t>
            </a:r>
            <a:r>
              <a:rPr lang="en-US" b="0" i="0" kern="1200">
                <a:solidFill>
                  <a:schemeClr val="tx1"/>
                </a:solidFill>
                <a:effectLst/>
                <a:latin typeface="+mn-lt"/>
                <a:ea typeface="+mn-ea"/>
                <a:cs typeface="+mn-cs"/>
              </a:rPr>
              <a:t>is a communications service that enables you to meet, chat, and place business calls inside and outside your organization, all using a single application. It is a pay-as-you-go communications service with no upfront fees, commitments, or long-term contracts. </a:t>
            </a:r>
            <a:endParaRPr lang="en-US"/>
          </a:p>
        </p:txBody>
      </p:sp>
    </p:spTree>
    <p:extLst>
      <p:ext uri="{BB962C8B-B14F-4D97-AF65-F5344CB8AC3E}">
        <p14:creationId xmlns:p14="http://schemas.microsoft.com/office/powerpoint/2010/main" val="35082878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AWS services fall under different categories, and each category contains one or more services. You can select the services that you want from these different categories to build your solutions.</a:t>
            </a:r>
          </a:p>
        </p:txBody>
      </p:sp>
      <p:sp>
        <p:nvSpPr>
          <p:cNvPr id="5" name="Slide Image Placeholder 4">
            <a:extLst>
              <a:ext uri="{FF2B5EF4-FFF2-40B4-BE49-F238E27FC236}">
                <a16:creationId xmlns:a16="http://schemas.microsoft.com/office/drawing/2014/main" id="{78AC0E73-C6D0-61A8-63E1-2C1C2BB20B86}"/>
              </a:ext>
            </a:extLst>
          </p:cNvPr>
          <p:cNvSpPr>
            <a:spLocks noGrp="1" noRot="1" noChangeAspect="1"/>
          </p:cNvSpPr>
          <p:nvPr>
            <p:ph type="sldImg"/>
          </p:nvPr>
        </p:nvSpPr>
        <p:spPr/>
      </p:sp>
    </p:spTree>
    <p:extLst>
      <p:ext uri="{BB962C8B-B14F-4D97-AF65-F5344CB8AC3E}">
        <p14:creationId xmlns:p14="http://schemas.microsoft.com/office/powerpoint/2010/main" val="12761789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As discussed previously, the AWS Global Infrastructure can be broken down into three elements: Regions, Availability Zones, and Points of Presence, which include edge locations. This infrastructure provides the platform for a broad set of services, such as networking, storage, compute services, and databases—and these services are delivered as an on-demand utility that is available in seconds, with pay-as-you-go pricing.</a:t>
            </a:r>
          </a:p>
          <a:p>
            <a:endParaRPr lang="en-US" dirty="0"/>
          </a:p>
          <a:p>
            <a:r>
              <a:rPr lang="en-AU" b="1" dirty="0">
                <a:effectLst/>
                <a:latin typeface="+mn-lt"/>
                <a:ea typeface="Calibri" panose="020F0502020204030204" pitchFamily="34" charset="0"/>
              </a:rPr>
              <a:t>For accessibility:</a:t>
            </a:r>
            <a:r>
              <a:rPr lang="en-AU" dirty="0">
                <a:effectLst/>
                <a:latin typeface="+mn-lt"/>
                <a:ea typeface="Calibri" panose="020F0502020204030204" pitchFamily="34" charset="0"/>
              </a:rPr>
              <a:t> </a:t>
            </a:r>
            <a:r>
              <a:rPr lang="en-US" dirty="0">
                <a:effectLst/>
                <a:latin typeface="+mn-lt"/>
                <a:ea typeface="Calibri" panose="020F0502020204030204" pitchFamily="34" charset="0"/>
              </a:rPr>
              <a:t>Marketing diagram showing infrastructure at the bottom, consisting of Regions, Availability Zones, and edge locations. The next level up is labeled Foundational Services and includes graphics for compute, networking, and storage. That level is highlighted. Next level up is platform services that includes databases, analytics, app services, deployment and management, and mobile services. Top layer is labeled applications and includes virtual desktops and collaboration and sharing. </a:t>
            </a:r>
            <a:r>
              <a:rPr lang="en-AU" b="1" dirty="0">
                <a:effectLst/>
                <a:latin typeface="+mn-lt"/>
                <a:ea typeface="Calibri" panose="020F0502020204030204" pitchFamily="34" charset="0"/>
              </a:rPr>
              <a:t>End of accessibility description.</a:t>
            </a:r>
            <a:endParaRPr lang="en-US" dirty="0">
              <a:latin typeface="+mn-lt"/>
            </a:endParaRPr>
          </a:p>
          <a:p>
            <a:endParaRPr lang="en-US" dirty="0"/>
          </a:p>
          <a:p>
            <a:endParaRPr lang="en-US" dirty="0"/>
          </a:p>
          <a:p>
            <a:endParaRPr lang="en-US" dirty="0"/>
          </a:p>
        </p:txBody>
      </p:sp>
      <p:sp>
        <p:nvSpPr>
          <p:cNvPr id="5" name="Slide Image Placeholder 4">
            <a:extLst>
              <a:ext uri="{FF2B5EF4-FFF2-40B4-BE49-F238E27FC236}">
                <a16:creationId xmlns:a16="http://schemas.microsoft.com/office/drawing/2014/main" id="{CF1B10F7-647A-32DE-5C6F-0FE72C00F2C0}"/>
              </a:ext>
            </a:extLst>
          </p:cNvPr>
          <p:cNvSpPr>
            <a:spLocks noGrp="1" noRot="1" noChangeAspect="1"/>
          </p:cNvSpPr>
          <p:nvPr>
            <p:ph type="sldImg"/>
          </p:nvPr>
        </p:nvSpPr>
        <p:spPr/>
      </p:sp>
    </p:spTree>
    <p:extLst>
      <p:ext uri="{BB962C8B-B14F-4D97-AF65-F5344CB8AC3E}">
        <p14:creationId xmlns:p14="http://schemas.microsoft.com/office/powerpoint/2010/main" val="3309670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520528"/>
          </a:xfrm>
        </p:spPr>
        <p:txBody>
          <a:bodyPr/>
          <a:lstStyle/>
          <a:p>
            <a:r>
              <a:rPr lang="en-US" dirty="0"/>
              <a:t>AWS offers a broad set of cloud-based services. There are 23 different product or service categories, and each category consists of one or more services. This course will not attempt to introduce you to each service. Rather, the focus of this course is on the services that are most widely used and offer the best introduction to the AWS Cloud. This course also focuses on services that are more likely to be covered in the AWS Certified Cloud Practitioner exam.</a:t>
            </a:r>
          </a:p>
          <a:p>
            <a:endParaRPr lang="en-US" dirty="0"/>
          </a:p>
          <a:p>
            <a:r>
              <a:rPr lang="en-US" dirty="0"/>
              <a:t>The categories that this course will discuss are highlighted on the slide: Compute, Cost Management, Database, Management and Governance, Networking and Content Delivery, Security, Identity, and Compliance, and Storage.</a:t>
            </a:r>
          </a:p>
          <a:p>
            <a:r>
              <a:rPr lang="en-US" dirty="0"/>
              <a:t> </a:t>
            </a:r>
          </a:p>
          <a:p>
            <a:pPr lvl="0"/>
            <a:r>
              <a:rPr lang="en-US" dirty="0"/>
              <a:t>To learn more about AWS products, see Cloud Products at </a:t>
            </a:r>
            <a:r>
              <a:rPr lang="en-GB" dirty="0">
                <a:hlinkClick r:id="rId3"/>
              </a:rPr>
              <a:t>https://</a:t>
            </a:r>
            <a:r>
              <a:rPr lang="en-GB" dirty="0" err="1">
                <a:hlinkClick r:id="rId3"/>
              </a:rPr>
              <a:t>aws.amazon.com</a:t>
            </a:r>
            <a:r>
              <a:rPr lang="en-GB" dirty="0">
                <a:hlinkClick r:id="rId3"/>
              </a:rPr>
              <a:t>/products/</a:t>
            </a:r>
            <a:r>
              <a:rPr lang="en-US" dirty="0"/>
              <a:t>. All AWS products are organized into the service categories that are shown here. For example, if you click </a:t>
            </a:r>
            <a:r>
              <a:rPr lang="en-US" b="1" dirty="0"/>
              <a:t>Compute,</a:t>
            </a:r>
            <a:r>
              <a:rPr lang="en-US" dirty="0"/>
              <a:t> you will see that Amazon Elastic Compute Cloud (Amazon EC2) is first on the list. The compute category also lists many other products and services.</a:t>
            </a:r>
          </a:p>
          <a:p>
            <a:r>
              <a:rPr lang="en-US" dirty="0"/>
              <a:t> </a:t>
            </a:r>
          </a:p>
          <a:p>
            <a:r>
              <a:rPr lang="en-US" dirty="0"/>
              <a:t>If you click </a:t>
            </a:r>
            <a:r>
              <a:rPr lang="en-US" b="1" dirty="0"/>
              <a:t>Amazon EC2,</a:t>
            </a:r>
            <a:r>
              <a:rPr lang="en-US" dirty="0"/>
              <a:t> it takes you to the Amazon EC2 page. Each product page provides a detailed description of the product and lists some of its benefits. </a:t>
            </a:r>
          </a:p>
          <a:p>
            <a:r>
              <a:rPr lang="en-US" dirty="0"/>
              <a:t> </a:t>
            </a:r>
          </a:p>
          <a:p>
            <a:r>
              <a:rPr lang="en-US" dirty="0"/>
              <a:t>Explore the different service groups to understand the categories and services within them. Now that you know how to locate information about different services, this module will discuss the highlighted service categories. </a:t>
            </a:r>
            <a:r>
              <a:rPr lang="en-US" b="1" dirty="0"/>
              <a:t>The next seven slides list the individual services —within each of the categories highlighted above—that this course will discuss.</a:t>
            </a:r>
          </a:p>
        </p:txBody>
      </p:sp>
      <p:sp>
        <p:nvSpPr>
          <p:cNvPr id="5" name="Slide Image Placeholder 4">
            <a:extLst>
              <a:ext uri="{FF2B5EF4-FFF2-40B4-BE49-F238E27FC236}">
                <a16:creationId xmlns:a16="http://schemas.microsoft.com/office/drawing/2014/main" id="{C4F7EBA8-02AF-20C3-6D76-6D1ADF38CD25}"/>
              </a:ext>
            </a:extLst>
          </p:cNvPr>
          <p:cNvSpPr>
            <a:spLocks noGrp="1" noRot="1" noChangeAspect="1"/>
          </p:cNvSpPr>
          <p:nvPr>
            <p:ph type="sldImg"/>
          </p:nvPr>
        </p:nvSpPr>
        <p:spPr/>
      </p:sp>
    </p:spTree>
    <p:extLst>
      <p:ext uri="{BB962C8B-B14F-4D97-AF65-F5344CB8AC3E}">
        <p14:creationId xmlns:p14="http://schemas.microsoft.com/office/powerpoint/2010/main" val="12761789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539382"/>
          </a:xfrm>
        </p:spPr>
        <p:txBody>
          <a:bodyPr/>
          <a:lstStyle/>
          <a:p>
            <a:r>
              <a:rPr lang="en-US" dirty="0"/>
              <a:t>AWS storage services include the services listed here, and many others. </a:t>
            </a:r>
          </a:p>
          <a:p>
            <a:endParaRPr lang="en-US" dirty="0"/>
          </a:p>
          <a:p>
            <a:r>
              <a:rPr lang="en-US" b="1" dirty="0"/>
              <a:t>Amazon Simple Storage Service (Amazon S3) </a:t>
            </a:r>
            <a:r>
              <a:rPr lang="en-US" dirty="0"/>
              <a:t>is an object storage service that offers scalability, data availability, security, and performance. Use it to store and protect any amount of data for websites, mobile apps, backup and restore, archive, enterprise applications, Internet of Things (IoT) devices, and big data analytics. </a:t>
            </a:r>
          </a:p>
          <a:p>
            <a:endParaRPr lang="en-US" dirty="0"/>
          </a:p>
          <a:p>
            <a:r>
              <a:rPr lang="en-US" b="1" dirty="0"/>
              <a:t>Amazon Elastic Block Store (Amazon EBS) </a:t>
            </a:r>
            <a:r>
              <a:rPr lang="en-US" dirty="0"/>
              <a:t>is high-performance block storage that is designed for use with Amazon EC2 for both throughput and transaction intensive workloads. It is used for a broad range of workloads, such as relational and non-relational databases, enterprise applications, containerized applications, big data analytics engines, file systems, and media workflows.</a:t>
            </a:r>
          </a:p>
          <a:p>
            <a:endParaRPr lang="en-US" dirty="0"/>
          </a:p>
          <a:p>
            <a:r>
              <a:rPr lang="en-US" b="1" dirty="0"/>
              <a:t>Amazon Elastic File System (Amazon EFS)</a:t>
            </a:r>
            <a:r>
              <a:rPr lang="en-US" dirty="0"/>
              <a:t> provides a scalable, fully managed elastic Network File System (NFS) file system for use with AWS Cloud services and on-premises resources. It is built to scale on demand to petabytes, growing and shrinking automatically as you add and remove files. It reduces the need to provision and manage capacity to accommodate growth.</a:t>
            </a:r>
          </a:p>
          <a:p>
            <a:endParaRPr lang="en-US" dirty="0"/>
          </a:p>
          <a:p>
            <a:r>
              <a:rPr lang="en-US" b="1" dirty="0"/>
              <a:t>Amazon Simple Storage Service Glacier </a:t>
            </a:r>
            <a:r>
              <a:rPr lang="en-US" dirty="0"/>
              <a:t>is a secure, durable, and extremely low-cost Amazon S3 cloud storage class for data archiving and long-term backup. It is designed to deliver 11 9s of durability, and to provide comprehensive security and compliance capabilities to meet stringent regulatory requirements. </a:t>
            </a:r>
          </a:p>
          <a:p>
            <a:endParaRPr lang="en-US" dirty="0"/>
          </a:p>
        </p:txBody>
      </p:sp>
      <p:sp>
        <p:nvSpPr>
          <p:cNvPr id="5" name="Slide Image Placeholder 4">
            <a:extLst>
              <a:ext uri="{FF2B5EF4-FFF2-40B4-BE49-F238E27FC236}">
                <a16:creationId xmlns:a16="http://schemas.microsoft.com/office/drawing/2014/main" id="{888EE393-6B73-888B-CA43-4D35EB7F7B0C}"/>
              </a:ext>
            </a:extLst>
          </p:cNvPr>
          <p:cNvSpPr>
            <a:spLocks noGrp="1" noRot="1" noChangeAspect="1"/>
          </p:cNvSpPr>
          <p:nvPr>
            <p:ph type="sldImg"/>
          </p:nvPr>
        </p:nvSpPr>
        <p:spPr/>
      </p:sp>
    </p:spTree>
    <p:extLst>
      <p:ext uri="{BB962C8B-B14F-4D97-AF65-F5344CB8AC3E}">
        <p14:creationId xmlns:p14="http://schemas.microsoft.com/office/powerpoint/2010/main" val="26594812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7"/>
            <a:ext cx="6216650" cy="4878747"/>
          </a:xfrm>
        </p:spPr>
        <p:txBody>
          <a:bodyPr/>
          <a:lstStyle/>
          <a:p>
            <a:r>
              <a:rPr lang="en-US" dirty="0"/>
              <a:t>AWS compute services include the services listed here, and many others. </a:t>
            </a:r>
          </a:p>
          <a:p>
            <a:endParaRPr lang="en-US" dirty="0"/>
          </a:p>
          <a:p>
            <a:r>
              <a:rPr lang="en-US" b="1" dirty="0"/>
              <a:t>Amazon Elastic Compute Cloud (Amazon EC2) </a:t>
            </a:r>
            <a:r>
              <a:rPr lang="en-US" dirty="0"/>
              <a:t>provides resizable compute capacity as virtual machines in the cloud. </a:t>
            </a:r>
          </a:p>
          <a:p>
            <a:endParaRPr lang="en-US" dirty="0"/>
          </a:p>
          <a:p>
            <a:r>
              <a:rPr lang="en-US" b="1" dirty="0"/>
              <a:t>Amazon EC2 Auto Scaling </a:t>
            </a:r>
            <a:r>
              <a:rPr lang="en-US" dirty="0"/>
              <a:t>enables you to automatically add or remove EC2 instances according to conditions that you define. </a:t>
            </a:r>
          </a:p>
          <a:p>
            <a:endParaRPr lang="en-US" dirty="0"/>
          </a:p>
          <a:p>
            <a:r>
              <a:rPr lang="en-US" b="1" dirty="0"/>
              <a:t>Amazon Elastic Container Service (Amazon ECS) </a:t>
            </a:r>
            <a:r>
              <a:rPr lang="en-US" dirty="0"/>
              <a:t>is a highly scalable, high-performance container orchestration service that supports Docker containers. </a:t>
            </a:r>
          </a:p>
          <a:p>
            <a:endParaRPr lang="en-US" dirty="0"/>
          </a:p>
          <a:p>
            <a:r>
              <a:rPr lang="en-US" b="1" dirty="0"/>
              <a:t>Amazon Elastic Container Registry (Amazon ECR) </a:t>
            </a:r>
            <a:r>
              <a:rPr lang="en-US" dirty="0"/>
              <a:t>is a fully-managed Docker container registry that makes it easy for developers to store, manage, and deploy Docker container images. </a:t>
            </a:r>
          </a:p>
          <a:p>
            <a:endParaRPr lang="en-US" dirty="0"/>
          </a:p>
          <a:p>
            <a:r>
              <a:rPr lang="en-US" b="1" dirty="0"/>
              <a:t>AWS Elastic Beanstalk</a:t>
            </a:r>
            <a:r>
              <a:rPr lang="en-US" dirty="0"/>
              <a:t> is a service for deploying and scaling web applications and services on familiar servers such as Apache and Microsoft Internet Information Services (IIS). </a:t>
            </a:r>
          </a:p>
          <a:p>
            <a:endParaRPr lang="en-US" dirty="0"/>
          </a:p>
          <a:p>
            <a:r>
              <a:rPr lang="en-US" b="1" dirty="0"/>
              <a:t>AWS Lambda</a:t>
            </a:r>
            <a:r>
              <a:rPr lang="en-US" dirty="0"/>
              <a:t> enables you to run code without provisioning or managing servers. You pay only for the compute time that you consume. There is no charge when your code is not running.</a:t>
            </a:r>
          </a:p>
          <a:p>
            <a:endParaRPr lang="en-US" dirty="0"/>
          </a:p>
          <a:p>
            <a:r>
              <a:rPr lang="en-US" b="1" dirty="0"/>
              <a:t>Amazon Elastic Kubernetes Service (Amazon EKS) </a:t>
            </a:r>
            <a:r>
              <a:rPr lang="en-US" dirty="0"/>
              <a:t>makes it easy to deploy, manage, and scale containerized applications that use Kubernetes on AWS.</a:t>
            </a:r>
          </a:p>
          <a:p>
            <a:endParaRPr lang="en-US" dirty="0"/>
          </a:p>
          <a:p>
            <a:r>
              <a:rPr lang="en-US" b="1" dirty="0"/>
              <a:t>AWS Fargate </a:t>
            </a:r>
            <a:r>
              <a:rPr lang="en-US" dirty="0"/>
              <a:t>is a compute engine for Amazon ECS that allows you to run containers without having to manage servers or clusters.</a:t>
            </a:r>
          </a:p>
        </p:txBody>
      </p:sp>
      <p:sp>
        <p:nvSpPr>
          <p:cNvPr id="5" name="Slide Image Placeholder 4">
            <a:extLst>
              <a:ext uri="{FF2B5EF4-FFF2-40B4-BE49-F238E27FC236}">
                <a16:creationId xmlns:a16="http://schemas.microsoft.com/office/drawing/2014/main" id="{860D9EDA-1C0A-516A-6D75-388304158A4F}"/>
              </a:ext>
            </a:extLst>
          </p:cNvPr>
          <p:cNvSpPr>
            <a:spLocks noGrp="1" noRot="1" noChangeAspect="1"/>
          </p:cNvSpPr>
          <p:nvPr>
            <p:ph type="sldImg"/>
          </p:nvPr>
        </p:nvSpPr>
        <p:spPr/>
      </p:sp>
    </p:spTree>
    <p:extLst>
      <p:ext uri="{BB962C8B-B14F-4D97-AF65-F5344CB8AC3E}">
        <p14:creationId xmlns:p14="http://schemas.microsoft.com/office/powerpoint/2010/main" val="28870503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AWS database services include the services listed here, and many others.  </a:t>
            </a:r>
          </a:p>
          <a:p>
            <a:endParaRPr lang="en-US" dirty="0"/>
          </a:p>
          <a:p>
            <a:r>
              <a:rPr lang="en-US" b="1" dirty="0"/>
              <a:t>Amazon Relational Database Service (Amazon RDS) </a:t>
            </a:r>
            <a:r>
              <a:rPr lang="en-US" dirty="0"/>
              <a:t>makes it easy to set up, operate, and scale a relational database in the cloud. It provides resizable capacity while automating time-consuming administration tasks such as hardware provisioning, database setup, patching, and backups. </a:t>
            </a:r>
          </a:p>
          <a:p>
            <a:endParaRPr lang="en-US" dirty="0"/>
          </a:p>
          <a:p>
            <a:r>
              <a:rPr lang="en-US" b="1" dirty="0"/>
              <a:t>Amazon Aurora </a:t>
            </a:r>
            <a:r>
              <a:rPr lang="en-US" dirty="0"/>
              <a:t>is a MySQL and PostgreSQL-compatible relational database. It is up to five times faster than standard MySQL databases and three times faster than standard PostgreSQL databases. </a:t>
            </a:r>
          </a:p>
          <a:p>
            <a:endParaRPr lang="en-US" dirty="0"/>
          </a:p>
          <a:p>
            <a:r>
              <a:rPr lang="en-US" b="1" dirty="0"/>
              <a:t>Amazon Redshift </a:t>
            </a:r>
            <a:r>
              <a:rPr lang="en-US" dirty="0"/>
              <a:t>enables you to run analytic queries against petabytes of data that is stored locally in Amazon Redshift, and directly against exabytes of data that are stored in Amazon S3. It delivers fast performance at any scale.</a:t>
            </a:r>
          </a:p>
          <a:p>
            <a:endParaRPr lang="en-US" dirty="0"/>
          </a:p>
          <a:p>
            <a:r>
              <a:rPr lang="en-US" b="1" dirty="0"/>
              <a:t>Amazon DynamoDB </a:t>
            </a:r>
            <a:r>
              <a:rPr lang="en-US" dirty="0"/>
              <a:t>is a key-value and document database that delivers single-digit millisecond performance at any scale, with built-in security, backup and restore, and in-memory caching.</a:t>
            </a:r>
          </a:p>
        </p:txBody>
      </p:sp>
      <p:sp>
        <p:nvSpPr>
          <p:cNvPr id="5" name="Slide Image Placeholder 4">
            <a:extLst>
              <a:ext uri="{FF2B5EF4-FFF2-40B4-BE49-F238E27FC236}">
                <a16:creationId xmlns:a16="http://schemas.microsoft.com/office/drawing/2014/main" id="{D91EA64B-7595-F28C-E1B7-2A0B998C0A41}"/>
              </a:ext>
            </a:extLst>
          </p:cNvPr>
          <p:cNvSpPr>
            <a:spLocks noGrp="1" noRot="1" noChangeAspect="1"/>
          </p:cNvSpPr>
          <p:nvPr>
            <p:ph type="sldImg"/>
          </p:nvPr>
        </p:nvSpPr>
        <p:spPr/>
      </p:sp>
    </p:spTree>
    <p:extLst>
      <p:ext uri="{BB962C8B-B14F-4D97-AF65-F5344CB8AC3E}">
        <p14:creationId xmlns:p14="http://schemas.microsoft.com/office/powerpoint/2010/main" val="7454602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888174"/>
          </a:xfrm>
        </p:spPr>
        <p:txBody>
          <a:bodyPr/>
          <a:lstStyle/>
          <a:p>
            <a:r>
              <a:rPr lang="en-US" dirty="0"/>
              <a:t>AWS networking and content delivery services include the services listed here, and many others.</a:t>
            </a:r>
          </a:p>
          <a:p>
            <a:endParaRPr lang="en-US" dirty="0"/>
          </a:p>
          <a:p>
            <a:r>
              <a:rPr lang="en-US" b="1" dirty="0"/>
              <a:t>Amazon Virtual Private Cloud (Amazon VPC) </a:t>
            </a:r>
            <a:r>
              <a:rPr lang="en-US" dirty="0"/>
              <a:t>enables you to provision logically isolated sections of the AWS Cloud. </a:t>
            </a:r>
          </a:p>
          <a:p>
            <a:endParaRPr lang="en-US" dirty="0"/>
          </a:p>
          <a:p>
            <a:r>
              <a:rPr lang="en-US" b="1" dirty="0"/>
              <a:t>Elastic Load Balancing </a:t>
            </a:r>
            <a:r>
              <a:rPr lang="en-US" dirty="0"/>
              <a:t>automatically distributes incoming application traffic across multiple targets, such as Amazon EC2 instances, containers, IP addresses, and Lambda functions.</a:t>
            </a:r>
          </a:p>
          <a:p>
            <a:endParaRPr lang="en-US" dirty="0"/>
          </a:p>
          <a:p>
            <a:r>
              <a:rPr lang="en-US" b="1" dirty="0"/>
              <a:t>Amazon CloudFront </a:t>
            </a:r>
            <a:r>
              <a:rPr lang="en-US" dirty="0"/>
              <a:t>is a fast content delivery network (CDN) service that securely delivers data, videos, applications, and application programming interfaces (APIs) to customers globally, with low latency and high transfer speeds.</a:t>
            </a:r>
          </a:p>
          <a:p>
            <a:endParaRPr lang="en-US" dirty="0"/>
          </a:p>
          <a:p>
            <a:r>
              <a:rPr lang="en-US" b="1" dirty="0"/>
              <a:t>AWS Transit Gateway </a:t>
            </a:r>
            <a:r>
              <a:rPr lang="en-US" dirty="0"/>
              <a:t>is a service that enables customers to connect their Amazon Virtual Private Clouds (VPCs) and their on-premises networks to a single gateway. </a:t>
            </a:r>
          </a:p>
          <a:p>
            <a:endParaRPr lang="en-US" dirty="0"/>
          </a:p>
          <a:p>
            <a:r>
              <a:rPr lang="en-US" b="1" dirty="0"/>
              <a:t>Amazon Route 53 </a:t>
            </a:r>
            <a:r>
              <a:rPr lang="en-US" dirty="0"/>
              <a:t>is a scalable cloud Domain Name System (DNS) web service designed to give you a reliable way to route end users to internet applications. It translates names (like www.example.com) into the numeric IP addresses (like 192.0.2.1) that computers use to connect to each other. </a:t>
            </a:r>
          </a:p>
          <a:p>
            <a:endParaRPr lang="en-US" dirty="0"/>
          </a:p>
          <a:p>
            <a:r>
              <a:rPr lang="en-US" b="1" dirty="0"/>
              <a:t>AWS Direct Connect </a:t>
            </a:r>
            <a:r>
              <a:rPr lang="en-US" dirty="0"/>
              <a:t>provides a way to establish a dedicated private network connection from your data center or office to AWS, which can reduce network costs and increase bandwidth throughput.</a:t>
            </a:r>
          </a:p>
          <a:p>
            <a:endParaRPr lang="en-US" dirty="0"/>
          </a:p>
          <a:p>
            <a:r>
              <a:rPr lang="en-US" b="1" dirty="0"/>
              <a:t>AWS VPN </a:t>
            </a:r>
            <a:r>
              <a:rPr lang="en-US" dirty="0"/>
              <a:t>provides a secure private tunnel from your network or device to the AWS global network. </a:t>
            </a:r>
          </a:p>
          <a:p>
            <a:endParaRPr lang="en-US" dirty="0"/>
          </a:p>
          <a:p>
            <a:endParaRPr lang="en-US" dirty="0"/>
          </a:p>
          <a:p>
            <a:endParaRPr lang="en-US" dirty="0"/>
          </a:p>
          <a:p>
            <a:endParaRPr lang="en-US" dirty="0"/>
          </a:p>
          <a:p>
            <a:endParaRPr lang="en-US" dirty="0"/>
          </a:p>
        </p:txBody>
      </p:sp>
      <p:sp>
        <p:nvSpPr>
          <p:cNvPr id="5" name="Slide Image Placeholder 4">
            <a:extLst>
              <a:ext uri="{FF2B5EF4-FFF2-40B4-BE49-F238E27FC236}">
                <a16:creationId xmlns:a16="http://schemas.microsoft.com/office/drawing/2014/main" id="{DCC5F2F7-BD27-E801-EC5A-AF0DF3EE7A97}"/>
              </a:ext>
            </a:extLst>
          </p:cNvPr>
          <p:cNvSpPr>
            <a:spLocks noGrp="1" noRot="1" noChangeAspect="1"/>
          </p:cNvSpPr>
          <p:nvPr>
            <p:ph type="sldImg"/>
          </p:nvPr>
        </p:nvSpPr>
        <p:spPr/>
      </p:sp>
    </p:spTree>
    <p:extLst>
      <p:ext uri="{BB962C8B-B14F-4D97-AF65-F5344CB8AC3E}">
        <p14:creationId xmlns:p14="http://schemas.microsoft.com/office/powerpoint/2010/main" val="26660670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AWS security, identity, and compliance services include the services listed here, and many others. </a:t>
            </a:r>
          </a:p>
          <a:p>
            <a:endParaRPr lang="en-US" dirty="0"/>
          </a:p>
          <a:p>
            <a:r>
              <a:rPr lang="en-US" b="1" dirty="0"/>
              <a:t>AWS Identity and Access Management (IAM) </a:t>
            </a:r>
            <a:r>
              <a:rPr lang="en-US" dirty="0"/>
              <a:t>enables you to manage access to AWS services and resources securely. By using IAM, you can create and manage AWS users and groups. You can use IAM permissions to allow and deny user and group access to AWS resources. </a:t>
            </a:r>
          </a:p>
          <a:p>
            <a:endParaRPr lang="en-US" dirty="0"/>
          </a:p>
          <a:p>
            <a:r>
              <a:rPr lang="en-US" b="1" dirty="0"/>
              <a:t>AWS Organizations </a:t>
            </a:r>
            <a:r>
              <a:rPr lang="en-US" dirty="0"/>
              <a:t>allows you to restrict what services and actions are allowed in your accounts. </a:t>
            </a:r>
          </a:p>
          <a:p>
            <a:endParaRPr lang="en-US" dirty="0"/>
          </a:p>
          <a:p>
            <a:r>
              <a:rPr lang="en-US" b="1" dirty="0"/>
              <a:t>Amazon Cognito </a:t>
            </a:r>
            <a:r>
              <a:rPr lang="en-US" dirty="0"/>
              <a:t>lets you add user sign-up, sign-in, and access control to your web and mobile apps.</a:t>
            </a:r>
          </a:p>
          <a:p>
            <a:endParaRPr lang="en-US" dirty="0"/>
          </a:p>
          <a:p>
            <a:r>
              <a:rPr lang="en-US" b="1" dirty="0"/>
              <a:t>AWS Artifact </a:t>
            </a:r>
            <a:r>
              <a:rPr lang="en-US" dirty="0"/>
              <a:t>provides on-demand access to AWS security and compliance reports and select online agreements. </a:t>
            </a:r>
          </a:p>
          <a:p>
            <a:endParaRPr lang="en-US" b="1" dirty="0"/>
          </a:p>
          <a:p>
            <a:r>
              <a:rPr lang="en-US" b="1" dirty="0"/>
              <a:t>AWS Key Management Service (AWS KMS) </a:t>
            </a:r>
            <a:r>
              <a:rPr lang="en-US" dirty="0"/>
              <a:t>enables you to create and manage keys. You can use AWS KMS to control the use of encryption across a wide range of AWS services and in your applications. </a:t>
            </a:r>
          </a:p>
          <a:p>
            <a:endParaRPr lang="en-US" dirty="0"/>
          </a:p>
          <a:p>
            <a:r>
              <a:rPr lang="en-US" b="1" dirty="0"/>
              <a:t>AWS Shield </a:t>
            </a:r>
            <a:r>
              <a:rPr lang="en-US" dirty="0"/>
              <a:t>is a managed Distributed Denial of Service (DDoS) protection service that safeguards applications running on AWS.</a:t>
            </a:r>
          </a:p>
          <a:p>
            <a:endParaRPr lang="en-US" dirty="0"/>
          </a:p>
        </p:txBody>
      </p:sp>
      <p:sp>
        <p:nvSpPr>
          <p:cNvPr id="5" name="Slide Image Placeholder 4">
            <a:extLst>
              <a:ext uri="{FF2B5EF4-FFF2-40B4-BE49-F238E27FC236}">
                <a16:creationId xmlns:a16="http://schemas.microsoft.com/office/drawing/2014/main" id="{0AE3F158-8FB9-D04B-3C17-F5E0FE700AA5}"/>
              </a:ext>
            </a:extLst>
          </p:cNvPr>
          <p:cNvSpPr>
            <a:spLocks noGrp="1" noRot="1" noChangeAspect="1"/>
          </p:cNvSpPr>
          <p:nvPr>
            <p:ph type="sldImg"/>
          </p:nvPr>
        </p:nvSpPr>
        <p:spPr/>
      </p:sp>
    </p:spTree>
    <p:extLst>
      <p:ext uri="{BB962C8B-B14F-4D97-AF65-F5344CB8AC3E}">
        <p14:creationId xmlns:p14="http://schemas.microsoft.com/office/powerpoint/2010/main" val="15232009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AWS management and governance services include the services listed here, and others.</a:t>
            </a:r>
          </a:p>
          <a:p>
            <a:endParaRPr lang="en-US" dirty="0"/>
          </a:p>
          <a:p>
            <a:r>
              <a:rPr lang="en-US" dirty="0"/>
              <a:t>The </a:t>
            </a:r>
            <a:r>
              <a:rPr lang="en-US" b="1" dirty="0"/>
              <a:t>AWS Management Console </a:t>
            </a:r>
            <a:r>
              <a:rPr lang="en-US" dirty="0"/>
              <a:t>provides a web-based user interface for accessing your AWS account.</a:t>
            </a:r>
          </a:p>
          <a:p>
            <a:endParaRPr lang="en-US" dirty="0"/>
          </a:p>
          <a:p>
            <a:r>
              <a:rPr lang="en-US" b="1" dirty="0"/>
              <a:t>AWS Config </a:t>
            </a:r>
            <a:r>
              <a:rPr lang="en-US" dirty="0"/>
              <a:t>provides a service that helps you track resource inventory and changes.</a:t>
            </a:r>
          </a:p>
          <a:p>
            <a:endParaRPr lang="en-US" dirty="0"/>
          </a:p>
          <a:p>
            <a:r>
              <a:rPr lang="en-US" b="1" dirty="0"/>
              <a:t>Amazon CloudWatch </a:t>
            </a:r>
            <a:r>
              <a:rPr lang="en-US" dirty="0"/>
              <a:t>allows you to monitor resources and applications.</a:t>
            </a:r>
          </a:p>
          <a:p>
            <a:endParaRPr lang="en-US" dirty="0"/>
          </a:p>
          <a:p>
            <a:r>
              <a:rPr lang="en-US" b="1" dirty="0"/>
              <a:t>AWS Auto Scaling </a:t>
            </a:r>
            <a:r>
              <a:rPr lang="en-US" dirty="0"/>
              <a:t>provides features that allow you to scale multiple resources to meet demand.</a:t>
            </a:r>
          </a:p>
          <a:p>
            <a:endParaRPr lang="en-US" dirty="0"/>
          </a:p>
          <a:p>
            <a:r>
              <a:rPr lang="en-US" b="1" dirty="0"/>
              <a:t>AWS Command Line Interface </a:t>
            </a:r>
            <a:r>
              <a:rPr lang="en-US" dirty="0"/>
              <a:t>provides a unified tool to manage AWS services.</a:t>
            </a:r>
          </a:p>
          <a:p>
            <a:endParaRPr lang="en-US" dirty="0"/>
          </a:p>
          <a:p>
            <a:r>
              <a:rPr lang="en-US" b="1" dirty="0"/>
              <a:t>AWS Trusted Advisor </a:t>
            </a:r>
            <a:r>
              <a:rPr lang="en-US" dirty="0"/>
              <a:t>helps you optimize performance and security.</a:t>
            </a:r>
          </a:p>
          <a:p>
            <a:endParaRPr lang="en-US" dirty="0"/>
          </a:p>
          <a:p>
            <a:r>
              <a:rPr lang="en-US" b="1" dirty="0"/>
              <a:t>AWS Well-Architected Tool </a:t>
            </a:r>
            <a:r>
              <a:rPr lang="en-US" dirty="0"/>
              <a:t>provides help in reviewing and improving your workloads.</a:t>
            </a:r>
          </a:p>
          <a:p>
            <a:endParaRPr lang="en-US" dirty="0"/>
          </a:p>
          <a:p>
            <a:r>
              <a:rPr lang="en-US" b="1" dirty="0"/>
              <a:t>AWS CloudTrail </a:t>
            </a:r>
            <a:r>
              <a:rPr lang="en-US" dirty="0"/>
              <a:t>tracks user activity and API usage.</a:t>
            </a:r>
          </a:p>
        </p:txBody>
      </p:sp>
      <p:sp>
        <p:nvSpPr>
          <p:cNvPr id="5" name="Slide Image Placeholder 4">
            <a:extLst>
              <a:ext uri="{FF2B5EF4-FFF2-40B4-BE49-F238E27FC236}">
                <a16:creationId xmlns:a16="http://schemas.microsoft.com/office/drawing/2014/main" id="{DEAF2B4F-FF47-3AB7-CC10-F6C3BCFE0559}"/>
              </a:ext>
            </a:extLst>
          </p:cNvPr>
          <p:cNvSpPr>
            <a:spLocks noGrp="1" noRot="1" noChangeAspect="1"/>
          </p:cNvSpPr>
          <p:nvPr>
            <p:ph type="sldImg"/>
          </p:nvPr>
        </p:nvSpPr>
        <p:spPr/>
      </p:sp>
    </p:spTree>
    <p:extLst>
      <p:ext uri="{BB962C8B-B14F-4D97-AF65-F5344CB8AC3E}">
        <p14:creationId xmlns:p14="http://schemas.microsoft.com/office/powerpoint/2010/main" val="33067919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For example, say you’re building a database application. Your customers might be sending data to your Amazon Elastic Compute Cloud (Amazon EC2) instances, which is a service in the compute category. These EC2 servers batch the data in one-minute increments and add an object per customer to Amazon Simple Storage Service (Amazon S3), the AWS storage service you’ve chosen to use. You can then use a nonrelational database like Amazon DynamoDB to power your application, for example, to build an index so that you can find all the objects for a given customer that were collected over a certain period. You might decide to run these services inside an Amazon Virtual Private Cloud (Amazon VPC), which is a service in the networking category.</a:t>
            </a:r>
          </a:p>
          <a:p>
            <a:endParaRPr lang="en-US" dirty="0"/>
          </a:p>
          <a:p>
            <a:r>
              <a:rPr lang="en-US" dirty="0"/>
              <a:t>The purpose of this simple example is to illustrate that you can select web services from different categories and use them together to build a solution (in this case, a database application). Of course, the solutions you build can be quite complex.</a:t>
            </a:r>
          </a:p>
        </p:txBody>
      </p:sp>
      <p:sp>
        <p:nvSpPr>
          <p:cNvPr id="5" name="Slide Image Placeholder 4">
            <a:extLst>
              <a:ext uri="{FF2B5EF4-FFF2-40B4-BE49-F238E27FC236}">
                <a16:creationId xmlns:a16="http://schemas.microsoft.com/office/drawing/2014/main" id="{9D514257-6368-6C4D-04C2-8928DB718A94}"/>
              </a:ext>
            </a:extLst>
          </p:cNvPr>
          <p:cNvSpPr>
            <a:spLocks noGrp="1" noRot="1" noChangeAspect="1"/>
          </p:cNvSpPr>
          <p:nvPr>
            <p:ph type="sldImg"/>
          </p:nvPr>
        </p:nvSpPr>
        <p:spPr/>
      </p:sp>
    </p:spTree>
    <p:extLst>
      <p:ext uri="{BB962C8B-B14F-4D97-AF65-F5344CB8AC3E}">
        <p14:creationId xmlns:p14="http://schemas.microsoft.com/office/powerpoint/2010/main" val="31030477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204700" cy="6858000"/>
          </a:xfrm>
          <a:custGeom>
            <a:avLst/>
            <a:gdLst/>
            <a:ahLst/>
            <a:cxnLst/>
            <a:rect l="l" t="t" r="r" b="b"/>
            <a:pathLst>
              <a:path w="12204700" h="6858000">
                <a:moveTo>
                  <a:pt x="12204192" y="0"/>
                </a:moveTo>
                <a:lnTo>
                  <a:pt x="0" y="0"/>
                </a:lnTo>
                <a:lnTo>
                  <a:pt x="0" y="6858000"/>
                </a:lnTo>
                <a:lnTo>
                  <a:pt x="12204192" y="6858000"/>
                </a:lnTo>
                <a:lnTo>
                  <a:pt x="12204192" y="0"/>
                </a:lnTo>
                <a:close/>
              </a:path>
            </a:pathLst>
          </a:custGeom>
          <a:solidFill>
            <a:srgbClr val="F4F4F4"/>
          </a:solidFill>
        </p:spPr>
        <p:txBody>
          <a:bodyPr wrap="square" lIns="0" tIns="0" rIns="0" bIns="0" rtlCol="0"/>
          <a:lstStyle/>
          <a:p>
            <a:endParaRPr/>
          </a:p>
        </p:txBody>
      </p:sp>
      <p:sp>
        <p:nvSpPr>
          <p:cNvPr id="2" name="Holder 2"/>
          <p:cNvSpPr>
            <a:spLocks noGrp="1"/>
          </p:cNvSpPr>
          <p:nvPr>
            <p:ph type="ctrTitle"/>
          </p:nvPr>
        </p:nvSpPr>
        <p:spPr>
          <a:xfrm>
            <a:off x="347268" y="2427223"/>
            <a:ext cx="5769610" cy="635000"/>
          </a:xfrm>
          <a:prstGeom prst="rect">
            <a:avLst/>
          </a:prstGeom>
        </p:spPr>
        <p:txBody>
          <a:bodyPr wrap="square" lIns="0" tIns="0" rIns="0" bIns="0">
            <a:spAutoFit/>
          </a:bodyPr>
          <a:lstStyle>
            <a:lvl1pPr>
              <a:defRPr sz="3200" b="1" i="0">
                <a:solidFill>
                  <a:srgbClr val="005589"/>
                </a:solidFill>
                <a:latin typeface="Trebuchet MS"/>
                <a:cs typeface="Trebuchet MS"/>
              </a:defRPr>
            </a:lvl1pPr>
          </a:lstStyle>
          <a:p>
            <a:endParaRPr/>
          </a:p>
        </p:txBody>
      </p:sp>
      <p:sp>
        <p:nvSpPr>
          <p:cNvPr id="3" name="Holder 3"/>
          <p:cNvSpPr>
            <a:spLocks noGrp="1"/>
          </p:cNvSpPr>
          <p:nvPr>
            <p:ph type="subTitle" idx="4"/>
          </p:nvPr>
        </p:nvSpPr>
        <p:spPr>
          <a:xfrm>
            <a:off x="3066033" y="5197736"/>
            <a:ext cx="6805295" cy="131127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10/15/26</a:t>
            </a:fld>
            <a:endParaRPr lang="en-US"/>
          </a:p>
        </p:txBody>
      </p:sp>
      <p:sp>
        <p:nvSpPr>
          <p:cNvPr id="6" name="Holder 6"/>
          <p:cNvSpPr>
            <a:spLocks noGrp="1"/>
          </p:cNvSpPr>
          <p:nvPr>
            <p:ph type="sldNum" sz="quarter" idx="7"/>
          </p:nvPr>
        </p:nvSpPr>
        <p:spPr/>
        <p:txBody>
          <a:bodyPr lIns="0" tIns="0" rIns="0" bIns="0"/>
          <a:lstStyle>
            <a:lvl1pPr>
              <a:defRPr sz="1450" b="1" i="0">
                <a:solidFill>
                  <a:srgbClr val="005589"/>
                </a:solidFill>
                <a:latin typeface="Trebuchet MS"/>
                <a:cs typeface="Trebuchet MS"/>
              </a:defRPr>
            </a:lvl1pPr>
          </a:lstStyle>
          <a:p>
            <a:pPr marL="1804035">
              <a:lnSpc>
                <a:spcPts val="1505"/>
              </a:lnSpc>
            </a:pPr>
            <a:fld id="{81D60167-4931-47E6-BA6A-407CBD079E47}" type="slidenum">
              <a:rPr spc="-20" dirty="0"/>
              <a:t>‹#›</a:t>
            </a:fld>
            <a:endParaRPr spc="-20"/>
          </a:p>
        </p:txBody>
      </p:sp>
      <p:pic>
        <p:nvPicPr>
          <p:cNvPr id="7" name="Picture 6">
            <a:extLst>
              <a:ext uri="{FF2B5EF4-FFF2-40B4-BE49-F238E27FC236}">
                <a16:creationId xmlns:a16="http://schemas.microsoft.com/office/drawing/2014/main" id="{4D6803FE-B66A-E2D2-240B-5C71AF300747}"/>
              </a:ext>
            </a:extLst>
          </p:cNvPr>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43702" y="535259"/>
            <a:ext cx="3061196" cy="700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005589"/>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10/15/26</a:t>
            </a:fld>
            <a:endParaRPr lang="en-US"/>
          </a:p>
        </p:txBody>
      </p:sp>
      <p:sp>
        <p:nvSpPr>
          <p:cNvPr id="6" name="Holder 6"/>
          <p:cNvSpPr>
            <a:spLocks noGrp="1"/>
          </p:cNvSpPr>
          <p:nvPr>
            <p:ph type="sldNum" sz="quarter" idx="7"/>
          </p:nvPr>
        </p:nvSpPr>
        <p:spPr/>
        <p:txBody>
          <a:bodyPr lIns="0" tIns="0" rIns="0" bIns="0"/>
          <a:lstStyle>
            <a:lvl1pPr>
              <a:defRPr sz="1450" b="1" i="0">
                <a:solidFill>
                  <a:srgbClr val="005589"/>
                </a:solidFill>
                <a:latin typeface="Trebuchet MS"/>
                <a:cs typeface="Trebuchet MS"/>
              </a:defRPr>
            </a:lvl1pPr>
          </a:lstStyle>
          <a:p>
            <a:pPr marL="1804035">
              <a:lnSpc>
                <a:spcPts val="1505"/>
              </a:lnSpc>
            </a:pPr>
            <a:fld id="{81D60167-4931-47E6-BA6A-407CBD079E47}" type="slidenum">
              <a:rPr spc="-20" dirty="0"/>
              <a:t>‹#›</a:t>
            </a:fld>
            <a:endParaRPr spc="-2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005589"/>
                </a:solidFill>
                <a:latin typeface="Trebuchet MS"/>
                <a:cs typeface="Trebuchet MS"/>
              </a:defRPr>
            </a:lvl1pPr>
          </a:lstStyle>
          <a:p>
            <a:endParaRPr/>
          </a:p>
        </p:txBody>
      </p:sp>
      <p:sp>
        <p:nvSpPr>
          <p:cNvPr id="3" name="Holder 3"/>
          <p:cNvSpPr>
            <a:spLocks noGrp="1"/>
          </p:cNvSpPr>
          <p:nvPr>
            <p:ph sz="half" idx="2"/>
          </p:nvPr>
        </p:nvSpPr>
        <p:spPr>
          <a:xfrm>
            <a:off x="347573" y="1475240"/>
            <a:ext cx="4175125" cy="361822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sz="half" idx="3"/>
          </p:nvPr>
        </p:nvSpPr>
        <p:spPr>
          <a:xfrm>
            <a:off x="6285420" y="1577340"/>
            <a:ext cx="5309044"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10/15/26</a:t>
            </a:fld>
            <a:endParaRPr lang="en-US"/>
          </a:p>
        </p:txBody>
      </p:sp>
      <p:sp>
        <p:nvSpPr>
          <p:cNvPr id="7" name="Holder 7"/>
          <p:cNvSpPr>
            <a:spLocks noGrp="1"/>
          </p:cNvSpPr>
          <p:nvPr>
            <p:ph type="sldNum" sz="quarter" idx="7"/>
          </p:nvPr>
        </p:nvSpPr>
        <p:spPr/>
        <p:txBody>
          <a:bodyPr lIns="0" tIns="0" rIns="0" bIns="0"/>
          <a:lstStyle>
            <a:lvl1pPr>
              <a:defRPr sz="1450" b="1" i="0">
                <a:solidFill>
                  <a:srgbClr val="005589"/>
                </a:solidFill>
                <a:latin typeface="Trebuchet MS"/>
                <a:cs typeface="Trebuchet MS"/>
              </a:defRPr>
            </a:lvl1pPr>
          </a:lstStyle>
          <a:p>
            <a:pPr marL="1804035">
              <a:lnSpc>
                <a:spcPts val="1505"/>
              </a:lnSpc>
            </a:pPr>
            <a:fld id="{81D60167-4931-47E6-BA6A-407CBD079E47}" type="slidenum">
              <a:rPr spc="-20" dirty="0"/>
              <a:t>‹#›</a:t>
            </a:fld>
            <a:endParaRPr spc="-2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005589"/>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10/15/26</a:t>
            </a:fld>
            <a:endParaRPr lang="en-US"/>
          </a:p>
        </p:txBody>
      </p:sp>
      <p:sp>
        <p:nvSpPr>
          <p:cNvPr id="5" name="Holder 5"/>
          <p:cNvSpPr>
            <a:spLocks noGrp="1"/>
          </p:cNvSpPr>
          <p:nvPr>
            <p:ph type="sldNum" sz="quarter" idx="7"/>
          </p:nvPr>
        </p:nvSpPr>
        <p:spPr/>
        <p:txBody>
          <a:bodyPr lIns="0" tIns="0" rIns="0" bIns="0"/>
          <a:lstStyle>
            <a:lvl1pPr>
              <a:defRPr sz="1450" b="1" i="0">
                <a:solidFill>
                  <a:srgbClr val="005589"/>
                </a:solidFill>
                <a:latin typeface="Trebuchet MS"/>
                <a:cs typeface="Trebuchet MS"/>
              </a:defRPr>
            </a:lvl1pPr>
          </a:lstStyle>
          <a:p>
            <a:pPr marL="1804035">
              <a:lnSpc>
                <a:spcPts val="1505"/>
              </a:lnSpc>
            </a:pPr>
            <a:fld id="{81D60167-4931-47E6-BA6A-407CBD079E47}" type="slidenum">
              <a:rPr spc="-20" dirty="0"/>
              <a:t>‹#›</a:t>
            </a:fld>
            <a:endParaRPr spc="-2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204700" cy="6858000"/>
          </a:xfrm>
          <a:custGeom>
            <a:avLst/>
            <a:gdLst/>
            <a:ahLst/>
            <a:cxnLst/>
            <a:rect l="l" t="t" r="r" b="b"/>
            <a:pathLst>
              <a:path w="12204700" h="6858000">
                <a:moveTo>
                  <a:pt x="12204192" y="0"/>
                </a:moveTo>
                <a:lnTo>
                  <a:pt x="0" y="0"/>
                </a:lnTo>
                <a:lnTo>
                  <a:pt x="0" y="6858000"/>
                </a:lnTo>
                <a:lnTo>
                  <a:pt x="12204192" y="6858000"/>
                </a:lnTo>
                <a:lnTo>
                  <a:pt x="12204192" y="0"/>
                </a:lnTo>
                <a:close/>
              </a:path>
            </a:pathLst>
          </a:custGeom>
          <a:solidFill>
            <a:srgbClr val="F4F4F4"/>
          </a:solidFill>
        </p:spPr>
        <p:txBody>
          <a:bodyPr wrap="square" lIns="0" tIns="0" rIns="0" bIns="0" rtlCol="0"/>
          <a:lstStyle/>
          <a:p>
            <a:endParaRPr/>
          </a:p>
        </p:txBody>
      </p:sp>
      <p:sp>
        <p:nvSpPr>
          <p:cNvPr id="18" name="bg object 18"/>
          <p:cNvSpPr/>
          <p:nvPr/>
        </p:nvSpPr>
        <p:spPr>
          <a:xfrm>
            <a:off x="0" y="6597395"/>
            <a:ext cx="12204700" cy="17145"/>
          </a:xfrm>
          <a:custGeom>
            <a:avLst/>
            <a:gdLst/>
            <a:ahLst/>
            <a:cxnLst/>
            <a:rect l="l" t="t" r="r" b="b"/>
            <a:pathLst>
              <a:path w="12204700" h="17145">
                <a:moveTo>
                  <a:pt x="12204192" y="0"/>
                </a:moveTo>
                <a:lnTo>
                  <a:pt x="0" y="0"/>
                </a:lnTo>
                <a:lnTo>
                  <a:pt x="0" y="16763"/>
                </a:lnTo>
                <a:lnTo>
                  <a:pt x="12204192" y="16763"/>
                </a:lnTo>
                <a:lnTo>
                  <a:pt x="12204192" y="0"/>
                </a:lnTo>
                <a:close/>
              </a:path>
            </a:pathLst>
          </a:custGeom>
          <a:solidFill>
            <a:srgbClr val="005589"/>
          </a:solidFill>
        </p:spPr>
        <p:txBody>
          <a:bodyPr wrap="square" lIns="0" tIns="0" rIns="0" bIns="0" rtlCol="0"/>
          <a:lstStyle/>
          <a:p>
            <a:endParaRPr/>
          </a:p>
        </p:txBody>
      </p:sp>
      <p:sp>
        <p:nvSpPr>
          <p:cNvPr id="19" name="bg object 19"/>
          <p:cNvSpPr/>
          <p:nvPr/>
        </p:nvSpPr>
        <p:spPr>
          <a:xfrm>
            <a:off x="0" y="1539239"/>
            <a:ext cx="12197080" cy="18415"/>
          </a:xfrm>
          <a:custGeom>
            <a:avLst/>
            <a:gdLst/>
            <a:ahLst/>
            <a:cxnLst/>
            <a:rect l="l" t="t" r="r" b="b"/>
            <a:pathLst>
              <a:path w="12197080" h="18415">
                <a:moveTo>
                  <a:pt x="12196572" y="0"/>
                </a:moveTo>
                <a:lnTo>
                  <a:pt x="0" y="0"/>
                </a:lnTo>
                <a:lnTo>
                  <a:pt x="0" y="18287"/>
                </a:lnTo>
                <a:lnTo>
                  <a:pt x="12196572" y="18287"/>
                </a:lnTo>
                <a:lnTo>
                  <a:pt x="12196572" y="0"/>
                </a:lnTo>
                <a:close/>
              </a:path>
            </a:pathLst>
          </a:custGeom>
          <a:solidFill>
            <a:srgbClr val="005589"/>
          </a:solidFill>
        </p:spPr>
        <p:txBody>
          <a:bodyPr wrap="square" lIns="0" tIns="0" rIns="0" bIns="0" rtlCol="0"/>
          <a:lstStyle/>
          <a:p>
            <a:endParaRPr/>
          </a:p>
        </p:txBody>
      </p:sp>
      <p:sp>
        <p:nvSpPr>
          <p:cNvPr id="20" name="bg object 20"/>
          <p:cNvSpPr/>
          <p:nvPr userDrawn="1"/>
        </p:nvSpPr>
        <p:spPr>
          <a:xfrm>
            <a:off x="965267" y="3361274"/>
            <a:ext cx="1317625" cy="1075055"/>
          </a:xfrm>
          <a:custGeom>
            <a:avLst/>
            <a:gdLst/>
            <a:ahLst/>
            <a:cxnLst/>
            <a:rect l="l" t="t" r="r" b="b"/>
            <a:pathLst>
              <a:path w="1317625" h="1075054">
                <a:moveTo>
                  <a:pt x="1204250" y="745778"/>
                </a:moveTo>
                <a:lnTo>
                  <a:pt x="106192" y="745778"/>
                </a:lnTo>
                <a:lnTo>
                  <a:pt x="0" y="936733"/>
                </a:lnTo>
                <a:lnTo>
                  <a:pt x="0" y="1075005"/>
                </a:lnTo>
                <a:lnTo>
                  <a:pt x="1317022" y="1075005"/>
                </a:lnTo>
                <a:lnTo>
                  <a:pt x="1317022" y="936733"/>
                </a:lnTo>
                <a:lnTo>
                  <a:pt x="1204250" y="745778"/>
                </a:lnTo>
                <a:close/>
              </a:path>
              <a:path w="1317625" h="1075054">
                <a:moveTo>
                  <a:pt x="1097630" y="0"/>
                </a:moveTo>
                <a:lnTo>
                  <a:pt x="216307" y="0"/>
                </a:lnTo>
                <a:lnTo>
                  <a:pt x="173425" y="8670"/>
                </a:lnTo>
                <a:lnTo>
                  <a:pt x="138407" y="32316"/>
                </a:lnTo>
                <a:lnTo>
                  <a:pt x="114796" y="67395"/>
                </a:lnTo>
                <a:lnTo>
                  <a:pt x="106139" y="110361"/>
                </a:lnTo>
                <a:lnTo>
                  <a:pt x="106139" y="714316"/>
                </a:lnTo>
                <a:lnTo>
                  <a:pt x="1207819" y="714316"/>
                </a:lnTo>
                <a:lnTo>
                  <a:pt x="1207819" y="110361"/>
                </a:lnTo>
                <a:lnTo>
                  <a:pt x="1199161" y="67395"/>
                </a:lnTo>
                <a:lnTo>
                  <a:pt x="1175549" y="32316"/>
                </a:lnTo>
                <a:lnTo>
                  <a:pt x="1140524" y="8670"/>
                </a:lnTo>
                <a:lnTo>
                  <a:pt x="1097630" y="0"/>
                </a:lnTo>
                <a:close/>
              </a:path>
            </a:pathLst>
          </a:custGeom>
          <a:solidFill>
            <a:srgbClr val="5B9BD4"/>
          </a:solidFill>
        </p:spPr>
        <p:txBody>
          <a:bodyPr wrap="square" lIns="0" tIns="0" rIns="0" bIns="0" rtlCol="0"/>
          <a:lstStyle/>
          <a:p>
            <a:endParaRPr/>
          </a:p>
        </p:txBody>
      </p:sp>
      <p:sp>
        <p:nvSpPr>
          <p:cNvPr id="21" name="bg object 21"/>
          <p:cNvSpPr/>
          <p:nvPr/>
        </p:nvSpPr>
        <p:spPr>
          <a:xfrm>
            <a:off x="965267" y="3361274"/>
            <a:ext cx="1317625" cy="1075055"/>
          </a:xfrm>
          <a:custGeom>
            <a:avLst/>
            <a:gdLst/>
            <a:ahLst/>
            <a:cxnLst/>
            <a:rect l="l" t="t" r="r" b="b"/>
            <a:pathLst>
              <a:path w="1317625" h="1075054">
                <a:moveTo>
                  <a:pt x="0" y="1075005"/>
                </a:moveTo>
                <a:lnTo>
                  <a:pt x="1317022" y="1075005"/>
                </a:lnTo>
                <a:lnTo>
                  <a:pt x="1317022" y="936733"/>
                </a:lnTo>
                <a:lnTo>
                  <a:pt x="1204251" y="745778"/>
                </a:lnTo>
                <a:lnTo>
                  <a:pt x="106192" y="745778"/>
                </a:lnTo>
                <a:lnTo>
                  <a:pt x="0" y="936733"/>
                </a:lnTo>
                <a:lnTo>
                  <a:pt x="0" y="1075005"/>
                </a:lnTo>
                <a:close/>
              </a:path>
              <a:path w="1317625" h="1075054">
                <a:moveTo>
                  <a:pt x="1207819" y="714316"/>
                </a:moveTo>
                <a:lnTo>
                  <a:pt x="1207819" y="110361"/>
                </a:lnTo>
                <a:lnTo>
                  <a:pt x="1199161" y="67395"/>
                </a:lnTo>
                <a:lnTo>
                  <a:pt x="1175549" y="32316"/>
                </a:lnTo>
                <a:lnTo>
                  <a:pt x="1140524" y="8670"/>
                </a:lnTo>
                <a:lnTo>
                  <a:pt x="1097630" y="0"/>
                </a:lnTo>
                <a:lnTo>
                  <a:pt x="216307" y="0"/>
                </a:lnTo>
                <a:lnTo>
                  <a:pt x="173425" y="8670"/>
                </a:lnTo>
                <a:lnTo>
                  <a:pt x="138407" y="32316"/>
                </a:lnTo>
                <a:lnTo>
                  <a:pt x="114796" y="67395"/>
                </a:lnTo>
                <a:lnTo>
                  <a:pt x="106139" y="110361"/>
                </a:lnTo>
                <a:lnTo>
                  <a:pt x="106139" y="714316"/>
                </a:lnTo>
                <a:lnTo>
                  <a:pt x="1207819" y="714316"/>
                </a:lnTo>
                <a:close/>
              </a:path>
            </a:pathLst>
          </a:custGeom>
          <a:ln w="11171">
            <a:solidFill>
              <a:srgbClr val="FFFFFF"/>
            </a:solidFill>
          </a:ln>
        </p:spPr>
        <p:txBody>
          <a:bodyPr wrap="square" lIns="0" tIns="0" rIns="0" bIns="0" rtlCol="0"/>
          <a:lstStyle/>
          <a:p>
            <a:endParaRPr/>
          </a:p>
        </p:txBody>
      </p:sp>
      <p:sp>
        <p:nvSpPr>
          <p:cNvPr id="22" name="bg object 22"/>
          <p:cNvSpPr/>
          <p:nvPr/>
        </p:nvSpPr>
        <p:spPr>
          <a:xfrm>
            <a:off x="1094848" y="4187143"/>
            <a:ext cx="1056005" cy="95885"/>
          </a:xfrm>
          <a:custGeom>
            <a:avLst/>
            <a:gdLst/>
            <a:ahLst/>
            <a:cxnLst/>
            <a:rect l="l" t="t" r="r" b="b"/>
            <a:pathLst>
              <a:path w="1056005" h="95885">
                <a:moveTo>
                  <a:pt x="1002337" y="0"/>
                </a:moveTo>
                <a:lnTo>
                  <a:pt x="53198" y="0"/>
                </a:lnTo>
                <a:lnTo>
                  <a:pt x="0" y="95281"/>
                </a:lnTo>
                <a:lnTo>
                  <a:pt x="1055526" y="95281"/>
                </a:lnTo>
                <a:lnTo>
                  <a:pt x="1002337" y="0"/>
                </a:lnTo>
                <a:close/>
              </a:path>
            </a:pathLst>
          </a:custGeom>
          <a:solidFill>
            <a:srgbClr val="FFFFFF"/>
          </a:solidFill>
        </p:spPr>
        <p:txBody>
          <a:bodyPr wrap="square" lIns="0" tIns="0" rIns="0" bIns="0" rtlCol="0"/>
          <a:lstStyle/>
          <a:p>
            <a:endParaRPr/>
          </a:p>
        </p:txBody>
      </p:sp>
      <p:sp>
        <p:nvSpPr>
          <p:cNvPr id="23" name="bg object 23"/>
          <p:cNvSpPr/>
          <p:nvPr/>
        </p:nvSpPr>
        <p:spPr>
          <a:xfrm>
            <a:off x="1177615" y="3464561"/>
            <a:ext cx="892810" cy="496570"/>
          </a:xfrm>
          <a:custGeom>
            <a:avLst/>
            <a:gdLst/>
            <a:ahLst/>
            <a:cxnLst/>
            <a:rect l="l" t="t" r="r" b="b"/>
            <a:pathLst>
              <a:path w="892810" h="496570">
                <a:moveTo>
                  <a:pt x="892344" y="0"/>
                </a:moveTo>
                <a:lnTo>
                  <a:pt x="0" y="0"/>
                </a:lnTo>
                <a:lnTo>
                  <a:pt x="0" y="496162"/>
                </a:lnTo>
                <a:lnTo>
                  <a:pt x="892344" y="496162"/>
                </a:lnTo>
                <a:lnTo>
                  <a:pt x="892344" y="0"/>
                </a:lnTo>
                <a:close/>
              </a:path>
            </a:pathLst>
          </a:custGeom>
          <a:solidFill>
            <a:srgbClr val="A4A4A4"/>
          </a:solidFill>
        </p:spPr>
        <p:txBody>
          <a:bodyPr wrap="square" lIns="0" tIns="0" rIns="0" bIns="0" rtlCol="0"/>
          <a:lstStyle/>
          <a:p>
            <a:endParaRPr/>
          </a:p>
        </p:txBody>
      </p:sp>
      <p:sp>
        <p:nvSpPr>
          <p:cNvPr id="24" name="bg object 24"/>
          <p:cNvSpPr/>
          <p:nvPr/>
        </p:nvSpPr>
        <p:spPr>
          <a:xfrm>
            <a:off x="1177615" y="3464561"/>
            <a:ext cx="892810" cy="496570"/>
          </a:xfrm>
          <a:custGeom>
            <a:avLst/>
            <a:gdLst/>
            <a:ahLst/>
            <a:cxnLst/>
            <a:rect l="l" t="t" r="r" b="b"/>
            <a:pathLst>
              <a:path w="892810" h="496570">
                <a:moveTo>
                  <a:pt x="0" y="496162"/>
                </a:moveTo>
                <a:lnTo>
                  <a:pt x="892344" y="496162"/>
                </a:lnTo>
                <a:lnTo>
                  <a:pt x="892344" y="0"/>
                </a:lnTo>
                <a:lnTo>
                  <a:pt x="0" y="0"/>
                </a:lnTo>
                <a:lnTo>
                  <a:pt x="0" y="496162"/>
                </a:lnTo>
                <a:close/>
              </a:path>
            </a:pathLst>
          </a:custGeom>
          <a:ln w="11176">
            <a:solidFill>
              <a:srgbClr val="FFFFFF"/>
            </a:solidFill>
          </a:ln>
        </p:spPr>
        <p:txBody>
          <a:bodyPr wrap="square" lIns="0" tIns="0" rIns="0" bIns="0" rtlCol="0"/>
          <a:lstStyle/>
          <a:p>
            <a:endParaRPr/>
          </a:p>
        </p:txBody>
      </p:sp>
      <p:sp>
        <p:nvSpPr>
          <p:cNvPr id="25" name="bg object 25"/>
          <p:cNvSpPr/>
          <p:nvPr/>
        </p:nvSpPr>
        <p:spPr>
          <a:xfrm>
            <a:off x="9931844" y="3316295"/>
            <a:ext cx="1316355" cy="1165225"/>
          </a:xfrm>
          <a:custGeom>
            <a:avLst/>
            <a:gdLst/>
            <a:ahLst/>
            <a:cxnLst/>
            <a:rect l="l" t="t" r="r" b="b"/>
            <a:pathLst>
              <a:path w="1316354" h="1165225">
                <a:moveTo>
                  <a:pt x="1118738" y="916850"/>
                </a:moveTo>
                <a:lnTo>
                  <a:pt x="197417" y="916850"/>
                </a:lnTo>
                <a:lnTo>
                  <a:pt x="0" y="1164961"/>
                </a:lnTo>
                <a:lnTo>
                  <a:pt x="1316163" y="1164961"/>
                </a:lnTo>
                <a:lnTo>
                  <a:pt x="1118738" y="916850"/>
                </a:lnTo>
                <a:close/>
              </a:path>
              <a:path w="1316354" h="1165225">
                <a:moveTo>
                  <a:pt x="761479" y="786903"/>
                </a:moveTo>
                <a:lnTo>
                  <a:pt x="554675" y="786903"/>
                </a:lnTo>
                <a:lnTo>
                  <a:pt x="554675" y="916850"/>
                </a:lnTo>
                <a:lnTo>
                  <a:pt x="761479" y="916850"/>
                </a:lnTo>
                <a:lnTo>
                  <a:pt x="761479" y="786903"/>
                </a:lnTo>
                <a:close/>
              </a:path>
              <a:path w="1316354" h="1165225">
                <a:moveTo>
                  <a:pt x="1252831" y="0"/>
                </a:moveTo>
                <a:lnTo>
                  <a:pt x="76577" y="0"/>
                </a:lnTo>
                <a:lnTo>
                  <a:pt x="76577" y="786903"/>
                </a:lnTo>
                <a:lnTo>
                  <a:pt x="1252831" y="786903"/>
                </a:lnTo>
                <a:lnTo>
                  <a:pt x="1252831" y="0"/>
                </a:lnTo>
                <a:close/>
              </a:path>
            </a:pathLst>
          </a:custGeom>
          <a:solidFill>
            <a:srgbClr val="5B9BD4"/>
          </a:solidFill>
        </p:spPr>
        <p:txBody>
          <a:bodyPr wrap="square" lIns="0" tIns="0" rIns="0" bIns="0" rtlCol="0"/>
          <a:lstStyle/>
          <a:p>
            <a:endParaRPr/>
          </a:p>
        </p:txBody>
      </p:sp>
      <p:sp>
        <p:nvSpPr>
          <p:cNvPr id="26" name="bg object 26"/>
          <p:cNvSpPr/>
          <p:nvPr/>
        </p:nvSpPr>
        <p:spPr>
          <a:xfrm>
            <a:off x="9931844" y="3316295"/>
            <a:ext cx="1316355" cy="1165225"/>
          </a:xfrm>
          <a:custGeom>
            <a:avLst/>
            <a:gdLst/>
            <a:ahLst/>
            <a:cxnLst/>
            <a:rect l="l" t="t" r="r" b="b"/>
            <a:pathLst>
              <a:path w="1316354" h="1165225">
                <a:moveTo>
                  <a:pt x="1252831" y="0"/>
                </a:moveTo>
                <a:lnTo>
                  <a:pt x="76577" y="0"/>
                </a:lnTo>
                <a:lnTo>
                  <a:pt x="76577" y="786903"/>
                </a:lnTo>
                <a:lnTo>
                  <a:pt x="1252831" y="786903"/>
                </a:lnTo>
                <a:lnTo>
                  <a:pt x="1252831" y="0"/>
                </a:lnTo>
                <a:close/>
              </a:path>
              <a:path w="1316354" h="1165225">
                <a:moveTo>
                  <a:pt x="1316163" y="1164961"/>
                </a:moveTo>
                <a:lnTo>
                  <a:pt x="1118738" y="916850"/>
                </a:lnTo>
                <a:lnTo>
                  <a:pt x="197417" y="916850"/>
                </a:lnTo>
                <a:lnTo>
                  <a:pt x="0" y="1164961"/>
                </a:lnTo>
                <a:lnTo>
                  <a:pt x="1316163" y="1164961"/>
                </a:lnTo>
                <a:close/>
              </a:path>
              <a:path w="1316354" h="1165225">
                <a:moveTo>
                  <a:pt x="761479" y="786903"/>
                </a:moveTo>
                <a:lnTo>
                  <a:pt x="554675" y="786903"/>
                </a:lnTo>
                <a:lnTo>
                  <a:pt x="554675" y="916850"/>
                </a:lnTo>
                <a:lnTo>
                  <a:pt x="761479" y="916850"/>
                </a:lnTo>
                <a:lnTo>
                  <a:pt x="761479" y="786903"/>
                </a:lnTo>
                <a:close/>
              </a:path>
            </a:pathLst>
          </a:custGeom>
          <a:ln w="11167">
            <a:solidFill>
              <a:srgbClr val="FFFFFF"/>
            </a:solidFill>
          </a:ln>
        </p:spPr>
        <p:txBody>
          <a:bodyPr wrap="square" lIns="0" tIns="0" rIns="0" bIns="0" rtlCol="0"/>
          <a:lstStyle/>
          <a:p>
            <a:endParaRPr/>
          </a:p>
        </p:txBody>
      </p:sp>
      <p:sp>
        <p:nvSpPr>
          <p:cNvPr id="27" name="bg object 27"/>
          <p:cNvSpPr/>
          <p:nvPr/>
        </p:nvSpPr>
        <p:spPr>
          <a:xfrm>
            <a:off x="10084688" y="3394338"/>
            <a:ext cx="1025525" cy="638175"/>
          </a:xfrm>
          <a:custGeom>
            <a:avLst/>
            <a:gdLst/>
            <a:ahLst/>
            <a:cxnLst/>
            <a:rect l="l" t="t" r="r" b="b"/>
            <a:pathLst>
              <a:path w="1025525" h="638175">
                <a:moveTo>
                  <a:pt x="1025382" y="0"/>
                </a:moveTo>
                <a:lnTo>
                  <a:pt x="0" y="0"/>
                </a:lnTo>
                <a:lnTo>
                  <a:pt x="0" y="637967"/>
                </a:lnTo>
                <a:lnTo>
                  <a:pt x="1025382" y="637967"/>
                </a:lnTo>
                <a:lnTo>
                  <a:pt x="1025382" y="0"/>
                </a:lnTo>
                <a:close/>
              </a:path>
            </a:pathLst>
          </a:custGeom>
          <a:solidFill>
            <a:srgbClr val="A4A4A4"/>
          </a:solidFill>
        </p:spPr>
        <p:txBody>
          <a:bodyPr wrap="square" lIns="0" tIns="0" rIns="0" bIns="0" rtlCol="0"/>
          <a:lstStyle/>
          <a:p>
            <a:endParaRPr/>
          </a:p>
        </p:txBody>
      </p:sp>
      <p:sp>
        <p:nvSpPr>
          <p:cNvPr id="28" name="bg object 28"/>
          <p:cNvSpPr/>
          <p:nvPr/>
        </p:nvSpPr>
        <p:spPr>
          <a:xfrm>
            <a:off x="10084688" y="3394338"/>
            <a:ext cx="1025525" cy="638175"/>
          </a:xfrm>
          <a:custGeom>
            <a:avLst/>
            <a:gdLst/>
            <a:ahLst/>
            <a:cxnLst/>
            <a:rect l="l" t="t" r="r" b="b"/>
            <a:pathLst>
              <a:path w="1025525" h="638175">
                <a:moveTo>
                  <a:pt x="0" y="637967"/>
                </a:moveTo>
                <a:lnTo>
                  <a:pt x="1025382" y="637967"/>
                </a:lnTo>
                <a:lnTo>
                  <a:pt x="1025382" y="0"/>
                </a:lnTo>
                <a:lnTo>
                  <a:pt x="0" y="0"/>
                </a:lnTo>
                <a:lnTo>
                  <a:pt x="0" y="637967"/>
                </a:lnTo>
                <a:close/>
              </a:path>
            </a:pathLst>
          </a:custGeom>
          <a:ln w="11173">
            <a:solidFill>
              <a:srgbClr val="FFFFFF"/>
            </a:solidFill>
          </a:ln>
        </p:spPr>
        <p:txBody>
          <a:bodyPr wrap="square" lIns="0" tIns="0" rIns="0" bIns="0" rtlCol="0"/>
          <a:lstStyle/>
          <a:p>
            <a:endParaRPr/>
          </a:p>
        </p:txBody>
      </p:sp>
      <p:sp>
        <p:nvSpPr>
          <p:cNvPr id="29" name="bg object 29"/>
          <p:cNvSpPr/>
          <p:nvPr/>
        </p:nvSpPr>
        <p:spPr>
          <a:xfrm>
            <a:off x="10110968" y="4269096"/>
            <a:ext cx="936625" cy="161290"/>
          </a:xfrm>
          <a:custGeom>
            <a:avLst/>
            <a:gdLst/>
            <a:ahLst/>
            <a:cxnLst/>
            <a:rect l="l" t="t" r="r" b="b"/>
            <a:pathLst>
              <a:path w="936625" h="161289">
                <a:moveTo>
                  <a:pt x="898737" y="64731"/>
                </a:moveTo>
                <a:lnTo>
                  <a:pt x="840271" y="64731"/>
                </a:lnTo>
                <a:lnTo>
                  <a:pt x="872995" y="101183"/>
                </a:lnTo>
                <a:lnTo>
                  <a:pt x="936030" y="101183"/>
                </a:lnTo>
                <a:lnTo>
                  <a:pt x="898737" y="64731"/>
                </a:lnTo>
                <a:close/>
              </a:path>
              <a:path w="936625" h="161289">
                <a:moveTo>
                  <a:pt x="755098" y="0"/>
                </a:moveTo>
                <a:lnTo>
                  <a:pt x="704711" y="0"/>
                </a:lnTo>
                <a:lnTo>
                  <a:pt x="732309" y="39207"/>
                </a:lnTo>
                <a:lnTo>
                  <a:pt x="787637" y="39207"/>
                </a:lnTo>
                <a:lnTo>
                  <a:pt x="755098" y="0"/>
                </a:lnTo>
                <a:close/>
              </a:path>
              <a:path w="936625" h="161289">
                <a:moveTo>
                  <a:pt x="832582" y="0"/>
                </a:moveTo>
                <a:lnTo>
                  <a:pt x="782213" y="0"/>
                </a:lnTo>
                <a:lnTo>
                  <a:pt x="817408" y="39207"/>
                </a:lnTo>
                <a:lnTo>
                  <a:pt x="872698" y="39207"/>
                </a:lnTo>
                <a:lnTo>
                  <a:pt x="832582" y="0"/>
                </a:lnTo>
                <a:close/>
              </a:path>
              <a:path w="936625" h="161289">
                <a:moveTo>
                  <a:pt x="808791" y="64731"/>
                </a:moveTo>
                <a:lnTo>
                  <a:pt x="750269" y="64731"/>
                </a:lnTo>
                <a:lnTo>
                  <a:pt x="775973" y="101183"/>
                </a:lnTo>
                <a:lnTo>
                  <a:pt x="839026" y="101183"/>
                </a:lnTo>
                <a:lnTo>
                  <a:pt x="808791" y="64731"/>
                </a:lnTo>
                <a:close/>
              </a:path>
              <a:path w="936625" h="161289">
                <a:moveTo>
                  <a:pt x="718807" y="64731"/>
                </a:moveTo>
                <a:lnTo>
                  <a:pt x="660286" y="64731"/>
                </a:lnTo>
                <a:lnTo>
                  <a:pt x="678969" y="101183"/>
                </a:lnTo>
                <a:lnTo>
                  <a:pt x="742060" y="101183"/>
                </a:lnTo>
                <a:lnTo>
                  <a:pt x="718807" y="64731"/>
                </a:lnTo>
                <a:close/>
              </a:path>
              <a:path w="936625" h="161289">
                <a:moveTo>
                  <a:pt x="677744" y="0"/>
                </a:moveTo>
                <a:lnTo>
                  <a:pt x="627320" y="0"/>
                </a:lnTo>
                <a:lnTo>
                  <a:pt x="647508" y="40026"/>
                </a:lnTo>
                <a:lnTo>
                  <a:pt x="702909" y="40026"/>
                </a:lnTo>
                <a:lnTo>
                  <a:pt x="677744" y="0"/>
                </a:lnTo>
                <a:close/>
              </a:path>
              <a:path w="936625" h="161289">
                <a:moveTo>
                  <a:pt x="628843" y="64731"/>
                </a:moveTo>
                <a:lnTo>
                  <a:pt x="570321" y="64731"/>
                </a:lnTo>
                <a:lnTo>
                  <a:pt x="581966" y="101183"/>
                </a:lnTo>
                <a:lnTo>
                  <a:pt x="645075" y="101183"/>
                </a:lnTo>
                <a:lnTo>
                  <a:pt x="628843" y="64731"/>
                </a:lnTo>
                <a:close/>
              </a:path>
              <a:path w="936625" h="161289">
                <a:moveTo>
                  <a:pt x="601300" y="2755"/>
                </a:moveTo>
                <a:lnTo>
                  <a:pt x="550541" y="2755"/>
                </a:lnTo>
                <a:lnTo>
                  <a:pt x="562446" y="40026"/>
                </a:lnTo>
                <a:lnTo>
                  <a:pt x="617866" y="40026"/>
                </a:lnTo>
                <a:lnTo>
                  <a:pt x="601300" y="2755"/>
                </a:lnTo>
                <a:close/>
              </a:path>
              <a:path w="936625" h="161289">
                <a:moveTo>
                  <a:pt x="538859" y="64731"/>
                </a:moveTo>
                <a:lnTo>
                  <a:pt x="480356" y="64731"/>
                </a:lnTo>
                <a:lnTo>
                  <a:pt x="484981" y="101183"/>
                </a:lnTo>
                <a:lnTo>
                  <a:pt x="548053" y="101183"/>
                </a:lnTo>
                <a:lnTo>
                  <a:pt x="538859" y="64731"/>
                </a:lnTo>
                <a:close/>
              </a:path>
              <a:path w="936625" h="161289">
                <a:moveTo>
                  <a:pt x="524057" y="5827"/>
                </a:moveTo>
                <a:lnTo>
                  <a:pt x="472909" y="5827"/>
                </a:lnTo>
                <a:lnTo>
                  <a:pt x="477533" y="42335"/>
                </a:lnTo>
                <a:lnTo>
                  <a:pt x="533232" y="42335"/>
                </a:lnTo>
                <a:lnTo>
                  <a:pt x="524057" y="5827"/>
                </a:lnTo>
                <a:close/>
              </a:path>
              <a:path w="936625" h="161289">
                <a:moveTo>
                  <a:pt x="445403" y="5827"/>
                </a:moveTo>
                <a:lnTo>
                  <a:pt x="394273" y="5827"/>
                </a:lnTo>
                <a:lnTo>
                  <a:pt x="391859" y="42335"/>
                </a:lnTo>
                <a:lnTo>
                  <a:pt x="447557" y="42335"/>
                </a:lnTo>
                <a:lnTo>
                  <a:pt x="445403" y="5827"/>
                </a:lnTo>
                <a:close/>
              </a:path>
              <a:path w="936625" h="161289">
                <a:moveTo>
                  <a:pt x="448876" y="64731"/>
                </a:moveTo>
                <a:lnTo>
                  <a:pt x="390391" y="64731"/>
                </a:lnTo>
                <a:lnTo>
                  <a:pt x="387977" y="101183"/>
                </a:lnTo>
                <a:lnTo>
                  <a:pt x="451049" y="101183"/>
                </a:lnTo>
                <a:lnTo>
                  <a:pt x="448876" y="64731"/>
                </a:lnTo>
                <a:close/>
              </a:path>
              <a:path w="936625" h="161289">
                <a:moveTo>
                  <a:pt x="366767" y="5827"/>
                </a:moveTo>
                <a:lnTo>
                  <a:pt x="315637" y="5827"/>
                </a:lnTo>
                <a:lnTo>
                  <a:pt x="306203" y="42335"/>
                </a:lnTo>
                <a:lnTo>
                  <a:pt x="361901" y="42335"/>
                </a:lnTo>
                <a:lnTo>
                  <a:pt x="366767" y="5827"/>
                </a:lnTo>
                <a:close/>
              </a:path>
              <a:path w="936625" h="161289">
                <a:moveTo>
                  <a:pt x="358911" y="64731"/>
                </a:moveTo>
                <a:lnTo>
                  <a:pt x="300408" y="64731"/>
                </a:lnTo>
                <a:lnTo>
                  <a:pt x="290992" y="101183"/>
                </a:lnTo>
                <a:lnTo>
                  <a:pt x="354064" y="101183"/>
                </a:lnTo>
                <a:lnTo>
                  <a:pt x="358911" y="64731"/>
                </a:lnTo>
                <a:close/>
              </a:path>
              <a:path w="936625" h="161289">
                <a:moveTo>
                  <a:pt x="679787" y="124482"/>
                </a:moveTo>
                <a:lnTo>
                  <a:pt x="267052" y="124482"/>
                </a:lnTo>
                <a:lnTo>
                  <a:pt x="256354" y="160949"/>
                </a:lnTo>
                <a:lnTo>
                  <a:pt x="697672" y="160949"/>
                </a:lnTo>
                <a:lnTo>
                  <a:pt x="679787" y="124482"/>
                </a:lnTo>
                <a:close/>
              </a:path>
              <a:path w="936625" h="161289">
                <a:moveTo>
                  <a:pt x="288132" y="5827"/>
                </a:moveTo>
                <a:lnTo>
                  <a:pt x="237002" y="5827"/>
                </a:lnTo>
                <a:lnTo>
                  <a:pt x="220547" y="42335"/>
                </a:lnTo>
                <a:lnTo>
                  <a:pt x="276245" y="42335"/>
                </a:lnTo>
                <a:lnTo>
                  <a:pt x="288132" y="5827"/>
                </a:lnTo>
                <a:close/>
              </a:path>
              <a:path w="936625" h="161289">
                <a:moveTo>
                  <a:pt x="268946" y="64731"/>
                </a:moveTo>
                <a:lnTo>
                  <a:pt x="210425" y="64731"/>
                </a:lnTo>
                <a:lnTo>
                  <a:pt x="193970" y="101183"/>
                </a:lnTo>
                <a:lnTo>
                  <a:pt x="257060" y="101183"/>
                </a:lnTo>
                <a:lnTo>
                  <a:pt x="268946" y="64731"/>
                </a:lnTo>
                <a:close/>
              </a:path>
              <a:path w="936625" h="161289">
                <a:moveTo>
                  <a:pt x="209496" y="5827"/>
                </a:moveTo>
                <a:lnTo>
                  <a:pt x="158385" y="5827"/>
                </a:lnTo>
                <a:lnTo>
                  <a:pt x="134891" y="42335"/>
                </a:lnTo>
                <a:lnTo>
                  <a:pt x="190590" y="42335"/>
                </a:lnTo>
                <a:lnTo>
                  <a:pt x="209496" y="5827"/>
                </a:lnTo>
                <a:close/>
              </a:path>
              <a:path w="936625" h="161289">
                <a:moveTo>
                  <a:pt x="178982" y="64731"/>
                </a:moveTo>
                <a:lnTo>
                  <a:pt x="120479" y="64731"/>
                </a:lnTo>
                <a:lnTo>
                  <a:pt x="96985" y="101183"/>
                </a:lnTo>
                <a:lnTo>
                  <a:pt x="160056" y="101183"/>
                </a:lnTo>
                <a:lnTo>
                  <a:pt x="178982" y="64731"/>
                </a:lnTo>
                <a:close/>
              </a:path>
              <a:path w="936625" h="161289">
                <a:moveTo>
                  <a:pt x="130861" y="5827"/>
                </a:moveTo>
                <a:lnTo>
                  <a:pt x="79768" y="5827"/>
                </a:lnTo>
                <a:lnTo>
                  <a:pt x="49235" y="42335"/>
                </a:lnTo>
                <a:lnTo>
                  <a:pt x="104915" y="42335"/>
                </a:lnTo>
                <a:lnTo>
                  <a:pt x="130861" y="5827"/>
                </a:lnTo>
                <a:close/>
              </a:path>
              <a:path w="936625" h="161289">
                <a:moveTo>
                  <a:pt x="88998" y="64731"/>
                </a:moveTo>
                <a:lnTo>
                  <a:pt x="30514" y="64731"/>
                </a:lnTo>
                <a:lnTo>
                  <a:pt x="0" y="101183"/>
                </a:lnTo>
                <a:lnTo>
                  <a:pt x="63053" y="101183"/>
                </a:lnTo>
                <a:lnTo>
                  <a:pt x="88998" y="64731"/>
                </a:lnTo>
                <a:close/>
              </a:path>
            </a:pathLst>
          </a:custGeom>
          <a:solidFill>
            <a:srgbClr val="FFFFFF"/>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10/15/26</a:t>
            </a:fld>
            <a:endParaRPr lang="en-US"/>
          </a:p>
        </p:txBody>
      </p:sp>
      <p:sp>
        <p:nvSpPr>
          <p:cNvPr id="4" name="Holder 4"/>
          <p:cNvSpPr>
            <a:spLocks noGrp="1"/>
          </p:cNvSpPr>
          <p:nvPr>
            <p:ph type="sldNum" sz="quarter" idx="7"/>
          </p:nvPr>
        </p:nvSpPr>
        <p:spPr/>
        <p:txBody>
          <a:bodyPr lIns="0" tIns="0" rIns="0" bIns="0"/>
          <a:lstStyle>
            <a:lvl1pPr>
              <a:defRPr sz="1450" b="1" i="0">
                <a:solidFill>
                  <a:srgbClr val="005589"/>
                </a:solidFill>
                <a:latin typeface="Trebuchet MS"/>
                <a:cs typeface="Trebuchet MS"/>
              </a:defRPr>
            </a:lvl1pPr>
          </a:lstStyle>
          <a:p>
            <a:pPr marL="1804035">
              <a:lnSpc>
                <a:spcPts val="1505"/>
              </a:lnSpc>
            </a:pPr>
            <a:fld id="{81D60167-4931-47E6-BA6A-407CBD079E47}" type="slidenum">
              <a:rPr spc="-20" dirty="0"/>
              <a:t>‹#›</a:t>
            </a:fld>
            <a:endParaRPr spc="-20"/>
          </a:p>
        </p:txBody>
      </p:sp>
      <p:pic>
        <p:nvPicPr>
          <p:cNvPr id="6" name="Picture 5">
            <a:extLst>
              <a:ext uri="{FF2B5EF4-FFF2-40B4-BE49-F238E27FC236}">
                <a16:creationId xmlns:a16="http://schemas.microsoft.com/office/drawing/2014/main" id="{A0D31E49-7C99-6D0E-6303-7FCFA8AB68C2}"/>
              </a:ext>
            </a:extLst>
          </p:cNvPr>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43702" y="535259"/>
            <a:ext cx="3061196" cy="700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50333183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cSld name="2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1500775530"/>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cSld name="3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426475740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cSld name="4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119949474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5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401466983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6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72821548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7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255841614"/>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8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40379590"/>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9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101725422"/>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0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723234524"/>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1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516587297"/>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2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799160585"/>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3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3756281776"/>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4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1911400666"/>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5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589801618"/>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6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3801502068"/>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8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176187484"/>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9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4202330011"/>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0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1447066510"/>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21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1716720631"/>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22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86986914"/>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3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4257167024"/>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7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507613800"/>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24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482184821"/>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25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625186407"/>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26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854403235"/>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27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728587271"/>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28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189676769"/>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29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81337" y="6568410"/>
            <a:ext cx="484765" cy="169277"/>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6142" y="299526"/>
            <a:ext cx="11581260" cy="492443"/>
          </a:xfrm>
        </p:spPr>
        <p:txBody>
          <a:bodyPr/>
          <a:lstStyle>
            <a:lvl1pPr>
              <a:defRPr/>
            </a:lvl1pPr>
          </a:lstStyle>
          <a:p>
            <a:r>
              <a:rPr lang="en-US"/>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6141" y="1143000"/>
            <a:ext cx="11599961" cy="1384995"/>
          </a:xfrm>
        </p:spPr>
        <p:txBody>
          <a:bodyPr/>
          <a:lstStyle>
            <a:lvl1pPr>
              <a:defRPr/>
            </a:lvl1pPr>
            <a:lvl2pPr>
              <a:defRPr/>
            </a:lvl2pPr>
            <a:lvl3pPr>
              <a:defRPr/>
            </a:lvl3pPr>
            <a:lvl4pPr>
              <a:defRPr/>
            </a:lvl4pPr>
            <a:lvl5pPr>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6141" y="1030844"/>
            <a:ext cx="11579209"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835603800"/>
      </p:ext>
    </p:extLst>
  </p:cSld>
  <p:clrMapOvr>
    <a:masterClrMapping/>
  </p:clrMapOvr>
  <p:hf hdr="0" ft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620" y="0"/>
            <a:ext cx="12204700" cy="6858000"/>
          </a:xfrm>
          <a:custGeom>
            <a:avLst/>
            <a:gdLst/>
            <a:ahLst/>
            <a:cxnLst/>
            <a:rect l="l" t="t" r="r" b="b"/>
            <a:pathLst>
              <a:path w="12204700" h="6858000">
                <a:moveTo>
                  <a:pt x="12204192" y="0"/>
                </a:moveTo>
                <a:lnTo>
                  <a:pt x="0" y="0"/>
                </a:lnTo>
                <a:lnTo>
                  <a:pt x="0" y="6858000"/>
                </a:lnTo>
                <a:lnTo>
                  <a:pt x="12204192" y="6858000"/>
                </a:lnTo>
                <a:lnTo>
                  <a:pt x="12204192" y="0"/>
                </a:lnTo>
                <a:close/>
              </a:path>
            </a:pathLst>
          </a:custGeom>
          <a:solidFill>
            <a:srgbClr val="F4F4F4"/>
          </a:solidFill>
        </p:spPr>
        <p:txBody>
          <a:bodyPr wrap="square" lIns="0" tIns="0" rIns="0" bIns="0" rtlCol="0"/>
          <a:lstStyle/>
          <a:p>
            <a:endParaRPr/>
          </a:p>
        </p:txBody>
      </p:sp>
      <p:sp>
        <p:nvSpPr>
          <p:cNvPr id="18" name="bg object 18"/>
          <p:cNvSpPr/>
          <p:nvPr/>
        </p:nvSpPr>
        <p:spPr>
          <a:xfrm>
            <a:off x="0" y="6597395"/>
            <a:ext cx="12204700" cy="17145"/>
          </a:xfrm>
          <a:custGeom>
            <a:avLst/>
            <a:gdLst/>
            <a:ahLst/>
            <a:cxnLst/>
            <a:rect l="l" t="t" r="r" b="b"/>
            <a:pathLst>
              <a:path w="12204700" h="17145">
                <a:moveTo>
                  <a:pt x="12204192" y="0"/>
                </a:moveTo>
                <a:lnTo>
                  <a:pt x="0" y="0"/>
                </a:lnTo>
                <a:lnTo>
                  <a:pt x="0" y="16763"/>
                </a:lnTo>
                <a:lnTo>
                  <a:pt x="12204192" y="16763"/>
                </a:lnTo>
                <a:lnTo>
                  <a:pt x="12204192" y="0"/>
                </a:lnTo>
                <a:close/>
              </a:path>
            </a:pathLst>
          </a:custGeom>
          <a:solidFill>
            <a:srgbClr val="005589"/>
          </a:solidFill>
        </p:spPr>
        <p:txBody>
          <a:bodyPr wrap="square" lIns="0" tIns="0" rIns="0" bIns="0" rtlCol="0"/>
          <a:lstStyle/>
          <a:p>
            <a:endParaRPr/>
          </a:p>
        </p:txBody>
      </p:sp>
      <p:sp>
        <p:nvSpPr>
          <p:cNvPr id="19" name="bg object 19"/>
          <p:cNvSpPr/>
          <p:nvPr/>
        </p:nvSpPr>
        <p:spPr>
          <a:xfrm>
            <a:off x="0" y="1539239"/>
            <a:ext cx="12197080" cy="18415"/>
          </a:xfrm>
          <a:custGeom>
            <a:avLst/>
            <a:gdLst/>
            <a:ahLst/>
            <a:cxnLst/>
            <a:rect l="l" t="t" r="r" b="b"/>
            <a:pathLst>
              <a:path w="12197080" h="18415">
                <a:moveTo>
                  <a:pt x="12196572" y="0"/>
                </a:moveTo>
                <a:lnTo>
                  <a:pt x="0" y="0"/>
                </a:lnTo>
                <a:lnTo>
                  <a:pt x="0" y="18287"/>
                </a:lnTo>
                <a:lnTo>
                  <a:pt x="12196572" y="18287"/>
                </a:lnTo>
                <a:lnTo>
                  <a:pt x="12196572" y="0"/>
                </a:lnTo>
                <a:close/>
              </a:path>
            </a:pathLst>
          </a:custGeom>
          <a:solidFill>
            <a:srgbClr val="005589"/>
          </a:solidFill>
        </p:spPr>
        <p:txBody>
          <a:bodyPr wrap="square" lIns="0" tIns="0" rIns="0" bIns="0" rtlCol="0"/>
          <a:lstStyle/>
          <a:p>
            <a:endParaRPr/>
          </a:p>
        </p:txBody>
      </p:sp>
      <p:sp>
        <p:nvSpPr>
          <p:cNvPr id="2" name="Holder 2"/>
          <p:cNvSpPr>
            <a:spLocks noGrp="1"/>
          </p:cNvSpPr>
          <p:nvPr>
            <p:ph type="title"/>
          </p:nvPr>
        </p:nvSpPr>
        <p:spPr>
          <a:xfrm>
            <a:off x="346049" y="1031239"/>
            <a:ext cx="4063980" cy="492443"/>
          </a:xfrm>
          <a:prstGeom prst="rect">
            <a:avLst/>
          </a:prstGeom>
        </p:spPr>
        <p:txBody>
          <a:bodyPr wrap="square" lIns="0" tIns="0" rIns="0" bIns="0">
            <a:spAutoFit/>
          </a:bodyPr>
          <a:lstStyle>
            <a:lvl1pPr>
              <a:defRPr sz="3200" b="1" i="0">
                <a:solidFill>
                  <a:srgbClr val="005589"/>
                </a:solidFill>
                <a:latin typeface="Trebuchet MS"/>
                <a:cs typeface="Trebuchet MS"/>
              </a:defRPr>
            </a:lvl1pPr>
          </a:lstStyle>
          <a:p>
            <a:endParaRPr/>
          </a:p>
        </p:txBody>
      </p:sp>
      <p:sp>
        <p:nvSpPr>
          <p:cNvPr id="3" name="Holder 3"/>
          <p:cNvSpPr>
            <a:spLocks noGrp="1"/>
          </p:cNvSpPr>
          <p:nvPr>
            <p:ph type="body" idx="1"/>
          </p:nvPr>
        </p:nvSpPr>
        <p:spPr>
          <a:xfrm>
            <a:off x="346430" y="2558542"/>
            <a:ext cx="5323205" cy="296354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9598" y="6377940"/>
            <a:ext cx="3905504"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10235" y="6377940"/>
            <a:ext cx="2807081"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10/15/26</a:t>
            </a:fld>
            <a:endParaRPr lang="en-US"/>
          </a:p>
        </p:txBody>
      </p:sp>
      <p:sp>
        <p:nvSpPr>
          <p:cNvPr id="6" name="Holder 6"/>
          <p:cNvSpPr>
            <a:spLocks noGrp="1"/>
          </p:cNvSpPr>
          <p:nvPr>
            <p:ph type="sldNum" sz="quarter" idx="7"/>
          </p:nvPr>
        </p:nvSpPr>
        <p:spPr>
          <a:xfrm>
            <a:off x="9933558" y="6396232"/>
            <a:ext cx="1962150" cy="466090"/>
          </a:xfrm>
          <a:prstGeom prst="rect">
            <a:avLst/>
          </a:prstGeom>
        </p:spPr>
        <p:txBody>
          <a:bodyPr wrap="square" lIns="0" tIns="0" rIns="0" bIns="0">
            <a:spAutoFit/>
          </a:bodyPr>
          <a:lstStyle>
            <a:lvl1pPr>
              <a:defRPr sz="1450" b="1" i="0">
                <a:solidFill>
                  <a:srgbClr val="005589"/>
                </a:solidFill>
                <a:latin typeface="Trebuchet MS"/>
                <a:cs typeface="Trebuchet MS"/>
              </a:defRPr>
            </a:lvl1pPr>
          </a:lstStyle>
          <a:p>
            <a:pPr marL="1804035">
              <a:lnSpc>
                <a:spcPts val="1505"/>
              </a:lnSpc>
            </a:pPr>
            <a:fld id="{81D60167-4931-47E6-BA6A-407CBD079E47}" type="slidenum">
              <a:rPr spc="-20" dirty="0"/>
              <a:t>‹#›</a:t>
            </a:fld>
            <a:endParaRPr spc="-20"/>
          </a:p>
        </p:txBody>
      </p:sp>
      <p:pic>
        <p:nvPicPr>
          <p:cNvPr id="7" name="Picture 6">
            <a:extLst>
              <a:ext uri="{FF2B5EF4-FFF2-40B4-BE49-F238E27FC236}">
                <a16:creationId xmlns:a16="http://schemas.microsoft.com/office/drawing/2014/main" id="{C7B8B5FF-3B72-6772-0604-593DCE3E624C}"/>
              </a:ext>
            </a:extLst>
          </p:cNvPr>
          <p:cNvPicPr>
            <a:picLocks noChangeAspect="1" noChangeArrowheads="1"/>
          </p:cNvPicPr>
          <p:nvPr userDrawn="1"/>
        </p:nvPicPr>
        <p:blipFill>
          <a:blip r:embed="rId3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43702" y="535259"/>
            <a:ext cx="3061196" cy="700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Lst>
  <p:txStyles>
    <p:titleStyle>
      <a:lvl1pPr>
        <a:defRPr sz="1400">
          <a:solidFill>
            <a:srgbClr val="FF0000"/>
          </a:solidFill>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medium.com/@salwan.mohamed/kubernetes-architecture-deep-dive-from-basics-to-advanced-concepts-part-2-3-baecceece974"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alibabacloud.com/blog/apache-flink-fundamentals-basic-concepts_595727"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2.xml"/><Relationship Id="rId1" Type="http://schemas.openxmlformats.org/officeDocument/2006/relationships/tags" Target="../tags/tag3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3.xml"/><Relationship Id="rId1" Type="http://schemas.openxmlformats.org/officeDocument/2006/relationships/tags" Target="../tags/tag3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4.xml"/><Relationship Id="rId1" Type="http://schemas.openxmlformats.org/officeDocument/2006/relationships/tags" Target="../tags/tag3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33.xml"/><Relationship Id="rId5" Type="http://schemas.openxmlformats.org/officeDocument/2006/relationships/image" Target="../media/image32.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34.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35.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tags" Target="../tags/tag36.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tags" Target="../tags/tag37.xml"/><Relationship Id="rId5" Type="http://schemas.openxmlformats.org/officeDocument/2006/relationships/image" Target="../media/image37.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46.svg"/><Relationship Id="rId18" Type="http://schemas.openxmlformats.org/officeDocument/2006/relationships/image" Target="../media/image51.svg"/><Relationship Id="rId3" Type="http://schemas.openxmlformats.org/officeDocument/2006/relationships/slideLayout" Target="../slideLayouts/slideLayout10.xml"/><Relationship Id="rId21" Type="http://schemas.openxmlformats.org/officeDocument/2006/relationships/image" Target="../media/image54.svg"/><Relationship Id="rId7" Type="http://schemas.openxmlformats.org/officeDocument/2006/relationships/image" Target="../media/image40.png"/><Relationship Id="rId12" Type="http://schemas.openxmlformats.org/officeDocument/2006/relationships/image" Target="../media/image45.svg"/><Relationship Id="rId17" Type="http://schemas.openxmlformats.org/officeDocument/2006/relationships/image" Target="../media/image50.svg"/><Relationship Id="rId2" Type="http://schemas.openxmlformats.org/officeDocument/2006/relationships/tags" Target="../tags/tag39.xml"/><Relationship Id="rId16" Type="http://schemas.openxmlformats.org/officeDocument/2006/relationships/image" Target="../media/image49.svg"/><Relationship Id="rId20" Type="http://schemas.openxmlformats.org/officeDocument/2006/relationships/image" Target="../media/image53.svg"/><Relationship Id="rId1" Type="http://schemas.openxmlformats.org/officeDocument/2006/relationships/tags" Target="../tags/tag38.xml"/><Relationship Id="rId6" Type="http://schemas.openxmlformats.org/officeDocument/2006/relationships/image" Target="../media/image39.emf"/><Relationship Id="rId11" Type="http://schemas.openxmlformats.org/officeDocument/2006/relationships/image" Target="../media/image44.svg"/><Relationship Id="rId5" Type="http://schemas.openxmlformats.org/officeDocument/2006/relationships/image" Target="../media/image38.png"/><Relationship Id="rId15" Type="http://schemas.openxmlformats.org/officeDocument/2006/relationships/image" Target="../media/image48.svg"/><Relationship Id="rId23" Type="http://schemas.openxmlformats.org/officeDocument/2006/relationships/image" Target="../media/image56.svg"/><Relationship Id="rId10" Type="http://schemas.openxmlformats.org/officeDocument/2006/relationships/image" Target="../media/image43.png"/><Relationship Id="rId19" Type="http://schemas.openxmlformats.org/officeDocument/2006/relationships/image" Target="../media/image52.svg"/><Relationship Id="rId4" Type="http://schemas.openxmlformats.org/officeDocument/2006/relationships/notesSlide" Target="../notesSlides/notesSlide9.xml"/><Relationship Id="rId9" Type="http://schemas.openxmlformats.org/officeDocument/2006/relationships/image" Target="../media/image42.emf"/><Relationship Id="rId14" Type="http://schemas.openxmlformats.org/officeDocument/2006/relationships/image" Target="../media/image47.svg"/><Relationship Id="rId22" Type="http://schemas.openxmlformats.org/officeDocument/2006/relationships/image" Target="../media/image55.svg"/></Relationships>
</file>

<file path=ppt/slides/_rels/slide2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3.xml"/><Relationship Id="rId4" Type="http://schemas.openxmlformats.org/officeDocument/2006/relationships/image" Target="../media/image66.png"/></Relationships>
</file>

<file path=ppt/slides/_rels/slide3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2.wdp"/><Relationship Id="rId2" Type="http://schemas.openxmlformats.org/officeDocument/2006/relationships/image" Target="../media/image69.png"/><Relationship Id="rId1" Type="http://schemas.openxmlformats.org/officeDocument/2006/relationships/slideLayout" Target="../slideLayouts/slideLayout15.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76.png"/><Relationship Id="rId2" Type="http://schemas.openxmlformats.org/officeDocument/2006/relationships/slideLayout" Target="../slideLayouts/slideLayout16.xml"/><Relationship Id="rId1" Type="http://schemas.openxmlformats.org/officeDocument/2006/relationships/tags" Target="../tags/tag40.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7.xml"/><Relationship Id="rId1" Type="http://schemas.openxmlformats.org/officeDocument/2006/relationships/tags" Target="../tags/tag41.xml"/><Relationship Id="rId6" Type="http://schemas.openxmlformats.org/officeDocument/2006/relationships/hyperlink" Target="https://aws.amazon.com/about-aws/global-infrastructure/regions_az/" TargetMode="External"/><Relationship Id="rId5" Type="http://schemas.openxmlformats.org/officeDocument/2006/relationships/hyperlink" Target="https://aws.amazon.com/about-aws/global-infrastructure/#AWS_Global_Infrastructure_Map" TargetMode="External"/><Relationship Id="rId4" Type="http://schemas.openxmlformats.org/officeDocument/2006/relationships/image" Target="../media/image77.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8.xml"/><Relationship Id="rId1" Type="http://schemas.openxmlformats.org/officeDocument/2006/relationships/tags" Target="../tags/tag42.xml"/><Relationship Id="rId4" Type="http://schemas.openxmlformats.org/officeDocument/2006/relationships/image" Target="../media/image78.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9.xml"/><Relationship Id="rId1" Type="http://schemas.openxmlformats.org/officeDocument/2006/relationships/tags" Target="../tags/tag4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0.xml"/><Relationship Id="rId1" Type="http://schemas.openxmlformats.org/officeDocument/2006/relationships/tags" Target="../tags/tag44.xml"/><Relationship Id="rId6" Type="http://schemas.openxmlformats.org/officeDocument/2006/relationships/image" Target="../media/image81.svg"/><Relationship Id="rId5" Type="http://schemas.openxmlformats.org/officeDocument/2006/relationships/image" Target="../media/image80.svg"/><Relationship Id="rId4" Type="http://schemas.openxmlformats.org/officeDocument/2006/relationships/image" Target="../media/image79.sv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1.xml"/><Relationship Id="rId1" Type="http://schemas.openxmlformats.org/officeDocument/2006/relationships/tags" Target="../tags/tag45.xml"/><Relationship Id="rId4" Type="http://schemas.openxmlformats.org/officeDocument/2006/relationships/image" Target="../media/image8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86.png"/><Relationship Id="rId2" Type="http://schemas.openxmlformats.org/officeDocument/2006/relationships/slideLayout" Target="../slideLayouts/slideLayout22.xml"/><Relationship Id="rId1" Type="http://schemas.openxmlformats.org/officeDocument/2006/relationships/tags" Target="../tags/tag46.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3.xml"/><Relationship Id="rId1" Type="http://schemas.openxmlformats.org/officeDocument/2006/relationships/tags" Target="../tags/tag47.xml"/><Relationship Id="rId4" Type="http://schemas.openxmlformats.org/officeDocument/2006/relationships/image" Target="../media/image87.png"/></Relationships>
</file>

<file path=ppt/slides/_rels/slide41.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notesSlide" Target="../notesSlides/notesSlide18.xml"/><Relationship Id="rId7" Type="http://schemas.openxmlformats.org/officeDocument/2006/relationships/image" Target="../media/image91.svg"/><Relationship Id="rId2" Type="http://schemas.openxmlformats.org/officeDocument/2006/relationships/slideLayout" Target="../slideLayouts/slideLayout24.xml"/><Relationship Id="rId1" Type="http://schemas.openxmlformats.org/officeDocument/2006/relationships/tags" Target="../tags/tag48.xml"/><Relationship Id="rId6" Type="http://schemas.openxmlformats.org/officeDocument/2006/relationships/image" Target="../media/image90.svg"/><Relationship Id="rId11" Type="http://schemas.openxmlformats.org/officeDocument/2006/relationships/image" Target="../media/image94.png"/><Relationship Id="rId5" Type="http://schemas.openxmlformats.org/officeDocument/2006/relationships/image" Target="../media/image89.svg"/><Relationship Id="rId10" Type="http://schemas.openxmlformats.org/officeDocument/2006/relationships/image" Target="../media/image93.png"/><Relationship Id="rId4" Type="http://schemas.openxmlformats.org/officeDocument/2006/relationships/image" Target="../media/image88.svg"/><Relationship Id="rId9" Type="http://schemas.openxmlformats.org/officeDocument/2006/relationships/image" Target="../media/image92.sv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5.xml"/><Relationship Id="rId1" Type="http://schemas.openxmlformats.org/officeDocument/2006/relationships/tags" Target="../tags/tag49.xml"/></Relationships>
</file>

<file path=ppt/slides/_rels/slide43.xml.rels><?xml version="1.0" encoding="UTF-8" standalone="yes"?>
<Relationships xmlns="http://schemas.openxmlformats.org/package/2006/relationships"><Relationship Id="rId8" Type="http://schemas.openxmlformats.org/officeDocument/2006/relationships/image" Target="../media/image96.svg"/><Relationship Id="rId3" Type="http://schemas.openxmlformats.org/officeDocument/2006/relationships/notesSlide" Target="../notesSlides/notesSlide20.xml"/><Relationship Id="rId7" Type="http://schemas.openxmlformats.org/officeDocument/2006/relationships/image" Target="../media/image51.svg"/><Relationship Id="rId2" Type="http://schemas.openxmlformats.org/officeDocument/2006/relationships/slideLayout" Target="../slideLayouts/slideLayout26.xml"/><Relationship Id="rId1" Type="http://schemas.openxmlformats.org/officeDocument/2006/relationships/tags" Target="../tags/tag50.xml"/><Relationship Id="rId6" Type="http://schemas.openxmlformats.org/officeDocument/2006/relationships/image" Target="../media/image45.svg"/><Relationship Id="rId5" Type="http://schemas.openxmlformats.org/officeDocument/2006/relationships/image" Target="../media/image48.svg"/><Relationship Id="rId4" Type="http://schemas.openxmlformats.org/officeDocument/2006/relationships/image" Target="../media/image95.svg"/><Relationship Id="rId9" Type="http://schemas.openxmlformats.org/officeDocument/2006/relationships/image" Target="../media/image97.sv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7.xml"/><Relationship Id="rId1" Type="http://schemas.openxmlformats.org/officeDocument/2006/relationships/tags" Target="../tags/tag51.xml"/><Relationship Id="rId6" Type="http://schemas.openxmlformats.org/officeDocument/2006/relationships/image" Target="../media/image100.svg"/><Relationship Id="rId5" Type="http://schemas.openxmlformats.org/officeDocument/2006/relationships/image" Target="../media/image99.svg"/><Relationship Id="rId4" Type="http://schemas.openxmlformats.org/officeDocument/2006/relationships/image" Target="../media/image98.svg"/></Relationships>
</file>

<file path=ppt/slides/_rels/slide45.xml.rels><?xml version="1.0" encoding="UTF-8" standalone="yes"?>
<Relationships xmlns="http://schemas.openxmlformats.org/package/2006/relationships"><Relationship Id="rId8" Type="http://schemas.openxmlformats.org/officeDocument/2006/relationships/image" Target="../media/image90.svg"/><Relationship Id="rId13" Type="http://schemas.openxmlformats.org/officeDocument/2006/relationships/image" Target="../media/image88.svg"/><Relationship Id="rId18" Type="http://schemas.openxmlformats.org/officeDocument/2006/relationships/image" Target="../media/image112.svg"/><Relationship Id="rId26" Type="http://schemas.openxmlformats.org/officeDocument/2006/relationships/image" Target="../media/image119.svg"/><Relationship Id="rId3" Type="http://schemas.openxmlformats.org/officeDocument/2006/relationships/notesSlide" Target="../notesSlides/notesSlide22.xml"/><Relationship Id="rId21" Type="http://schemas.openxmlformats.org/officeDocument/2006/relationships/image" Target="../media/image114.svg"/><Relationship Id="rId7" Type="http://schemas.openxmlformats.org/officeDocument/2006/relationships/image" Target="../media/image104.svg"/><Relationship Id="rId12" Type="http://schemas.openxmlformats.org/officeDocument/2006/relationships/image" Target="../media/image108.svg"/><Relationship Id="rId17" Type="http://schemas.openxmlformats.org/officeDocument/2006/relationships/image" Target="../media/image111.svg"/><Relationship Id="rId25" Type="http://schemas.openxmlformats.org/officeDocument/2006/relationships/image" Target="../media/image118.svg"/><Relationship Id="rId2" Type="http://schemas.openxmlformats.org/officeDocument/2006/relationships/slideLayout" Target="../slideLayouts/slideLayout28.xml"/><Relationship Id="rId16" Type="http://schemas.openxmlformats.org/officeDocument/2006/relationships/image" Target="../media/image89.svg"/><Relationship Id="rId20" Type="http://schemas.openxmlformats.org/officeDocument/2006/relationships/image" Target="../media/image113.svg"/><Relationship Id="rId1" Type="http://schemas.openxmlformats.org/officeDocument/2006/relationships/tags" Target="../tags/tag52.xml"/><Relationship Id="rId6" Type="http://schemas.openxmlformats.org/officeDocument/2006/relationships/image" Target="../media/image103.svg"/><Relationship Id="rId11" Type="http://schemas.openxmlformats.org/officeDocument/2006/relationships/image" Target="../media/image107.svg"/><Relationship Id="rId24" Type="http://schemas.openxmlformats.org/officeDocument/2006/relationships/image" Target="../media/image117.svg"/><Relationship Id="rId5" Type="http://schemas.openxmlformats.org/officeDocument/2006/relationships/image" Target="../media/image102.svg"/><Relationship Id="rId15" Type="http://schemas.openxmlformats.org/officeDocument/2006/relationships/image" Target="../media/image110.svg"/><Relationship Id="rId23" Type="http://schemas.openxmlformats.org/officeDocument/2006/relationships/image" Target="../media/image116.svg"/><Relationship Id="rId10" Type="http://schemas.openxmlformats.org/officeDocument/2006/relationships/image" Target="../media/image106.svg"/><Relationship Id="rId19" Type="http://schemas.openxmlformats.org/officeDocument/2006/relationships/image" Target="../media/image91.svg"/><Relationship Id="rId4" Type="http://schemas.openxmlformats.org/officeDocument/2006/relationships/image" Target="../media/image101.svg"/><Relationship Id="rId9" Type="http://schemas.openxmlformats.org/officeDocument/2006/relationships/image" Target="../media/image105.svg"/><Relationship Id="rId14" Type="http://schemas.openxmlformats.org/officeDocument/2006/relationships/image" Target="../media/image109.svg"/><Relationship Id="rId22" Type="http://schemas.openxmlformats.org/officeDocument/2006/relationships/image" Target="../media/image115.svg"/></Relationships>
</file>

<file path=ppt/slides/_rels/slide46.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slideLayout" Target="../slideLayouts/slideLayout29.xml"/><Relationship Id="rId7" Type="http://schemas.openxmlformats.org/officeDocument/2006/relationships/image" Target="../media/image122.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121.png"/><Relationship Id="rId5" Type="http://schemas.openxmlformats.org/officeDocument/2006/relationships/image" Target="../media/image120.png"/><Relationship Id="rId4" Type="http://schemas.openxmlformats.org/officeDocument/2006/relationships/notesSlide" Target="../notesSlides/notesSlide23.xml"/><Relationship Id="rId9" Type="http://schemas.openxmlformats.org/officeDocument/2006/relationships/image" Target="../media/image124.png"/></Relationships>
</file>

<file path=ppt/slides/_rels/slide47.xml.rels><?xml version="1.0" encoding="UTF-8" standalone="yes"?>
<Relationships xmlns="http://schemas.openxmlformats.org/package/2006/relationships"><Relationship Id="rId8" Type="http://schemas.openxmlformats.org/officeDocument/2006/relationships/image" Target="../media/image114.svg"/><Relationship Id="rId13" Type="http://schemas.openxmlformats.org/officeDocument/2006/relationships/image" Target="../media/image89.svg"/><Relationship Id="rId18" Type="http://schemas.openxmlformats.org/officeDocument/2006/relationships/image" Target="../media/image111.svg"/><Relationship Id="rId26" Type="http://schemas.openxmlformats.org/officeDocument/2006/relationships/image" Target="../media/image119.svg"/><Relationship Id="rId3" Type="http://schemas.openxmlformats.org/officeDocument/2006/relationships/notesSlide" Target="../notesSlides/notesSlide24.xml"/><Relationship Id="rId21" Type="http://schemas.openxmlformats.org/officeDocument/2006/relationships/image" Target="../media/image107.svg"/><Relationship Id="rId7" Type="http://schemas.openxmlformats.org/officeDocument/2006/relationships/image" Target="../media/image88.svg"/><Relationship Id="rId12" Type="http://schemas.openxmlformats.org/officeDocument/2006/relationships/image" Target="../media/image102.svg"/><Relationship Id="rId17" Type="http://schemas.openxmlformats.org/officeDocument/2006/relationships/image" Target="../media/image117.svg"/><Relationship Id="rId25" Type="http://schemas.openxmlformats.org/officeDocument/2006/relationships/image" Target="../media/image115.svg"/><Relationship Id="rId2" Type="http://schemas.openxmlformats.org/officeDocument/2006/relationships/slideLayout" Target="../slideLayouts/slideLayout4.xml"/><Relationship Id="rId16" Type="http://schemas.openxmlformats.org/officeDocument/2006/relationships/image" Target="../media/image103.svg"/><Relationship Id="rId20" Type="http://schemas.openxmlformats.org/officeDocument/2006/relationships/image" Target="../media/image104.svg"/><Relationship Id="rId1" Type="http://schemas.openxmlformats.org/officeDocument/2006/relationships/tags" Target="../tags/tag55.xml"/><Relationship Id="rId6" Type="http://schemas.openxmlformats.org/officeDocument/2006/relationships/image" Target="../media/image113.svg"/><Relationship Id="rId11" Type="http://schemas.openxmlformats.org/officeDocument/2006/relationships/image" Target="../media/image101.svg"/><Relationship Id="rId24" Type="http://schemas.openxmlformats.org/officeDocument/2006/relationships/image" Target="../media/image118.svg"/><Relationship Id="rId5" Type="http://schemas.openxmlformats.org/officeDocument/2006/relationships/image" Target="../media/image108.svg"/><Relationship Id="rId15" Type="http://schemas.openxmlformats.org/officeDocument/2006/relationships/image" Target="../media/image116.svg"/><Relationship Id="rId23" Type="http://schemas.openxmlformats.org/officeDocument/2006/relationships/image" Target="../media/image112.svg"/><Relationship Id="rId10" Type="http://schemas.openxmlformats.org/officeDocument/2006/relationships/image" Target="../media/image90.svg"/><Relationship Id="rId19" Type="http://schemas.openxmlformats.org/officeDocument/2006/relationships/image" Target="../media/image106.svg"/><Relationship Id="rId4" Type="http://schemas.openxmlformats.org/officeDocument/2006/relationships/image" Target="../media/image91.svg"/><Relationship Id="rId9" Type="http://schemas.openxmlformats.org/officeDocument/2006/relationships/image" Target="../media/image110.svg"/><Relationship Id="rId14" Type="http://schemas.openxmlformats.org/officeDocument/2006/relationships/image" Target="../media/image105.svg"/><Relationship Id="rId22" Type="http://schemas.openxmlformats.org/officeDocument/2006/relationships/image" Target="../media/image109.svg"/></Relationships>
</file>

<file path=ppt/slides/_rels/slide48.xml.rels><?xml version="1.0" encoding="UTF-8" standalone="yes"?>
<Relationships xmlns="http://schemas.openxmlformats.org/package/2006/relationships"><Relationship Id="rId8" Type="http://schemas.openxmlformats.org/officeDocument/2006/relationships/image" Target="../media/image125.svg"/><Relationship Id="rId3" Type="http://schemas.openxmlformats.org/officeDocument/2006/relationships/notesSlide" Target="../notesSlides/notesSlide25.xml"/><Relationship Id="rId7" Type="http://schemas.openxmlformats.org/officeDocument/2006/relationships/image" Target="../media/image50.svg"/><Relationship Id="rId2" Type="http://schemas.openxmlformats.org/officeDocument/2006/relationships/slideLayout" Target="../slideLayouts/slideLayout4.xml"/><Relationship Id="rId1" Type="http://schemas.openxmlformats.org/officeDocument/2006/relationships/tags" Target="../tags/tag56.xml"/><Relationship Id="rId6" Type="http://schemas.openxmlformats.org/officeDocument/2006/relationships/image" Target="../media/image49.svg"/><Relationship Id="rId5" Type="http://schemas.openxmlformats.org/officeDocument/2006/relationships/image" Target="../media/image48.svg"/><Relationship Id="rId4" Type="http://schemas.openxmlformats.org/officeDocument/2006/relationships/image" Target="../media/image90.svg"/><Relationship Id="rId9" Type="http://schemas.openxmlformats.org/officeDocument/2006/relationships/image" Target="../media/image126.tiff"/></Relationships>
</file>

<file path=ppt/slides/_rels/slide49.xml.rels><?xml version="1.0" encoding="UTF-8" standalone="yes"?>
<Relationships xmlns="http://schemas.openxmlformats.org/package/2006/relationships"><Relationship Id="rId8" Type="http://schemas.openxmlformats.org/officeDocument/2006/relationships/image" Target="../media/image129.svg"/><Relationship Id="rId13" Type="http://schemas.openxmlformats.org/officeDocument/2006/relationships/image" Target="../media/image132.svg"/><Relationship Id="rId3" Type="http://schemas.openxmlformats.org/officeDocument/2006/relationships/notesSlide" Target="../notesSlides/notesSlide26.xml"/><Relationship Id="rId7" Type="http://schemas.openxmlformats.org/officeDocument/2006/relationships/image" Target="../media/image128.svg"/><Relationship Id="rId12" Type="http://schemas.openxmlformats.org/officeDocument/2006/relationships/image" Target="../media/image131.svg"/><Relationship Id="rId2" Type="http://schemas.openxmlformats.org/officeDocument/2006/relationships/slideLayout" Target="../slideLayouts/slideLayout4.xml"/><Relationship Id="rId1" Type="http://schemas.openxmlformats.org/officeDocument/2006/relationships/tags" Target="../tags/tag57.xml"/><Relationship Id="rId6" Type="http://schemas.openxmlformats.org/officeDocument/2006/relationships/image" Target="../media/image95.svg"/><Relationship Id="rId11" Type="http://schemas.openxmlformats.org/officeDocument/2006/relationships/image" Target="../media/image130.svg"/><Relationship Id="rId5" Type="http://schemas.openxmlformats.org/officeDocument/2006/relationships/image" Target="../media/image88.svg"/><Relationship Id="rId10" Type="http://schemas.openxmlformats.org/officeDocument/2006/relationships/image" Target="../media/image96.svg"/><Relationship Id="rId4" Type="http://schemas.openxmlformats.org/officeDocument/2006/relationships/image" Target="../media/image127.tiff"/><Relationship Id="rId9" Type="http://schemas.openxmlformats.org/officeDocument/2006/relationships/image" Target="../media/image97.svg"/></Relationships>
</file>

<file path=ppt/slides/_rels/slide50.xml.rels><?xml version="1.0" encoding="UTF-8" standalone="yes"?>
<Relationships xmlns="http://schemas.openxmlformats.org/package/2006/relationships"><Relationship Id="rId8" Type="http://schemas.openxmlformats.org/officeDocument/2006/relationships/image" Target="../media/image135.svg"/><Relationship Id="rId3" Type="http://schemas.openxmlformats.org/officeDocument/2006/relationships/notesSlide" Target="../notesSlides/notesSlide27.xml"/><Relationship Id="rId7" Type="http://schemas.openxmlformats.org/officeDocument/2006/relationships/image" Target="../media/image134.svg"/><Relationship Id="rId2" Type="http://schemas.openxmlformats.org/officeDocument/2006/relationships/slideLayout" Target="../slideLayouts/slideLayout4.xml"/><Relationship Id="rId1" Type="http://schemas.openxmlformats.org/officeDocument/2006/relationships/tags" Target="../tags/tag58.xml"/><Relationship Id="rId6" Type="http://schemas.openxmlformats.org/officeDocument/2006/relationships/image" Target="../media/image133.svg"/><Relationship Id="rId5" Type="http://schemas.openxmlformats.org/officeDocument/2006/relationships/image" Target="../media/image51.svg"/><Relationship Id="rId4" Type="http://schemas.openxmlformats.org/officeDocument/2006/relationships/image" Target="../media/image89.svg"/><Relationship Id="rId9" Type="http://schemas.openxmlformats.org/officeDocument/2006/relationships/image" Target="../media/image136.tiff"/></Relationships>
</file>

<file path=ppt/slides/_rels/slide51.xml.rels><?xml version="1.0" encoding="UTF-8" standalone="yes"?>
<Relationships xmlns="http://schemas.openxmlformats.org/package/2006/relationships"><Relationship Id="rId8" Type="http://schemas.openxmlformats.org/officeDocument/2006/relationships/image" Target="../media/image138.svg"/><Relationship Id="rId3" Type="http://schemas.openxmlformats.org/officeDocument/2006/relationships/notesSlide" Target="../notesSlides/notesSlide28.xml"/><Relationship Id="rId7" Type="http://schemas.openxmlformats.org/officeDocument/2006/relationships/image" Target="../media/image44.svg"/><Relationship Id="rId12" Type="http://schemas.openxmlformats.org/officeDocument/2006/relationships/image" Target="../media/image142.svg"/><Relationship Id="rId2" Type="http://schemas.openxmlformats.org/officeDocument/2006/relationships/slideLayout" Target="../slideLayouts/slideLayout4.xml"/><Relationship Id="rId1" Type="http://schemas.openxmlformats.org/officeDocument/2006/relationships/tags" Target="../tags/tag59.xml"/><Relationship Id="rId6" Type="http://schemas.openxmlformats.org/officeDocument/2006/relationships/image" Target="../media/image45.svg"/><Relationship Id="rId11" Type="http://schemas.openxmlformats.org/officeDocument/2006/relationships/image" Target="../media/image141.svg"/><Relationship Id="rId5" Type="http://schemas.openxmlformats.org/officeDocument/2006/relationships/image" Target="../media/image91.svg"/><Relationship Id="rId10" Type="http://schemas.openxmlformats.org/officeDocument/2006/relationships/image" Target="../media/image140.svg"/><Relationship Id="rId4" Type="http://schemas.openxmlformats.org/officeDocument/2006/relationships/image" Target="../media/image137.tiff"/><Relationship Id="rId9" Type="http://schemas.openxmlformats.org/officeDocument/2006/relationships/image" Target="../media/image139.svg"/></Relationships>
</file>

<file path=ppt/slides/_rels/slide52.xml.rels><?xml version="1.0" encoding="UTF-8" standalone="yes"?>
<Relationships xmlns="http://schemas.openxmlformats.org/package/2006/relationships"><Relationship Id="rId8" Type="http://schemas.openxmlformats.org/officeDocument/2006/relationships/image" Target="../media/image145.svg"/><Relationship Id="rId3" Type="http://schemas.openxmlformats.org/officeDocument/2006/relationships/notesSlide" Target="../notesSlides/notesSlide29.xml"/><Relationship Id="rId7" Type="http://schemas.openxmlformats.org/officeDocument/2006/relationships/image" Target="../media/image102.svg"/><Relationship Id="rId2" Type="http://schemas.openxmlformats.org/officeDocument/2006/relationships/slideLayout" Target="../slideLayouts/slideLayout4.xml"/><Relationship Id="rId1" Type="http://schemas.openxmlformats.org/officeDocument/2006/relationships/tags" Target="../tags/tag60.xml"/><Relationship Id="rId6" Type="http://schemas.openxmlformats.org/officeDocument/2006/relationships/image" Target="../media/image144.svg"/><Relationship Id="rId11" Type="http://schemas.openxmlformats.org/officeDocument/2006/relationships/image" Target="../media/image99.svg"/><Relationship Id="rId5" Type="http://schemas.openxmlformats.org/officeDocument/2006/relationships/image" Target="../media/image41.svg"/><Relationship Id="rId10" Type="http://schemas.openxmlformats.org/officeDocument/2006/relationships/image" Target="../media/image147.svg"/><Relationship Id="rId4" Type="http://schemas.openxmlformats.org/officeDocument/2006/relationships/image" Target="../media/image143.jpg"/><Relationship Id="rId9" Type="http://schemas.openxmlformats.org/officeDocument/2006/relationships/image" Target="../media/image146.svg"/></Relationships>
</file>

<file path=ppt/slides/_rels/slide53.xml.rels><?xml version="1.0" encoding="UTF-8" standalone="yes"?>
<Relationships xmlns="http://schemas.openxmlformats.org/package/2006/relationships"><Relationship Id="rId8" Type="http://schemas.openxmlformats.org/officeDocument/2006/relationships/image" Target="../media/image152.svg"/><Relationship Id="rId13" Type="http://schemas.openxmlformats.org/officeDocument/2006/relationships/image" Target="../media/image155.jpg"/><Relationship Id="rId3" Type="http://schemas.openxmlformats.org/officeDocument/2006/relationships/notesSlide" Target="../notesSlides/notesSlide30.xml"/><Relationship Id="rId7" Type="http://schemas.openxmlformats.org/officeDocument/2006/relationships/image" Target="../media/image151.svg"/><Relationship Id="rId12" Type="http://schemas.openxmlformats.org/officeDocument/2006/relationships/image" Target="../media/image110.svg"/><Relationship Id="rId2" Type="http://schemas.openxmlformats.org/officeDocument/2006/relationships/slideLayout" Target="../slideLayouts/slideLayout30.xml"/><Relationship Id="rId1" Type="http://schemas.openxmlformats.org/officeDocument/2006/relationships/tags" Target="../tags/tag61.xml"/><Relationship Id="rId6" Type="http://schemas.openxmlformats.org/officeDocument/2006/relationships/image" Target="../media/image150.svg"/><Relationship Id="rId11" Type="http://schemas.openxmlformats.org/officeDocument/2006/relationships/image" Target="../media/image154.svg"/><Relationship Id="rId5" Type="http://schemas.openxmlformats.org/officeDocument/2006/relationships/image" Target="../media/image149.svg"/><Relationship Id="rId10" Type="http://schemas.openxmlformats.org/officeDocument/2006/relationships/image" Target="../media/image98.svg"/><Relationship Id="rId4" Type="http://schemas.openxmlformats.org/officeDocument/2006/relationships/image" Target="../media/image148.svg"/><Relationship Id="rId9" Type="http://schemas.openxmlformats.org/officeDocument/2006/relationships/image" Target="../media/image153.svg"/></Relationships>
</file>

<file path=ppt/slides/_rels/slide54.xml.rels><?xml version="1.0" encoding="UTF-8" standalone="yes"?>
<Relationships xmlns="http://schemas.openxmlformats.org/package/2006/relationships"><Relationship Id="rId8" Type="http://schemas.openxmlformats.org/officeDocument/2006/relationships/image" Target="../media/image79.svg"/><Relationship Id="rId13" Type="http://schemas.openxmlformats.org/officeDocument/2006/relationships/image" Target="../media/image157.svg"/><Relationship Id="rId3" Type="http://schemas.openxmlformats.org/officeDocument/2006/relationships/notesSlide" Target="../notesSlides/notesSlide31.xml"/><Relationship Id="rId7" Type="http://schemas.openxmlformats.org/officeDocument/2006/relationships/image" Target="../media/image89.svg"/><Relationship Id="rId12" Type="http://schemas.openxmlformats.org/officeDocument/2006/relationships/image" Target="../media/image134.svg"/><Relationship Id="rId2" Type="http://schemas.openxmlformats.org/officeDocument/2006/relationships/slideLayout" Target="../slideLayouts/slideLayout31.xml"/><Relationship Id="rId1" Type="http://schemas.openxmlformats.org/officeDocument/2006/relationships/tags" Target="../tags/tag62.xml"/><Relationship Id="rId6" Type="http://schemas.openxmlformats.org/officeDocument/2006/relationships/image" Target="../media/image90.svg"/><Relationship Id="rId11" Type="http://schemas.openxmlformats.org/officeDocument/2006/relationships/image" Target="../media/image50.svg"/><Relationship Id="rId5" Type="http://schemas.openxmlformats.org/officeDocument/2006/relationships/image" Target="../media/image88.svg"/><Relationship Id="rId10" Type="http://schemas.openxmlformats.org/officeDocument/2006/relationships/image" Target="../media/image95.svg"/><Relationship Id="rId4" Type="http://schemas.openxmlformats.org/officeDocument/2006/relationships/image" Target="../media/image91.svg"/><Relationship Id="rId9" Type="http://schemas.openxmlformats.org/officeDocument/2006/relationships/image" Target="../media/image15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73" y="0"/>
            <a:ext cx="6858000" cy="6858000"/>
          </a:xfrm>
          <a:prstGeom prst="rect">
            <a:avLst/>
          </a:prstGeom>
        </p:spPr>
      </p:pic>
      <p:sp>
        <p:nvSpPr>
          <p:cNvPr id="4" name="Title 3">
            <a:extLst>
              <a:ext uri="{FF2B5EF4-FFF2-40B4-BE49-F238E27FC236}">
                <a16:creationId xmlns:a16="http://schemas.microsoft.com/office/drawing/2014/main" id="{1E39F0E3-8C0D-B9FB-C5FC-26F66EBAD397}"/>
              </a:ext>
            </a:extLst>
          </p:cNvPr>
          <p:cNvSpPr>
            <a:spLocks noGrp="1"/>
          </p:cNvSpPr>
          <p:nvPr>
            <p:ph type="ctrTitle"/>
          </p:nvPr>
        </p:nvSpPr>
        <p:spPr>
          <a:xfrm>
            <a:off x="7178860" y="1890117"/>
            <a:ext cx="4840224" cy="2092881"/>
          </a:xfrm>
        </p:spPr>
        <p:txBody>
          <a:bodyPr/>
          <a:lstStyle/>
          <a:p>
            <a:r>
              <a:rPr lang="de-DE">
                <a:solidFill>
                  <a:srgbClr val="D50C2F"/>
                </a:solidFill>
              </a:rPr>
              <a:t>Digital </a:t>
            </a:r>
            <a:r>
              <a:rPr lang="de-DE" dirty="0">
                <a:solidFill>
                  <a:srgbClr val="D50C2F"/>
                </a:solidFill>
              </a:rPr>
              <a:t>Technologies</a:t>
            </a:r>
            <a:br>
              <a:rPr lang="de-DE" dirty="0">
                <a:solidFill>
                  <a:srgbClr val="D50C2F"/>
                </a:solidFill>
              </a:rPr>
            </a:br>
            <a:br>
              <a:rPr lang="en-US" dirty="0">
                <a:solidFill>
                  <a:srgbClr val="FF0000"/>
                </a:solidFill>
              </a:rPr>
            </a:br>
            <a:r>
              <a:rPr lang="en-US" sz="2400" dirty="0">
                <a:solidFill>
                  <a:srgbClr val="FF0000"/>
                </a:solidFill>
              </a:rPr>
              <a:t>Distributed </a:t>
            </a:r>
            <a:r>
              <a:rPr lang="en-US" sz="2400" dirty="0" err="1">
                <a:solidFill>
                  <a:srgbClr val="FF0000"/>
                </a:solidFill>
              </a:rPr>
              <a:t>Systems,Basic</a:t>
            </a:r>
            <a:r>
              <a:rPr lang="en-US" sz="2400" dirty="0">
                <a:solidFill>
                  <a:srgbClr val="FF0000"/>
                </a:solidFill>
              </a:rPr>
              <a:t> Infrastructure, and Cloud Computing</a:t>
            </a:r>
            <a:endParaRPr lang="en-US" dirty="0">
              <a:solidFill>
                <a:srgbClr val="FF0000"/>
              </a:solidFill>
            </a:endParaRPr>
          </a:p>
        </p:txBody>
      </p:sp>
      <p:sp>
        <p:nvSpPr>
          <p:cNvPr id="5" name="Subtitle 4">
            <a:extLst>
              <a:ext uri="{FF2B5EF4-FFF2-40B4-BE49-F238E27FC236}">
                <a16:creationId xmlns:a16="http://schemas.microsoft.com/office/drawing/2014/main" id="{9D07C4BB-AF59-5A16-7633-E602C0400043}"/>
              </a:ext>
            </a:extLst>
          </p:cNvPr>
          <p:cNvSpPr>
            <a:spLocks noGrp="1"/>
          </p:cNvSpPr>
          <p:nvPr>
            <p:ph type="subTitle" idx="4"/>
          </p:nvPr>
        </p:nvSpPr>
        <p:spPr>
          <a:xfrm>
            <a:off x="7178860" y="5143000"/>
            <a:ext cx="4745140" cy="830997"/>
          </a:xfrm>
        </p:spPr>
        <p:txBody>
          <a:bodyPr/>
          <a:lstStyle/>
          <a:p>
            <a:r>
              <a:rPr lang="en-US" dirty="0"/>
              <a:t>Prof. Dr.-Ing. Sebastian Schlesinger</a:t>
            </a:r>
          </a:p>
          <a:p>
            <a:r>
              <a:rPr lang="en-US" dirty="0"/>
              <a:t>Professor of Business Computer Science </a:t>
            </a:r>
          </a:p>
          <a:p>
            <a:r>
              <a:rPr lang="en-US" dirty="0"/>
              <a:t>Cybersecurity and Embedded Systems Engineering</a:t>
            </a:r>
          </a:p>
        </p:txBody>
      </p:sp>
    </p:spTree>
    <p:extLst>
      <p:ext uri="{BB962C8B-B14F-4D97-AF65-F5344CB8AC3E}">
        <p14:creationId xmlns:p14="http://schemas.microsoft.com/office/powerpoint/2010/main" val="1254934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62558-1087-8FE9-09E5-6829DA4BAAEE}"/>
              </a:ext>
            </a:extLst>
          </p:cNvPr>
          <p:cNvSpPr>
            <a:spLocks noGrp="1"/>
          </p:cNvSpPr>
          <p:nvPr>
            <p:ph type="title"/>
          </p:nvPr>
        </p:nvSpPr>
        <p:spPr>
          <a:xfrm>
            <a:off x="311150" y="275272"/>
            <a:ext cx="7772400" cy="1477328"/>
          </a:xfrm>
        </p:spPr>
        <p:txBody>
          <a:bodyPr/>
          <a:lstStyle/>
          <a:p>
            <a:r>
              <a:rPr lang="en-DE"/>
              <a:t>From Sequential Processing to Distributed Systems</a:t>
            </a:r>
          </a:p>
        </p:txBody>
      </p:sp>
      <p:pic>
        <p:nvPicPr>
          <p:cNvPr id="4" name="Picture 3">
            <a:extLst>
              <a:ext uri="{FF2B5EF4-FFF2-40B4-BE49-F238E27FC236}">
                <a16:creationId xmlns:a16="http://schemas.microsoft.com/office/drawing/2014/main" id="{6D2BDC29-FED0-62A6-83E5-6D0D365C16CF}"/>
              </a:ext>
            </a:extLst>
          </p:cNvPr>
          <p:cNvPicPr>
            <a:picLocks noChangeAspect="1"/>
          </p:cNvPicPr>
          <p:nvPr/>
        </p:nvPicPr>
        <p:blipFill>
          <a:blip r:embed="rId2"/>
          <a:stretch>
            <a:fillRect/>
          </a:stretch>
        </p:blipFill>
        <p:spPr>
          <a:xfrm>
            <a:off x="2749550" y="1905000"/>
            <a:ext cx="7772400" cy="2443677"/>
          </a:xfrm>
          <a:prstGeom prst="rect">
            <a:avLst/>
          </a:prstGeom>
        </p:spPr>
      </p:pic>
      <p:sp>
        <p:nvSpPr>
          <p:cNvPr id="5" name="Right Arrow 4">
            <a:extLst>
              <a:ext uri="{FF2B5EF4-FFF2-40B4-BE49-F238E27FC236}">
                <a16:creationId xmlns:a16="http://schemas.microsoft.com/office/drawing/2014/main" id="{560EC2E9-D7D2-C764-BDC1-F113611B1CA5}"/>
              </a:ext>
            </a:extLst>
          </p:cNvPr>
          <p:cNvSpPr/>
          <p:nvPr/>
        </p:nvSpPr>
        <p:spPr>
          <a:xfrm>
            <a:off x="3206750" y="4724400"/>
            <a:ext cx="7162800" cy="152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 name="TextBox 5">
            <a:extLst>
              <a:ext uri="{FF2B5EF4-FFF2-40B4-BE49-F238E27FC236}">
                <a16:creationId xmlns:a16="http://schemas.microsoft.com/office/drawing/2014/main" id="{F611C321-2AED-A4BA-312C-543FC9C73774}"/>
              </a:ext>
            </a:extLst>
          </p:cNvPr>
          <p:cNvSpPr txBox="1"/>
          <p:nvPr/>
        </p:nvSpPr>
        <p:spPr>
          <a:xfrm>
            <a:off x="6102350" y="5181600"/>
            <a:ext cx="2590800" cy="646331"/>
          </a:xfrm>
          <a:prstGeom prst="rect">
            <a:avLst/>
          </a:prstGeom>
          <a:noFill/>
        </p:spPr>
        <p:txBody>
          <a:bodyPr wrap="square" rtlCol="0">
            <a:spAutoFit/>
          </a:bodyPr>
          <a:lstStyle/>
          <a:p>
            <a:r>
              <a:rPr lang="en-GB"/>
              <a:t>I</a:t>
            </a:r>
            <a:r>
              <a:rPr lang="en-DE"/>
              <a:t>ncreased parallelism, big data use case</a:t>
            </a:r>
          </a:p>
        </p:txBody>
      </p:sp>
      <p:sp>
        <p:nvSpPr>
          <p:cNvPr id="7" name="TextBox 6">
            <a:extLst>
              <a:ext uri="{FF2B5EF4-FFF2-40B4-BE49-F238E27FC236}">
                <a16:creationId xmlns:a16="http://schemas.microsoft.com/office/drawing/2014/main" id="{4BE76CF2-D53D-CDC3-C7D9-82065BD0E928}"/>
              </a:ext>
            </a:extLst>
          </p:cNvPr>
          <p:cNvSpPr txBox="1"/>
          <p:nvPr/>
        </p:nvSpPr>
        <p:spPr>
          <a:xfrm>
            <a:off x="1911350" y="4131745"/>
            <a:ext cx="2590800" cy="369332"/>
          </a:xfrm>
          <a:prstGeom prst="rect">
            <a:avLst/>
          </a:prstGeom>
          <a:noFill/>
        </p:spPr>
        <p:txBody>
          <a:bodyPr wrap="square" rtlCol="0">
            <a:spAutoFit/>
          </a:bodyPr>
          <a:lstStyle/>
          <a:p>
            <a:r>
              <a:rPr lang="en-US"/>
              <a:t>Sequential processing</a:t>
            </a:r>
            <a:endParaRPr lang="en-DE"/>
          </a:p>
        </p:txBody>
      </p:sp>
      <p:sp>
        <p:nvSpPr>
          <p:cNvPr id="8" name="TextBox 7">
            <a:extLst>
              <a:ext uri="{FF2B5EF4-FFF2-40B4-BE49-F238E27FC236}">
                <a16:creationId xmlns:a16="http://schemas.microsoft.com/office/drawing/2014/main" id="{B6115D30-0D6A-6735-C42F-3CD58741FDE3}"/>
              </a:ext>
            </a:extLst>
          </p:cNvPr>
          <p:cNvSpPr txBox="1"/>
          <p:nvPr/>
        </p:nvSpPr>
        <p:spPr>
          <a:xfrm>
            <a:off x="4349750" y="4131745"/>
            <a:ext cx="2590800" cy="646331"/>
          </a:xfrm>
          <a:prstGeom prst="rect">
            <a:avLst/>
          </a:prstGeom>
          <a:noFill/>
        </p:spPr>
        <p:txBody>
          <a:bodyPr wrap="square" rtlCol="0">
            <a:spAutoFit/>
          </a:bodyPr>
          <a:lstStyle/>
          <a:p>
            <a:r>
              <a:rPr lang="en-US"/>
              <a:t>Multithreading, Multicore</a:t>
            </a:r>
            <a:endParaRPr lang="en-DE"/>
          </a:p>
        </p:txBody>
      </p:sp>
      <p:sp>
        <p:nvSpPr>
          <p:cNvPr id="9" name="TextBox 8">
            <a:extLst>
              <a:ext uri="{FF2B5EF4-FFF2-40B4-BE49-F238E27FC236}">
                <a16:creationId xmlns:a16="http://schemas.microsoft.com/office/drawing/2014/main" id="{35285F10-247E-C0F9-A6C9-63A6DBC1B410}"/>
              </a:ext>
            </a:extLst>
          </p:cNvPr>
          <p:cNvSpPr txBox="1"/>
          <p:nvPr/>
        </p:nvSpPr>
        <p:spPr>
          <a:xfrm>
            <a:off x="7500353" y="4364174"/>
            <a:ext cx="2590800" cy="369332"/>
          </a:xfrm>
          <a:prstGeom prst="rect">
            <a:avLst/>
          </a:prstGeom>
          <a:noFill/>
        </p:spPr>
        <p:txBody>
          <a:bodyPr wrap="square" rtlCol="0">
            <a:spAutoFit/>
          </a:bodyPr>
          <a:lstStyle/>
          <a:p>
            <a:r>
              <a:rPr lang="en-US"/>
              <a:t>Distributed System</a:t>
            </a:r>
            <a:endParaRPr lang="en-DE"/>
          </a:p>
        </p:txBody>
      </p:sp>
    </p:spTree>
    <p:extLst>
      <p:ext uri="{BB962C8B-B14F-4D97-AF65-F5344CB8AC3E}">
        <p14:creationId xmlns:p14="http://schemas.microsoft.com/office/powerpoint/2010/main" val="3795207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1D5E4-7635-1F56-159D-A7F2256A3139}"/>
              </a:ext>
            </a:extLst>
          </p:cNvPr>
          <p:cNvSpPr>
            <a:spLocks noGrp="1"/>
          </p:cNvSpPr>
          <p:nvPr>
            <p:ph type="title"/>
          </p:nvPr>
        </p:nvSpPr>
        <p:spPr>
          <a:xfrm>
            <a:off x="346048" y="1031239"/>
            <a:ext cx="7508901" cy="984885"/>
          </a:xfrm>
        </p:spPr>
        <p:txBody>
          <a:bodyPr/>
          <a:lstStyle/>
          <a:p>
            <a:r>
              <a:rPr lang="en-DE"/>
              <a:t>Enabling Technology: Virtualisation</a:t>
            </a:r>
          </a:p>
        </p:txBody>
      </p:sp>
      <p:pic>
        <p:nvPicPr>
          <p:cNvPr id="3" name="Picture 2">
            <a:extLst>
              <a:ext uri="{FF2B5EF4-FFF2-40B4-BE49-F238E27FC236}">
                <a16:creationId xmlns:a16="http://schemas.microsoft.com/office/drawing/2014/main" id="{57E7F4DC-3084-9870-929B-E16234746114}"/>
              </a:ext>
            </a:extLst>
          </p:cNvPr>
          <p:cNvPicPr>
            <a:picLocks noChangeAspect="1"/>
          </p:cNvPicPr>
          <p:nvPr/>
        </p:nvPicPr>
        <p:blipFill>
          <a:blip r:embed="rId2"/>
          <a:stretch>
            <a:fillRect/>
          </a:stretch>
        </p:blipFill>
        <p:spPr>
          <a:xfrm>
            <a:off x="1345818" y="1782615"/>
            <a:ext cx="7772400" cy="4658861"/>
          </a:xfrm>
          <a:prstGeom prst="rect">
            <a:avLst/>
          </a:prstGeom>
        </p:spPr>
      </p:pic>
      <p:sp>
        <p:nvSpPr>
          <p:cNvPr id="7" name="TextBox 6">
            <a:extLst>
              <a:ext uri="{FF2B5EF4-FFF2-40B4-BE49-F238E27FC236}">
                <a16:creationId xmlns:a16="http://schemas.microsoft.com/office/drawing/2014/main" id="{A21FB27C-3991-1679-D46F-0277F8CDF038}"/>
              </a:ext>
            </a:extLst>
          </p:cNvPr>
          <p:cNvSpPr txBox="1"/>
          <p:nvPr/>
        </p:nvSpPr>
        <p:spPr>
          <a:xfrm>
            <a:off x="1467998" y="6611779"/>
            <a:ext cx="6108852" cy="246221"/>
          </a:xfrm>
          <a:prstGeom prst="rect">
            <a:avLst/>
          </a:prstGeom>
          <a:noFill/>
        </p:spPr>
        <p:txBody>
          <a:bodyPr wrap="square">
            <a:spAutoFit/>
          </a:bodyPr>
          <a:lstStyle/>
          <a:p>
            <a:r>
              <a:rPr lang="en-DE" sz="1000" dirty="0"/>
              <a:t>Source: https://www.ionos.ca/digitalguide/server/know-how/virtual-machines/</a:t>
            </a:r>
          </a:p>
        </p:txBody>
      </p:sp>
    </p:spTree>
    <p:extLst>
      <p:ext uri="{BB962C8B-B14F-4D97-AF65-F5344CB8AC3E}">
        <p14:creationId xmlns:p14="http://schemas.microsoft.com/office/powerpoint/2010/main" val="1378467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4E305-87AE-903D-40BC-42957967D65E}"/>
              </a:ext>
            </a:extLst>
          </p:cNvPr>
          <p:cNvSpPr>
            <a:spLocks noGrp="1"/>
          </p:cNvSpPr>
          <p:nvPr>
            <p:ph type="title"/>
          </p:nvPr>
        </p:nvSpPr>
        <p:spPr/>
        <p:txBody>
          <a:bodyPr/>
          <a:lstStyle/>
          <a:p>
            <a:r>
              <a:rPr lang="en-DE"/>
              <a:t>Why Virtualization?</a:t>
            </a:r>
          </a:p>
        </p:txBody>
      </p:sp>
      <p:sp>
        <p:nvSpPr>
          <p:cNvPr id="3" name="Text Placeholder 2">
            <a:extLst>
              <a:ext uri="{FF2B5EF4-FFF2-40B4-BE49-F238E27FC236}">
                <a16:creationId xmlns:a16="http://schemas.microsoft.com/office/drawing/2014/main" id="{2BC0D954-3344-9B7B-7E50-82535DE5760F}"/>
              </a:ext>
            </a:extLst>
          </p:cNvPr>
          <p:cNvSpPr>
            <a:spLocks noGrp="1"/>
          </p:cNvSpPr>
          <p:nvPr>
            <p:ph type="body" idx="1"/>
          </p:nvPr>
        </p:nvSpPr>
        <p:spPr>
          <a:xfrm>
            <a:off x="615950" y="1828800"/>
            <a:ext cx="5323205" cy="369332"/>
          </a:xfrm>
        </p:spPr>
        <p:txBody>
          <a:bodyPr/>
          <a:lstStyle/>
          <a:p>
            <a:r>
              <a:rPr lang="en-DE" sz="2400"/>
              <a:t>What do you think?</a:t>
            </a:r>
          </a:p>
        </p:txBody>
      </p:sp>
      <p:sp>
        <p:nvSpPr>
          <p:cNvPr id="4" name="Text Placeholder 2">
            <a:extLst>
              <a:ext uri="{FF2B5EF4-FFF2-40B4-BE49-F238E27FC236}">
                <a16:creationId xmlns:a16="http://schemas.microsoft.com/office/drawing/2014/main" id="{B200C369-8294-32A7-01C1-E535CAB918B2}"/>
              </a:ext>
            </a:extLst>
          </p:cNvPr>
          <p:cNvSpPr txBox="1">
            <a:spLocks/>
          </p:cNvSpPr>
          <p:nvPr/>
        </p:nvSpPr>
        <p:spPr>
          <a:xfrm>
            <a:off x="615950" y="2407185"/>
            <a:ext cx="6604899" cy="3693319"/>
          </a:xfrm>
          <a:prstGeom prst="rect">
            <a:avLst/>
          </a:prstGeom>
        </p:spPr>
        <p:txBody>
          <a:bodyPr wrap="square" lIns="0" tIns="0" rIns="0" bIns="0">
            <a:sp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DE" sz="2400" dirty="0"/>
              <a:t>Virtualization: Generation of virtual realities and mapping to the physical reality</a:t>
            </a:r>
          </a:p>
          <a:p>
            <a:endParaRPr lang="en-DE" sz="2400" dirty="0"/>
          </a:p>
          <a:p>
            <a:r>
              <a:rPr lang="en-DE" sz="2400" dirty="0"/>
              <a:t>Purposes:</a:t>
            </a:r>
          </a:p>
          <a:p>
            <a:pPr marL="285750" indent="-285750">
              <a:buFontTx/>
              <a:buChar char="-"/>
            </a:pPr>
            <a:r>
              <a:rPr lang="en-DE" sz="2400" dirty="0"/>
              <a:t>Multiplicity: Generation of multiple realities within a physical reality</a:t>
            </a:r>
          </a:p>
          <a:p>
            <a:pPr marL="285750" indent="-285750">
              <a:buFontTx/>
              <a:buChar char="-"/>
            </a:pPr>
            <a:r>
              <a:rPr lang="en-DE" sz="2400" dirty="0"/>
              <a:t>Decoupling: Resolve dependencies to the virtual reality</a:t>
            </a:r>
          </a:p>
          <a:p>
            <a:pPr marL="285750" indent="-285750">
              <a:buFontTx/>
              <a:buChar char="-"/>
            </a:pPr>
            <a:r>
              <a:rPr lang="en-DE" sz="2400" dirty="0"/>
              <a:t>Isolation: Avoid physical side effects between virtual realities</a:t>
            </a:r>
          </a:p>
        </p:txBody>
      </p:sp>
      <p:pic>
        <p:nvPicPr>
          <p:cNvPr id="5" name="Picture 4">
            <a:extLst>
              <a:ext uri="{FF2B5EF4-FFF2-40B4-BE49-F238E27FC236}">
                <a16:creationId xmlns:a16="http://schemas.microsoft.com/office/drawing/2014/main" id="{3804725D-0955-A719-95AC-4ABDF0038D81}"/>
              </a:ext>
            </a:extLst>
          </p:cNvPr>
          <p:cNvPicPr>
            <a:picLocks noChangeAspect="1"/>
          </p:cNvPicPr>
          <p:nvPr/>
        </p:nvPicPr>
        <p:blipFill>
          <a:blip r:embed="rId2"/>
          <a:srcRect l="18714" r="29678" b="2"/>
          <a:stretch>
            <a:fillRect/>
          </a:stretch>
        </p:blipFill>
        <p:spPr>
          <a:xfrm>
            <a:off x="7449577" y="2090892"/>
            <a:ext cx="4332033" cy="3693319"/>
          </a:xfrm>
          <a:prstGeom prst="rect">
            <a:avLst/>
          </a:prstGeom>
          <a:noFill/>
        </p:spPr>
      </p:pic>
    </p:spTree>
    <p:extLst>
      <p:ext uri="{BB962C8B-B14F-4D97-AF65-F5344CB8AC3E}">
        <p14:creationId xmlns:p14="http://schemas.microsoft.com/office/powerpoint/2010/main" val="4138955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79F79-3D40-7053-07A8-8A2C7E8F0916}"/>
              </a:ext>
            </a:extLst>
          </p:cNvPr>
          <p:cNvSpPr>
            <a:spLocks noGrp="1"/>
          </p:cNvSpPr>
          <p:nvPr>
            <p:ph type="title"/>
          </p:nvPr>
        </p:nvSpPr>
        <p:spPr/>
        <p:txBody>
          <a:bodyPr/>
          <a:lstStyle/>
          <a:p>
            <a:r>
              <a:rPr lang="en-DE" dirty="0"/>
              <a:t>Meet Docker</a:t>
            </a:r>
          </a:p>
        </p:txBody>
      </p:sp>
      <p:pic>
        <p:nvPicPr>
          <p:cNvPr id="4" name="Picture 3">
            <a:extLst>
              <a:ext uri="{FF2B5EF4-FFF2-40B4-BE49-F238E27FC236}">
                <a16:creationId xmlns:a16="http://schemas.microsoft.com/office/drawing/2014/main" id="{2D2514D1-3D11-54E5-0D0E-BEF93A95FEDA}"/>
              </a:ext>
            </a:extLst>
          </p:cNvPr>
          <p:cNvPicPr>
            <a:picLocks noChangeAspect="1"/>
          </p:cNvPicPr>
          <p:nvPr/>
        </p:nvPicPr>
        <p:blipFill>
          <a:blip r:embed="rId2"/>
          <a:stretch>
            <a:fillRect/>
          </a:stretch>
        </p:blipFill>
        <p:spPr>
          <a:xfrm>
            <a:off x="1973411" y="2094816"/>
            <a:ext cx="8257877" cy="3990614"/>
          </a:xfrm>
          <a:prstGeom prst="rect">
            <a:avLst/>
          </a:prstGeom>
        </p:spPr>
      </p:pic>
    </p:spTree>
    <p:extLst>
      <p:ext uri="{BB962C8B-B14F-4D97-AF65-F5344CB8AC3E}">
        <p14:creationId xmlns:p14="http://schemas.microsoft.com/office/powerpoint/2010/main" val="2337439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1865A-5D40-2F53-7230-72D110A72EB1}"/>
              </a:ext>
            </a:extLst>
          </p:cNvPr>
          <p:cNvSpPr>
            <a:spLocks noGrp="1"/>
          </p:cNvSpPr>
          <p:nvPr>
            <p:ph type="title"/>
          </p:nvPr>
        </p:nvSpPr>
        <p:spPr>
          <a:xfrm>
            <a:off x="346048" y="1031239"/>
            <a:ext cx="7889901" cy="492443"/>
          </a:xfrm>
        </p:spPr>
        <p:txBody>
          <a:bodyPr/>
          <a:lstStyle/>
          <a:p>
            <a:r>
              <a:rPr lang="en-US"/>
              <a:t>Containerization</a:t>
            </a:r>
            <a:r>
              <a:rPr lang="en-DE"/>
              <a:t> vs. Hypervisor</a:t>
            </a:r>
          </a:p>
        </p:txBody>
      </p:sp>
      <p:sp>
        <p:nvSpPr>
          <p:cNvPr id="4" name="Text Placeholder 2">
            <a:extLst>
              <a:ext uri="{FF2B5EF4-FFF2-40B4-BE49-F238E27FC236}">
                <a16:creationId xmlns:a16="http://schemas.microsoft.com/office/drawing/2014/main" id="{0862E56A-15AB-3CA7-57DE-4E7E2FA8A45F}"/>
              </a:ext>
            </a:extLst>
          </p:cNvPr>
          <p:cNvSpPr txBox="1">
            <a:spLocks/>
          </p:cNvSpPr>
          <p:nvPr/>
        </p:nvSpPr>
        <p:spPr>
          <a:xfrm>
            <a:off x="346048" y="2505670"/>
            <a:ext cx="11049000" cy="3164841"/>
          </a:xfrm>
          <a:prstGeom prst="rect">
            <a:avLst/>
          </a:prstGeom>
        </p:spPr>
        <p:txBody>
          <a:bodyPr wrap="square" lIns="0" tIns="0" rIns="0" bIns="0">
            <a:sp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nSpc>
                <a:spcPct val="150000"/>
              </a:lnSpc>
              <a:buFont typeface="Arial" panose="020B0604020202020204" pitchFamily="34" charset="0"/>
              <a:buChar char="•"/>
            </a:pPr>
            <a:r>
              <a:rPr lang="en-DE" sz="2800" dirty="0"/>
              <a:t>Full Virtualization is heavy (virtual copy of entire os, significant RAM and CPU resources, difficult to dynamically change)</a:t>
            </a:r>
          </a:p>
          <a:p>
            <a:pPr marL="342900" indent="-342900">
              <a:lnSpc>
                <a:spcPct val="150000"/>
              </a:lnSpc>
              <a:buFont typeface="Arial" panose="020B0604020202020204" pitchFamily="34" charset="0"/>
              <a:buChar char="•"/>
            </a:pPr>
            <a:r>
              <a:rPr lang="en-GB" sz="2800" dirty="0"/>
              <a:t>S</a:t>
            </a:r>
            <a:r>
              <a:rPr lang="en-DE" sz="2800" dirty="0"/>
              <a:t>oftware development more complex and less agile</a:t>
            </a:r>
          </a:p>
          <a:p>
            <a:pPr marL="342900" indent="-342900">
              <a:lnSpc>
                <a:spcPct val="150000"/>
              </a:lnSpc>
              <a:buFont typeface="Arial" panose="020B0604020202020204" pitchFamily="34" charset="0"/>
              <a:buChar char="•"/>
            </a:pPr>
            <a:r>
              <a:rPr lang="en-GB" sz="2800" dirty="0"/>
              <a:t>I</a:t>
            </a:r>
            <a:r>
              <a:rPr lang="en-DE" sz="2800" dirty="0"/>
              <a:t>mages big -&gt; portability issues</a:t>
            </a:r>
          </a:p>
          <a:p>
            <a:pPr marL="342900" indent="-342900">
              <a:lnSpc>
                <a:spcPct val="150000"/>
              </a:lnSpc>
              <a:buFont typeface="Arial" panose="020B0604020202020204" pitchFamily="34" charset="0"/>
              <a:buChar char="•"/>
            </a:pPr>
            <a:r>
              <a:rPr lang="en-GB" sz="2800" dirty="0"/>
              <a:t>C</a:t>
            </a:r>
            <a:r>
              <a:rPr lang="en-DE" sz="2800" dirty="0"/>
              <a:t>ompatibility between VM solutions</a:t>
            </a:r>
          </a:p>
        </p:txBody>
      </p:sp>
    </p:spTree>
    <p:extLst>
      <p:ext uri="{BB962C8B-B14F-4D97-AF65-F5344CB8AC3E}">
        <p14:creationId xmlns:p14="http://schemas.microsoft.com/office/powerpoint/2010/main" val="755707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477AB-2AFF-3504-D1C3-65DDFAF1F307}"/>
              </a:ext>
            </a:extLst>
          </p:cNvPr>
          <p:cNvSpPr>
            <a:spLocks noGrp="1"/>
          </p:cNvSpPr>
          <p:nvPr>
            <p:ph type="title"/>
          </p:nvPr>
        </p:nvSpPr>
        <p:spPr/>
        <p:txBody>
          <a:bodyPr/>
          <a:lstStyle/>
          <a:p>
            <a:r>
              <a:rPr lang="en-DE" dirty="0"/>
              <a:t>Deployment Types</a:t>
            </a:r>
          </a:p>
        </p:txBody>
      </p:sp>
      <p:pic>
        <p:nvPicPr>
          <p:cNvPr id="4" name="Picture 3">
            <a:extLst>
              <a:ext uri="{FF2B5EF4-FFF2-40B4-BE49-F238E27FC236}">
                <a16:creationId xmlns:a16="http://schemas.microsoft.com/office/drawing/2014/main" id="{0B8BFD1C-4337-1899-3A71-E816CED2B911}"/>
              </a:ext>
            </a:extLst>
          </p:cNvPr>
          <p:cNvPicPr>
            <a:picLocks noChangeAspect="1"/>
          </p:cNvPicPr>
          <p:nvPr/>
        </p:nvPicPr>
        <p:blipFill>
          <a:blip r:embed="rId2"/>
          <a:stretch>
            <a:fillRect/>
          </a:stretch>
        </p:blipFill>
        <p:spPr>
          <a:xfrm>
            <a:off x="547620" y="2173184"/>
            <a:ext cx="11174727" cy="3964614"/>
          </a:xfrm>
          <a:prstGeom prst="rect">
            <a:avLst/>
          </a:prstGeom>
        </p:spPr>
      </p:pic>
    </p:spTree>
    <p:extLst>
      <p:ext uri="{BB962C8B-B14F-4D97-AF65-F5344CB8AC3E}">
        <p14:creationId xmlns:p14="http://schemas.microsoft.com/office/powerpoint/2010/main" val="3502855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1B2F1-CF64-B38A-0C8D-6877C3693F26}"/>
              </a:ext>
            </a:extLst>
          </p:cNvPr>
          <p:cNvSpPr>
            <a:spLocks noGrp="1"/>
          </p:cNvSpPr>
          <p:nvPr>
            <p:ph type="title"/>
          </p:nvPr>
        </p:nvSpPr>
        <p:spPr>
          <a:xfrm>
            <a:off x="346049" y="1031239"/>
            <a:ext cx="8020284" cy="492443"/>
          </a:xfrm>
        </p:spPr>
        <p:txBody>
          <a:bodyPr/>
          <a:lstStyle/>
          <a:p>
            <a:r>
              <a:rPr lang="en-DE" dirty="0"/>
              <a:t>What is Infrastructure as Code?</a:t>
            </a:r>
          </a:p>
        </p:txBody>
      </p:sp>
      <p:pic>
        <p:nvPicPr>
          <p:cNvPr id="4" name="Picture 3">
            <a:extLst>
              <a:ext uri="{FF2B5EF4-FFF2-40B4-BE49-F238E27FC236}">
                <a16:creationId xmlns:a16="http://schemas.microsoft.com/office/drawing/2014/main" id="{3E7F0C67-034F-C1ED-7E25-C45BD445ADD3}"/>
              </a:ext>
            </a:extLst>
          </p:cNvPr>
          <p:cNvPicPr>
            <a:picLocks noChangeAspect="1"/>
          </p:cNvPicPr>
          <p:nvPr/>
        </p:nvPicPr>
        <p:blipFill>
          <a:blip r:embed="rId2"/>
          <a:stretch>
            <a:fillRect/>
          </a:stretch>
        </p:blipFill>
        <p:spPr>
          <a:xfrm>
            <a:off x="1601610" y="2020562"/>
            <a:ext cx="9420121" cy="3691323"/>
          </a:xfrm>
          <a:prstGeom prst="rect">
            <a:avLst/>
          </a:prstGeom>
        </p:spPr>
      </p:pic>
    </p:spTree>
    <p:extLst>
      <p:ext uri="{BB962C8B-B14F-4D97-AF65-F5344CB8AC3E}">
        <p14:creationId xmlns:p14="http://schemas.microsoft.com/office/powerpoint/2010/main" val="3515688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CC75A-089E-CAF9-24AD-B8C97174060E}"/>
              </a:ext>
            </a:extLst>
          </p:cNvPr>
          <p:cNvSpPr>
            <a:spLocks noGrp="1"/>
          </p:cNvSpPr>
          <p:nvPr>
            <p:ph type="title"/>
          </p:nvPr>
        </p:nvSpPr>
        <p:spPr>
          <a:xfrm>
            <a:off x="346049" y="1031239"/>
            <a:ext cx="7515416" cy="984885"/>
          </a:xfrm>
        </p:spPr>
        <p:txBody>
          <a:bodyPr/>
          <a:lstStyle/>
          <a:p>
            <a:r>
              <a:rPr lang="en-DE" dirty="0"/>
              <a:t>From Monoliths to Microservices</a:t>
            </a:r>
          </a:p>
        </p:txBody>
      </p:sp>
      <p:pic>
        <p:nvPicPr>
          <p:cNvPr id="4" name="Picture 3">
            <a:extLst>
              <a:ext uri="{FF2B5EF4-FFF2-40B4-BE49-F238E27FC236}">
                <a16:creationId xmlns:a16="http://schemas.microsoft.com/office/drawing/2014/main" id="{AB5174EB-F13C-03AA-5A27-46C4C83BD12D}"/>
              </a:ext>
            </a:extLst>
          </p:cNvPr>
          <p:cNvPicPr>
            <a:picLocks noChangeAspect="1"/>
          </p:cNvPicPr>
          <p:nvPr/>
        </p:nvPicPr>
        <p:blipFill>
          <a:blip r:embed="rId2"/>
          <a:stretch>
            <a:fillRect/>
          </a:stretch>
        </p:blipFill>
        <p:spPr>
          <a:xfrm>
            <a:off x="2216150" y="1970303"/>
            <a:ext cx="7772400" cy="3856458"/>
          </a:xfrm>
          <a:prstGeom prst="rect">
            <a:avLst/>
          </a:prstGeom>
        </p:spPr>
      </p:pic>
    </p:spTree>
    <p:extLst>
      <p:ext uri="{BB962C8B-B14F-4D97-AF65-F5344CB8AC3E}">
        <p14:creationId xmlns:p14="http://schemas.microsoft.com/office/powerpoint/2010/main" val="4205189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57D12-2395-106D-537E-920A75E32B36}"/>
              </a:ext>
            </a:extLst>
          </p:cNvPr>
          <p:cNvSpPr>
            <a:spLocks noGrp="1"/>
          </p:cNvSpPr>
          <p:nvPr>
            <p:ph type="title"/>
          </p:nvPr>
        </p:nvSpPr>
        <p:spPr>
          <a:xfrm>
            <a:off x="346430" y="533400"/>
            <a:ext cx="8651901" cy="2462213"/>
          </a:xfrm>
        </p:spPr>
        <p:txBody>
          <a:bodyPr/>
          <a:lstStyle/>
          <a:p>
            <a:r>
              <a:rPr lang="en-DE"/>
              <a:t>Orchestrator as interface between application as code and running application</a:t>
            </a:r>
          </a:p>
        </p:txBody>
      </p:sp>
      <p:sp>
        <p:nvSpPr>
          <p:cNvPr id="3" name="Text Placeholder 2">
            <a:extLst>
              <a:ext uri="{FF2B5EF4-FFF2-40B4-BE49-F238E27FC236}">
                <a16:creationId xmlns:a16="http://schemas.microsoft.com/office/drawing/2014/main" id="{8856C9C6-4F68-D5AE-1CDF-4239B0B1295E}"/>
              </a:ext>
            </a:extLst>
          </p:cNvPr>
          <p:cNvSpPr>
            <a:spLocks noGrp="1"/>
          </p:cNvSpPr>
          <p:nvPr>
            <p:ph type="body" idx="1"/>
          </p:nvPr>
        </p:nvSpPr>
        <p:spPr>
          <a:xfrm>
            <a:off x="1835150" y="2133600"/>
            <a:ext cx="3962400" cy="1107996"/>
          </a:xfrm>
          <a:solidFill>
            <a:schemeClr val="accent1"/>
          </a:solidFill>
        </p:spPr>
        <p:txBody>
          <a:bodyPr lIns="144000"/>
          <a:lstStyle/>
          <a:p>
            <a:r>
              <a:rPr lang="en-DE" dirty="0">
                <a:solidFill>
                  <a:schemeClr val="bg1"/>
                </a:solidFill>
              </a:rPr>
              <a:t>Application Blueprint</a:t>
            </a:r>
          </a:p>
          <a:p>
            <a:pPr marL="285750" indent="-285750">
              <a:buFont typeface="Arial" panose="020B0604020202020204" pitchFamily="34" charset="0"/>
              <a:buChar char="•"/>
            </a:pPr>
            <a:r>
              <a:rPr lang="en-GB" dirty="0">
                <a:solidFill>
                  <a:schemeClr val="bg1"/>
                </a:solidFill>
              </a:rPr>
              <a:t>D</a:t>
            </a:r>
            <a:r>
              <a:rPr lang="en-DE" dirty="0">
                <a:solidFill>
                  <a:schemeClr val="bg1"/>
                </a:solidFill>
              </a:rPr>
              <a:t>esired target state</a:t>
            </a:r>
          </a:p>
          <a:p>
            <a:pPr marL="285750" indent="-285750">
              <a:buFont typeface="Arial" panose="020B0604020202020204" pitchFamily="34" charset="0"/>
              <a:buChar char="•"/>
            </a:pPr>
            <a:r>
              <a:rPr lang="en-GB" dirty="0">
                <a:solidFill>
                  <a:schemeClr val="bg1"/>
                </a:solidFill>
              </a:rPr>
              <a:t>C</a:t>
            </a:r>
            <a:r>
              <a:rPr lang="en-DE" dirty="0">
                <a:solidFill>
                  <a:schemeClr val="bg1"/>
                </a:solidFill>
              </a:rPr>
              <a:t>omponents (container)</a:t>
            </a:r>
          </a:p>
          <a:p>
            <a:pPr marL="285750" indent="-285750">
              <a:buFont typeface="Arial" panose="020B0604020202020204" pitchFamily="34" charset="0"/>
              <a:buChar char="•"/>
            </a:pPr>
            <a:r>
              <a:rPr lang="en-GB" dirty="0">
                <a:solidFill>
                  <a:schemeClr val="bg1"/>
                </a:solidFill>
              </a:rPr>
              <a:t>R</a:t>
            </a:r>
            <a:r>
              <a:rPr lang="en-DE" dirty="0">
                <a:solidFill>
                  <a:schemeClr val="bg1"/>
                </a:solidFill>
              </a:rPr>
              <a:t>equirements, interfaces</a:t>
            </a:r>
          </a:p>
        </p:txBody>
      </p:sp>
      <p:sp>
        <p:nvSpPr>
          <p:cNvPr id="4" name="Rectangle 3">
            <a:extLst>
              <a:ext uri="{FF2B5EF4-FFF2-40B4-BE49-F238E27FC236}">
                <a16:creationId xmlns:a16="http://schemas.microsoft.com/office/drawing/2014/main" id="{860C339B-C3CE-3046-6138-E0C303BCAFD3}"/>
              </a:ext>
            </a:extLst>
          </p:cNvPr>
          <p:cNvSpPr/>
          <p:nvPr/>
        </p:nvSpPr>
        <p:spPr>
          <a:xfrm>
            <a:off x="1758949" y="3922905"/>
            <a:ext cx="4044950" cy="4572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a:t>Orchestrator</a:t>
            </a:r>
          </a:p>
        </p:txBody>
      </p:sp>
      <p:sp>
        <p:nvSpPr>
          <p:cNvPr id="5" name="Down Arrow 4">
            <a:extLst>
              <a:ext uri="{FF2B5EF4-FFF2-40B4-BE49-F238E27FC236}">
                <a16:creationId xmlns:a16="http://schemas.microsoft.com/office/drawing/2014/main" id="{55177BD7-8A09-3048-233E-DADEC4C1B419}"/>
              </a:ext>
            </a:extLst>
          </p:cNvPr>
          <p:cNvSpPr/>
          <p:nvPr/>
        </p:nvSpPr>
        <p:spPr>
          <a:xfrm>
            <a:off x="3511550" y="3328054"/>
            <a:ext cx="330200" cy="433387"/>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 name="Text Placeholder 2">
            <a:extLst>
              <a:ext uri="{FF2B5EF4-FFF2-40B4-BE49-F238E27FC236}">
                <a16:creationId xmlns:a16="http://schemas.microsoft.com/office/drawing/2014/main" id="{6A3BE4D4-0EE2-B37C-D4F7-AA665916CF7C}"/>
              </a:ext>
            </a:extLst>
          </p:cNvPr>
          <p:cNvSpPr txBox="1">
            <a:spLocks/>
          </p:cNvSpPr>
          <p:nvPr/>
        </p:nvSpPr>
        <p:spPr>
          <a:xfrm>
            <a:off x="1758949" y="5133041"/>
            <a:ext cx="3962400" cy="276999"/>
          </a:xfrm>
          <a:prstGeom prst="rect">
            <a:avLst/>
          </a:prstGeom>
          <a:solidFill>
            <a:schemeClr val="accent1"/>
          </a:solidFill>
        </p:spPr>
        <p:txBody>
          <a:bodyPr wrap="square" lIns="144000" tIns="0" rIns="0" bIns="0">
            <a:sp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de-DE">
                <a:solidFill>
                  <a:schemeClr val="bg1"/>
                </a:solidFill>
              </a:rPr>
              <a:t>Controlling </a:t>
            </a:r>
            <a:r>
              <a:rPr lang="de-DE" err="1">
                <a:solidFill>
                  <a:schemeClr val="bg1"/>
                </a:solidFill>
              </a:rPr>
              <a:t>Activities</a:t>
            </a:r>
            <a:r>
              <a:rPr lang="de-DE">
                <a:solidFill>
                  <a:schemeClr val="bg1"/>
                </a:solidFill>
              </a:rPr>
              <a:t> in </a:t>
            </a:r>
            <a:r>
              <a:rPr lang="de-DE" err="1">
                <a:solidFill>
                  <a:schemeClr val="bg1"/>
                </a:solidFill>
              </a:rPr>
              <a:t>the</a:t>
            </a:r>
            <a:r>
              <a:rPr lang="de-DE">
                <a:solidFill>
                  <a:schemeClr val="bg1"/>
                </a:solidFill>
              </a:rPr>
              <a:t> </a:t>
            </a:r>
            <a:r>
              <a:rPr lang="de-DE" err="1">
                <a:solidFill>
                  <a:schemeClr val="bg1"/>
                </a:solidFill>
              </a:rPr>
              <a:t>cluster</a:t>
            </a:r>
            <a:endParaRPr lang="de-DE">
              <a:solidFill>
                <a:schemeClr val="bg1"/>
              </a:solidFill>
            </a:endParaRPr>
          </a:p>
        </p:txBody>
      </p:sp>
      <p:sp>
        <p:nvSpPr>
          <p:cNvPr id="7" name="Down Arrow 6">
            <a:extLst>
              <a:ext uri="{FF2B5EF4-FFF2-40B4-BE49-F238E27FC236}">
                <a16:creationId xmlns:a16="http://schemas.microsoft.com/office/drawing/2014/main" id="{E545156D-9146-1331-FE40-D0CE78A8338D}"/>
              </a:ext>
            </a:extLst>
          </p:cNvPr>
          <p:cNvSpPr/>
          <p:nvPr/>
        </p:nvSpPr>
        <p:spPr>
          <a:xfrm>
            <a:off x="3511550" y="4579187"/>
            <a:ext cx="330200" cy="433387"/>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8" name="TextBox 7">
            <a:extLst>
              <a:ext uri="{FF2B5EF4-FFF2-40B4-BE49-F238E27FC236}">
                <a16:creationId xmlns:a16="http://schemas.microsoft.com/office/drawing/2014/main" id="{D73BD565-7D26-90EB-7C90-8DABC2731321}"/>
              </a:ext>
            </a:extLst>
          </p:cNvPr>
          <p:cNvSpPr txBox="1"/>
          <p:nvPr/>
        </p:nvSpPr>
        <p:spPr>
          <a:xfrm>
            <a:off x="6940550" y="2514600"/>
            <a:ext cx="4572000" cy="2585323"/>
          </a:xfrm>
          <a:prstGeom prst="rect">
            <a:avLst/>
          </a:prstGeom>
          <a:noFill/>
        </p:spPr>
        <p:txBody>
          <a:bodyPr wrap="square" rtlCol="0">
            <a:spAutoFit/>
          </a:bodyPr>
          <a:lstStyle/>
          <a:p>
            <a:pPr marL="285750" indent="-285750">
              <a:buFontTx/>
              <a:buChar char="-"/>
            </a:pPr>
            <a:r>
              <a:rPr lang="en-GB"/>
              <a:t>S</a:t>
            </a:r>
            <a:r>
              <a:rPr lang="en-DE"/>
              <a:t>cheduling of containers with application-specific constraintes (e.g. start order, grouping, …)</a:t>
            </a:r>
          </a:p>
          <a:p>
            <a:pPr marL="285750" indent="-285750">
              <a:buFontTx/>
              <a:buChar char="-"/>
            </a:pPr>
            <a:r>
              <a:rPr lang="en-GB"/>
              <a:t>N</a:t>
            </a:r>
            <a:r>
              <a:rPr lang="en-DE"/>
              <a:t>etwork connectivity between containers</a:t>
            </a:r>
          </a:p>
          <a:p>
            <a:pPr marL="285750" indent="-285750">
              <a:buFontTx/>
              <a:buChar char="-"/>
            </a:pPr>
            <a:r>
              <a:rPr lang="en-GB"/>
              <a:t>P</a:t>
            </a:r>
            <a:r>
              <a:rPr lang="en-DE"/>
              <a:t>ersistent storage for stateful containers</a:t>
            </a:r>
          </a:p>
          <a:p>
            <a:pPr marL="285750" indent="-285750">
              <a:buFontTx/>
              <a:buChar char="-"/>
            </a:pPr>
            <a:r>
              <a:rPr lang="en-GB"/>
              <a:t>A</a:t>
            </a:r>
            <a:r>
              <a:rPr lang="en-DE"/>
              <a:t>uto scaling of containers</a:t>
            </a:r>
          </a:p>
          <a:p>
            <a:pPr marL="285750" indent="-285750">
              <a:buFontTx/>
              <a:buChar char="-"/>
            </a:pPr>
            <a:r>
              <a:rPr lang="en-GB"/>
              <a:t>R</a:t>
            </a:r>
            <a:r>
              <a:rPr lang="en-DE"/>
              <a:t>e-scheduling of containers in case of failure</a:t>
            </a:r>
          </a:p>
        </p:txBody>
      </p:sp>
      <p:pic>
        <p:nvPicPr>
          <p:cNvPr id="9" name="Picture 8">
            <a:extLst>
              <a:ext uri="{FF2B5EF4-FFF2-40B4-BE49-F238E27FC236}">
                <a16:creationId xmlns:a16="http://schemas.microsoft.com/office/drawing/2014/main" id="{DEE20950-BE4A-D7D7-A92F-D5C497042EBB}"/>
              </a:ext>
            </a:extLst>
          </p:cNvPr>
          <p:cNvPicPr>
            <a:picLocks noChangeAspect="1"/>
          </p:cNvPicPr>
          <p:nvPr/>
        </p:nvPicPr>
        <p:blipFill>
          <a:blip r:embed="rId2"/>
          <a:stretch>
            <a:fillRect/>
          </a:stretch>
        </p:blipFill>
        <p:spPr>
          <a:xfrm>
            <a:off x="6965044" y="5271540"/>
            <a:ext cx="3695700" cy="920750"/>
          </a:xfrm>
          <a:prstGeom prst="rect">
            <a:avLst/>
          </a:prstGeom>
        </p:spPr>
      </p:pic>
    </p:spTree>
    <p:extLst>
      <p:ext uri="{BB962C8B-B14F-4D97-AF65-F5344CB8AC3E}">
        <p14:creationId xmlns:p14="http://schemas.microsoft.com/office/powerpoint/2010/main" val="3408939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30932-3B90-E737-EDC1-7AD296EE8C4A}"/>
              </a:ext>
            </a:extLst>
          </p:cNvPr>
          <p:cNvSpPr>
            <a:spLocks noGrp="1"/>
          </p:cNvSpPr>
          <p:nvPr>
            <p:ph type="title"/>
          </p:nvPr>
        </p:nvSpPr>
        <p:spPr/>
        <p:txBody>
          <a:bodyPr/>
          <a:lstStyle/>
          <a:p>
            <a:r>
              <a:rPr lang="en-DE" dirty="0"/>
              <a:t>Meet Kubernetes</a:t>
            </a:r>
          </a:p>
        </p:txBody>
      </p:sp>
      <p:pic>
        <p:nvPicPr>
          <p:cNvPr id="4" name="Picture 3">
            <a:extLst>
              <a:ext uri="{FF2B5EF4-FFF2-40B4-BE49-F238E27FC236}">
                <a16:creationId xmlns:a16="http://schemas.microsoft.com/office/drawing/2014/main" id="{E25DB309-B551-FC3E-C57E-F627868B7DA8}"/>
              </a:ext>
            </a:extLst>
          </p:cNvPr>
          <p:cNvPicPr>
            <a:picLocks noChangeAspect="1"/>
          </p:cNvPicPr>
          <p:nvPr/>
        </p:nvPicPr>
        <p:blipFill>
          <a:blip r:embed="rId2"/>
          <a:stretch>
            <a:fillRect/>
          </a:stretch>
        </p:blipFill>
        <p:spPr>
          <a:xfrm>
            <a:off x="2101932" y="1729550"/>
            <a:ext cx="5718134" cy="4516293"/>
          </a:xfrm>
          <a:prstGeom prst="rect">
            <a:avLst/>
          </a:prstGeom>
        </p:spPr>
      </p:pic>
      <p:sp>
        <p:nvSpPr>
          <p:cNvPr id="6" name="TextBox 5">
            <a:extLst>
              <a:ext uri="{FF2B5EF4-FFF2-40B4-BE49-F238E27FC236}">
                <a16:creationId xmlns:a16="http://schemas.microsoft.com/office/drawing/2014/main" id="{4E4DB0E9-33A2-385B-655C-D6C06EF5D644}"/>
              </a:ext>
            </a:extLst>
          </p:cNvPr>
          <p:cNvSpPr txBox="1"/>
          <p:nvPr/>
        </p:nvSpPr>
        <p:spPr>
          <a:xfrm>
            <a:off x="1644815" y="6245843"/>
            <a:ext cx="8196696" cy="400110"/>
          </a:xfrm>
          <a:prstGeom prst="rect">
            <a:avLst/>
          </a:prstGeom>
          <a:noFill/>
        </p:spPr>
        <p:txBody>
          <a:bodyPr wrap="square">
            <a:spAutoFit/>
          </a:bodyPr>
          <a:lstStyle/>
          <a:p>
            <a:r>
              <a:rPr lang="en-DE" sz="1000" dirty="0"/>
              <a:t>Source: </a:t>
            </a:r>
            <a:r>
              <a:rPr lang="en-DE" sz="1000" dirty="0">
                <a:hlinkClick r:id="rId3"/>
              </a:rPr>
              <a:t>https://medium.com/@salwan.mohamed/kubernetes-architecture-deep-dive-from-basics-to-advanced-concepts-part-2-3-baecceece974</a:t>
            </a:r>
            <a:r>
              <a:rPr lang="en-DE" sz="1000" dirty="0"/>
              <a:t> </a:t>
            </a:r>
          </a:p>
        </p:txBody>
      </p:sp>
    </p:spTree>
    <p:extLst>
      <p:ext uri="{BB962C8B-B14F-4D97-AF65-F5344CB8AC3E}">
        <p14:creationId xmlns:p14="http://schemas.microsoft.com/office/powerpoint/2010/main" val="3946775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6BB2B-6009-49DF-4FE8-C6AC0FF19962}"/>
              </a:ext>
            </a:extLst>
          </p:cNvPr>
          <p:cNvSpPr>
            <a:spLocks noGrp="1"/>
          </p:cNvSpPr>
          <p:nvPr>
            <p:ph type="title"/>
          </p:nvPr>
        </p:nvSpPr>
        <p:spPr>
          <a:xfrm>
            <a:off x="346048" y="1031239"/>
            <a:ext cx="7285345" cy="984885"/>
          </a:xfrm>
        </p:spPr>
        <p:txBody>
          <a:bodyPr/>
          <a:lstStyle/>
          <a:p>
            <a:r>
              <a:rPr lang="en-DE"/>
              <a:t>Towards Event-Driven Applications</a:t>
            </a:r>
          </a:p>
        </p:txBody>
      </p:sp>
      <p:pic>
        <p:nvPicPr>
          <p:cNvPr id="4" name="Picture 3">
            <a:extLst>
              <a:ext uri="{FF2B5EF4-FFF2-40B4-BE49-F238E27FC236}">
                <a16:creationId xmlns:a16="http://schemas.microsoft.com/office/drawing/2014/main" id="{9012FE31-9787-232F-E56F-7B23487ADBB4}"/>
              </a:ext>
            </a:extLst>
          </p:cNvPr>
          <p:cNvPicPr>
            <a:picLocks noChangeAspect="1"/>
          </p:cNvPicPr>
          <p:nvPr/>
        </p:nvPicPr>
        <p:blipFill>
          <a:blip r:embed="rId2"/>
          <a:stretch>
            <a:fillRect/>
          </a:stretch>
        </p:blipFill>
        <p:spPr>
          <a:xfrm>
            <a:off x="520812" y="2105093"/>
            <a:ext cx="9799289" cy="3310127"/>
          </a:xfrm>
          <a:prstGeom prst="rect">
            <a:avLst/>
          </a:prstGeom>
        </p:spPr>
      </p:pic>
      <p:sp>
        <p:nvSpPr>
          <p:cNvPr id="6" name="TextBox 5">
            <a:extLst>
              <a:ext uri="{FF2B5EF4-FFF2-40B4-BE49-F238E27FC236}">
                <a16:creationId xmlns:a16="http://schemas.microsoft.com/office/drawing/2014/main" id="{631589B7-D8EB-C628-F825-FF8205962658}"/>
              </a:ext>
            </a:extLst>
          </p:cNvPr>
          <p:cNvSpPr txBox="1"/>
          <p:nvPr/>
        </p:nvSpPr>
        <p:spPr>
          <a:xfrm>
            <a:off x="1326734" y="6218640"/>
            <a:ext cx="8791486" cy="246221"/>
          </a:xfrm>
          <a:prstGeom prst="rect">
            <a:avLst/>
          </a:prstGeom>
          <a:noFill/>
        </p:spPr>
        <p:txBody>
          <a:bodyPr wrap="square">
            <a:spAutoFit/>
          </a:bodyPr>
          <a:lstStyle/>
          <a:p>
            <a:r>
              <a:rPr lang="en-DE" sz="1000"/>
              <a:t>Source: </a:t>
            </a:r>
            <a:r>
              <a:rPr lang="en-DE" sz="1000">
                <a:hlinkClick r:id="rId3"/>
              </a:rPr>
              <a:t>https://www.alibabacloud.com/blog/apache-flink-fundamentals-basic-concepts_595727</a:t>
            </a:r>
            <a:r>
              <a:rPr lang="en-DE" sz="1000"/>
              <a:t> </a:t>
            </a:r>
          </a:p>
        </p:txBody>
      </p:sp>
    </p:spTree>
    <p:extLst>
      <p:ext uri="{BB962C8B-B14F-4D97-AF65-F5344CB8AC3E}">
        <p14:creationId xmlns:p14="http://schemas.microsoft.com/office/powerpoint/2010/main" val="21453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ECA83-6FB5-43AB-9339-65EE8FD4885F}"/>
              </a:ext>
            </a:extLst>
          </p:cNvPr>
          <p:cNvSpPr>
            <a:spLocks noGrp="1"/>
          </p:cNvSpPr>
          <p:nvPr>
            <p:ph type="title"/>
          </p:nvPr>
        </p:nvSpPr>
        <p:spPr>
          <a:xfrm>
            <a:off x="346048" y="1031239"/>
            <a:ext cx="8270901" cy="1477328"/>
          </a:xfrm>
        </p:spPr>
        <p:txBody>
          <a:bodyPr/>
          <a:lstStyle/>
          <a:p>
            <a:r>
              <a:rPr lang="en-DE"/>
              <a:t>Example Architecture Event-Driven Design</a:t>
            </a:r>
          </a:p>
        </p:txBody>
      </p:sp>
      <p:pic>
        <p:nvPicPr>
          <p:cNvPr id="4" name="Picture 3">
            <a:extLst>
              <a:ext uri="{FF2B5EF4-FFF2-40B4-BE49-F238E27FC236}">
                <a16:creationId xmlns:a16="http://schemas.microsoft.com/office/drawing/2014/main" id="{09F98E7A-A06C-D17B-18B6-E515E8573403}"/>
              </a:ext>
            </a:extLst>
          </p:cNvPr>
          <p:cNvPicPr>
            <a:picLocks noChangeAspect="1"/>
          </p:cNvPicPr>
          <p:nvPr/>
        </p:nvPicPr>
        <p:blipFill>
          <a:blip r:embed="rId2"/>
          <a:stretch>
            <a:fillRect/>
          </a:stretch>
        </p:blipFill>
        <p:spPr>
          <a:xfrm>
            <a:off x="1377949" y="1752600"/>
            <a:ext cx="9448801" cy="4500612"/>
          </a:xfrm>
          <a:prstGeom prst="rect">
            <a:avLst/>
          </a:prstGeom>
        </p:spPr>
      </p:pic>
    </p:spTree>
    <p:extLst>
      <p:ext uri="{BB962C8B-B14F-4D97-AF65-F5344CB8AC3E}">
        <p14:creationId xmlns:p14="http://schemas.microsoft.com/office/powerpoint/2010/main" val="412342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2EE27-C908-90D2-8867-318CEA4E85A6}"/>
              </a:ext>
            </a:extLst>
          </p:cNvPr>
          <p:cNvSpPr>
            <a:spLocks noGrp="1"/>
          </p:cNvSpPr>
          <p:nvPr>
            <p:ph type="title"/>
          </p:nvPr>
        </p:nvSpPr>
        <p:spPr/>
        <p:txBody>
          <a:bodyPr/>
          <a:lstStyle/>
          <a:p>
            <a:r>
              <a:rPr lang="en-DE"/>
              <a:t>Resilience</a:t>
            </a:r>
          </a:p>
        </p:txBody>
      </p:sp>
      <p:sp>
        <p:nvSpPr>
          <p:cNvPr id="3" name="Text Placeholder 2">
            <a:extLst>
              <a:ext uri="{FF2B5EF4-FFF2-40B4-BE49-F238E27FC236}">
                <a16:creationId xmlns:a16="http://schemas.microsoft.com/office/drawing/2014/main" id="{E1EBFE7E-8855-393C-F2B4-2292551765A5}"/>
              </a:ext>
            </a:extLst>
          </p:cNvPr>
          <p:cNvSpPr>
            <a:spLocks noGrp="1"/>
          </p:cNvSpPr>
          <p:nvPr>
            <p:ph type="body" idx="1"/>
          </p:nvPr>
        </p:nvSpPr>
        <p:spPr>
          <a:xfrm>
            <a:off x="359656" y="1905000"/>
            <a:ext cx="5323205" cy="369332"/>
          </a:xfrm>
        </p:spPr>
        <p:txBody>
          <a:bodyPr/>
          <a:lstStyle/>
          <a:p>
            <a:r>
              <a:rPr lang="en-DE" sz="2400"/>
              <a:t>Availability = MTTF / (MTTF + MTTR)</a:t>
            </a:r>
          </a:p>
        </p:txBody>
      </p:sp>
      <p:sp>
        <p:nvSpPr>
          <p:cNvPr id="4" name="TextBox 3">
            <a:extLst>
              <a:ext uri="{FF2B5EF4-FFF2-40B4-BE49-F238E27FC236}">
                <a16:creationId xmlns:a16="http://schemas.microsoft.com/office/drawing/2014/main" id="{6E7B3AAD-CBE3-3DDE-95B4-F10DDB78ED05}"/>
              </a:ext>
            </a:extLst>
          </p:cNvPr>
          <p:cNvSpPr txBox="1"/>
          <p:nvPr/>
        </p:nvSpPr>
        <p:spPr>
          <a:xfrm>
            <a:off x="1758950" y="2681050"/>
            <a:ext cx="1600200" cy="400110"/>
          </a:xfrm>
          <a:prstGeom prst="rect">
            <a:avLst/>
          </a:prstGeom>
          <a:noFill/>
        </p:spPr>
        <p:txBody>
          <a:bodyPr wrap="square" rtlCol="0">
            <a:spAutoFit/>
          </a:bodyPr>
          <a:lstStyle/>
          <a:p>
            <a:r>
              <a:rPr lang="en-DE" sz="2000"/>
              <a:t>reliability</a:t>
            </a:r>
          </a:p>
        </p:txBody>
      </p:sp>
      <p:cxnSp>
        <p:nvCxnSpPr>
          <p:cNvPr id="6" name="Straight Arrow Connector 5">
            <a:extLst>
              <a:ext uri="{FF2B5EF4-FFF2-40B4-BE49-F238E27FC236}">
                <a16:creationId xmlns:a16="http://schemas.microsoft.com/office/drawing/2014/main" id="{5E6B48E8-42E4-3C5D-4F3C-F31635606D56}"/>
              </a:ext>
            </a:extLst>
          </p:cNvPr>
          <p:cNvCxnSpPr>
            <a:stCxn id="4" idx="0"/>
          </p:cNvCxnSpPr>
          <p:nvPr/>
        </p:nvCxnSpPr>
        <p:spPr>
          <a:xfrm flipH="1" flipV="1">
            <a:off x="2378039" y="2274332"/>
            <a:ext cx="181011" cy="40671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16A2B07-DEE1-75D5-7778-01FF5F70C83B}"/>
              </a:ext>
            </a:extLst>
          </p:cNvPr>
          <p:cNvCxnSpPr>
            <a:cxnSpLocks/>
          </p:cNvCxnSpPr>
          <p:nvPr/>
        </p:nvCxnSpPr>
        <p:spPr>
          <a:xfrm flipV="1">
            <a:off x="2635250" y="2255639"/>
            <a:ext cx="723900" cy="4254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B798E02-CBAA-58DD-E3B1-127E3C20BDA0}"/>
              </a:ext>
            </a:extLst>
          </p:cNvPr>
          <p:cNvSpPr txBox="1"/>
          <p:nvPr/>
        </p:nvSpPr>
        <p:spPr>
          <a:xfrm>
            <a:off x="3609928" y="2655650"/>
            <a:ext cx="2187621" cy="707886"/>
          </a:xfrm>
          <a:prstGeom prst="rect">
            <a:avLst/>
          </a:prstGeom>
          <a:noFill/>
        </p:spPr>
        <p:txBody>
          <a:bodyPr wrap="square" rtlCol="0">
            <a:spAutoFit/>
          </a:bodyPr>
          <a:lstStyle/>
          <a:p>
            <a:r>
              <a:rPr lang="en-GB" sz="2000"/>
              <a:t>R</a:t>
            </a:r>
            <a:r>
              <a:rPr lang="en-DE" sz="2000"/>
              <a:t>esilience and diagnosability</a:t>
            </a:r>
          </a:p>
        </p:txBody>
      </p:sp>
      <p:cxnSp>
        <p:nvCxnSpPr>
          <p:cNvPr id="11" name="Straight Arrow Connector 10">
            <a:extLst>
              <a:ext uri="{FF2B5EF4-FFF2-40B4-BE49-F238E27FC236}">
                <a16:creationId xmlns:a16="http://schemas.microsoft.com/office/drawing/2014/main" id="{E2F71D23-E555-DC18-2875-4EABE918CBE5}"/>
              </a:ext>
            </a:extLst>
          </p:cNvPr>
          <p:cNvCxnSpPr>
            <a:cxnSpLocks/>
            <a:stCxn id="10" idx="0"/>
          </p:cNvCxnSpPr>
          <p:nvPr/>
        </p:nvCxnSpPr>
        <p:spPr>
          <a:xfrm flipH="1" flipV="1">
            <a:off x="4410029" y="2286318"/>
            <a:ext cx="293710" cy="36933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1B47C48C-3959-42BA-5C6B-E37A4D0FE27B}"/>
              </a:ext>
            </a:extLst>
          </p:cNvPr>
          <p:cNvPicPr>
            <a:picLocks noChangeAspect="1"/>
          </p:cNvPicPr>
          <p:nvPr/>
        </p:nvPicPr>
        <p:blipFill>
          <a:blip r:embed="rId2"/>
          <a:stretch>
            <a:fillRect/>
          </a:stretch>
        </p:blipFill>
        <p:spPr>
          <a:xfrm>
            <a:off x="6940550" y="2900155"/>
            <a:ext cx="4127500" cy="3416300"/>
          </a:xfrm>
          <a:prstGeom prst="rect">
            <a:avLst/>
          </a:prstGeom>
        </p:spPr>
      </p:pic>
      <p:sp>
        <p:nvSpPr>
          <p:cNvPr id="15" name="Text Placeholder 2">
            <a:extLst>
              <a:ext uri="{FF2B5EF4-FFF2-40B4-BE49-F238E27FC236}">
                <a16:creationId xmlns:a16="http://schemas.microsoft.com/office/drawing/2014/main" id="{43822E2C-39DD-2117-56D7-C7039584F16C}"/>
              </a:ext>
            </a:extLst>
          </p:cNvPr>
          <p:cNvSpPr txBox="1">
            <a:spLocks/>
          </p:cNvSpPr>
          <p:nvPr/>
        </p:nvSpPr>
        <p:spPr>
          <a:xfrm>
            <a:off x="6881495" y="1886307"/>
            <a:ext cx="5323205" cy="738664"/>
          </a:xfrm>
          <a:prstGeom prst="rect">
            <a:avLst/>
          </a:prstGeom>
        </p:spPr>
        <p:txBody>
          <a:bodyPr wrap="square" lIns="0" tIns="0" rIns="0" bIns="0">
            <a:sp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DE" sz="2400"/>
              <a:t>Example to increase resilience: circuit breaker</a:t>
            </a:r>
          </a:p>
        </p:txBody>
      </p:sp>
      <p:sp>
        <p:nvSpPr>
          <p:cNvPr id="16" name="Text Placeholder 2">
            <a:extLst>
              <a:ext uri="{FF2B5EF4-FFF2-40B4-BE49-F238E27FC236}">
                <a16:creationId xmlns:a16="http://schemas.microsoft.com/office/drawing/2014/main" id="{1E06D1DD-F2FD-FF0C-2ABA-67D0C5664C60}"/>
              </a:ext>
            </a:extLst>
          </p:cNvPr>
          <p:cNvSpPr txBox="1">
            <a:spLocks/>
          </p:cNvSpPr>
          <p:nvPr/>
        </p:nvSpPr>
        <p:spPr>
          <a:xfrm>
            <a:off x="1136650" y="5044997"/>
            <a:ext cx="5323205" cy="738664"/>
          </a:xfrm>
          <a:prstGeom prst="rect">
            <a:avLst/>
          </a:prstGeom>
        </p:spPr>
        <p:txBody>
          <a:bodyPr wrap="square" lIns="0" tIns="0" rIns="0" bIns="0">
            <a:sp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DE" sz="2400"/>
              <a:t>Operational Excellence and Site Reliability Engineering</a:t>
            </a:r>
          </a:p>
        </p:txBody>
      </p:sp>
      <p:sp>
        <p:nvSpPr>
          <p:cNvPr id="17" name="Text Placeholder 2">
            <a:extLst>
              <a:ext uri="{FF2B5EF4-FFF2-40B4-BE49-F238E27FC236}">
                <a16:creationId xmlns:a16="http://schemas.microsoft.com/office/drawing/2014/main" id="{09701335-F9CA-DEBD-7D45-D88F19EA1E06}"/>
              </a:ext>
            </a:extLst>
          </p:cNvPr>
          <p:cNvSpPr txBox="1">
            <a:spLocks/>
          </p:cNvSpPr>
          <p:nvPr/>
        </p:nvSpPr>
        <p:spPr>
          <a:xfrm>
            <a:off x="785495" y="3796834"/>
            <a:ext cx="5323205" cy="738664"/>
          </a:xfrm>
          <a:prstGeom prst="rect">
            <a:avLst/>
          </a:prstGeom>
        </p:spPr>
        <p:txBody>
          <a:bodyPr wrap="square" lIns="0" tIns="0" rIns="0" bIns="0">
            <a:sp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DE" sz="2400"/>
              <a:t>Resilience = capability of a system to deal with unprecedented erroneous situations</a:t>
            </a:r>
          </a:p>
        </p:txBody>
      </p:sp>
    </p:spTree>
    <p:extLst>
      <p:ext uri="{BB962C8B-B14F-4D97-AF65-F5344CB8AC3E}">
        <p14:creationId xmlns:p14="http://schemas.microsoft.com/office/powerpoint/2010/main" val="1069226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5644A-1906-9279-99AE-A48B7B623336}"/>
              </a:ext>
            </a:extLst>
          </p:cNvPr>
          <p:cNvSpPr>
            <a:spLocks noGrp="1"/>
          </p:cNvSpPr>
          <p:nvPr>
            <p:ph type="title"/>
          </p:nvPr>
        </p:nvSpPr>
        <p:spPr/>
        <p:txBody>
          <a:bodyPr/>
          <a:lstStyle/>
          <a:p>
            <a:r>
              <a:rPr lang="en-DE"/>
              <a:t>Diagnosability</a:t>
            </a:r>
          </a:p>
        </p:txBody>
      </p:sp>
      <p:sp>
        <p:nvSpPr>
          <p:cNvPr id="4" name="Triangle 3">
            <a:extLst>
              <a:ext uri="{FF2B5EF4-FFF2-40B4-BE49-F238E27FC236}">
                <a16:creationId xmlns:a16="http://schemas.microsoft.com/office/drawing/2014/main" id="{FB71A796-4257-D302-AF34-7727158BF246}"/>
              </a:ext>
            </a:extLst>
          </p:cNvPr>
          <p:cNvSpPr/>
          <p:nvPr/>
        </p:nvSpPr>
        <p:spPr>
          <a:xfrm>
            <a:off x="3606800" y="2092961"/>
            <a:ext cx="4991100" cy="373380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 name="TextBox 4">
            <a:extLst>
              <a:ext uri="{FF2B5EF4-FFF2-40B4-BE49-F238E27FC236}">
                <a16:creationId xmlns:a16="http://schemas.microsoft.com/office/drawing/2014/main" id="{62163AA7-4413-A2D7-5C08-75F6ECF01F28}"/>
              </a:ext>
            </a:extLst>
          </p:cNvPr>
          <p:cNvSpPr txBox="1"/>
          <p:nvPr/>
        </p:nvSpPr>
        <p:spPr>
          <a:xfrm>
            <a:off x="5416550" y="1523682"/>
            <a:ext cx="2819400" cy="584775"/>
          </a:xfrm>
          <a:prstGeom prst="rect">
            <a:avLst/>
          </a:prstGeom>
          <a:noFill/>
        </p:spPr>
        <p:txBody>
          <a:bodyPr wrap="square" rtlCol="0">
            <a:spAutoFit/>
          </a:bodyPr>
          <a:lstStyle/>
          <a:p>
            <a:r>
              <a:rPr lang="en-DE" sz="3200"/>
              <a:t>Metrics</a:t>
            </a:r>
          </a:p>
        </p:txBody>
      </p:sp>
      <p:sp>
        <p:nvSpPr>
          <p:cNvPr id="6" name="TextBox 5">
            <a:extLst>
              <a:ext uri="{FF2B5EF4-FFF2-40B4-BE49-F238E27FC236}">
                <a16:creationId xmlns:a16="http://schemas.microsoft.com/office/drawing/2014/main" id="{4913E80A-894C-B1C6-8F13-6E3EAC3A9B11}"/>
              </a:ext>
            </a:extLst>
          </p:cNvPr>
          <p:cNvSpPr txBox="1"/>
          <p:nvPr/>
        </p:nvSpPr>
        <p:spPr>
          <a:xfrm>
            <a:off x="2368513" y="4530637"/>
            <a:ext cx="2819400" cy="584775"/>
          </a:xfrm>
          <a:prstGeom prst="rect">
            <a:avLst/>
          </a:prstGeom>
          <a:noFill/>
        </p:spPr>
        <p:txBody>
          <a:bodyPr wrap="square" rtlCol="0">
            <a:spAutoFit/>
          </a:bodyPr>
          <a:lstStyle/>
          <a:p>
            <a:r>
              <a:rPr lang="en-DE" sz="3200"/>
              <a:t>Traces</a:t>
            </a:r>
          </a:p>
        </p:txBody>
      </p:sp>
      <p:sp>
        <p:nvSpPr>
          <p:cNvPr id="7" name="TextBox 6">
            <a:extLst>
              <a:ext uri="{FF2B5EF4-FFF2-40B4-BE49-F238E27FC236}">
                <a16:creationId xmlns:a16="http://schemas.microsoft.com/office/drawing/2014/main" id="{07A67427-B386-48F3-E4D6-B4531F85A832}"/>
              </a:ext>
            </a:extLst>
          </p:cNvPr>
          <p:cNvSpPr txBox="1"/>
          <p:nvPr/>
        </p:nvSpPr>
        <p:spPr>
          <a:xfrm>
            <a:off x="8769350" y="5565043"/>
            <a:ext cx="2819400" cy="1077218"/>
          </a:xfrm>
          <a:prstGeom prst="rect">
            <a:avLst/>
          </a:prstGeom>
          <a:noFill/>
        </p:spPr>
        <p:txBody>
          <a:bodyPr wrap="square" rtlCol="0">
            <a:spAutoFit/>
          </a:bodyPr>
          <a:lstStyle/>
          <a:p>
            <a:r>
              <a:rPr lang="en-DE" sz="3200"/>
              <a:t>Events and Logs</a:t>
            </a:r>
          </a:p>
        </p:txBody>
      </p:sp>
      <p:sp>
        <p:nvSpPr>
          <p:cNvPr id="8" name="TextBox 7">
            <a:extLst>
              <a:ext uri="{FF2B5EF4-FFF2-40B4-BE49-F238E27FC236}">
                <a16:creationId xmlns:a16="http://schemas.microsoft.com/office/drawing/2014/main" id="{48BE7545-2008-694F-002E-2B0CE4FE481D}"/>
              </a:ext>
            </a:extLst>
          </p:cNvPr>
          <p:cNvSpPr txBox="1"/>
          <p:nvPr/>
        </p:nvSpPr>
        <p:spPr>
          <a:xfrm>
            <a:off x="5327648" y="3581400"/>
            <a:ext cx="2895602" cy="1477328"/>
          </a:xfrm>
          <a:prstGeom prst="rect">
            <a:avLst/>
          </a:prstGeom>
          <a:noFill/>
        </p:spPr>
        <p:txBody>
          <a:bodyPr wrap="square" rtlCol="0">
            <a:spAutoFit/>
          </a:bodyPr>
          <a:lstStyle/>
          <a:p>
            <a:pPr marL="285750" indent="-285750">
              <a:buFont typeface="Arial" panose="020B0604020202020204" pitchFamily="34" charset="0"/>
              <a:buChar char="•"/>
            </a:pPr>
            <a:r>
              <a:rPr lang="en-GB"/>
              <a:t>G</a:t>
            </a:r>
            <a:r>
              <a:rPr lang="en-DE"/>
              <a:t>ather</a:t>
            </a:r>
          </a:p>
          <a:p>
            <a:pPr marL="285750" indent="-285750">
              <a:buFont typeface="Arial" panose="020B0604020202020204" pitchFamily="34" charset="0"/>
              <a:buChar char="•"/>
            </a:pPr>
            <a:r>
              <a:rPr lang="en-GB"/>
              <a:t>V</a:t>
            </a:r>
            <a:r>
              <a:rPr lang="en-DE"/>
              <a:t>isualise</a:t>
            </a:r>
          </a:p>
          <a:p>
            <a:pPr marL="285750" indent="-285750">
              <a:buFont typeface="Arial" panose="020B0604020202020204" pitchFamily="34" charset="0"/>
              <a:buChar char="•"/>
            </a:pPr>
            <a:r>
              <a:rPr lang="en-GB"/>
              <a:t>E</a:t>
            </a:r>
            <a:r>
              <a:rPr lang="en-DE"/>
              <a:t>xplore</a:t>
            </a:r>
          </a:p>
          <a:p>
            <a:pPr marL="285750" indent="-285750">
              <a:buFont typeface="Arial" panose="020B0604020202020204" pitchFamily="34" charset="0"/>
              <a:buChar char="•"/>
            </a:pPr>
            <a:r>
              <a:rPr lang="en-GB"/>
              <a:t>D</a:t>
            </a:r>
            <a:r>
              <a:rPr lang="en-DE"/>
              <a:t>etect anomalies</a:t>
            </a:r>
          </a:p>
          <a:p>
            <a:pPr marL="285750" indent="-285750">
              <a:buFont typeface="Arial" panose="020B0604020202020204" pitchFamily="34" charset="0"/>
              <a:buChar char="•"/>
            </a:pPr>
            <a:r>
              <a:rPr lang="en-DE"/>
              <a:t>communicate</a:t>
            </a:r>
          </a:p>
        </p:txBody>
      </p:sp>
      <p:pic>
        <p:nvPicPr>
          <p:cNvPr id="9" name="Picture 8">
            <a:extLst>
              <a:ext uri="{FF2B5EF4-FFF2-40B4-BE49-F238E27FC236}">
                <a16:creationId xmlns:a16="http://schemas.microsoft.com/office/drawing/2014/main" id="{9E154589-550F-0AE7-D8C1-1E529C1999C9}"/>
              </a:ext>
            </a:extLst>
          </p:cNvPr>
          <p:cNvPicPr>
            <a:picLocks noChangeAspect="1"/>
          </p:cNvPicPr>
          <p:nvPr/>
        </p:nvPicPr>
        <p:blipFill>
          <a:blip r:embed="rId2"/>
          <a:stretch>
            <a:fillRect/>
          </a:stretch>
        </p:blipFill>
        <p:spPr>
          <a:xfrm>
            <a:off x="649808" y="1580099"/>
            <a:ext cx="2370684" cy="1601324"/>
          </a:xfrm>
          <a:prstGeom prst="rect">
            <a:avLst/>
          </a:prstGeom>
        </p:spPr>
      </p:pic>
      <p:pic>
        <p:nvPicPr>
          <p:cNvPr id="10" name="Picture 9">
            <a:extLst>
              <a:ext uri="{FF2B5EF4-FFF2-40B4-BE49-F238E27FC236}">
                <a16:creationId xmlns:a16="http://schemas.microsoft.com/office/drawing/2014/main" id="{37885629-1268-8908-FE1F-4686A005D0BB}"/>
              </a:ext>
            </a:extLst>
          </p:cNvPr>
          <p:cNvPicPr>
            <a:picLocks noChangeAspect="1"/>
          </p:cNvPicPr>
          <p:nvPr/>
        </p:nvPicPr>
        <p:blipFill>
          <a:blip r:embed="rId3"/>
          <a:stretch>
            <a:fillRect/>
          </a:stretch>
        </p:blipFill>
        <p:spPr>
          <a:xfrm>
            <a:off x="3035878" y="1629770"/>
            <a:ext cx="2380672" cy="1608071"/>
          </a:xfrm>
          <a:prstGeom prst="rect">
            <a:avLst/>
          </a:prstGeom>
        </p:spPr>
      </p:pic>
      <p:pic>
        <p:nvPicPr>
          <p:cNvPr id="11" name="Picture 10">
            <a:extLst>
              <a:ext uri="{FF2B5EF4-FFF2-40B4-BE49-F238E27FC236}">
                <a16:creationId xmlns:a16="http://schemas.microsoft.com/office/drawing/2014/main" id="{6CF7F0EF-B60D-5BDB-8D03-5DD48491FF57}"/>
              </a:ext>
            </a:extLst>
          </p:cNvPr>
          <p:cNvPicPr>
            <a:picLocks noChangeAspect="1"/>
          </p:cNvPicPr>
          <p:nvPr/>
        </p:nvPicPr>
        <p:blipFill>
          <a:blip r:embed="rId4"/>
          <a:stretch>
            <a:fillRect/>
          </a:stretch>
        </p:blipFill>
        <p:spPr>
          <a:xfrm>
            <a:off x="3414424" y="667163"/>
            <a:ext cx="1088159" cy="990600"/>
          </a:xfrm>
          <a:prstGeom prst="rect">
            <a:avLst/>
          </a:prstGeom>
        </p:spPr>
      </p:pic>
      <p:pic>
        <p:nvPicPr>
          <p:cNvPr id="12" name="Picture 11">
            <a:extLst>
              <a:ext uri="{FF2B5EF4-FFF2-40B4-BE49-F238E27FC236}">
                <a16:creationId xmlns:a16="http://schemas.microsoft.com/office/drawing/2014/main" id="{2DC6D3C8-61A3-6D2C-BF64-CB559EDA102F}"/>
              </a:ext>
            </a:extLst>
          </p:cNvPr>
          <p:cNvPicPr>
            <a:picLocks noChangeAspect="1"/>
          </p:cNvPicPr>
          <p:nvPr/>
        </p:nvPicPr>
        <p:blipFill>
          <a:blip r:embed="rId5"/>
          <a:stretch>
            <a:fillRect/>
          </a:stretch>
        </p:blipFill>
        <p:spPr>
          <a:xfrm>
            <a:off x="5014191" y="316329"/>
            <a:ext cx="1088159" cy="990600"/>
          </a:xfrm>
          <a:prstGeom prst="rect">
            <a:avLst/>
          </a:prstGeom>
        </p:spPr>
      </p:pic>
      <p:sp>
        <p:nvSpPr>
          <p:cNvPr id="13" name="TextBox 12">
            <a:extLst>
              <a:ext uri="{FF2B5EF4-FFF2-40B4-BE49-F238E27FC236}">
                <a16:creationId xmlns:a16="http://schemas.microsoft.com/office/drawing/2014/main" id="{17E3579D-0100-CD7F-8A08-5D818317F299}"/>
              </a:ext>
            </a:extLst>
          </p:cNvPr>
          <p:cNvSpPr txBox="1"/>
          <p:nvPr/>
        </p:nvSpPr>
        <p:spPr>
          <a:xfrm>
            <a:off x="4849668" y="1270848"/>
            <a:ext cx="1417204" cy="369332"/>
          </a:xfrm>
          <a:prstGeom prst="rect">
            <a:avLst/>
          </a:prstGeom>
          <a:noFill/>
        </p:spPr>
        <p:txBody>
          <a:bodyPr wrap="square" rtlCol="0">
            <a:spAutoFit/>
          </a:bodyPr>
          <a:lstStyle/>
          <a:p>
            <a:r>
              <a:rPr lang="en-DE"/>
              <a:t>Prometheus</a:t>
            </a:r>
          </a:p>
        </p:txBody>
      </p:sp>
      <p:pic>
        <p:nvPicPr>
          <p:cNvPr id="14" name="Picture 13">
            <a:extLst>
              <a:ext uri="{FF2B5EF4-FFF2-40B4-BE49-F238E27FC236}">
                <a16:creationId xmlns:a16="http://schemas.microsoft.com/office/drawing/2014/main" id="{B3D22BA7-125A-68CE-2E54-2360BC8723A4}"/>
              </a:ext>
            </a:extLst>
          </p:cNvPr>
          <p:cNvPicPr>
            <a:picLocks noChangeAspect="1"/>
          </p:cNvPicPr>
          <p:nvPr/>
        </p:nvPicPr>
        <p:blipFill>
          <a:blip r:embed="rId6"/>
          <a:stretch>
            <a:fillRect/>
          </a:stretch>
        </p:blipFill>
        <p:spPr>
          <a:xfrm>
            <a:off x="7613652" y="2621705"/>
            <a:ext cx="4362448" cy="2271606"/>
          </a:xfrm>
          <a:prstGeom prst="rect">
            <a:avLst/>
          </a:prstGeom>
        </p:spPr>
      </p:pic>
      <p:pic>
        <p:nvPicPr>
          <p:cNvPr id="15" name="Picture 14">
            <a:extLst>
              <a:ext uri="{FF2B5EF4-FFF2-40B4-BE49-F238E27FC236}">
                <a16:creationId xmlns:a16="http://schemas.microsoft.com/office/drawing/2014/main" id="{D264942C-144C-4130-F080-3B3BE9A20790}"/>
              </a:ext>
            </a:extLst>
          </p:cNvPr>
          <p:cNvPicPr>
            <a:picLocks noChangeAspect="1"/>
          </p:cNvPicPr>
          <p:nvPr/>
        </p:nvPicPr>
        <p:blipFill>
          <a:blip r:embed="rId7"/>
          <a:stretch>
            <a:fillRect/>
          </a:stretch>
        </p:blipFill>
        <p:spPr>
          <a:xfrm>
            <a:off x="10318748" y="4879623"/>
            <a:ext cx="1739900" cy="876300"/>
          </a:xfrm>
          <a:prstGeom prst="rect">
            <a:avLst/>
          </a:prstGeom>
        </p:spPr>
      </p:pic>
      <p:pic>
        <p:nvPicPr>
          <p:cNvPr id="16" name="Picture 15">
            <a:extLst>
              <a:ext uri="{FF2B5EF4-FFF2-40B4-BE49-F238E27FC236}">
                <a16:creationId xmlns:a16="http://schemas.microsoft.com/office/drawing/2014/main" id="{55AA4CEB-15D8-727E-2676-559965275490}"/>
              </a:ext>
            </a:extLst>
          </p:cNvPr>
          <p:cNvPicPr>
            <a:picLocks noChangeAspect="1"/>
          </p:cNvPicPr>
          <p:nvPr/>
        </p:nvPicPr>
        <p:blipFill>
          <a:blip r:embed="rId8"/>
          <a:stretch>
            <a:fillRect/>
          </a:stretch>
        </p:blipFill>
        <p:spPr>
          <a:xfrm>
            <a:off x="346049" y="4773200"/>
            <a:ext cx="1210412" cy="1644333"/>
          </a:xfrm>
          <a:prstGeom prst="rect">
            <a:avLst/>
          </a:prstGeom>
        </p:spPr>
      </p:pic>
      <p:pic>
        <p:nvPicPr>
          <p:cNvPr id="17" name="Picture 16">
            <a:extLst>
              <a:ext uri="{FF2B5EF4-FFF2-40B4-BE49-F238E27FC236}">
                <a16:creationId xmlns:a16="http://schemas.microsoft.com/office/drawing/2014/main" id="{00D18058-6D0D-1AC8-2133-280D3036E808}"/>
              </a:ext>
            </a:extLst>
          </p:cNvPr>
          <p:cNvPicPr>
            <a:picLocks noChangeAspect="1"/>
          </p:cNvPicPr>
          <p:nvPr/>
        </p:nvPicPr>
        <p:blipFill>
          <a:blip r:embed="rId9"/>
          <a:stretch>
            <a:fillRect/>
          </a:stretch>
        </p:blipFill>
        <p:spPr>
          <a:xfrm>
            <a:off x="106441" y="3237841"/>
            <a:ext cx="1354614" cy="1671981"/>
          </a:xfrm>
          <a:prstGeom prst="rect">
            <a:avLst/>
          </a:prstGeom>
        </p:spPr>
      </p:pic>
      <p:pic>
        <p:nvPicPr>
          <p:cNvPr id="18" name="Picture 17">
            <a:extLst>
              <a:ext uri="{FF2B5EF4-FFF2-40B4-BE49-F238E27FC236}">
                <a16:creationId xmlns:a16="http://schemas.microsoft.com/office/drawing/2014/main" id="{16E5784D-CECA-0F7D-B024-1A31BDE80B48}"/>
              </a:ext>
            </a:extLst>
          </p:cNvPr>
          <p:cNvPicPr>
            <a:picLocks noChangeAspect="1"/>
          </p:cNvPicPr>
          <p:nvPr/>
        </p:nvPicPr>
        <p:blipFill>
          <a:blip r:embed="rId10"/>
          <a:stretch>
            <a:fillRect/>
          </a:stretch>
        </p:blipFill>
        <p:spPr>
          <a:xfrm>
            <a:off x="2037191" y="5129130"/>
            <a:ext cx="4930784" cy="1594385"/>
          </a:xfrm>
          <a:prstGeom prst="rect">
            <a:avLst/>
          </a:prstGeom>
        </p:spPr>
      </p:pic>
      <p:sp>
        <p:nvSpPr>
          <p:cNvPr id="19" name="TextBox 18">
            <a:extLst>
              <a:ext uri="{FF2B5EF4-FFF2-40B4-BE49-F238E27FC236}">
                <a16:creationId xmlns:a16="http://schemas.microsoft.com/office/drawing/2014/main" id="{1EAD747A-F43A-5285-10D9-BBE8B316EE23}"/>
              </a:ext>
            </a:extLst>
          </p:cNvPr>
          <p:cNvSpPr txBox="1"/>
          <p:nvPr/>
        </p:nvSpPr>
        <p:spPr>
          <a:xfrm>
            <a:off x="3917948" y="6365242"/>
            <a:ext cx="2819400" cy="584775"/>
          </a:xfrm>
          <a:prstGeom prst="rect">
            <a:avLst/>
          </a:prstGeom>
          <a:noFill/>
        </p:spPr>
        <p:txBody>
          <a:bodyPr wrap="square" rtlCol="0">
            <a:spAutoFit/>
          </a:bodyPr>
          <a:lstStyle/>
          <a:p>
            <a:r>
              <a:rPr lang="en-DE" sz="3200"/>
              <a:t>OpenTrace</a:t>
            </a:r>
          </a:p>
        </p:txBody>
      </p:sp>
    </p:spTree>
    <p:extLst>
      <p:ext uri="{BB962C8B-B14F-4D97-AF65-F5344CB8AC3E}">
        <p14:creationId xmlns:p14="http://schemas.microsoft.com/office/powerpoint/2010/main" val="1544160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F97366-D94D-891F-1BD3-9B14A216EF05}"/>
              </a:ext>
            </a:extLst>
          </p:cNvPr>
          <p:cNvPicPr>
            <a:picLocks noChangeAspect="1"/>
          </p:cNvPicPr>
          <p:nvPr/>
        </p:nvPicPr>
        <p:blipFill>
          <a:blip r:embed="rId2"/>
          <a:stretch>
            <a:fillRect/>
          </a:stretch>
        </p:blipFill>
        <p:spPr>
          <a:xfrm>
            <a:off x="0" y="0"/>
            <a:ext cx="9505129" cy="6420422"/>
          </a:xfrm>
          <a:prstGeom prst="rect">
            <a:avLst/>
          </a:prstGeom>
        </p:spPr>
      </p:pic>
      <p:pic>
        <p:nvPicPr>
          <p:cNvPr id="5" name="Picture 4">
            <a:extLst>
              <a:ext uri="{FF2B5EF4-FFF2-40B4-BE49-F238E27FC236}">
                <a16:creationId xmlns:a16="http://schemas.microsoft.com/office/drawing/2014/main" id="{259D904C-6035-A2E2-6635-2A666F8C4908}"/>
              </a:ext>
            </a:extLst>
          </p:cNvPr>
          <p:cNvPicPr>
            <a:picLocks noChangeAspect="1"/>
          </p:cNvPicPr>
          <p:nvPr/>
        </p:nvPicPr>
        <p:blipFill>
          <a:blip r:embed="rId3"/>
          <a:stretch>
            <a:fillRect/>
          </a:stretch>
        </p:blipFill>
        <p:spPr>
          <a:xfrm>
            <a:off x="198783" y="250368"/>
            <a:ext cx="9024730" cy="6095928"/>
          </a:xfrm>
          <a:prstGeom prst="rect">
            <a:avLst/>
          </a:prstGeom>
        </p:spPr>
      </p:pic>
    </p:spTree>
    <p:extLst>
      <p:ext uri="{BB962C8B-B14F-4D97-AF65-F5344CB8AC3E}">
        <p14:creationId xmlns:p14="http://schemas.microsoft.com/office/powerpoint/2010/main" val="16434951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94510-C9C5-6E08-2FA4-69E230D495A7}"/>
              </a:ext>
            </a:extLst>
          </p:cNvPr>
          <p:cNvSpPr>
            <a:spLocks noGrp="1"/>
          </p:cNvSpPr>
          <p:nvPr>
            <p:ph type="title"/>
          </p:nvPr>
        </p:nvSpPr>
        <p:spPr>
          <a:xfrm>
            <a:off x="346048" y="1031239"/>
            <a:ext cx="8804301" cy="1477328"/>
          </a:xfrm>
        </p:spPr>
        <p:txBody>
          <a:bodyPr/>
          <a:lstStyle/>
          <a:p>
            <a:r>
              <a:rPr lang="en-DE"/>
              <a:t>High Level Data Architecture at Zalando</a:t>
            </a:r>
          </a:p>
        </p:txBody>
      </p:sp>
      <p:sp>
        <p:nvSpPr>
          <p:cNvPr id="4" name="Rectangle 3">
            <a:extLst>
              <a:ext uri="{FF2B5EF4-FFF2-40B4-BE49-F238E27FC236}">
                <a16:creationId xmlns:a16="http://schemas.microsoft.com/office/drawing/2014/main" id="{9AF5A0E4-2CEC-BB63-9ACB-4D7C9DB7A814}"/>
              </a:ext>
            </a:extLst>
          </p:cNvPr>
          <p:cNvSpPr/>
          <p:nvPr/>
        </p:nvSpPr>
        <p:spPr>
          <a:xfrm>
            <a:off x="1419652" y="2743200"/>
            <a:ext cx="1371600"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a:t>Application</a:t>
            </a:r>
          </a:p>
        </p:txBody>
      </p:sp>
      <p:sp>
        <p:nvSpPr>
          <p:cNvPr id="5" name="Rectangle 4">
            <a:extLst>
              <a:ext uri="{FF2B5EF4-FFF2-40B4-BE49-F238E27FC236}">
                <a16:creationId xmlns:a16="http://schemas.microsoft.com/office/drawing/2014/main" id="{B1E2AC14-5043-A30D-E751-86D7BFA52C3D}"/>
              </a:ext>
            </a:extLst>
          </p:cNvPr>
          <p:cNvSpPr/>
          <p:nvPr/>
        </p:nvSpPr>
        <p:spPr>
          <a:xfrm>
            <a:off x="1438034" y="3429000"/>
            <a:ext cx="1371600"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a:t>Application</a:t>
            </a:r>
          </a:p>
        </p:txBody>
      </p:sp>
      <p:sp>
        <p:nvSpPr>
          <p:cNvPr id="6" name="Rectangle 5">
            <a:extLst>
              <a:ext uri="{FF2B5EF4-FFF2-40B4-BE49-F238E27FC236}">
                <a16:creationId xmlns:a16="http://schemas.microsoft.com/office/drawing/2014/main" id="{1504AD55-DD07-579F-E16E-C29901DB21A2}"/>
              </a:ext>
            </a:extLst>
          </p:cNvPr>
          <p:cNvSpPr/>
          <p:nvPr/>
        </p:nvSpPr>
        <p:spPr>
          <a:xfrm>
            <a:off x="1438034" y="4153218"/>
            <a:ext cx="1371600"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a:t>Application</a:t>
            </a:r>
          </a:p>
        </p:txBody>
      </p:sp>
      <p:sp>
        <p:nvSpPr>
          <p:cNvPr id="7" name="Rectangle 6">
            <a:extLst>
              <a:ext uri="{FF2B5EF4-FFF2-40B4-BE49-F238E27FC236}">
                <a16:creationId xmlns:a16="http://schemas.microsoft.com/office/drawing/2014/main" id="{39ADF639-8550-CABC-B55B-C3287F463C29}"/>
              </a:ext>
            </a:extLst>
          </p:cNvPr>
          <p:cNvSpPr/>
          <p:nvPr/>
        </p:nvSpPr>
        <p:spPr>
          <a:xfrm>
            <a:off x="4924852" y="3429000"/>
            <a:ext cx="3657600"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a:t>Queue</a:t>
            </a:r>
          </a:p>
        </p:txBody>
      </p:sp>
      <p:pic>
        <p:nvPicPr>
          <p:cNvPr id="8" name="Picture 7">
            <a:extLst>
              <a:ext uri="{FF2B5EF4-FFF2-40B4-BE49-F238E27FC236}">
                <a16:creationId xmlns:a16="http://schemas.microsoft.com/office/drawing/2014/main" id="{DF31C474-8481-A0DF-5C9D-9CA16CC906AA}"/>
              </a:ext>
            </a:extLst>
          </p:cNvPr>
          <p:cNvPicPr>
            <a:picLocks noChangeAspect="1"/>
          </p:cNvPicPr>
          <p:nvPr/>
        </p:nvPicPr>
        <p:blipFill>
          <a:blip r:embed="rId2"/>
          <a:stretch>
            <a:fillRect/>
          </a:stretch>
        </p:blipFill>
        <p:spPr>
          <a:xfrm>
            <a:off x="1409960" y="1742916"/>
            <a:ext cx="768350" cy="590550"/>
          </a:xfrm>
          <a:prstGeom prst="rect">
            <a:avLst/>
          </a:prstGeom>
        </p:spPr>
      </p:pic>
      <p:pic>
        <p:nvPicPr>
          <p:cNvPr id="9" name="Picture 8">
            <a:extLst>
              <a:ext uri="{FF2B5EF4-FFF2-40B4-BE49-F238E27FC236}">
                <a16:creationId xmlns:a16="http://schemas.microsoft.com/office/drawing/2014/main" id="{08643E64-BB8C-05A7-A6FD-87E5CCF3589D}"/>
              </a:ext>
            </a:extLst>
          </p:cNvPr>
          <p:cNvPicPr>
            <a:picLocks noChangeAspect="1"/>
          </p:cNvPicPr>
          <p:nvPr/>
        </p:nvPicPr>
        <p:blipFill>
          <a:blip r:embed="rId3"/>
          <a:stretch>
            <a:fillRect/>
          </a:stretch>
        </p:blipFill>
        <p:spPr>
          <a:xfrm>
            <a:off x="2438791" y="1730893"/>
            <a:ext cx="590550" cy="593886"/>
          </a:xfrm>
          <a:prstGeom prst="rect">
            <a:avLst/>
          </a:prstGeom>
        </p:spPr>
      </p:pic>
      <p:sp>
        <p:nvSpPr>
          <p:cNvPr id="10" name="Rectangle 9">
            <a:extLst>
              <a:ext uri="{FF2B5EF4-FFF2-40B4-BE49-F238E27FC236}">
                <a16:creationId xmlns:a16="http://schemas.microsoft.com/office/drawing/2014/main" id="{C29B6190-5D90-05BB-D010-CE568835D4B7}"/>
              </a:ext>
            </a:extLst>
          </p:cNvPr>
          <p:cNvSpPr/>
          <p:nvPr/>
        </p:nvSpPr>
        <p:spPr>
          <a:xfrm>
            <a:off x="3096052" y="2743200"/>
            <a:ext cx="1371600"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a:t>Events</a:t>
            </a:r>
          </a:p>
        </p:txBody>
      </p:sp>
      <p:sp>
        <p:nvSpPr>
          <p:cNvPr id="11" name="Rectangle 10">
            <a:extLst>
              <a:ext uri="{FF2B5EF4-FFF2-40B4-BE49-F238E27FC236}">
                <a16:creationId xmlns:a16="http://schemas.microsoft.com/office/drawing/2014/main" id="{99CBB393-DCDC-37E4-8322-CA25A925ABA4}"/>
              </a:ext>
            </a:extLst>
          </p:cNvPr>
          <p:cNvSpPr/>
          <p:nvPr/>
        </p:nvSpPr>
        <p:spPr>
          <a:xfrm>
            <a:off x="3096052" y="3429000"/>
            <a:ext cx="1371600"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a:t>Events</a:t>
            </a:r>
          </a:p>
        </p:txBody>
      </p:sp>
      <p:sp>
        <p:nvSpPr>
          <p:cNvPr id="12" name="Rectangle 11">
            <a:extLst>
              <a:ext uri="{FF2B5EF4-FFF2-40B4-BE49-F238E27FC236}">
                <a16:creationId xmlns:a16="http://schemas.microsoft.com/office/drawing/2014/main" id="{5EC2131A-C75D-61DB-8430-15EE7175C15E}"/>
              </a:ext>
            </a:extLst>
          </p:cNvPr>
          <p:cNvSpPr/>
          <p:nvPr/>
        </p:nvSpPr>
        <p:spPr>
          <a:xfrm>
            <a:off x="3096052" y="4153218"/>
            <a:ext cx="1371600"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a:t>Events</a:t>
            </a:r>
          </a:p>
        </p:txBody>
      </p:sp>
      <p:pic>
        <p:nvPicPr>
          <p:cNvPr id="13" name="Picture 12">
            <a:extLst>
              <a:ext uri="{FF2B5EF4-FFF2-40B4-BE49-F238E27FC236}">
                <a16:creationId xmlns:a16="http://schemas.microsoft.com/office/drawing/2014/main" id="{CB1014D3-DA80-46F4-AA77-7747431D7D23}"/>
              </a:ext>
            </a:extLst>
          </p:cNvPr>
          <p:cNvPicPr>
            <a:picLocks noChangeAspect="1"/>
          </p:cNvPicPr>
          <p:nvPr/>
        </p:nvPicPr>
        <p:blipFill>
          <a:blip r:embed="rId4"/>
          <a:stretch>
            <a:fillRect/>
          </a:stretch>
        </p:blipFill>
        <p:spPr>
          <a:xfrm>
            <a:off x="6755991" y="2743200"/>
            <a:ext cx="1371600" cy="570790"/>
          </a:xfrm>
          <a:prstGeom prst="rect">
            <a:avLst/>
          </a:prstGeom>
        </p:spPr>
      </p:pic>
      <p:sp>
        <p:nvSpPr>
          <p:cNvPr id="14" name="Rectangle 13">
            <a:extLst>
              <a:ext uri="{FF2B5EF4-FFF2-40B4-BE49-F238E27FC236}">
                <a16:creationId xmlns:a16="http://schemas.microsoft.com/office/drawing/2014/main" id="{A669B445-BF9E-E42F-9FCE-59F8673BA8FB}"/>
              </a:ext>
            </a:extLst>
          </p:cNvPr>
          <p:cNvSpPr/>
          <p:nvPr/>
        </p:nvSpPr>
        <p:spPr>
          <a:xfrm>
            <a:off x="9052984" y="2743200"/>
            <a:ext cx="1371600"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a:t>Application</a:t>
            </a:r>
          </a:p>
        </p:txBody>
      </p:sp>
      <p:sp>
        <p:nvSpPr>
          <p:cNvPr id="15" name="Rectangle 14">
            <a:extLst>
              <a:ext uri="{FF2B5EF4-FFF2-40B4-BE49-F238E27FC236}">
                <a16:creationId xmlns:a16="http://schemas.microsoft.com/office/drawing/2014/main" id="{E6DDF94C-60B5-8677-FB75-B45F094388D3}"/>
              </a:ext>
            </a:extLst>
          </p:cNvPr>
          <p:cNvSpPr/>
          <p:nvPr/>
        </p:nvSpPr>
        <p:spPr>
          <a:xfrm>
            <a:off x="9052984" y="3429000"/>
            <a:ext cx="1371600"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a:t>Application</a:t>
            </a:r>
          </a:p>
        </p:txBody>
      </p:sp>
      <p:sp>
        <p:nvSpPr>
          <p:cNvPr id="16" name="Rectangle 15">
            <a:extLst>
              <a:ext uri="{FF2B5EF4-FFF2-40B4-BE49-F238E27FC236}">
                <a16:creationId xmlns:a16="http://schemas.microsoft.com/office/drawing/2014/main" id="{8E555EF7-1FE8-7626-8531-EC0ED9DF6037}"/>
              </a:ext>
            </a:extLst>
          </p:cNvPr>
          <p:cNvSpPr/>
          <p:nvPr/>
        </p:nvSpPr>
        <p:spPr>
          <a:xfrm>
            <a:off x="9052984" y="4111437"/>
            <a:ext cx="1371600"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a:t>Application</a:t>
            </a:r>
          </a:p>
        </p:txBody>
      </p:sp>
      <p:pic>
        <p:nvPicPr>
          <p:cNvPr id="17" name="Picture 16">
            <a:extLst>
              <a:ext uri="{FF2B5EF4-FFF2-40B4-BE49-F238E27FC236}">
                <a16:creationId xmlns:a16="http://schemas.microsoft.com/office/drawing/2014/main" id="{A1CE5306-7BA7-D6DC-F738-93E5D3EBC05B}"/>
              </a:ext>
            </a:extLst>
          </p:cNvPr>
          <p:cNvPicPr>
            <a:picLocks noChangeAspect="1"/>
          </p:cNvPicPr>
          <p:nvPr/>
        </p:nvPicPr>
        <p:blipFill>
          <a:blip r:embed="rId5"/>
          <a:stretch>
            <a:fillRect/>
          </a:stretch>
        </p:blipFill>
        <p:spPr>
          <a:xfrm>
            <a:off x="6144052" y="4800600"/>
            <a:ext cx="1054100" cy="1090110"/>
          </a:xfrm>
          <a:prstGeom prst="rect">
            <a:avLst/>
          </a:prstGeom>
        </p:spPr>
      </p:pic>
      <p:sp>
        <p:nvSpPr>
          <p:cNvPr id="18" name="Down Arrow 17">
            <a:extLst>
              <a:ext uri="{FF2B5EF4-FFF2-40B4-BE49-F238E27FC236}">
                <a16:creationId xmlns:a16="http://schemas.microsoft.com/office/drawing/2014/main" id="{261D0ACC-A80B-D8E5-AE0D-048A824E0491}"/>
              </a:ext>
            </a:extLst>
          </p:cNvPr>
          <p:cNvSpPr/>
          <p:nvPr/>
        </p:nvSpPr>
        <p:spPr>
          <a:xfrm>
            <a:off x="6601252" y="3925010"/>
            <a:ext cx="152400" cy="6092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9" name="Right Arrow 18">
            <a:extLst>
              <a:ext uri="{FF2B5EF4-FFF2-40B4-BE49-F238E27FC236}">
                <a16:creationId xmlns:a16="http://schemas.microsoft.com/office/drawing/2014/main" id="{84D37EE3-A47D-4CB0-B1C0-FF81F37CF01A}"/>
              </a:ext>
            </a:extLst>
          </p:cNvPr>
          <p:cNvSpPr/>
          <p:nvPr/>
        </p:nvSpPr>
        <p:spPr>
          <a:xfrm>
            <a:off x="2823264" y="2886252"/>
            <a:ext cx="206077" cy="948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0" name="Right Arrow 19">
            <a:extLst>
              <a:ext uri="{FF2B5EF4-FFF2-40B4-BE49-F238E27FC236}">
                <a16:creationId xmlns:a16="http://schemas.microsoft.com/office/drawing/2014/main" id="{AEEDD8CE-3EB8-EF6F-4848-47B69ADE4293}"/>
              </a:ext>
            </a:extLst>
          </p:cNvPr>
          <p:cNvSpPr/>
          <p:nvPr/>
        </p:nvSpPr>
        <p:spPr>
          <a:xfrm>
            <a:off x="2850843" y="3572052"/>
            <a:ext cx="206077" cy="948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1" name="Right Arrow 20">
            <a:extLst>
              <a:ext uri="{FF2B5EF4-FFF2-40B4-BE49-F238E27FC236}">
                <a16:creationId xmlns:a16="http://schemas.microsoft.com/office/drawing/2014/main" id="{4C5E5A4E-9E88-FCB3-FBFC-015363557D90}"/>
              </a:ext>
            </a:extLst>
          </p:cNvPr>
          <p:cNvSpPr/>
          <p:nvPr/>
        </p:nvSpPr>
        <p:spPr>
          <a:xfrm>
            <a:off x="2850843" y="4296270"/>
            <a:ext cx="206077" cy="948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2" name="Right Arrow 21">
            <a:extLst>
              <a:ext uri="{FF2B5EF4-FFF2-40B4-BE49-F238E27FC236}">
                <a16:creationId xmlns:a16="http://schemas.microsoft.com/office/drawing/2014/main" id="{4838959D-54B1-2790-013D-6261EE7D9E3A}"/>
              </a:ext>
            </a:extLst>
          </p:cNvPr>
          <p:cNvSpPr/>
          <p:nvPr/>
        </p:nvSpPr>
        <p:spPr>
          <a:xfrm>
            <a:off x="4587150" y="3572052"/>
            <a:ext cx="206077" cy="948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3" name="Right Arrow 22">
            <a:extLst>
              <a:ext uri="{FF2B5EF4-FFF2-40B4-BE49-F238E27FC236}">
                <a16:creationId xmlns:a16="http://schemas.microsoft.com/office/drawing/2014/main" id="{AD92D654-4317-31BB-C87A-45CD798ED76D}"/>
              </a:ext>
            </a:extLst>
          </p:cNvPr>
          <p:cNvSpPr/>
          <p:nvPr/>
        </p:nvSpPr>
        <p:spPr>
          <a:xfrm>
            <a:off x="8734852" y="2891950"/>
            <a:ext cx="206077" cy="948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4" name="Right Arrow 23">
            <a:extLst>
              <a:ext uri="{FF2B5EF4-FFF2-40B4-BE49-F238E27FC236}">
                <a16:creationId xmlns:a16="http://schemas.microsoft.com/office/drawing/2014/main" id="{891B874E-F389-ED92-B600-C5BC8EAD310A}"/>
              </a:ext>
            </a:extLst>
          </p:cNvPr>
          <p:cNvSpPr/>
          <p:nvPr/>
        </p:nvSpPr>
        <p:spPr>
          <a:xfrm>
            <a:off x="8734852" y="3524604"/>
            <a:ext cx="206077" cy="948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5" name="Right Arrow 24">
            <a:extLst>
              <a:ext uri="{FF2B5EF4-FFF2-40B4-BE49-F238E27FC236}">
                <a16:creationId xmlns:a16="http://schemas.microsoft.com/office/drawing/2014/main" id="{587107DA-BF12-713A-2B3D-9B6918A3870B}"/>
              </a:ext>
            </a:extLst>
          </p:cNvPr>
          <p:cNvSpPr/>
          <p:nvPr/>
        </p:nvSpPr>
        <p:spPr>
          <a:xfrm>
            <a:off x="8734851" y="4249983"/>
            <a:ext cx="206077" cy="948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26" name="Picture 25">
            <a:extLst>
              <a:ext uri="{FF2B5EF4-FFF2-40B4-BE49-F238E27FC236}">
                <a16:creationId xmlns:a16="http://schemas.microsoft.com/office/drawing/2014/main" id="{A9512C67-9FFC-1F30-5167-3E8CF6584FB5}"/>
              </a:ext>
            </a:extLst>
          </p:cNvPr>
          <p:cNvPicPr>
            <a:picLocks noChangeAspect="1"/>
          </p:cNvPicPr>
          <p:nvPr/>
        </p:nvPicPr>
        <p:blipFill>
          <a:blip r:embed="rId6"/>
          <a:stretch>
            <a:fillRect/>
          </a:stretch>
        </p:blipFill>
        <p:spPr>
          <a:xfrm>
            <a:off x="7525070" y="5557335"/>
            <a:ext cx="897082" cy="666750"/>
          </a:xfrm>
          <a:prstGeom prst="rect">
            <a:avLst/>
          </a:prstGeom>
        </p:spPr>
      </p:pic>
      <p:pic>
        <p:nvPicPr>
          <p:cNvPr id="27" name="Picture 26">
            <a:extLst>
              <a:ext uri="{FF2B5EF4-FFF2-40B4-BE49-F238E27FC236}">
                <a16:creationId xmlns:a16="http://schemas.microsoft.com/office/drawing/2014/main" id="{D73AC375-3897-2894-ACD3-09906B7B1D91}"/>
              </a:ext>
            </a:extLst>
          </p:cNvPr>
          <p:cNvPicPr>
            <a:picLocks noChangeAspect="1"/>
          </p:cNvPicPr>
          <p:nvPr/>
        </p:nvPicPr>
        <p:blipFill>
          <a:blip r:embed="rId7"/>
          <a:stretch>
            <a:fillRect/>
          </a:stretch>
        </p:blipFill>
        <p:spPr>
          <a:xfrm>
            <a:off x="8709117" y="5524377"/>
            <a:ext cx="1225550" cy="699708"/>
          </a:xfrm>
          <a:prstGeom prst="rect">
            <a:avLst/>
          </a:prstGeom>
        </p:spPr>
      </p:pic>
      <p:sp>
        <p:nvSpPr>
          <p:cNvPr id="28" name="TextBox 27">
            <a:extLst>
              <a:ext uri="{FF2B5EF4-FFF2-40B4-BE49-F238E27FC236}">
                <a16:creationId xmlns:a16="http://schemas.microsoft.com/office/drawing/2014/main" id="{D909CFA7-DC8D-B1DB-BBEF-FAA4F1B3FE77}"/>
              </a:ext>
            </a:extLst>
          </p:cNvPr>
          <p:cNvSpPr txBox="1"/>
          <p:nvPr/>
        </p:nvSpPr>
        <p:spPr>
          <a:xfrm>
            <a:off x="10563652" y="5755575"/>
            <a:ext cx="415498" cy="369332"/>
          </a:xfrm>
          <a:prstGeom prst="rect">
            <a:avLst/>
          </a:prstGeom>
          <a:noFill/>
        </p:spPr>
        <p:txBody>
          <a:bodyPr wrap="none" rtlCol="0">
            <a:spAutoFit/>
          </a:bodyPr>
          <a:lstStyle/>
          <a:p>
            <a:r>
              <a:rPr lang="en-DE"/>
              <a:t>…</a:t>
            </a:r>
          </a:p>
        </p:txBody>
      </p:sp>
    </p:spTree>
    <p:extLst>
      <p:ext uri="{BB962C8B-B14F-4D97-AF65-F5344CB8AC3E}">
        <p14:creationId xmlns:p14="http://schemas.microsoft.com/office/powerpoint/2010/main" val="958875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5A840-CC5F-EF46-D04D-5D9C1773EC9D}"/>
              </a:ext>
            </a:extLst>
          </p:cNvPr>
          <p:cNvSpPr>
            <a:spLocks noGrp="1"/>
          </p:cNvSpPr>
          <p:nvPr>
            <p:ph type="title"/>
          </p:nvPr>
        </p:nvSpPr>
        <p:spPr>
          <a:xfrm>
            <a:off x="346048" y="1031239"/>
            <a:ext cx="6599037" cy="984885"/>
          </a:xfrm>
        </p:spPr>
        <p:txBody>
          <a:bodyPr/>
          <a:lstStyle/>
          <a:p>
            <a:r>
              <a:rPr lang="en-DE" dirty="0"/>
              <a:t>Definition Cloud Computing</a:t>
            </a:r>
          </a:p>
        </p:txBody>
      </p:sp>
      <p:sp>
        <p:nvSpPr>
          <p:cNvPr id="4" name="Slide Number Placeholder 3">
            <a:extLst>
              <a:ext uri="{FF2B5EF4-FFF2-40B4-BE49-F238E27FC236}">
                <a16:creationId xmlns:a16="http://schemas.microsoft.com/office/drawing/2014/main" id="{E6D26DD5-E872-6503-4AC0-EA189A5497B3}"/>
              </a:ext>
            </a:extLst>
          </p:cNvPr>
          <p:cNvSpPr>
            <a:spLocks noGrp="1"/>
          </p:cNvSpPr>
          <p:nvPr>
            <p:ph type="sldNum" sz="quarter" idx="12"/>
          </p:nvPr>
        </p:nvSpPr>
        <p:spPr>
          <a:xfrm>
            <a:off x="8737600" y="6308726"/>
            <a:ext cx="2878667" cy="365125"/>
          </a:xfrm>
          <a:prstGeom prst="rect">
            <a:avLst/>
          </a:prstGeom>
        </p:spPr>
        <p:txBody>
          <a:bodyPr vert="horz" lIns="0" tIns="72000" rIns="0" bIns="0" rtlCol="0" anchor="t" anchorCtr="0"/>
          <a:lstStyle>
            <a:defPPr>
              <a:defRPr lang="de-DE"/>
            </a:defPPr>
            <a:lvl1pPr algn="r" rtl="0" fontAlgn="base">
              <a:spcBef>
                <a:spcPct val="0"/>
              </a:spcBef>
              <a:spcAft>
                <a:spcPct val="0"/>
              </a:spcAft>
              <a:defRPr sz="1200" kern="1200">
                <a:solidFill>
                  <a:schemeClr val="tx1">
                    <a:tint val="75000"/>
                  </a:schemeClr>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fld id="{B412CF81-FBD2-4988-8D72-9A03E2875460}" type="slidenum">
              <a:rPr lang="de-DE" smtClean="0"/>
              <a:pPr>
                <a:defRPr/>
              </a:pPr>
              <a:t>18</a:t>
            </a:fld>
            <a:endParaRPr lang="de-DE"/>
          </a:p>
        </p:txBody>
      </p:sp>
      <p:sp>
        <p:nvSpPr>
          <p:cNvPr id="5" name="Content Placeholder 6">
            <a:extLst>
              <a:ext uri="{FF2B5EF4-FFF2-40B4-BE49-F238E27FC236}">
                <a16:creationId xmlns:a16="http://schemas.microsoft.com/office/drawing/2014/main" id="{6AB9F6E5-A069-33AA-6155-AE1A40A73782}"/>
              </a:ext>
            </a:extLst>
          </p:cNvPr>
          <p:cNvSpPr txBox="1">
            <a:spLocks/>
          </p:cNvSpPr>
          <p:nvPr/>
        </p:nvSpPr>
        <p:spPr>
          <a:xfrm>
            <a:off x="372110" y="2016124"/>
            <a:ext cx="11587890" cy="4418626"/>
          </a:xfrm>
          <a:prstGeom prst="rect">
            <a:avLst/>
          </a:prstGeom>
        </p:spPr>
        <p:txBody>
          <a:bodyPr/>
          <a:lstStyle>
            <a:lvl1pPr marL="179388" indent="-179388" algn="l" rtl="0" eaLnBrk="0" fontAlgn="base" hangingPunct="0">
              <a:lnSpc>
                <a:spcPct val="110000"/>
              </a:lnSpc>
              <a:spcBef>
                <a:spcPct val="0"/>
              </a:spcBef>
              <a:spcAft>
                <a:spcPts val="900"/>
              </a:spcAft>
              <a:buClr>
                <a:srgbClr val="6F6F6F"/>
              </a:buClr>
              <a:buFont typeface="Arial" charset="0"/>
              <a:buChar char="•"/>
              <a:defRPr sz="2000" kern="1200">
                <a:solidFill>
                  <a:schemeClr val="tx1"/>
                </a:solidFill>
                <a:latin typeface="Arial" pitchFamily="34" charset="0"/>
                <a:ea typeface="+mn-ea"/>
                <a:cs typeface="Arial" pitchFamily="34" charset="0"/>
              </a:defRPr>
            </a:lvl1pPr>
            <a:lvl2pPr marL="358775" indent="-179388" algn="l" rtl="0" eaLnBrk="0" fontAlgn="base" hangingPunct="0">
              <a:lnSpc>
                <a:spcPct val="110000"/>
              </a:lnSpc>
              <a:spcBef>
                <a:spcPct val="0"/>
              </a:spcBef>
              <a:spcAft>
                <a:spcPts val="900"/>
              </a:spcAft>
              <a:buClr>
                <a:srgbClr val="6F6F6F"/>
              </a:buClr>
              <a:buFont typeface="Arial" charset="0"/>
              <a:buChar char="•"/>
              <a:defRPr sz="1600" kern="1200">
                <a:solidFill>
                  <a:schemeClr val="tx1"/>
                </a:solidFill>
                <a:latin typeface="Arial" pitchFamily="34" charset="0"/>
                <a:ea typeface="+mn-ea"/>
                <a:cs typeface="Arial" pitchFamily="34" charset="0"/>
              </a:defRPr>
            </a:lvl2pPr>
            <a:lvl3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3pPr>
            <a:lvl4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4pPr>
            <a:lvl5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dirty="0">
                <a:solidFill>
                  <a:srgbClr val="202124"/>
                </a:solidFill>
                <a:latin typeface="arial" panose="020B0604020202020204" pitchFamily="34" charset="0"/>
              </a:rPr>
              <a:t>Cloud computing is the on-demand provision of computing power, databases, storage, applications, and other IT resources over the internet with usage-based pricing.</a:t>
            </a:r>
          </a:p>
        </p:txBody>
      </p:sp>
      <p:pic>
        <p:nvPicPr>
          <p:cNvPr id="6" name="Picture 5" descr="Shows an illustration of a cloud over some colorful office buildings.">
            <a:extLst>
              <a:ext uri="{FF2B5EF4-FFF2-40B4-BE49-F238E27FC236}">
                <a16:creationId xmlns:a16="http://schemas.microsoft.com/office/drawing/2014/main" id="{F2AB4115-E3B7-194B-89D1-5A31E1C5520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42331" y="2896986"/>
            <a:ext cx="4957042" cy="3303887"/>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11636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5415103-75FB-46CC-B197-5E61193274FE}"/>
              </a:ext>
            </a:extLst>
          </p:cNvPr>
          <p:cNvSpPr>
            <a:spLocks noGrp="1"/>
          </p:cNvSpPr>
          <p:nvPr>
            <p:ph type="sldNum" sz="quarter" idx="20"/>
          </p:nvPr>
        </p:nvSpPr>
        <p:spPr/>
        <p:txBody>
          <a:bodyPr/>
          <a:lstStyle/>
          <a:p>
            <a:fld id="{B6A95138-A96E-2F42-A959-2EFD44FE4AB7}" type="slidenum">
              <a:rPr lang="en-US" smtClean="0"/>
              <a:t>19</a:t>
            </a:fld>
            <a:endParaRPr lang="en-US"/>
          </a:p>
        </p:txBody>
      </p:sp>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a:t>Architectural need</a:t>
            </a:r>
          </a:p>
        </p:txBody>
      </p:sp>
      <p:sp>
        <p:nvSpPr>
          <p:cNvPr id="5" name="Rectangle 4" descr="text box that reads &quot;around 2000, amazon was struggling to make its new shopping website highly available and scalable&quot;.">
            <a:extLst>
              <a:ext uri="{FF2B5EF4-FFF2-40B4-BE49-F238E27FC236}">
                <a16:creationId xmlns:a16="http://schemas.microsoft.com/office/drawing/2014/main" id="{81DEC70D-8A08-3640-BE12-11E9E6A5CB07}"/>
              </a:ext>
            </a:extLst>
          </p:cNvPr>
          <p:cNvSpPr/>
          <p:nvPr/>
        </p:nvSpPr>
        <p:spPr>
          <a:xfrm>
            <a:off x="426929" y="2322399"/>
            <a:ext cx="11412416" cy="1125415"/>
          </a:xfrm>
          <a:prstGeom prst="rect">
            <a:avLst/>
          </a:prstGeom>
          <a:noFill/>
          <a:ln w="3810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Around 2000, Amazon was struggling to make its </a:t>
            </a:r>
            <a:br>
              <a:rPr lang="en-US" sz="2400">
                <a:solidFill>
                  <a:schemeClr val="tx1"/>
                </a:solidFill>
              </a:rPr>
            </a:br>
            <a:r>
              <a:rPr lang="en-US" sz="2400">
                <a:solidFill>
                  <a:schemeClr val="tx1"/>
                </a:solidFill>
              </a:rPr>
              <a:t>new shopping website highly available and scalable.</a:t>
            </a:r>
          </a:p>
        </p:txBody>
      </p:sp>
    </p:spTree>
    <p:custDataLst>
      <p:tags r:id="rId1"/>
    </p:custDataLst>
    <p:extLst>
      <p:ext uri="{BB962C8B-B14F-4D97-AF65-F5344CB8AC3E}">
        <p14:creationId xmlns:p14="http://schemas.microsoft.com/office/powerpoint/2010/main" val="847710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EB0813E-46C9-4CEF-88E4-B03A7D4D06C7}"/>
              </a:ext>
            </a:extLst>
          </p:cNvPr>
          <p:cNvSpPr>
            <a:spLocks noGrp="1"/>
          </p:cNvSpPr>
          <p:nvPr>
            <p:ph type="sldNum" sz="quarter" idx="20"/>
          </p:nvPr>
        </p:nvSpPr>
        <p:spPr/>
        <p:txBody>
          <a:bodyPr/>
          <a:lstStyle/>
          <a:p>
            <a:fld id="{B6A95138-A96E-2F42-A959-2EFD44FE4AB7}" type="slidenum">
              <a:rPr lang="en-US" smtClean="0"/>
              <a:pPr/>
              <a:t>20</a:t>
            </a:fld>
            <a:endParaRPr lang="en-US"/>
          </a:p>
        </p:txBody>
      </p:sp>
      <p:sp>
        <p:nvSpPr>
          <p:cNvPr id="2" name="Title 1"/>
          <p:cNvSpPr>
            <a:spLocks noGrp="1"/>
          </p:cNvSpPr>
          <p:nvPr>
            <p:ph type="title"/>
          </p:nvPr>
        </p:nvSpPr>
        <p:spPr/>
        <p:txBody>
          <a:bodyPr/>
          <a:lstStyle/>
          <a:p>
            <a:r>
              <a:rPr lang="en-US"/>
              <a:t>Origins of AWS</a:t>
            </a:r>
          </a:p>
        </p:txBody>
      </p:sp>
      <p:sp>
        <p:nvSpPr>
          <p:cNvPr id="3" name="Content Placeholder 2"/>
          <p:cNvSpPr>
            <a:spLocks noGrp="1"/>
          </p:cNvSpPr>
          <p:nvPr>
            <p:ph sz="quarter" idx="21"/>
          </p:nvPr>
        </p:nvSpPr>
        <p:spPr>
          <a:xfrm>
            <a:off x="362827" y="1828800"/>
            <a:ext cx="11587890" cy="1938992"/>
          </a:xfrm>
        </p:spPr>
        <p:txBody>
          <a:bodyPr/>
          <a:lstStyle/>
          <a:p>
            <a:r>
              <a:rPr lang="en-US" dirty="0"/>
              <a:t>According to AWS CEO Andy Jassy, at the time, Amazon ecommerce tools were “a jumbled mess”</a:t>
            </a:r>
          </a:p>
          <a:p>
            <a:endParaRPr lang="en-US" dirty="0"/>
          </a:p>
          <a:p>
            <a:pPr lvl="1"/>
            <a:r>
              <a:rPr lang="en-US" dirty="0"/>
              <a:t>Applications and architectures were </a:t>
            </a:r>
            <a:r>
              <a:rPr lang="en-US" dirty="0">
                <a:solidFill>
                  <a:srgbClr val="504BAB"/>
                </a:solidFill>
                <a:latin typeface="Amazon Ember" panose="02000000000000000000" pitchFamily="2" charset="0"/>
                <a:ea typeface="Amazon Ember" panose="02000000000000000000" pitchFamily="2" charset="0"/>
              </a:rPr>
              <a:t>built without proper planning</a:t>
            </a:r>
          </a:p>
          <a:p>
            <a:pPr marL="227012" lvl="1"/>
            <a:endParaRPr lang="en-US" dirty="0"/>
          </a:p>
          <a:p>
            <a:pPr lvl="1"/>
            <a:r>
              <a:rPr lang="en-US" dirty="0"/>
              <a:t>It was </a:t>
            </a:r>
            <a:r>
              <a:rPr lang="en-US" dirty="0">
                <a:solidFill>
                  <a:srgbClr val="504BAB"/>
                </a:solidFill>
                <a:latin typeface="Amazon Ember" panose="02000000000000000000" pitchFamily="2" charset="0"/>
                <a:ea typeface="Amazon Ember" panose="02000000000000000000" pitchFamily="2" charset="0"/>
              </a:rPr>
              <a:t>difficult to separate services </a:t>
            </a:r>
            <a:r>
              <a:rPr lang="en-US" dirty="0"/>
              <a:t>from each other</a:t>
            </a:r>
          </a:p>
          <a:p>
            <a:endParaRPr lang="en-US" dirty="0"/>
          </a:p>
          <a:p>
            <a:r>
              <a:rPr lang="en-US" dirty="0">
                <a:latin typeface="Amazon Ember" panose="02000000000000000000" pitchFamily="2" charset="0"/>
                <a:ea typeface="Amazon Ember" panose="02000000000000000000" pitchFamily="2" charset="0"/>
              </a:rPr>
              <a:t>Solution:</a:t>
            </a:r>
            <a:r>
              <a:rPr lang="en-US" dirty="0"/>
              <a:t> Amazon created a set of well-documented APIs, which became the company’s standard for service development</a:t>
            </a:r>
          </a:p>
        </p:txBody>
      </p:sp>
    </p:spTree>
    <p:custDataLst>
      <p:tags r:id="rId1"/>
    </p:custDataLst>
    <p:extLst>
      <p:ext uri="{BB962C8B-B14F-4D97-AF65-F5344CB8AC3E}">
        <p14:creationId xmlns:p14="http://schemas.microsoft.com/office/powerpoint/2010/main" val="35877286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0FC3A2C-574E-40B2-8260-BCF67A9D3E8A}"/>
              </a:ext>
            </a:extLst>
          </p:cNvPr>
          <p:cNvSpPr>
            <a:spLocks noGrp="1"/>
          </p:cNvSpPr>
          <p:nvPr>
            <p:ph type="sldNum" sz="quarter" idx="20"/>
          </p:nvPr>
        </p:nvSpPr>
        <p:spPr/>
        <p:txBody>
          <a:bodyPr/>
          <a:lstStyle/>
          <a:p>
            <a:fld id="{B6A95138-A96E-2F42-A959-2EFD44FE4AB7}" type="slidenum">
              <a:rPr lang="en-US" smtClean="0"/>
              <a:pPr/>
              <a:t>21</a:t>
            </a:fld>
            <a:endParaRPr lang="en-US"/>
          </a:p>
        </p:txBody>
      </p:sp>
      <p:sp>
        <p:nvSpPr>
          <p:cNvPr id="2" name="Title 1"/>
          <p:cNvSpPr>
            <a:spLocks noGrp="1"/>
          </p:cNvSpPr>
          <p:nvPr>
            <p:ph type="title"/>
          </p:nvPr>
        </p:nvSpPr>
        <p:spPr/>
        <p:txBody>
          <a:bodyPr/>
          <a:lstStyle/>
          <a:p>
            <a:r>
              <a:rPr lang="en-US"/>
              <a:t>Problems persisted</a:t>
            </a:r>
          </a:p>
        </p:txBody>
      </p:sp>
      <p:sp>
        <p:nvSpPr>
          <p:cNvPr id="3" name="Content Placeholder 2"/>
          <p:cNvSpPr>
            <a:spLocks noGrp="1"/>
          </p:cNvSpPr>
          <p:nvPr>
            <p:ph sz="quarter" idx="21"/>
          </p:nvPr>
        </p:nvSpPr>
        <p:spPr>
          <a:xfrm>
            <a:off x="347441" y="1654629"/>
            <a:ext cx="11599961" cy="2492990"/>
          </a:xfrm>
        </p:spPr>
        <p:txBody>
          <a:bodyPr/>
          <a:lstStyle/>
          <a:p>
            <a:r>
              <a:rPr lang="en-US" dirty="0"/>
              <a:t>Amazon still struggled to build applications quickly.</a:t>
            </a:r>
          </a:p>
          <a:p>
            <a:endParaRPr lang="en-US" dirty="0"/>
          </a:p>
          <a:p>
            <a:pPr lvl="1"/>
            <a:r>
              <a:rPr lang="en-US" dirty="0"/>
              <a:t>Database, compute, and storage components took </a:t>
            </a:r>
            <a:r>
              <a:rPr lang="en-US" dirty="0">
                <a:solidFill>
                  <a:srgbClr val="504BAB"/>
                </a:solidFill>
                <a:latin typeface="Amazon Ember" panose="02000000000000000000" pitchFamily="2" charset="0"/>
                <a:ea typeface="Amazon Ember" panose="02000000000000000000" pitchFamily="2" charset="0"/>
              </a:rPr>
              <a:t>3 months</a:t>
            </a:r>
            <a:r>
              <a:rPr lang="en-US" dirty="0">
                <a:solidFill>
                  <a:srgbClr val="504BAB"/>
                </a:solidFill>
              </a:rPr>
              <a:t> </a:t>
            </a:r>
            <a:r>
              <a:rPr lang="en-US" dirty="0"/>
              <a:t>to build.</a:t>
            </a:r>
          </a:p>
          <a:p>
            <a:pPr marL="227012" lvl="1"/>
            <a:endParaRPr lang="en-US" dirty="0"/>
          </a:p>
          <a:p>
            <a:pPr lvl="1"/>
            <a:r>
              <a:rPr lang="en-US" dirty="0"/>
              <a:t>Each team built their own resources, </a:t>
            </a:r>
            <a:r>
              <a:rPr lang="en-US" dirty="0">
                <a:solidFill>
                  <a:srgbClr val="504BAB"/>
                </a:solidFill>
              </a:rPr>
              <a:t>with </a:t>
            </a:r>
            <a:r>
              <a:rPr lang="en-US" dirty="0">
                <a:solidFill>
                  <a:srgbClr val="504BAB"/>
                </a:solidFill>
                <a:latin typeface="Amazon Ember" panose="02000000000000000000" pitchFamily="2" charset="0"/>
                <a:ea typeface="Amazon Ember" panose="02000000000000000000" pitchFamily="2" charset="0"/>
              </a:rPr>
              <a:t>no planning for scalability or re-usability</a:t>
            </a:r>
            <a:r>
              <a:rPr lang="en-US" dirty="0">
                <a:latin typeface="+mn-lt"/>
                <a:ea typeface="Amazon Ember" panose="02000000000000000000" pitchFamily="2" charset="0"/>
              </a:rPr>
              <a:t>.</a:t>
            </a:r>
          </a:p>
          <a:p>
            <a:pPr marL="227012" lvl="1"/>
            <a:endParaRPr lang="en-US" dirty="0"/>
          </a:p>
          <a:p>
            <a:r>
              <a:rPr lang="en-US" dirty="0">
                <a:latin typeface="Amazon Ember" panose="02000000000000000000" pitchFamily="2" charset="0"/>
                <a:ea typeface="Amazon Ember" panose="02000000000000000000" pitchFamily="2" charset="0"/>
              </a:rPr>
              <a:t>Solution: </a:t>
            </a:r>
            <a:r>
              <a:rPr lang="en-US" dirty="0"/>
              <a:t>Amazon built internal services to create highly available, scalable, and reliable architectures on top of its infrastructure. In 2006, Amazon started selling these services as AWS.</a:t>
            </a:r>
          </a:p>
          <a:p>
            <a:pPr lvl="1"/>
            <a:endParaRPr lang="en-US" dirty="0"/>
          </a:p>
        </p:txBody>
      </p:sp>
    </p:spTree>
    <p:custDataLst>
      <p:tags r:id="rId1"/>
    </p:custDataLst>
    <p:extLst>
      <p:ext uri="{BB962C8B-B14F-4D97-AF65-F5344CB8AC3E}">
        <p14:creationId xmlns:p14="http://schemas.microsoft.com/office/powerpoint/2010/main" val="26863367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22</a:t>
            </a:fld>
            <a:endParaRPr lang="en-US" dirty="0"/>
          </a:p>
        </p:txBody>
      </p:sp>
      <p:sp>
        <p:nvSpPr>
          <p:cNvPr id="4" name="Title 3"/>
          <p:cNvSpPr>
            <a:spLocks noGrp="1"/>
          </p:cNvSpPr>
          <p:nvPr>
            <p:ph type="title"/>
          </p:nvPr>
        </p:nvSpPr>
        <p:spPr/>
        <p:txBody>
          <a:bodyPr/>
          <a:lstStyle/>
          <a:p>
            <a:r>
              <a:rPr lang="en-US" dirty="0"/>
              <a:t>Infrastructure as software</a:t>
            </a:r>
          </a:p>
        </p:txBody>
      </p:sp>
      <p:sp>
        <p:nvSpPr>
          <p:cNvPr id="7" name="Content Placeholder 6"/>
          <p:cNvSpPr>
            <a:spLocks noGrp="1"/>
          </p:cNvSpPr>
          <p:nvPr>
            <p:ph sz="quarter" idx="21"/>
          </p:nvPr>
        </p:nvSpPr>
        <p:spPr>
          <a:xfrm>
            <a:off x="302369" y="1602697"/>
            <a:ext cx="11599961" cy="1384995"/>
          </a:xfrm>
        </p:spPr>
        <p:txBody>
          <a:bodyPr>
            <a:normAutofit/>
          </a:bodyPr>
          <a:lstStyle/>
          <a:p>
            <a:r>
              <a:rPr lang="en-GB" b="0" i="0" dirty="0">
                <a:solidFill>
                  <a:srgbClr val="202124"/>
                </a:solidFill>
                <a:effectLst/>
                <a:latin typeface="arial" panose="020B0604020202020204" pitchFamily="34" charset="0"/>
              </a:rPr>
              <a:t>Cloud computing allows you to no longer view your infrastructure as hardware, but to treat (and use) it as software.</a:t>
            </a:r>
            <a:endParaRPr lang="en-US" b="1" dirty="0">
              <a:solidFill>
                <a:srgbClr val="504BAB"/>
              </a:solidFill>
              <a:latin typeface="+mn-lt"/>
              <a:ea typeface="Amazon Ember" panose="020B0603020204020204" pitchFamily="34" charset="0"/>
              <a:cs typeface="Amazon Ember" panose="020B0603020204020204" pitchFamily="34" charset="0"/>
            </a:endParaRPr>
          </a:p>
        </p:txBody>
      </p:sp>
      <p:pic>
        <p:nvPicPr>
          <p:cNvPr id="3" name="Picture 2" descr="Shows racks of computers in a data cente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847462" y="2629578"/>
            <a:ext cx="4483101" cy="3178028"/>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
        <p:nvSpPr>
          <p:cNvPr id="2" name="Right Arrow 1" descr="Black right-pointing arrow."/>
          <p:cNvSpPr/>
          <p:nvPr/>
        </p:nvSpPr>
        <p:spPr>
          <a:xfrm>
            <a:off x="5507246" y="3704069"/>
            <a:ext cx="1196829" cy="1029049"/>
          </a:xfrm>
          <a:prstGeom prst="rightArrow">
            <a:avLst/>
          </a:prstGeom>
          <a:solidFill>
            <a:schemeClr val="tx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dirty="0">
              <a:solidFill>
                <a:schemeClr val="tx2"/>
              </a:solidFill>
            </a:endParaRPr>
          </a:p>
        </p:txBody>
      </p:sp>
      <p:pic>
        <p:nvPicPr>
          <p:cNvPr id="5" name="Picture 4" descr="Shows five columns of strings of bits."/>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6865097" y="2629578"/>
            <a:ext cx="4449612" cy="3178028"/>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custDataLst>
      <p:tags r:id="rId1"/>
    </p:custDataLst>
    <p:extLst>
      <p:ext uri="{BB962C8B-B14F-4D97-AF65-F5344CB8AC3E}">
        <p14:creationId xmlns:p14="http://schemas.microsoft.com/office/powerpoint/2010/main" val="25082418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23</a:t>
            </a:fld>
            <a:endParaRPr lang="en-US" dirty="0"/>
          </a:p>
        </p:txBody>
      </p:sp>
      <p:sp>
        <p:nvSpPr>
          <p:cNvPr id="4" name="Title 3"/>
          <p:cNvSpPr>
            <a:spLocks noGrp="1"/>
          </p:cNvSpPr>
          <p:nvPr>
            <p:ph type="title"/>
          </p:nvPr>
        </p:nvSpPr>
        <p:spPr/>
        <p:txBody>
          <a:bodyPr/>
          <a:lstStyle/>
          <a:p>
            <a:r>
              <a:rPr lang="en-US" dirty="0"/>
              <a:t>Traditional Model</a:t>
            </a:r>
          </a:p>
        </p:txBody>
      </p:sp>
      <p:pic>
        <p:nvPicPr>
          <p:cNvPr id="3" name="Picture 2" descr="Shows racks of computers in a data cente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55404" y="2382545"/>
            <a:ext cx="4585336" cy="3250500"/>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
        <p:nvSpPr>
          <p:cNvPr id="7" name="Content Placeholder 6"/>
          <p:cNvSpPr>
            <a:spLocks noGrp="1"/>
          </p:cNvSpPr>
          <p:nvPr>
            <p:ph sz="quarter" idx="21"/>
          </p:nvPr>
        </p:nvSpPr>
        <p:spPr>
          <a:xfrm>
            <a:off x="5405664" y="1566250"/>
            <a:ext cx="6695850" cy="5291750"/>
          </a:xfrm>
        </p:spPr>
        <p:txBody>
          <a:bodyPr>
            <a:noAutofit/>
          </a:bodyPr>
          <a:lstStyle/>
          <a:p>
            <a:pPr marL="457200" indent="-457200"/>
            <a:r>
              <a:rPr lang="en-US" sz="3200" dirty="0">
                <a:latin typeface="Amazon Ember" panose="020B0603020204020204" pitchFamily="34" charset="0"/>
                <a:ea typeface="Amazon Ember" panose="020B0603020204020204" pitchFamily="34" charset="0"/>
                <a:cs typeface="Amazon Ember" panose="020B0603020204020204" pitchFamily="34" charset="0"/>
              </a:rPr>
              <a:t>Infrastructure as hardware</a:t>
            </a:r>
          </a:p>
          <a:p>
            <a:pPr marL="457200" indent="-457200"/>
            <a:r>
              <a:rPr lang="en-US" sz="3200" dirty="0">
                <a:latin typeface="Amazon Ember" panose="020B0603020204020204" pitchFamily="34" charset="0"/>
                <a:ea typeface="Amazon Ember" panose="020B0603020204020204" pitchFamily="34" charset="0"/>
                <a:cs typeface="Amazon Ember" panose="020B0603020204020204" pitchFamily="34" charset="0"/>
              </a:rPr>
              <a:t>Hardware Solutions:</a:t>
            </a:r>
          </a:p>
          <a:p>
            <a:pPr marL="914400" lvl="1" indent="-457200">
              <a:buFont typeface="Arial" panose="020B0604020202020204" pitchFamily="34" charset="0"/>
              <a:buChar char="•"/>
            </a:pPr>
            <a:r>
              <a:rPr lang="en-US" sz="2800" dirty="0">
                <a:latin typeface="Amazon Ember" panose="020B0603020204020204" pitchFamily="34" charset="0"/>
                <a:ea typeface="Amazon Ember" panose="020B0603020204020204" pitchFamily="34" charset="0"/>
                <a:cs typeface="Amazon Ember" panose="020B0603020204020204" pitchFamily="34" charset="0"/>
              </a:rPr>
              <a:t>Require space, personnel, physical security, planning, capital</a:t>
            </a:r>
          </a:p>
          <a:p>
            <a:pPr marL="914400" lvl="1" indent="-457200">
              <a:buFont typeface="Arial" panose="020B0604020202020204" pitchFamily="34" charset="0"/>
              <a:buChar char="•"/>
            </a:pPr>
            <a:r>
              <a:rPr lang="en-US" sz="2800" dirty="0">
                <a:latin typeface="Amazon Ember" panose="020B0603020204020204" pitchFamily="34" charset="0"/>
                <a:ea typeface="Amazon Ember" panose="020B0603020204020204" pitchFamily="34" charset="0"/>
                <a:cs typeface="Amazon Ember" panose="020B0603020204020204" pitchFamily="34" charset="0"/>
              </a:rPr>
              <a:t>Long hardware procurement cycles</a:t>
            </a:r>
          </a:p>
          <a:p>
            <a:pPr marL="914400" lvl="1" indent="-457200">
              <a:buFont typeface="Arial" panose="020B0604020202020204" pitchFamily="34" charset="0"/>
              <a:buChar char="•"/>
            </a:pPr>
            <a:r>
              <a:rPr lang="en-US" sz="2800" dirty="0">
                <a:latin typeface="Amazon Ember" panose="020B0603020204020204" pitchFamily="34" charset="0"/>
                <a:ea typeface="Amazon Ember" panose="020B0603020204020204" pitchFamily="34" charset="0"/>
                <a:cs typeface="Amazon Ember" panose="020B0603020204020204" pitchFamily="34" charset="0"/>
              </a:rPr>
              <a:t>Capacity needs to be estimated upfront</a:t>
            </a:r>
          </a:p>
        </p:txBody>
      </p:sp>
    </p:spTree>
    <p:custDataLst>
      <p:tags r:id="rId1"/>
    </p:custDataLst>
    <p:extLst>
      <p:ext uri="{BB962C8B-B14F-4D97-AF65-F5344CB8AC3E}">
        <p14:creationId xmlns:p14="http://schemas.microsoft.com/office/powerpoint/2010/main" val="21209815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72EFE0C9-EC0C-0E44-6662-92F90D7D5E52}"/>
              </a:ext>
            </a:extLst>
          </p:cNvPr>
          <p:cNvSpPr>
            <a:spLocks noGrp="1"/>
          </p:cNvSpPr>
          <p:nvPr>
            <p:ph type="sldNum" sz="quarter" idx="20"/>
          </p:nvPr>
        </p:nvSpPr>
        <p:spPr>
          <a:xfrm>
            <a:off x="11469389" y="6568410"/>
            <a:ext cx="484261" cy="265176"/>
          </a:xfrm>
          <a:prstGeom prst="rect">
            <a:avLst/>
          </a:prstGeom>
        </p:spPr>
        <p:txBody>
          <a:bodyPr vert="horz" lIns="0" tIns="72000" rIns="0" bIns="0" rtlCol="0" anchor="t" anchorCtr="0"/>
          <a:lstStyle>
            <a:defPPr>
              <a:defRPr lang="de-DE"/>
            </a:defPPr>
            <a:lvl1pPr algn="r" rtl="0" fontAlgn="base">
              <a:spcBef>
                <a:spcPct val="0"/>
              </a:spcBef>
              <a:spcAft>
                <a:spcPct val="0"/>
              </a:spcAft>
              <a:defRPr sz="1100" kern="1200">
                <a:solidFill>
                  <a:schemeClr val="tx2"/>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930176A1-BCF0-4712-97A6-6B495F55390B}" type="slidenum">
              <a:rPr lang="en-US" smtClean="0"/>
              <a:pPr/>
              <a:t>24</a:t>
            </a:fld>
            <a:endParaRPr lang="en-US" dirty="0"/>
          </a:p>
        </p:txBody>
      </p:sp>
      <p:sp>
        <p:nvSpPr>
          <p:cNvPr id="4" name="Title 3"/>
          <p:cNvSpPr>
            <a:spLocks noGrp="1"/>
          </p:cNvSpPr>
          <p:nvPr>
            <p:ph type="title"/>
          </p:nvPr>
        </p:nvSpPr>
        <p:spPr>
          <a:xfrm>
            <a:off x="346048" y="1031239"/>
            <a:ext cx="5205665" cy="492443"/>
          </a:xfrm>
        </p:spPr>
        <p:txBody>
          <a:bodyPr/>
          <a:lstStyle/>
          <a:p>
            <a:r>
              <a:rPr lang="en-US" dirty="0"/>
              <a:t>Cloud Computing Model</a:t>
            </a:r>
          </a:p>
        </p:txBody>
      </p:sp>
      <p:pic>
        <p:nvPicPr>
          <p:cNvPr id="10" name="Picture 9" descr="Shows five columns of strings of bits.">
            <a:extLst>
              <a:ext uri="{FF2B5EF4-FFF2-40B4-BE49-F238E27FC236}">
                <a16:creationId xmlns:a16="http://schemas.microsoft.com/office/drawing/2014/main" id="{9D9D696E-B1A3-4003-8E71-AB99BD4F8CC9}"/>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55404" y="2382546"/>
            <a:ext cx="4585337" cy="3274967"/>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
        <p:nvSpPr>
          <p:cNvPr id="8" name="Content Placeholder 6">
            <a:extLst>
              <a:ext uri="{FF2B5EF4-FFF2-40B4-BE49-F238E27FC236}">
                <a16:creationId xmlns:a16="http://schemas.microsoft.com/office/drawing/2014/main" id="{89AE17E4-F3C7-4E16-A35D-54E0EAD634A1}"/>
              </a:ext>
            </a:extLst>
          </p:cNvPr>
          <p:cNvSpPr txBox="1">
            <a:spLocks/>
          </p:cNvSpPr>
          <p:nvPr/>
        </p:nvSpPr>
        <p:spPr>
          <a:xfrm>
            <a:off x="5217572" y="1787690"/>
            <a:ext cx="6736078" cy="491330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en-US" dirty="0">
                <a:latin typeface="Amazon Ember" panose="020B0603020204020204" pitchFamily="34" charset="0"/>
                <a:ea typeface="Amazon Ember" panose="020B0603020204020204" pitchFamily="34" charset="0"/>
                <a:cs typeface="Amazon Ember" panose="020B0603020204020204" pitchFamily="34" charset="0"/>
              </a:rPr>
              <a:t>Infrastructure as software</a:t>
            </a:r>
          </a:p>
          <a:p>
            <a:pPr marL="457200" indent="-457200"/>
            <a:r>
              <a:rPr lang="en-US" dirty="0">
                <a:latin typeface="Amazon Ember" panose="020B0603020204020204" pitchFamily="34" charset="0"/>
                <a:ea typeface="Amazon Ember" panose="020B0603020204020204" pitchFamily="34" charset="0"/>
                <a:cs typeface="Amazon Ember" panose="020B0603020204020204" pitchFamily="34" charset="0"/>
              </a:rPr>
              <a:t>Software Solutions:</a:t>
            </a: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a:p>
            <a:pPr marL="914400" lvl="1" indent="-457200"/>
            <a:r>
              <a:rPr lang="en-US" dirty="0">
                <a:latin typeface="Amazon Ember" panose="020B0603020204020204" pitchFamily="34" charset="0"/>
                <a:ea typeface="Amazon Ember" panose="020B0603020204020204" pitchFamily="34" charset="0"/>
                <a:cs typeface="Amazon Ember" panose="020B0603020204020204" pitchFamily="34" charset="0"/>
              </a:rPr>
              <a:t>Flexible</a:t>
            </a:r>
          </a:p>
          <a:p>
            <a:pPr lvl="1"/>
            <a:r>
              <a:rPr lang="en-GB" dirty="0">
                <a:latin typeface="Amazon Ember" panose="020B0603020204020204" pitchFamily="34" charset="0"/>
              </a:rPr>
              <a:t>They can be adapted more quickly, flexibly, and cost-effectively.</a:t>
            </a:r>
          </a:p>
          <a:p>
            <a:pPr lvl="1"/>
            <a:r>
              <a:rPr lang="en-GB" dirty="0">
                <a:latin typeface="Amazon Ember" panose="020B0603020204020204" pitchFamily="34" charset="0"/>
              </a:rPr>
              <a:t>It eliminates undifferentiated heavy-lifting tasks.</a:t>
            </a:r>
          </a:p>
          <a:p>
            <a:pPr marL="914400" lvl="1" indent="-457200"/>
            <a:endParaRPr lang="en-US" sz="2800" dirty="0">
              <a:latin typeface="Amazon Ember" panose="020B0603020204020204" pitchFamily="34" charset="0"/>
              <a:ea typeface="Amazon Ember" panose="020B0603020204020204" pitchFamily="34" charset="0"/>
              <a:cs typeface="Amazon Ember" panose="020B0603020204020204" pitchFamily="34" charset="0"/>
            </a:endParaRPr>
          </a:p>
        </p:txBody>
      </p:sp>
    </p:spTree>
    <p:custDataLst>
      <p:tags r:id="rId1"/>
    </p:custDataLst>
    <p:extLst>
      <p:ext uri="{BB962C8B-B14F-4D97-AF65-F5344CB8AC3E}">
        <p14:creationId xmlns:p14="http://schemas.microsoft.com/office/powerpoint/2010/main" val="3308599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C183D7F6-B498-43B3-948B-1728B52AA6E4}">
                <adec:decorative xmlns:adec="http://schemas.microsoft.com/office/drawing/2017/decorative" val="0"/>
              </a:ext>
            </a:extLst>
          </p:cNvPr>
          <p:cNvSpPr>
            <a:spLocks noGrp="1"/>
          </p:cNvSpPr>
          <p:nvPr>
            <p:ph type="sldNum" sz="quarter" idx="20"/>
          </p:nvPr>
        </p:nvSpPr>
        <p:spPr/>
        <p:txBody>
          <a:bodyPr/>
          <a:lstStyle/>
          <a:p>
            <a:fld id="{9FC43BFD-8FF7-A343-A8A6-E2338FCE8046}" type="slidenum">
              <a:rPr lang="en-US" smtClean="0"/>
              <a:pPr/>
              <a:t>25</a:t>
            </a:fld>
            <a:endParaRPr lang="en-US" dirty="0"/>
          </a:p>
        </p:txBody>
      </p:sp>
      <p:sp>
        <p:nvSpPr>
          <p:cNvPr id="4" name="Title 3"/>
          <p:cNvSpPr>
            <a:spLocks noGrp="1"/>
          </p:cNvSpPr>
          <p:nvPr>
            <p:ph type="title"/>
          </p:nvPr>
        </p:nvSpPr>
        <p:spPr/>
        <p:txBody>
          <a:bodyPr/>
          <a:lstStyle/>
          <a:p>
            <a:r>
              <a:rPr lang="en-US" dirty="0"/>
              <a:t>Cloud Service Models</a:t>
            </a:r>
          </a:p>
        </p:txBody>
      </p:sp>
      <p:sp>
        <p:nvSpPr>
          <p:cNvPr id="14" name="Content Placeholder 6"/>
          <p:cNvSpPr txBox="1">
            <a:spLocks/>
          </p:cNvSpPr>
          <p:nvPr/>
        </p:nvSpPr>
        <p:spPr>
          <a:xfrm>
            <a:off x="1063258" y="1815058"/>
            <a:ext cx="3084629" cy="1902698"/>
          </a:xfrm>
          <a:prstGeom prst="roundRect">
            <a:avLst/>
          </a:prstGeom>
          <a:ln w="28575">
            <a:solidFill>
              <a:srgbClr val="36C2B4"/>
            </a:solidFill>
          </a:ln>
        </p:spPr>
        <p:style>
          <a:lnRef idx="2">
            <a:schemeClr val="accent1"/>
          </a:lnRef>
          <a:fillRef idx="1">
            <a:schemeClr val="lt1"/>
          </a:fillRef>
          <a:effectRef idx="0">
            <a:schemeClr val="accent1"/>
          </a:effectRef>
          <a:fontRef idx="minor">
            <a:schemeClr val="dk1"/>
          </a:fontRef>
        </p:style>
        <p:txBody>
          <a:bodyPr vert="horz" lIns="121920" tIns="60960" rIns="121920" bIns="60960"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4"/>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2667" dirty="0">
                <a:latin typeface="Amazon Ember" panose="020B0603020204020204" pitchFamily="34" charset="0"/>
                <a:ea typeface="Amazon Ember" panose="020B0603020204020204" pitchFamily="34" charset="0"/>
                <a:cs typeface="Amazon Ember" panose="020B0603020204020204" pitchFamily="34" charset="0"/>
              </a:rPr>
              <a:t>IaaS</a:t>
            </a:r>
          </a:p>
          <a:p>
            <a:pPr algn="ctr"/>
            <a:r>
              <a:rPr lang="en-US" sz="2667" dirty="0">
                <a:latin typeface="Amazon Ember" panose="020B0603020204020204" pitchFamily="34" charset="0"/>
                <a:ea typeface="Amazon Ember" panose="020B0603020204020204" pitchFamily="34" charset="0"/>
                <a:cs typeface="Amazon Ember" panose="020B0603020204020204" pitchFamily="34" charset="0"/>
              </a:rPr>
              <a:t>(</a:t>
            </a:r>
            <a:r>
              <a:rPr lang="en-US" sz="2667"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infrastructure as a service</a:t>
            </a:r>
            <a:r>
              <a:rPr lang="en-US" sz="2667" dirty="0">
                <a:latin typeface="Amazon Ember" panose="020B0603020204020204" pitchFamily="34" charset="0"/>
                <a:ea typeface="Amazon Ember" panose="020B0603020204020204" pitchFamily="34" charset="0"/>
                <a:cs typeface="Amazon Ember" panose="020B0603020204020204" pitchFamily="34" charset="0"/>
              </a:rPr>
              <a:t>)</a:t>
            </a:r>
            <a:endParaRPr lang="en-US" sz="32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0" name="Content Placeholder 6"/>
          <p:cNvSpPr txBox="1">
            <a:spLocks/>
          </p:cNvSpPr>
          <p:nvPr/>
        </p:nvSpPr>
        <p:spPr>
          <a:xfrm>
            <a:off x="4563137" y="1815058"/>
            <a:ext cx="3081528" cy="1901952"/>
          </a:xfrm>
          <a:prstGeom prst="roundRect">
            <a:avLst/>
          </a:prstGeom>
          <a:ln w="28575">
            <a:solidFill>
              <a:srgbClr val="D4DADA"/>
            </a:solidFill>
          </a:ln>
        </p:spPr>
        <p:style>
          <a:lnRef idx="2">
            <a:schemeClr val="accent2"/>
          </a:lnRef>
          <a:fillRef idx="1">
            <a:schemeClr val="lt1"/>
          </a:fillRef>
          <a:effectRef idx="0">
            <a:schemeClr val="accent2"/>
          </a:effectRef>
          <a:fontRef idx="minor">
            <a:schemeClr val="dk1"/>
          </a:fontRef>
        </p:style>
        <p:txBody>
          <a:bodyPr vert="horz" lIns="121920" tIns="60960" rIns="121920" bIns="60960"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4"/>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2667" dirty="0">
                <a:latin typeface="Amazon Ember" panose="020B0603020204020204" pitchFamily="34" charset="0"/>
                <a:ea typeface="Amazon Ember" panose="020B0603020204020204" pitchFamily="34" charset="0"/>
                <a:cs typeface="Amazon Ember" panose="020B0603020204020204" pitchFamily="34" charset="0"/>
              </a:rPr>
              <a:t>PaaS</a:t>
            </a:r>
          </a:p>
          <a:p>
            <a:pPr algn="ctr"/>
            <a:r>
              <a:rPr lang="en-US" sz="2667" dirty="0">
                <a:latin typeface="Amazon Ember" panose="020B0603020204020204" pitchFamily="34" charset="0"/>
                <a:ea typeface="Amazon Ember" panose="020B0603020204020204" pitchFamily="34" charset="0"/>
                <a:cs typeface="Amazon Ember" panose="020B0603020204020204" pitchFamily="34" charset="0"/>
              </a:rPr>
              <a:t>(</a:t>
            </a:r>
            <a:r>
              <a:rPr lang="en-US" sz="2667"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platform as a service</a:t>
            </a:r>
            <a:r>
              <a:rPr lang="en-US" sz="2667" dirty="0">
                <a:latin typeface="Amazon Ember" panose="020B0603020204020204" pitchFamily="34" charset="0"/>
                <a:ea typeface="Amazon Ember" panose="020B0603020204020204" pitchFamily="34" charset="0"/>
                <a:cs typeface="Amazon Ember" panose="020B0603020204020204" pitchFamily="34" charset="0"/>
              </a:rPr>
              <a:t>)</a:t>
            </a:r>
            <a:endParaRPr lang="en-US" sz="32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2" name="Content Placeholder 6"/>
          <p:cNvSpPr txBox="1">
            <a:spLocks/>
          </p:cNvSpPr>
          <p:nvPr/>
        </p:nvSpPr>
        <p:spPr>
          <a:xfrm>
            <a:off x="8096224" y="1815058"/>
            <a:ext cx="3081528" cy="1901952"/>
          </a:xfrm>
          <a:prstGeom prst="roundRect">
            <a:avLst/>
          </a:prstGeom>
          <a:ln w="28575">
            <a:solidFill>
              <a:srgbClr val="C9208A"/>
            </a:solidFill>
          </a:ln>
        </p:spPr>
        <p:style>
          <a:lnRef idx="2">
            <a:schemeClr val="accent4"/>
          </a:lnRef>
          <a:fillRef idx="1">
            <a:schemeClr val="lt1"/>
          </a:fillRef>
          <a:effectRef idx="0">
            <a:schemeClr val="accent4"/>
          </a:effectRef>
          <a:fontRef idx="minor">
            <a:schemeClr val="dk1"/>
          </a:fontRef>
        </p:style>
        <p:txBody>
          <a:bodyPr vert="horz" lIns="121920" tIns="60960" rIns="121920" bIns="60960"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4"/>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2667" dirty="0">
                <a:latin typeface="Amazon Ember" panose="020B0603020204020204" pitchFamily="34" charset="0"/>
                <a:ea typeface="Amazon Ember" panose="020B0603020204020204" pitchFamily="34" charset="0"/>
                <a:cs typeface="Amazon Ember" panose="020B0603020204020204" pitchFamily="34" charset="0"/>
              </a:rPr>
              <a:t>SaaS</a:t>
            </a:r>
          </a:p>
          <a:p>
            <a:pPr algn="ctr"/>
            <a:r>
              <a:rPr lang="en-US" sz="2667" dirty="0">
                <a:latin typeface="Amazon Ember" panose="020B0603020204020204" pitchFamily="34" charset="0"/>
                <a:ea typeface="Amazon Ember" panose="020B0603020204020204" pitchFamily="34" charset="0"/>
                <a:cs typeface="Amazon Ember" panose="020B0603020204020204" pitchFamily="34" charset="0"/>
              </a:rPr>
              <a:t>(</a:t>
            </a:r>
            <a:r>
              <a:rPr lang="en-US" sz="2667"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software as a service</a:t>
            </a:r>
            <a:r>
              <a:rPr lang="en-US" sz="2667" dirty="0">
                <a:latin typeface="Amazon Ember" panose="020B0603020204020204" pitchFamily="34" charset="0"/>
                <a:ea typeface="Amazon Ember" panose="020B0603020204020204" pitchFamily="34" charset="0"/>
                <a:cs typeface="Amazon Ember" panose="020B0603020204020204" pitchFamily="34" charset="0"/>
              </a:rPr>
              <a:t>)</a:t>
            </a:r>
            <a:endParaRPr lang="en-US" sz="32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5" name="Right Arrow 4" descr="Right-arrow going from IaaS to SaaS."/>
          <p:cNvSpPr/>
          <p:nvPr/>
        </p:nvSpPr>
        <p:spPr>
          <a:xfrm>
            <a:off x="1063258" y="4002765"/>
            <a:ext cx="10150803" cy="842963"/>
          </a:xfrm>
          <a:prstGeom prst="rightArrow">
            <a:avLst/>
          </a:prstGeom>
          <a:gradFill flip="none" rotWithShape="1">
            <a:gsLst>
              <a:gs pos="0">
                <a:srgbClr val="36C2B4"/>
              </a:gs>
              <a:gs pos="50000">
                <a:srgbClr val="D4DADA"/>
              </a:gs>
              <a:gs pos="100000">
                <a:srgbClr val="C9208A"/>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615590" y="5006352"/>
            <a:ext cx="4049507" cy="461665"/>
          </a:xfrm>
          <a:prstGeom prst="rect">
            <a:avLst/>
          </a:prstGeom>
          <a:noFill/>
        </p:spPr>
        <p:txBody>
          <a:bodyPr wrap="none" rtlCol="0">
            <a:spAutoFit/>
          </a:bodyPr>
          <a:lstStyle/>
          <a:p>
            <a:pPr algn="ctr"/>
            <a:r>
              <a:rPr lang="en-US" sz="2400" dirty="0">
                <a:latin typeface="Amazon Ember" panose="020B0603020204020204" pitchFamily="34" charset="0"/>
                <a:ea typeface="Amazon Ember" panose="020B0603020204020204" pitchFamily="34" charset="0"/>
                <a:cs typeface="Amazon Ember" panose="020B0603020204020204" pitchFamily="34" charset="0"/>
              </a:rPr>
              <a:t>More control over IT resources</a:t>
            </a:r>
          </a:p>
        </p:txBody>
      </p:sp>
      <p:sp>
        <p:nvSpPr>
          <p:cNvPr id="13" name="TextBox 12"/>
          <p:cNvSpPr txBox="1"/>
          <p:nvPr/>
        </p:nvSpPr>
        <p:spPr>
          <a:xfrm>
            <a:off x="8834825" y="5006352"/>
            <a:ext cx="1673856" cy="461665"/>
          </a:xfrm>
          <a:prstGeom prst="rect">
            <a:avLst/>
          </a:prstGeom>
          <a:noFill/>
        </p:spPr>
        <p:txBody>
          <a:bodyPr wrap="none" rtlCol="0">
            <a:spAutoFit/>
          </a:bodyPr>
          <a:lstStyle/>
          <a:p>
            <a:pPr algn="ctr"/>
            <a:r>
              <a:rPr lang="en-US" sz="2400" dirty="0">
                <a:latin typeface="Amazon Ember" panose="020B0603020204020204" pitchFamily="34" charset="0"/>
                <a:ea typeface="Amazon Ember" panose="020B0603020204020204" pitchFamily="34" charset="0"/>
                <a:cs typeface="Amazon Ember" panose="020B0603020204020204" pitchFamily="34" charset="0"/>
              </a:rPr>
              <a:t>Less control</a:t>
            </a:r>
          </a:p>
        </p:txBody>
      </p:sp>
    </p:spTree>
    <p:custDataLst>
      <p:tags r:id="rId1"/>
    </p:custDataLst>
    <p:extLst>
      <p:ext uri="{BB962C8B-B14F-4D97-AF65-F5344CB8AC3E}">
        <p14:creationId xmlns:p14="http://schemas.microsoft.com/office/powerpoint/2010/main" val="26025039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26</a:t>
            </a:fld>
            <a:endParaRPr lang="en-US" dirty="0"/>
          </a:p>
        </p:txBody>
      </p:sp>
      <p:sp>
        <p:nvSpPr>
          <p:cNvPr id="4" name="Title 3"/>
          <p:cNvSpPr>
            <a:spLocks noGrp="1"/>
          </p:cNvSpPr>
          <p:nvPr>
            <p:ph type="title"/>
          </p:nvPr>
        </p:nvSpPr>
        <p:spPr/>
        <p:txBody>
          <a:bodyPr/>
          <a:lstStyle/>
          <a:p>
            <a:r>
              <a:rPr lang="en-US" dirty="0"/>
              <a:t>Cloud Computing Deployment Models</a:t>
            </a:r>
          </a:p>
        </p:txBody>
      </p:sp>
      <p:pic>
        <p:nvPicPr>
          <p:cNvPr id="9218" name="Picture 2">
            <a:extLs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591" y="1746477"/>
            <a:ext cx="3415175" cy="272125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56D91E24-660A-4BC3-9FA1-FB7B610E09B8}"/>
              </a:ext>
            </a:extLst>
          </p:cNvPr>
          <p:cNvSpPr txBox="1"/>
          <p:nvPr/>
        </p:nvSpPr>
        <p:spPr>
          <a:xfrm>
            <a:off x="1727858" y="4739532"/>
            <a:ext cx="1024639" cy="523220"/>
          </a:xfrm>
          <a:prstGeom prst="rect">
            <a:avLst/>
          </a:prstGeom>
          <a:noFill/>
        </p:spPr>
        <p:txBody>
          <a:bodyPr wrap="none" rtlCol="0">
            <a:spAutoFit/>
          </a:bodyPr>
          <a:lstStyle/>
          <a:p>
            <a:pPr algn="ctr"/>
            <a:r>
              <a:rPr lang="en-US" sz="2800" dirty="0">
                <a:latin typeface="Amazon Ember" panose="020B0603020204020204" pitchFamily="34" charset="0"/>
                <a:ea typeface="Amazon Ember" panose="020B0603020204020204" pitchFamily="34" charset="0"/>
                <a:cs typeface="Amazon Ember" panose="020B0603020204020204" pitchFamily="34" charset="0"/>
              </a:rPr>
              <a:t>Cloud</a:t>
            </a:r>
          </a:p>
        </p:txBody>
      </p:sp>
      <p:pic>
        <p:nvPicPr>
          <p:cNvPr id="2" name="Picture 1">
            <a:extLs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25657" r="25555"/>
          <a:stretch/>
        </p:blipFill>
        <p:spPr>
          <a:xfrm>
            <a:off x="4348992" y="2008275"/>
            <a:ext cx="3566283" cy="2329990"/>
          </a:xfrm>
          <a:prstGeom prst="rect">
            <a:avLst/>
          </a:prstGeom>
        </p:spPr>
      </p:pic>
      <p:sp>
        <p:nvSpPr>
          <p:cNvPr id="15" name="TextBox 14">
            <a:extLst>
              <a:ext uri="{FF2B5EF4-FFF2-40B4-BE49-F238E27FC236}">
                <a16:creationId xmlns:a16="http://schemas.microsoft.com/office/drawing/2014/main" id="{A317C262-BC1E-4167-8DFD-72FE837B8AB8}"/>
              </a:ext>
            </a:extLst>
          </p:cNvPr>
          <p:cNvSpPr txBox="1"/>
          <p:nvPr/>
        </p:nvSpPr>
        <p:spPr>
          <a:xfrm>
            <a:off x="5524306" y="4739532"/>
            <a:ext cx="1156086" cy="523220"/>
          </a:xfrm>
          <a:prstGeom prst="rect">
            <a:avLst/>
          </a:prstGeom>
          <a:noFill/>
        </p:spPr>
        <p:txBody>
          <a:bodyPr wrap="none" rtlCol="0">
            <a:spAutoFit/>
          </a:bodyPr>
          <a:lstStyle/>
          <a:p>
            <a:pPr algn="ctr"/>
            <a:r>
              <a:rPr lang="en-US" sz="2800" dirty="0">
                <a:latin typeface="Amazon Ember" panose="020B0603020204020204" pitchFamily="34" charset="0"/>
                <a:ea typeface="Amazon Ember" panose="020B0603020204020204" pitchFamily="34" charset="0"/>
                <a:cs typeface="Amazon Ember" panose="020B0603020204020204" pitchFamily="34" charset="0"/>
              </a:rPr>
              <a:t>Hybrid</a:t>
            </a:r>
          </a:p>
        </p:txBody>
      </p:sp>
      <p:pic>
        <p:nvPicPr>
          <p:cNvPr id="11" name="Picture 10">
            <a:extLst>
              <a:ext uri="{FF2B5EF4-FFF2-40B4-BE49-F238E27FC236}">
                <a16:creationId xmlns:a16="http://schemas.microsoft.com/office/drawing/2014/main" id="{068E5CE6-6114-BB4A-AE15-1A2202B504FE}"/>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25657" r="25555"/>
          <a:stretch/>
        </p:blipFill>
        <p:spPr>
          <a:xfrm>
            <a:off x="8316501" y="1942108"/>
            <a:ext cx="3566283" cy="2329990"/>
          </a:xfrm>
          <a:prstGeom prst="rect">
            <a:avLst/>
          </a:prstGeom>
        </p:spPr>
      </p:pic>
      <p:sp>
        <p:nvSpPr>
          <p:cNvPr id="16" name="TextBox 15">
            <a:extLst>
              <a:ext uri="{FF2B5EF4-FFF2-40B4-BE49-F238E27FC236}">
                <a16:creationId xmlns:a16="http://schemas.microsoft.com/office/drawing/2014/main" id="{DD56D925-A57D-4EF1-AD5F-E07FA75902AF}"/>
              </a:ext>
            </a:extLst>
          </p:cNvPr>
          <p:cNvSpPr txBox="1"/>
          <p:nvPr/>
        </p:nvSpPr>
        <p:spPr>
          <a:xfrm>
            <a:off x="8942913" y="4739533"/>
            <a:ext cx="2313454" cy="954107"/>
          </a:xfrm>
          <a:prstGeom prst="rect">
            <a:avLst/>
          </a:prstGeom>
          <a:noFill/>
        </p:spPr>
        <p:txBody>
          <a:bodyPr wrap="none" rtlCol="0">
            <a:spAutoFit/>
          </a:bodyPr>
          <a:lstStyle/>
          <a:p>
            <a:pPr algn="ctr"/>
            <a:r>
              <a:rPr lang="en-US" sz="2800" dirty="0">
                <a:latin typeface="Amazon Ember" panose="020B0603020204020204" pitchFamily="34" charset="0"/>
                <a:ea typeface="Amazon Ember" panose="020B0603020204020204" pitchFamily="34" charset="0"/>
                <a:cs typeface="Amazon Ember" panose="020B0603020204020204" pitchFamily="34" charset="0"/>
              </a:rPr>
              <a:t>On-premises</a:t>
            </a:r>
            <a:br>
              <a:rPr lang="en-US" sz="2800" dirty="0">
                <a:latin typeface="Amazon Ember" panose="020B0603020204020204" pitchFamily="34" charset="0"/>
                <a:ea typeface="Amazon Ember" panose="020B0603020204020204" pitchFamily="34" charset="0"/>
                <a:cs typeface="Amazon Ember" panose="020B0603020204020204" pitchFamily="34" charset="0"/>
              </a:rPr>
            </a:br>
            <a:r>
              <a:rPr lang="en-US" sz="2800" dirty="0">
                <a:latin typeface="Amazon Ember" panose="020B0603020204020204" pitchFamily="34" charset="0"/>
                <a:ea typeface="Amazon Ember" panose="020B0603020204020204" pitchFamily="34" charset="0"/>
                <a:cs typeface="Amazon Ember" panose="020B0603020204020204" pitchFamily="34" charset="0"/>
              </a:rPr>
              <a:t>(private cloud)</a:t>
            </a:r>
          </a:p>
        </p:txBody>
      </p:sp>
    </p:spTree>
    <p:custDataLst>
      <p:tags r:id="rId1"/>
    </p:custDataLst>
    <p:extLst>
      <p:ext uri="{BB962C8B-B14F-4D97-AF65-F5344CB8AC3E}">
        <p14:creationId xmlns:p14="http://schemas.microsoft.com/office/powerpoint/2010/main" val="42759248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latin typeface="+mn-lt"/>
              </a:rPr>
              <a:t>27</a:t>
            </a:fld>
            <a:endParaRPr lang="en-US" dirty="0">
              <a:latin typeface="+mn-lt"/>
            </a:endParaRPr>
          </a:p>
        </p:txBody>
      </p:sp>
      <p:sp>
        <p:nvSpPr>
          <p:cNvPr id="4" name="Title 3"/>
          <p:cNvSpPr>
            <a:spLocks noGrp="1"/>
          </p:cNvSpPr>
          <p:nvPr>
            <p:ph type="title"/>
          </p:nvPr>
        </p:nvSpPr>
        <p:spPr/>
        <p:txBody>
          <a:bodyPr>
            <a:noAutofit/>
          </a:bodyPr>
          <a:lstStyle/>
          <a:p>
            <a:r>
              <a:rPr lang="en-US" dirty="0">
                <a:latin typeface="+mj-lt"/>
              </a:rPr>
              <a:t>AWS vs. traditional deployment comparison</a:t>
            </a:r>
          </a:p>
        </p:txBody>
      </p:sp>
      <p:grpSp>
        <p:nvGrpSpPr>
          <p:cNvPr id="12" name="Group 11" descr="Shows examples of similarities between AWS and traditional IT in security, networking, compute, and storage as explained in the notes.">
            <a:extLst>
              <a:ext uri="{FF2B5EF4-FFF2-40B4-BE49-F238E27FC236}">
                <a16:creationId xmlns:a16="http://schemas.microsoft.com/office/drawing/2014/main" id="{0685440A-10FF-44C7-BD6F-4B2EC8F05B07}"/>
              </a:ext>
              <a:ext uri="{C183D7F6-B498-43B3-948B-1728B52AA6E4}">
                <adec:decorative xmlns:adec="http://schemas.microsoft.com/office/drawing/2017/decorative" val="0"/>
              </a:ext>
            </a:extLst>
          </p:cNvPr>
          <p:cNvGrpSpPr/>
          <p:nvPr/>
        </p:nvGrpSpPr>
        <p:grpSpPr>
          <a:xfrm>
            <a:off x="615951" y="1391366"/>
            <a:ext cx="11004555" cy="4882435"/>
            <a:chOff x="609600" y="1391365"/>
            <a:chExt cx="11004555" cy="4882435"/>
          </a:xfrm>
        </p:grpSpPr>
        <p:sp>
          <p:nvSpPr>
            <p:cNvPr id="18" name="Rounded Rectangle 17">
              <a:extLst>
                <a:ext uri="{FF2B5EF4-FFF2-40B4-BE49-F238E27FC236}">
                  <a16:creationId xmlns:a16="http://schemas.microsoft.com/office/drawing/2014/main" id="{20988DD3-B241-1745-A9DE-83A23AACBA8A}"/>
                </a:ext>
                <a:ext uri="{C183D7F6-B498-43B3-948B-1728B52AA6E4}">
                  <adec:decorative xmlns:adec="http://schemas.microsoft.com/office/drawing/2017/decorative" val="1"/>
                </a:ext>
              </a:extLst>
            </p:cNvPr>
            <p:cNvSpPr/>
            <p:nvPr>
              <p:custDataLst>
                <p:tags r:id="rId2"/>
              </p:custDataLst>
            </p:nvPr>
          </p:nvSpPr>
          <p:spPr>
            <a:xfrm>
              <a:off x="609600" y="1391365"/>
              <a:ext cx="11004555" cy="4882435"/>
            </a:xfrm>
            <a:prstGeom prst="roundRect">
              <a:avLst>
                <a:gd name="adj" fmla="val 510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a:ea typeface="Amazon Ember" panose="020B0603020204020204" pitchFamily="34" charset="0"/>
                  <a:cs typeface="Amazon Ember" panose="020B0603020204020204" pitchFamily="34" charset="0"/>
                </a:rPr>
                <a:t> </a:t>
              </a:r>
            </a:p>
          </p:txBody>
        </p:sp>
        <p:sp>
          <p:nvSpPr>
            <p:cNvPr id="36" name="Content Placeholder 2">
              <a:extLst>
                <a:ext uri="{FF2B5EF4-FFF2-40B4-BE49-F238E27FC236}">
                  <a16:creationId xmlns:a16="http://schemas.microsoft.com/office/drawing/2014/main" id="{9081D9F7-DF96-1D47-A6DD-43CDE899FEE3}"/>
                </a:ext>
              </a:extLst>
            </p:cNvPr>
            <p:cNvSpPr txBox="1">
              <a:spLocks/>
            </p:cNvSpPr>
            <p:nvPr/>
          </p:nvSpPr>
          <p:spPr>
            <a:xfrm>
              <a:off x="1125183" y="1400832"/>
              <a:ext cx="4664630" cy="431650"/>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1800">
                  <a:ea typeface="Amazon Ember" panose="020B0603020204020204" pitchFamily="34" charset="0"/>
                  <a:cs typeface="Amazon Ember" panose="020B0603020204020204" pitchFamily="34" charset="0"/>
                </a:rPr>
                <a:t>Traditional, on-premises IT space</a:t>
              </a:r>
            </a:p>
          </p:txBody>
        </p:sp>
        <p:sp>
          <p:nvSpPr>
            <p:cNvPr id="84" name="Content Placeholder 2">
              <a:extLst>
                <a:ext uri="{FF2B5EF4-FFF2-40B4-BE49-F238E27FC236}">
                  <a16:creationId xmlns:a16="http://schemas.microsoft.com/office/drawing/2014/main" id="{D82E3388-E923-9B41-A0BF-475574607058}"/>
                </a:ext>
              </a:extLst>
            </p:cNvPr>
            <p:cNvSpPr txBox="1">
              <a:spLocks/>
            </p:cNvSpPr>
            <p:nvPr/>
          </p:nvSpPr>
          <p:spPr>
            <a:xfrm>
              <a:off x="6457796" y="1391365"/>
              <a:ext cx="4694884" cy="438346"/>
            </a:xfrm>
            <a:prstGeom prst="rect">
              <a:avLst/>
            </a:prstGeom>
          </p:spPr>
          <p:txBody>
            <a:bodyPr vert="horz" lIns="91440" tIns="45720" rIns="91440" bIns="45720" rtlCol="0" anchor="b">
              <a:noAutofit/>
            </a:bodyPr>
            <a:lstStyle>
              <a:lvl1pPr marL="257175" indent="-257175" algn="l" defTabSz="342900" rtl="0" eaLnBrk="1" latinLnBrk="0" hangingPunct="1">
                <a:spcBef>
                  <a:spcPct val="20000"/>
                </a:spcBef>
                <a:buFontTx/>
                <a:buBlip>
                  <a:blip r:embed="rId5"/>
                </a:buBlip>
                <a:defRPr sz="2000" b="0" i="0" kern="1200">
                  <a:solidFill>
                    <a:schemeClr val="tx1"/>
                  </a:solidFill>
                  <a:latin typeface="Arial"/>
                  <a:ea typeface="+mn-ea"/>
                  <a:cs typeface="Arial"/>
                </a:defRPr>
              </a:lvl1pPr>
              <a:lvl2pPr marL="557213" indent="-214313" algn="l" defTabSz="342900" rtl="0" eaLnBrk="1" latinLnBrk="0" hangingPunct="1">
                <a:spcBef>
                  <a:spcPct val="20000"/>
                </a:spcBef>
                <a:buClr>
                  <a:schemeClr val="accent1"/>
                </a:buClr>
                <a:buFont typeface="Wingdings" panose="05000000000000000000" pitchFamily="2" charset="2"/>
                <a:buChar char="Ø"/>
                <a:defRPr sz="1600" b="0" i="0" kern="1200">
                  <a:solidFill>
                    <a:schemeClr val="tx1"/>
                  </a:solidFill>
                  <a:latin typeface="Arial"/>
                  <a:ea typeface="+mn-ea"/>
                  <a:cs typeface="Arial"/>
                </a:defRPr>
              </a:lvl2pPr>
              <a:lvl3pPr marL="857250" indent="-171450" algn="l" defTabSz="342900" rtl="0" eaLnBrk="1" latinLnBrk="0" hangingPunct="1">
                <a:spcBef>
                  <a:spcPct val="20000"/>
                </a:spcBef>
                <a:buClr>
                  <a:schemeClr val="accent1"/>
                </a:buClr>
                <a:buFont typeface="Arial"/>
                <a:buChar char="•"/>
                <a:defRPr sz="1400" b="0" i="0" kern="1200">
                  <a:solidFill>
                    <a:schemeClr val="tx1"/>
                  </a:solidFill>
                  <a:latin typeface="Arial"/>
                  <a:ea typeface="+mn-ea"/>
                  <a:cs typeface="Arial"/>
                </a:defRPr>
              </a:lvl3pPr>
              <a:lvl4pPr marL="1028700" indent="0" algn="l" defTabSz="342900" rtl="0" eaLnBrk="1" latinLnBrk="0" hangingPunct="1">
                <a:spcBef>
                  <a:spcPct val="20000"/>
                </a:spcBef>
                <a:buFont typeface="Arial"/>
                <a:buNone/>
                <a:defRPr sz="1200" b="0" i="0" kern="1200">
                  <a:solidFill>
                    <a:srgbClr val="595A5D"/>
                  </a:solidFill>
                  <a:latin typeface="Arial"/>
                  <a:ea typeface="+mn-ea"/>
                  <a:cs typeface="Arial"/>
                </a:defRPr>
              </a:lvl4pPr>
              <a:lvl5pPr marL="1543050" indent="-171450" algn="l" defTabSz="342900" rtl="0" eaLnBrk="1" latinLnBrk="0" hangingPunct="1">
                <a:spcBef>
                  <a:spcPct val="20000"/>
                </a:spcBef>
                <a:buFont typeface="Arial"/>
                <a:buChar char="»"/>
                <a:defRPr sz="1200" b="0" i="0" kern="1200">
                  <a:solidFill>
                    <a:srgbClr val="595A5D"/>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1800">
                  <a:latin typeface="+mn-lt"/>
                  <a:ea typeface="Amazon Ember" panose="020B0603020204020204" pitchFamily="34" charset="0"/>
                  <a:cs typeface="Amazon Ember" panose="020B0603020204020204" pitchFamily="34" charset="0"/>
                </a:rPr>
                <a:t>AWS</a:t>
              </a:r>
            </a:p>
          </p:txBody>
        </p:sp>
        <p:sp>
          <p:nvSpPr>
            <p:cNvPr id="35" name="Round Diagonal Corner Rectangle 34">
              <a:extLst>
                <a:ext uri="{FF2B5EF4-FFF2-40B4-BE49-F238E27FC236}">
                  <a16:creationId xmlns:a16="http://schemas.microsoft.com/office/drawing/2014/main" id="{223C3099-7D3B-B44C-9CCA-3D85C7AFA5C6}"/>
                </a:ext>
                <a:ext uri="{C183D7F6-B498-43B3-948B-1728B52AA6E4}">
                  <adec:decorative xmlns:adec="http://schemas.microsoft.com/office/drawing/2017/decorative" val="1"/>
                </a:ext>
              </a:extLst>
            </p:cNvPr>
            <p:cNvSpPr/>
            <p:nvPr/>
          </p:nvSpPr>
          <p:spPr>
            <a:xfrm>
              <a:off x="1125183" y="1833896"/>
              <a:ext cx="4665980" cy="1003951"/>
            </a:xfrm>
            <a:prstGeom prst="round2DiagRect">
              <a:avLst>
                <a:gd name="adj1" fmla="val 16667"/>
                <a:gd name="adj2" fmla="val 15266"/>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ea typeface="Amazon Ember" panose="020B0603020204020204" pitchFamily="34" charset="0"/>
                <a:cs typeface="Amazon Ember" panose="020B0603020204020204" pitchFamily="34" charset="0"/>
              </a:endParaRPr>
            </a:p>
          </p:txBody>
        </p:sp>
        <p:pic>
          <p:nvPicPr>
            <p:cNvPr id="52" name="Picture 2">
              <a:extLst>
                <a:ext uri="{FF2B5EF4-FFF2-40B4-BE49-F238E27FC236}">
                  <a16:creationId xmlns:a16="http://schemas.microsoft.com/office/drawing/2014/main" id="{0A8D591E-BCAA-6141-8682-8098BDB8A133}"/>
                </a:ext>
                <a:ext uri="{C183D7F6-B498-43B3-948B-1728B52AA6E4}">
                  <adec:decorative xmlns:adec="http://schemas.microsoft.com/office/drawing/2017/decorative" val="1"/>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674347" y="1986306"/>
              <a:ext cx="410195" cy="5298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3" name="TextBox 160">
              <a:extLst>
                <a:ext uri="{FF2B5EF4-FFF2-40B4-BE49-F238E27FC236}">
                  <a16:creationId xmlns:a16="http://schemas.microsoft.com/office/drawing/2014/main" id="{5FDBACB6-A1C3-FA49-B86A-14483FE3FDB8}"/>
                </a:ext>
              </a:extLst>
            </p:cNvPr>
            <p:cNvSpPr txBox="1">
              <a:spLocks noChangeArrowheads="1"/>
            </p:cNvSpPr>
            <p:nvPr/>
          </p:nvSpPr>
          <p:spPr bwMode="auto">
            <a:xfrm>
              <a:off x="1416798" y="2476156"/>
              <a:ext cx="918841"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a:latin typeface="+mn-lt"/>
                  <a:ea typeface="Amazon Ember" panose="020B0603020204020204" pitchFamily="34" charset="0"/>
                  <a:cs typeface="Amazon Ember" panose="020B0603020204020204" pitchFamily="34" charset="0"/>
                </a:rPr>
                <a:t>Firewalls</a:t>
              </a:r>
            </a:p>
          </p:txBody>
        </p:sp>
        <p:pic>
          <p:nvPicPr>
            <p:cNvPr id="55" name="Picture 38">
              <a:extLst>
                <a:ext uri="{FF2B5EF4-FFF2-40B4-BE49-F238E27FC236}">
                  <a16:creationId xmlns:a16="http://schemas.microsoft.com/office/drawing/2014/main" id="{2CBD4DF9-C798-754A-B159-6968C7EF9F74}"/>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a:ext>
              </a:extLst>
            </a:blip>
            <a:srcRect/>
            <a:stretch>
              <a:fillRect/>
            </a:stretch>
          </p:blipFill>
          <p:spPr bwMode="auto">
            <a:xfrm>
              <a:off x="2862230" y="1934955"/>
              <a:ext cx="611494" cy="5184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6" name="TextBox 161">
              <a:extLst>
                <a:ext uri="{FF2B5EF4-FFF2-40B4-BE49-F238E27FC236}">
                  <a16:creationId xmlns:a16="http://schemas.microsoft.com/office/drawing/2014/main" id="{51DED39D-CA9B-B54F-9382-C47760D5BDB6}"/>
                </a:ext>
              </a:extLst>
            </p:cNvPr>
            <p:cNvSpPr txBox="1">
              <a:spLocks noChangeArrowheads="1"/>
            </p:cNvSpPr>
            <p:nvPr/>
          </p:nvSpPr>
          <p:spPr bwMode="auto">
            <a:xfrm>
              <a:off x="2873132" y="2476156"/>
              <a:ext cx="579005"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a:latin typeface="+mn-lt"/>
                  <a:ea typeface="Amazon Ember" panose="020B0603020204020204" pitchFamily="34" charset="0"/>
                  <a:cs typeface="Amazon Ember" panose="020B0603020204020204" pitchFamily="34" charset="0"/>
                </a:rPr>
                <a:t>ACLs</a:t>
              </a:r>
            </a:p>
          </p:txBody>
        </p:sp>
        <p:sp>
          <p:nvSpPr>
            <p:cNvPr id="59" name="TextBox 162">
              <a:extLst>
                <a:ext uri="{FF2B5EF4-FFF2-40B4-BE49-F238E27FC236}">
                  <a16:creationId xmlns:a16="http://schemas.microsoft.com/office/drawing/2014/main" id="{E2C73719-1060-B240-A7B9-8806EC499083}"/>
                </a:ext>
              </a:extLst>
            </p:cNvPr>
            <p:cNvSpPr txBox="1">
              <a:spLocks noChangeArrowheads="1"/>
            </p:cNvSpPr>
            <p:nvPr/>
          </p:nvSpPr>
          <p:spPr bwMode="auto">
            <a:xfrm>
              <a:off x="3574349" y="2477868"/>
              <a:ext cx="1423788"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a:latin typeface="+mn-lt"/>
                  <a:ea typeface="Amazon Ember" panose="020B0603020204020204" pitchFamily="34" charset="0"/>
                  <a:cs typeface="Amazon Ember" panose="020B0603020204020204" pitchFamily="34" charset="0"/>
                </a:rPr>
                <a:t>Administrators</a:t>
              </a:r>
            </a:p>
          </p:txBody>
        </p:sp>
        <p:sp>
          <p:nvSpPr>
            <p:cNvPr id="34" name="Round Diagonal Corner Rectangle 33">
              <a:extLst>
                <a:ext uri="{FF2B5EF4-FFF2-40B4-BE49-F238E27FC236}">
                  <a16:creationId xmlns:a16="http://schemas.microsoft.com/office/drawing/2014/main" id="{5C660890-7F77-0645-BA86-BFB9ED8FC4C7}"/>
                </a:ext>
                <a:ext uri="{C183D7F6-B498-43B3-948B-1728B52AA6E4}">
                  <adec:decorative xmlns:adec="http://schemas.microsoft.com/office/drawing/2017/decorative" val="1"/>
                </a:ext>
              </a:extLst>
            </p:cNvPr>
            <p:cNvSpPr/>
            <p:nvPr/>
          </p:nvSpPr>
          <p:spPr>
            <a:xfrm>
              <a:off x="6486760" y="1836499"/>
              <a:ext cx="4665919" cy="1001348"/>
            </a:xfrm>
            <a:prstGeom prst="round2DiagRect">
              <a:avLst>
                <a:gd name="adj1" fmla="val 16667"/>
                <a:gd name="adj2" fmla="val 1316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ea typeface="Amazon Ember" panose="020B0603020204020204" pitchFamily="34" charset="0"/>
                <a:cs typeface="Amazon Ember" panose="020B0603020204020204" pitchFamily="34" charset="0"/>
              </a:endParaRPr>
            </a:p>
          </p:txBody>
        </p:sp>
        <p:sp>
          <p:nvSpPr>
            <p:cNvPr id="50" name="TextBox 161">
              <a:extLst>
                <a:ext uri="{FF2B5EF4-FFF2-40B4-BE49-F238E27FC236}">
                  <a16:creationId xmlns:a16="http://schemas.microsoft.com/office/drawing/2014/main" id="{EBD39B22-1C8B-624B-91DD-06A163C45720}"/>
                </a:ext>
              </a:extLst>
            </p:cNvPr>
            <p:cNvSpPr txBox="1">
              <a:spLocks noChangeArrowheads="1"/>
            </p:cNvSpPr>
            <p:nvPr/>
          </p:nvSpPr>
          <p:spPr bwMode="auto">
            <a:xfrm>
              <a:off x="8385197" y="2432121"/>
              <a:ext cx="1478895"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a:latin typeface="+mn-lt"/>
                  <a:ea typeface="Amazon Ember" panose="020B0603020204020204" pitchFamily="34" charset="0"/>
                  <a:cs typeface="Amazon Ember" panose="020B0603020204020204" pitchFamily="34" charset="0"/>
                </a:rPr>
                <a:t>Network ACLs</a:t>
              </a:r>
            </a:p>
          </p:txBody>
        </p:sp>
        <p:pic>
          <p:nvPicPr>
            <p:cNvPr id="117" name="Graphic 116">
              <a:extLst>
                <a:ext uri="{FF2B5EF4-FFF2-40B4-BE49-F238E27FC236}">
                  <a16:creationId xmlns:a16="http://schemas.microsoft.com/office/drawing/2014/main" id="{D264E8A2-39DB-44CA-9777-6A3DE6AFE6A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81829" y="1928227"/>
              <a:ext cx="548640" cy="548640"/>
            </a:xfrm>
            <a:prstGeom prst="rect">
              <a:avLst/>
            </a:prstGeom>
          </p:spPr>
        </p:pic>
        <p:sp>
          <p:nvSpPr>
            <p:cNvPr id="133" name="TextBox 132">
              <a:extLst>
                <a:ext uri="{FF2B5EF4-FFF2-40B4-BE49-F238E27FC236}">
                  <a16:creationId xmlns:a16="http://schemas.microsoft.com/office/drawing/2014/main" id="{BA32300F-4837-4CC9-85F9-078C1172F2A9}"/>
                </a:ext>
              </a:extLst>
            </p:cNvPr>
            <p:cNvSpPr txBox="1"/>
            <p:nvPr/>
          </p:nvSpPr>
          <p:spPr>
            <a:xfrm>
              <a:off x="10049998" y="2517340"/>
              <a:ext cx="550151" cy="338554"/>
            </a:xfrm>
            <a:prstGeom prst="rect">
              <a:avLst/>
            </a:prstGeom>
            <a:noFill/>
          </p:spPr>
          <p:txBody>
            <a:bodyPr wrap="none" rtlCol="0">
              <a:spAutoFit/>
            </a:bodyPr>
            <a:lstStyle/>
            <a:p>
              <a:pPr algn="ctr"/>
              <a:r>
                <a:rPr lang="en-US" sz="1600">
                  <a:ea typeface="Amazon Ember" panose="020B0603020204020204" pitchFamily="34" charset="0"/>
                  <a:cs typeface="Amazon Ember" panose="020B0603020204020204" pitchFamily="34" charset="0"/>
                </a:rPr>
                <a:t>IAM</a:t>
              </a:r>
            </a:p>
          </p:txBody>
        </p:sp>
        <p:sp>
          <p:nvSpPr>
            <p:cNvPr id="21" name="Round Diagonal Corner Rectangle 20">
              <a:extLst>
                <a:ext uri="{FF2B5EF4-FFF2-40B4-BE49-F238E27FC236}">
                  <a16:creationId xmlns:a16="http://schemas.microsoft.com/office/drawing/2014/main" id="{232439B0-57B1-D848-97E7-4A4EEBA60F87}"/>
                </a:ext>
                <a:ext uri="{C183D7F6-B498-43B3-948B-1728B52AA6E4}">
                  <adec:decorative xmlns:adec="http://schemas.microsoft.com/office/drawing/2017/decorative" val="1"/>
                </a:ext>
              </a:extLst>
            </p:cNvPr>
            <p:cNvSpPr/>
            <p:nvPr/>
          </p:nvSpPr>
          <p:spPr>
            <a:xfrm>
              <a:off x="1125183" y="2921000"/>
              <a:ext cx="4665980" cy="1003952"/>
            </a:xfrm>
            <a:prstGeom prst="round2DiagRect">
              <a:avLst>
                <a:gd name="adj1" fmla="val 16667"/>
                <a:gd name="adj2" fmla="val 1314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ea typeface="Amazon Ember" panose="020B0603020204020204" pitchFamily="34" charset="0"/>
                <a:cs typeface="Amazon Ember" panose="020B0603020204020204" pitchFamily="34" charset="0"/>
              </a:endParaRPr>
            </a:p>
          </p:txBody>
        </p:sp>
        <p:sp>
          <p:nvSpPr>
            <p:cNvPr id="66" name="TextBox 160">
              <a:extLst>
                <a:ext uri="{FF2B5EF4-FFF2-40B4-BE49-F238E27FC236}">
                  <a16:creationId xmlns:a16="http://schemas.microsoft.com/office/drawing/2014/main" id="{3E8B04E8-B1EC-F24B-8034-59516CFB7167}"/>
                </a:ext>
              </a:extLst>
            </p:cNvPr>
            <p:cNvSpPr txBox="1">
              <a:spLocks noChangeArrowheads="1"/>
            </p:cNvSpPr>
            <p:nvPr/>
          </p:nvSpPr>
          <p:spPr bwMode="auto">
            <a:xfrm>
              <a:off x="1488404" y="3559572"/>
              <a:ext cx="756937"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a:latin typeface="+mn-lt"/>
                  <a:ea typeface="Amazon Ember" panose="020B0603020204020204" pitchFamily="34" charset="0"/>
                  <a:cs typeface="Amazon Ember" panose="020B0603020204020204" pitchFamily="34" charset="0"/>
                </a:rPr>
                <a:t>Router</a:t>
              </a:r>
            </a:p>
          </p:txBody>
        </p:sp>
        <p:pic>
          <p:nvPicPr>
            <p:cNvPr id="68" name="Picture 4">
              <a:extLst>
                <a:ext uri="{FF2B5EF4-FFF2-40B4-BE49-F238E27FC236}">
                  <a16:creationId xmlns:a16="http://schemas.microsoft.com/office/drawing/2014/main" id="{6D51CFC7-76A0-C64E-82B1-91EC97075C3C}"/>
                </a:ext>
                <a:ext uri="{C183D7F6-B498-43B3-948B-1728B52AA6E4}">
                  <adec:decorative xmlns:adec="http://schemas.microsoft.com/office/drawing/2017/decorative" val="1"/>
                </a:ext>
              </a:extLst>
            </p:cNvPr>
            <p:cNvPicPr>
              <a:picLocks noChangeAspect="1" noChangeArrowheads="1"/>
            </p:cNvPicPr>
            <p:nvPr/>
          </p:nvPicPr>
          <p:blipFill>
            <a:blip r:embed="rId9">
              <a:extLst>
                <a:ext uri="{28A0092B-C50C-407E-A947-70E740481C1C}">
                  <a14:useLocalDpi xmlns:a14="http://schemas.microsoft.com/office/drawing/2010/main"/>
                </a:ext>
              </a:extLst>
            </a:blip>
            <a:srcRect/>
            <a:stretch>
              <a:fillRect/>
            </a:stretch>
          </p:blipFill>
          <p:spPr bwMode="auto">
            <a:xfrm>
              <a:off x="2422429" y="3044657"/>
              <a:ext cx="1421198" cy="6037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9" name="TextBox 160">
              <a:extLst>
                <a:ext uri="{FF2B5EF4-FFF2-40B4-BE49-F238E27FC236}">
                  <a16:creationId xmlns:a16="http://schemas.microsoft.com/office/drawing/2014/main" id="{FA686A0A-CE04-FF4C-B26C-6527931EAEFF}"/>
                </a:ext>
              </a:extLst>
            </p:cNvPr>
            <p:cNvSpPr txBox="1">
              <a:spLocks noChangeArrowheads="1"/>
            </p:cNvSpPr>
            <p:nvPr/>
          </p:nvSpPr>
          <p:spPr bwMode="auto">
            <a:xfrm>
              <a:off x="2309238" y="3577993"/>
              <a:ext cx="162416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a:latin typeface="+mn-lt"/>
                  <a:ea typeface="Amazon Ember" panose="020B0603020204020204" pitchFamily="34" charset="0"/>
                  <a:cs typeface="Amazon Ember" panose="020B0603020204020204" pitchFamily="34" charset="0"/>
                </a:rPr>
                <a:t>Network pipeline</a:t>
              </a:r>
            </a:p>
          </p:txBody>
        </p:sp>
        <p:pic>
          <p:nvPicPr>
            <p:cNvPr id="71" name="Picture 40">
              <a:extLst>
                <a:ext uri="{FF2B5EF4-FFF2-40B4-BE49-F238E27FC236}">
                  <a16:creationId xmlns:a16="http://schemas.microsoft.com/office/drawing/2014/main" id="{441F24DE-17F9-BF45-B33F-80F00D741AF0}"/>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a:ext>
              </a:extLst>
            </a:blip>
            <a:srcRect/>
            <a:stretch>
              <a:fillRect/>
            </a:stretch>
          </p:blipFill>
          <p:spPr bwMode="auto">
            <a:xfrm>
              <a:off x="4133935" y="3101084"/>
              <a:ext cx="662768" cy="4823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2" name="TextBox 160">
              <a:extLst>
                <a:ext uri="{FF2B5EF4-FFF2-40B4-BE49-F238E27FC236}">
                  <a16:creationId xmlns:a16="http://schemas.microsoft.com/office/drawing/2014/main" id="{B966C9FD-1E02-DC42-8F86-7E276A9BDDB8}"/>
                </a:ext>
              </a:extLst>
            </p:cNvPr>
            <p:cNvSpPr txBox="1">
              <a:spLocks noChangeArrowheads="1"/>
            </p:cNvSpPr>
            <p:nvPr/>
          </p:nvSpPr>
          <p:spPr bwMode="auto">
            <a:xfrm>
              <a:off x="4081861" y="3565485"/>
              <a:ext cx="736099"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a:latin typeface="+mn-lt"/>
                  <a:ea typeface="Amazon Ember" panose="020B0603020204020204" pitchFamily="34" charset="0"/>
                  <a:cs typeface="Amazon Ember" panose="020B0603020204020204" pitchFamily="34" charset="0"/>
                </a:rPr>
                <a:t>Switch</a:t>
              </a:r>
            </a:p>
          </p:txBody>
        </p:sp>
        <p:sp>
          <p:nvSpPr>
            <p:cNvPr id="134" name="Round Diagonal Corner Rectangle 62">
              <a:extLst>
                <a:ext uri="{FF2B5EF4-FFF2-40B4-BE49-F238E27FC236}">
                  <a16:creationId xmlns:a16="http://schemas.microsoft.com/office/drawing/2014/main" id="{74141266-DC16-4DB5-BC21-BB23CBCE30A8}"/>
                </a:ext>
                <a:ext uri="{C183D7F6-B498-43B3-948B-1728B52AA6E4}">
                  <adec:decorative xmlns:adec="http://schemas.microsoft.com/office/drawing/2017/decorative" val="1"/>
                </a:ext>
              </a:extLst>
            </p:cNvPr>
            <p:cNvSpPr/>
            <p:nvPr/>
          </p:nvSpPr>
          <p:spPr>
            <a:xfrm>
              <a:off x="6486760" y="2923603"/>
              <a:ext cx="4665919" cy="1001349"/>
            </a:xfrm>
            <a:prstGeom prst="round2DiagRect">
              <a:avLst>
                <a:gd name="adj1" fmla="val 16667"/>
                <a:gd name="adj2" fmla="val 16353"/>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ea typeface="Amazon Ember" panose="020B0603020204020204" pitchFamily="34" charset="0"/>
                <a:cs typeface="Amazon Ember" panose="020B0603020204020204" pitchFamily="34" charset="0"/>
              </a:endParaRPr>
            </a:p>
          </p:txBody>
        </p:sp>
        <p:pic>
          <p:nvPicPr>
            <p:cNvPr id="118" name="Graphic 117">
              <a:extLst>
                <a:ext uri="{FF2B5EF4-FFF2-40B4-BE49-F238E27FC236}">
                  <a16:creationId xmlns:a16="http://schemas.microsoft.com/office/drawing/2014/main" id="{EB321956-1D98-491C-A83E-820D794451B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767248" y="3115314"/>
              <a:ext cx="548640" cy="548640"/>
            </a:xfrm>
            <a:prstGeom prst="rect">
              <a:avLst/>
            </a:prstGeom>
          </p:spPr>
        </p:pic>
        <p:sp>
          <p:nvSpPr>
            <p:cNvPr id="5" name="TextBox 4">
              <a:extLst>
                <a:ext uri="{FF2B5EF4-FFF2-40B4-BE49-F238E27FC236}">
                  <a16:creationId xmlns:a16="http://schemas.microsoft.com/office/drawing/2014/main" id="{D13EB247-FE2E-480E-BD2B-A9FA6C48F57E}"/>
                </a:ext>
              </a:extLst>
            </p:cNvPr>
            <p:cNvSpPr txBox="1"/>
            <p:nvPr/>
          </p:nvSpPr>
          <p:spPr>
            <a:xfrm>
              <a:off x="6913698" y="3637337"/>
              <a:ext cx="2255747" cy="338554"/>
            </a:xfrm>
            <a:prstGeom prst="rect">
              <a:avLst/>
            </a:prstGeom>
            <a:noFill/>
          </p:spPr>
          <p:txBody>
            <a:bodyPr wrap="none" rtlCol="0">
              <a:spAutoFit/>
            </a:bodyPr>
            <a:lstStyle/>
            <a:p>
              <a:pPr algn="ctr"/>
              <a:r>
                <a:rPr lang="en-US" sz="1600">
                  <a:ea typeface="Amazon Ember" panose="020B0603020204020204" pitchFamily="34" charset="0"/>
                  <a:cs typeface="Amazon Ember" panose="020B0603020204020204" pitchFamily="34" charset="0"/>
                </a:rPr>
                <a:t>Elastic Load Balancing</a:t>
              </a:r>
              <a:endParaRPr lang="en-US" sz="1600" u="sng">
                <a:ea typeface="Amazon Ember" panose="020B0603020204020204" pitchFamily="34" charset="0"/>
                <a:cs typeface="Amazon Ember" panose="020B0603020204020204" pitchFamily="34" charset="0"/>
              </a:endParaRPr>
            </a:p>
          </p:txBody>
        </p:sp>
        <p:pic>
          <p:nvPicPr>
            <p:cNvPr id="125" name="Graphic 124">
              <a:extLst>
                <a:ext uri="{FF2B5EF4-FFF2-40B4-BE49-F238E27FC236}">
                  <a16:creationId xmlns:a16="http://schemas.microsoft.com/office/drawing/2014/main" id="{C966B95B-FE63-4BB4-914B-5B41F526C5D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466917" y="3115314"/>
              <a:ext cx="548640" cy="548640"/>
            </a:xfrm>
            <a:prstGeom prst="rect">
              <a:avLst/>
            </a:prstGeom>
          </p:spPr>
        </p:pic>
        <p:sp>
          <p:nvSpPr>
            <p:cNvPr id="126" name="TextBox 125">
              <a:extLst>
                <a:ext uri="{FF2B5EF4-FFF2-40B4-BE49-F238E27FC236}">
                  <a16:creationId xmlns:a16="http://schemas.microsoft.com/office/drawing/2014/main" id="{9AA7C9BC-729A-48E8-8511-46777222E2D2}"/>
                </a:ext>
              </a:extLst>
            </p:cNvPr>
            <p:cNvSpPr txBox="1"/>
            <p:nvPr/>
          </p:nvSpPr>
          <p:spPr>
            <a:xfrm>
              <a:off x="9029700" y="3637337"/>
              <a:ext cx="1516701" cy="338554"/>
            </a:xfrm>
            <a:prstGeom prst="rect">
              <a:avLst/>
            </a:prstGeom>
            <a:noFill/>
          </p:spPr>
          <p:txBody>
            <a:bodyPr wrap="square" rtlCol="0">
              <a:spAutoFit/>
            </a:bodyPr>
            <a:lstStyle/>
            <a:p>
              <a:pPr algn="ctr"/>
              <a:r>
                <a:rPr lang="en-US" sz="1600">
                  <a:ea typeface="Amazon Ember" panose="020B0603020204020204" pitchFamily="34" charset="0"/>
                  <a:cs typeface="Amazon Ember" panose="020B0603020204020204" pitchFamily="34" charset="0"/>
                </a:rPr>
                <a:t>Amazon VPC</a:t>
              </a:r>
            </a:p>
          </p:txBody>
        </p:sp>
        <p:sp>
          <p:nvSpPr>
            <p:cNvPr id="39" name="Round Diagonal Corner Rectangle 38">
              <a:extLst>
                <a:ext uri="{FF2B5EF4-FFF2-40B4-BE49-F238E27FC236}">
                  <a16:creationId xmlns:a16="http://schemas.microsoft.com/office/drawing/2014/main" id="{F5839852-F927-1547-A685-1D35B1B64E8E}"/>
                </a:ext>
                <a:ext uri="{C183D7F6-B498-43B3-948B-1728B52AA6E4}">
                  <adec:decorative xmlns:adec="http://schemas.microsoft.com/office/drawing/2017/decorative" val="1"/>
                </a:ext>
              </a:extLst>
            </p:cNvPr>
            <p:cNvSpPr/>
            <p:nvPr/>
          </p:nvSpPr>
          <p:spPr>
            <a:xfrm>
              <a:off x="1125184" y="4010019"/>
              <a:ext cx="4665980" cy="1003950"/>
            </a:xfrm>
            <a:prstGeom prst="round2DiagRect">
              <a:avLst>
                <a:gd name="adj1" fmla="val 16667"/>
                <a:gd name="adj2" fmla="val 16326"/>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ea typeface="Amazon Ember" panose="020B0603020204020204" pitchFamily="34" charset="0"/>
                <a:cs typeface="Amazon Ember" panose="020B0603020204020204" pitchFamily="34" charset="0"/>
              </a:endParaRPr>
            </a:p>
          </p:txBody>
        </p:sp>
        <p:sp>
          <p:nvSpPr>
            <p:cNvPr id="44" name="TextBox 92">
              <a:extLst>
                <a:ext uri="{FF2B5EF4-FFF2-40B4-BE49-F238E27FC236}">
                  <a16:creationId xmlns:a16="http://schemas.microsoft.com/office/drawing/2014/main" id="{DBF0D788-895A-3F49-B387-FE3DBA86F333}"/>
                </a:ext>
              </a:extLst>
            </p:cNvPr>
            <p:cNvSpPr txBox="1">
              <a:spLocks noChangeArrowheads="1"/>
            </p:cNvSpPr>
            <p:nvPr/>
          </p:nvSpPr>
          <p:spPr bwMode="auto">
            <a:xfrm>
              <a:off x="2298984" y="4295061"/>
              <a:ext cx="1176179"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a:latin typeface="+mn-lt"/>
                  <a:ea typeface="Amazon Ember" panose="020B0603020204020204" pitchFamily="34" charset="0"/>
                  <a:cs typeface="Amazon Ember" panose="020B0603020204020204" pitchFamily="34" charset="0"/>
                </a:rPr>
                <a:t>On-premises </a:t>
              </a:r>
              <a:br>
                <a:rPr lang="en-US" sz="1600">
                  <a:latin typeface="+mn-lt"/>
                  <a:ea typeface="Amazon Ember" panose="020B0603020204020204" pitchFamily="34" charset="0"/>
                  <a:cs typeface="Amazon Ember" panose="020B0603020204020204" pitchFamily="34" charset="0"/>
                </a:rPr>
              </a:br>
              <a:r>
                <a:rPr lang="en-US" sz="1600">
                  <a:latin typeface="+mn-lt"/>
                  <a:ea typeface="Amazon Ember" panose="020B0603020204020204" pitchFamily="34" charset="0"/>
                  <a:cs typeface="Amazon Ember" panose="020B0603020204020204" pitchFamily="34" charset="0"/>
                </a:rPr>
                <a:t>servers</a:t>
              </a:r>
            </a:p>
          </p:txBody>
        </p:sp>
        <p:sp>
          <p:nvSpPr>
            <p:cNvPr id="40" name="Round Diagonal Corner Rectangle 39">
              <a:extLst>
                <a:ext uri="{FF2B5EF4-FFF2-40B4-BE49-F238E27FC236}">
                  <a16:creationId xmlns:a16="http://schemas.microsoft.com/office/drawing/2014/main" id="{1C4BAEB5-745E-4746-9DEC-6DB1E514F76E}"/>
                </a:ext>
                <a:ext uri="{C183D7F6-B498-43B3-948B-1728B52AA6E4}">
                  <adec:decorative xmlns:adec="http://schemas.microsoft.com/office/drawing/2017/decorative" val="1"/>
                </a:ext>
              </a:extLst>
            </p:cNvPr>
            <p:cNvSpPr/>
            <p:nvPr/>
          </p:nvSpPr>
          <p:spPr>
            <a:xfrm>
              <a:off x="6486760" y="4011320"/>
              <a:ext cx="4665919" cy="1001347"/>
            </a:xfrm>
            <a:prstGeom prst="round2DiagRect">
              <a:avLst>
                <a:gd name="adj1" fmla="val 16667"/>
                <a:gd name="adj2" fmla="val 1741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ea typeface="Amazon Ember" panose="020B0603020204020204" pitchFamily="34" charset="0"/>
                <a:cs typeface="Amazon Ember" panose="020B0603020204020204" pitchFamily="34" charset="0"/>
              </a:endParaRPr>
            </a:p>
          </p:txBody>
        </p:sp>
        <p:pic>
          <p:nvPicPr>
            <p:cNvPr id="119" name="Graphic 118">
              <a:extLst>
                <a:ext uri="{FF2B5EF4-FFF2-40B4-BE49-F238E27FC236}">
                  <a16:creationId xmlns:a16="http://schemas.microsoft.com/office/drawing/2014/main" id="{57CE7653-726E-4AE9-886D-E3474503952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31253" y="4015699"/>
              <a:ext cx="548640" cy="548640"/>
            </a:xfrm>
            <a:prstGeom prst="rect">
              <a:avLst/>
            </a:prstGeom>
          </p:spPr>
        </p:pic>
        <p:sp>
          <p:nvSpPr>
            <p:cNvPr id="127" name="TextBox 126">
              <a:extLst>
                <a:ext uri="{FF2B5EF4-FFF2-40B4-BE49-F238E27FC236}">
                  <a16:creationId xmlns:a16="http://schemas.microsoft.com/office/drawing/2014/main" id="{B3788113-49F2-4876-92D3-4C93BC8B51E6}"/>
                </a:ext>
              </a:extLst>
            </p:cNvPr>
            <p:cNvSpPr txBox="1"/>
            <p:nvPr/>
          </p:nvSpPr>
          <p:spPr>
            <a:xfrm>
              <a:off x="7430498" y="4567876"/>
              <a:ext cx="550151" cy="338554"/>
            </a:xfrm>
            <a:prstGeom prst="rect">
              <a:avLst/>
            </a:prstGeom>
            <a:noFill/>
          </p:spPr>
          <p:txBody>
            <a:bodyPr wrap="none" rtlCol="0">
              <a:spAutoFit/>
            </a:bodyPr>
            <a:lstStyle/>
            <a:p>
              <a:pPr algn="ctr"/>
              <a:r>
                <a:rPr lang="en-US" sz="1600">
                  <a:ea typeface="Amazon Ember" panose="020B0603020204020204" pitchFamily="34" charset="0"/>
                  <a:cs typeface="Amazon Ember" panose="020B0603020204020204" pitchFamily="34" charset="0"/>
                </a:rPr>
                <a:t>AMI</a:t>
              </a:r>
            </a:p>
          </p:txBody>
        </p:sp>
        <p:sp>
          <p:nvSpPr>
            <p:cNvPr id="97" name="Right Arrow 96">
              <a:extLst>
                <a:ext uri="{FF2B5EF4-FFF2-40B4-BE49-F238E27FC236}">
                  <a16:creationId xmlns:a16="http://schemas.microsoft.com/office/drawing/2014/main" id="{A0709850-E273-E341-A4B7-BA555CE12183}"/>
                </a:ext>
                <a:ext uri="{C183D7F6-B498-43B3-948B-1728B52AA6E4}">
                  <adec:decorative xmlns:adec="http://schemas.microsoft.com/office/drawing/2017/decorative" val="1"/>
                </a:ext>
              </a:extLst>
            </p:cNvPr>
            <p:cNvSpPr/>
            <p:nvPr/>
          </p:nvSpPr>
          <p:spPr>
            <a:xfrm>
              <a:off x="8341897" y="4289376"/>
              <a:ext cx="914400" cy="504767"/>
            </a:xfrm>
            <a:prstGeom prst="rightArrow">
              <a:avLst>
                <a:gd name="adj1" fmla="val 71256"/>
                <a:gd name="adj2" fmla="val 50000"/>
              </a:avLst>
            </a:prstGeom>
            <a:gradFill flip="none" rotWithShape="1">
              <a:gsLst>
                <a:gs pos="100000">
                  <a:srgbClr val="FF9900">
                    <a:alpha val="51000"/>
                  </a:srgbClr>
                </a:gs>
                <a:gs pos="0">
                  <a:srgbClr val="FD9407">
                    <a:alpha val="5000"/>
                  </a:srgbClr>
                </a:gs>
              </a:gsLst>
              <a:lin ang="0" scaled="1"/>
              <a:tileRect/>
            </a:gra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ea typeface="Amazon Ember" panose="020B0603020204020204" pitchFamily="34" charset="0"/>
                <a:cs typeface="Amazon Ember" panose="020B0603020204020204" pitchFamily="34" charset="0"/>
              </a:endParaRPr>
            </a:p>
          </p:txBody>
        </p:sp>
        <p:pic>
          <p:nvPicPr>
            <p:cNvPr id="120" name="Graphic 119">
              <a:extLst>
                <a:ext uri="{FF2B5EF4-FFF2-40B4-BE49-F238E27FC236}">
                  <a16:creationId xmlns:a16="http://schemas.microsoft.com/office/drawing/2014/main" id="{1742DD95-046B-43C0-810F-2B64A179DFA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821364" y="4015699"/>
              <a:ext cx="548640" cy="548640"/>
            </a:xfrm>
            <a:prstGeom prst="rect">
              <a:avLst/>
            </a:prstGeom>
          </p:spPr>
        </p:pic>
        <p:sp>
          <p:nvSpPr>
            <p:cNvPr id="128" name="TextBox 127">
              <a:extLst>
                <a:ext uri="{FF2B5EF4-FFF2-40B4-BE49-F238E27FC236}">
                  <a16:creationId xmlns:a16="http://schemas.microsoft.com/office/drawing/2014/main" id="{4B2387FC-8CC4-4D85-821E-5A9408438717}"/>
                </a:ext>
              </a:extLst>
            </p:cNvPr>
            <p:cNvSpPr txBox="1"/>
            <p:nvPr/>
          </p:nvSpPr>
          <p:spPr>
            <a:xfrm>
              <a:off x="9179921" y="4447344"/>
              <a:ext cx="1972759" cy="584775"/>
            </a:xfrm>
            <a:prstGeom prst="rect">
              <a:avLst/>
            </a:prstGeom>
            <a:noFill/>
          </p:spPr>
          <p:txBody>
            <a:bodyPr wrap="square" rtlCol="0">
              <a:spAutoFit/>
            </a:bodyPr>
            <a:lstStyle/>
            <a:p>
              <a:pPr algn="ctr"/>
              <a:r>
                <a:rPr lang="en-US" sz="1600">
                  <a:ea typeface="Amazon Ember" panose="020B0603020204020204" pitchFamily="34" charset="0"/>
                  <a:cs typeface="Amazon Ember" panose="020B0603020204020204" pitchFamily="34" charset="0"/>
                </a:rPr>
                <a:t>Amazon EC2 instances</a:t>
              </a:r>
            </a:p>
          </p:txBody>
        </p:sp>
        <p:sp>
          <p:nvSpPr>
            <p:cNvPr id="19" name="Round Diagonal Corner Rectangle 18">
              <a:extLst>
                <a:ext uri="{FF2B5EF4-FFF2-40B4-BE49-F238E27FC236}">
                  <a16:creationId xmlns:a16="http://schemas.microsoft.com/office/drawing/2014/main" id="{DF02F1C2-1079-3D4F-AE93-F7512CBCF89B}"/>
                </a:ext>
                <a:ext uri="{C183D7F6-B498-43B3-948B-1728B52AA6E4}">
                  <adec:decorative xmlns:adec="http://schemas.microsoft.com/office/drawing/2017/decorative" val="1"/>
                </a:ext>
              </a:extLst>
            </p:cNvPr>
            <p:cNvSpPr/>
            <p:nvPr/>
          </p:nvSpPr>
          <p:spPr>
            <a:xfrm>
              <a:off x="1125184" y="5094001"/>
              <a:ext cx="4665980" cy="1003950"/>
            </a:xfrm>
            <a:prstGeom prst="round2DiagRect">
              <a:avLst>
                <a:gd name="adj1" fmla="val 16667"/>
                <a:gd name="adj2" fmla="val 16326"/>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ea typeface="Amazon Ember" panose="020B0603020204020204" pitchFamily="34" charset="0"/>
                <a:cs typeface="Amazon Ember" panose="020B0603020204020204" pitchFamily="34" charset="0"/>
              </a:endParaRPr>
            </a:p>
          </p:txBody>
        </p:sp>
        <p:sp>
          <p:nvSpPr>
            <p:cNvPr id="76" name="Rectangle 75">
              <a:extLst>
                <a:ext uri="{FF2B5EF4-FFF2-40B4-BE49-F238E27FC236}">
                  <a16:creationId xmlns:a16="http://schemas.microsoft.com/office/drawing/2014/main" id="{D35FE902-5D2A-4D4E-A708-59F5235C381A}"/>
                </a:ext>
              </a:extLst>
            </p:cNvPr>
            <p:cNvSpPr>
              <a:spLocks noChangeArrowheads="1"/>
            </p:cNvSpPr>
            <p:nvPr/>
          </p:nvSpPr>
          <p:spPr bwMode="auto">
            <a:xfrm>
              <a:off x="4184078" y="5418058"/>
              <a:ext cx="903934" cy="378556"/>
            </a:xfrm>
            <a:prstGeom prst="rect">
              <a:avLst/>
            </a:prstGeom>
            <a:gradFill rotWithShape="1">
              <a:gsLst>
                <a:gs pos="0">
                  <a:srgbClr val="537393"/>
                </a:gs>
                <a:gs pos="35001">
                  <a:srgbClr val="96ADC4"/>
                </a:gs>
                <a:gs pos="100000">
                  <a:srgbClr val="D2DCE6"/>
                </a:gs>
              </a:gsLst>
              <a:lin ang="16200000" scaled="1"/>
            </a:gradFill>
            <a:ln w="9525">
              <a:solidFill>
                <a:srgbClr val="304356"/>
              </a:solidFill>
              <a:miter lim="800000"/>
              <a:headEnd/>
              <a:tailEnd/>
            </a:ln>
            <a:effectLst>
              <a:outerShdw blurRad="40000" dist="20000" dir="5400000" rotWithShape="0">
                <a:srgbClr val="000000">
                  <a:alpha val="37999"/>
                </a:srgbClr>
              </a:outerShdw>
            </a:effectLst>
          </p:spPr>
          <p:txBody>
            <a:bodyPr anchor="ctr"/>
            <a:lstStyle/>
            <a:p>
              <a:pPr algn="ctr">
                <a:defRPr/>
              </a:pPr>
              <a:r>
                <a:rPr lang="en-US" sz="1600">
                  <a:solidFill>
                    <a:srgbClr val="304356"/>
                  </a:solidFill>
                  <a:latin typeface="Amazon Ember" panose="020B0603020204020204" pitchFamily="34" charset="0"/>
                  <a:ea typeface="Amazon Ember" panose="020B0603020204020204" pitchFamily="34" charset="0"/>
                  <a:cs typeface="Amazon Ember" panose="020B0603020204020204" pitchFamily="34" charset="0"/>
                </a:rPr>
                <a:t>RDBMS</a:t>
              </a:r>
            </a:p>
          </p:txBody>
        </p:sp>
        <p:sp>
          <p:nvSpPr>
            <p:cNvPr id="20" name="Round Diagonal Corner Rectangle 19">
              <a:extLst>
                <a:ext uri="{FF2B5EF4-FFF2-40B4-BE49-F238E27FC236}">
                  <a16:creationId xmlns:a16="http://schemas.microsoft.com/office/drawing/2014/main" id="{64BC6FDD-A420-EB41-B7A5-03AAA72C7753}"/>
                </a:ext>
                <a:ext uri="{C183D7F6-B498-43B3-948B-1728B52AA6E4}">
                  <adec:decorative xmlns:adec="http://schemas.microsoft.com/office/drawing/2017/decorative" val="1"/>
                </a:ext>
              </a:extLst>
            </p:cNvPr>
            <p:cNvSpPr/>
            <p:nvPr/>
          </p:nvSpPr>
          <p:spPr>
            <a:xfrm>
              <a:off x="6486699" y="5094001"/>
              <a:ext cx="4665980" cy="1003950"/>
            </a:xfrm>
            <a:prstGeom prst="round2DiagRect">
              <a:avLst>
                <a:gd name="adj1" fmla="val 16667"/>
                <a:gd name="adj2" fmla="val 16326"/>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ea typeface="Amazon Ember" panose="020B0603020204020204" pitchFamily="34" charset="0"/>
                <a:cs typeface="Amazon Ember" panose="020B0603020204020204" pitchFamily="34" charset="0"/>
              </a:endParaRPr>
            </a:p>
          </p:txBody>
        </p:sp>
        <p:pic>
          <p:nvPicPr>
            <p:cNvPr id="121" name="Graphic 120">
              <a:extLst>
                <a:ext uri="{FF2B5EF4-FFF2-40B4-BE49-F238E27FC236}">
                  <a16:creationId xmlns:a16="http://schemas.microsoft.com/office/drawing/2014/main" id="{678BB275-86A5-4375-BE18-30BCED31AFE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065493" y="5111372"/>
              <a:ext cx="548640" cy="548640"/>
            </a:xfrm>
            <a:prstGeom prst="rect">
              <a:avLst/>
            </a:prstGeom>
          </p:spPr>
        </p:pic>
        <p:pic>
          <p:nvPicPr>
            <p:cNvPr id="122" name="Graphic 121">
              <a:extLst>
                <a:ext uri="{FF2B5EF4-FFF2-40B4-BE49-F238E27FC236}">
                  <a16:creationId xmlns:a16="http://schemas.microsoft.com/office/drawing/2014/main" id="{575D8C7E-648C-4079-9B88-AC16C303037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8124987" y="5111372"/>
              <a:ext cx="548640" cy="548640"/>
            </a:xfrm>
            <a:prstGeom prst="rect">
              <a:avLst/>
            </a:prstGeom>
          </p:spPr>
        </p:pic>
        <p:pic>
          <p:nvPicPr>
            <p:cNvPr id="123" name="Graphic 122">
              <a:extLst>
                <a:ext uri="{FF2B5EF4-FFF2-40B4-BE49-F238E27FC236}">
                  <a16:creationId xmlns:a16="http://schemas.microsoft.com/office/drawing/2014/main" id="{F95445C9-5745-467A-99E3-84B5B801ED7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241311" y="5125069"/>
              <a:ext cx="548640" cy="548640"/>
            </a:xfrm>
            <a:prstGeom prst="rect">
              <a:avLst/>
            </a:prstGeom>
          </p:spPr>
        </p:pic>
        <p:pic>
          <p:nvPicPr>
            <p:cNvPr id="124" name="Graphic 123">
              <a:extLst>
                <a:ext uri="{FF2B5EF4-FFF2-40B4-BE49-F238E27FC236}">
                  <a16:creationId xmlns:a16="http://schemas.microsoft.com/office/drawing/2014/main" id="{E0A907DA-6131-4ECA-A51A-C0FA62F96A1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309287" y="5111372"/>
              <a:ext cx="548640" cy="548640"/>
            </a:xfrm>
            <a:prstGeom prst="rect">
              <a:avLst/>
            </a:prstGeom>
          </p:spPr>
        </p:pic>
        <p:sp>
          <p:nvSpPr>
            <p:cNvPr id="85" name="Left-Right Arrow 84">
              <a:extLst>
                <a:ext uri="{FF2B5EF4-FFF2-40B4-BE49-F238E27FC236}">
                  <a16:creationId xmlns:a16="http://schemas.microsoft.com/office/drawing/2014/main" id="{43E0D115-25D3-4142-88B2-0F1E370A8095}"/>
                </a:ext>
              </a:extLst>
            </p:cNvPr>
            <p:cNvSpPr/>
            <p:nvPr/>
          </p:nvSpPr>
          <p:spPr>
            <a:xfrm>
              <a:off x="5177857" y="2074027"/>
              <a:ext cx="1888202" cy="572991"/>
            </a:xfrm>
            <a:prstGeom prst="leftRightArrow">
              <a:avLst>
                <a:gd name="adj1" fmla="val 69609"/>
                <a:gd name="adj2" fmla="val 50000"/>
              </a:avLst>
            </a:prstGeom>
            <a:solidFill>
              <a:srgbClr val="D4DADA"/>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chemeClr val="tx1"/>
                  </a:solidFill>
                  <a:ea typeface="Amazon Ember" panose="020B0603020204020204" pitchFamily="34" charset="0"/>
                  <a:cs typeface="Amazon Ember" panose="020B0603020204020204" pitchFamily="34" charset="0"/>
                </a:rPr>
                <a:t>Security</a:t>
              </a:r>
            </a:p>
          </p:txBody>
        </p:sp>
        <p:sp>
          <p:nvSpPr>
            <p:cNvPr id="99" name="Left-Right Arrow 98">
              <a:extLst>
                <a:ext uri="{FF2B5EF4-FFF2-40B4-BE49-F238E27FC236}">
                  <a16:creationId xmlns:a16="http://schemas.microsoft.com/office/drawing/2014/main" id="{8DD2FE05-5633-3D48-812A-7AE2FE65FE7A}"/>
                </a:ext>
              </a:extLst>
            </p:cNvPr>
            <p:cNvSpPr/>
            <p:nvPr/>
          </p:nvSpPr>
          <p:spPr>
            <a:xfrm>
              <a:off x="5177857" y="3136480"/>
              <a:ext cx="1888202" cy="572991"/>
            </a:xfrm>
            <a:prstGeom prst="leftRightArrow">
              <a:avLst>
                <a:gd name="adj1" fmla="val 69609"/>
                <a:gd name="adj2" fmla="val 50000"/>
              </a:avLst>
            </a:prstGeom>
            <a:solidFill>
              <a:srgbClr val="D4DADA"/>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chemeClr val="tx1"/>
                  </a:solidFill>
                  <a:ea typeface="Amazon Ember" panose="020B0603020204020204" pitchFamily="34" charset="0"/>
                  <a:cs typeface="Amazon Ember" panose="020B0603020204020204" pitchFamily="34" charset="0"/>
                </a:rPr>
                <a:t>Networking</a:t>
              </a:r>
            </a:p>
          </p:txBody>
        </p:sp>
        <p:sp>
          <p:nvSpPr>
            <p:cNvPr id="100" name="Left-Right Arrow 99">
              <a:extLst>
                <a:ext uri="{FF2B5EF4-FFF2-40B4-BE49-F238E27FC236}">
                  <a16:creationId xmlns:a16="http://schemas.microsoft.com/office/drawing/2014/main" id="{4D75905B-73E6-794E-A71C-C9CAF90587BD}"/>
                </a:ext>
              </a:extLst>
            </p:cNvPr>
            <p:cNvSpPr/>
            <p:nvPr/>
          </p:nvSpPr>
          <p:spPr>
            <a:xfrm>
              <a:off x="5177857" y="4221152"/>
              <a:ext cx="1888202" cy="572991"/>
            </a:xfrm>
            <a:prstGeom prst="leftRightArrow">
              <a:avLst>
                <a:gd name="adj1" fmla="val 69609"/>
                <a:gd name="adj2" fmla="val 50000"/>
              </a:avLst>
            </a:prstGeom>
            <a:solidFill>
              <a:srgbClr val="D4DADA"/>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chemeClr val="tx1"/>
                  </a:solidFill>
                  <a:ea typeface="Amazon Ember" panose="020B0603020204020204" pitchFamily="34" charset="0"/>
                  <a:cs typeface="Amazon Ember" panose="020B0603020204020204" pitchFamily="34" charset="0"/>
                </a:rPr>
                <a:t>Compute</a:t>
              </a:r>
            </a:p>
          </p:txBody>
        </p:sp>
        <p:sp>
          <p:nvSpPr>
            <p:cNvPr id="101" name="Left-Right Arrow 100">
              <a:extLst>
                <a:ext uri="{FF2B5EF4-FFF2-40B4-BE49-F238E27FC236}">
                  <a16:creationId xmlns:a16="http://schemas.microsoft.com/office/drawing/2014/main" id="{A69B7518-4CB8-6A4D-BA83-CF20771585EC}"/>
                </a:ext>
              </a:extLst>
            </p:cNvPr>
            <p:cNvSpPr/>
            <p:nvPr/>
          </p:nvSpPr>
          <p:spPr>
            <a:xfrm>
              <a:off x="5194861" y="5222499"/>
              <a:ext cx="1888202" cy="783356"/>
            </a:xfrm>
            <a:prstGeom prst="leftRightArrow">
              <a:avLst>
                <a:gd name="adj1" fmla="val 76592"/>
                <a:gd name="adj2" fmla="val 34674"/>
              </a:avLst>
            </a:prstGeom>
            <a:solidFill>
              <a:srgbClr val="D4DADA"/>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chemeClr val="tx1"/>
                  </a:solidFill>
                  <a:ea typeface="Amazon Ember" panose="020B0603020204020204" pitchFamily="34" charset="0"/>
                  <a:cs typeface="Amazon Ember" panose="020B0603020204020204" pitchFamily="34" charset="0"/>
                </a:rPr>
                <a:t>Storage and</a:t>
              </a:r>
              <a:br>
                <a:rPr lang="en-US" sz="1600">
                  <a:solidFill>
                    <a:schemeClr val="tx1"/>
                  </a:solidFill>
                  <a:ea typeface="Amazon Ember" panose="020B0603020204020204" pitchFamily="34" charset="0"/>
                  <a:cs typeface="Amazon Ember" panose="020B0603020204020204" pitchFamily="34" charset="0"/>
                </a:rPr>
              </a:br>
              <a:r>
                <a:rPr lang="en-US" sz="1600">
                  <a:solidFill>
                    <a:schemeClr val="tx1"/>
                  </a:solidFill>
                  <a:ea typeface="Amazon Ember" panose="020B0603020204020204" pitchFamily="34" charset="0"/>
                  <a:cs typeface="Amazon Ember" panose="020B0603020204020204" pitchFamily="34" charset="0"/>
                </a:rPr>
                <a:t>database </a:t>
              </a:r>
            </a:p>
          </p:txBody>
        </p:sp>
        <p:sp>
          <p:nvSpPr>
            <p:cNvPr id="129" name="TextBox 128">
              <a:extLst>
                <a:ext uri="{FF2B5EF4-FFF2-40B4-BE49-F238E27FC236}">
                  <a16:creationId xmlns:a16="http://schemas.microsoft.com/office/drawing/2014/main" id="{9B94CAE3-87CB-4E8E-903D-B2050D59F467}"/>
                </a:ext>
              </a:extLst>
            </p:cNvPr>
            <p:cNvSpPr txBox="1"/>
            <p:nvPr/>
          </p:nvSpPr>
          <p:spPr>
            <a:xfrm>
              <a:off x="6668371" y="5600659"/>
              <a:ext cx="1307145" cy="584775"/>
            </a:xfrm>
            <a:prstGeom prst="rect">
              <a:avLst/>
            </a:prstGeom>
            <a:noFill/>
          </p:spPr>
          <p:txBody>
            <a:bodyPr wrap="square" rtlCol="0">
              <a:spAutoFit/>
            </a:bodyPr>
            <a:lstStyle/>
            <a:p>
              <a:pPr algn="ctr"/>
              <a:r>
                <a:rPr lang="en-US" sz="1600">
                  <a:ea typeface="Amazon Ember" panose="020B0603020204020204" pitchFamily="34" charset="0"/>
                  <a:cs typeface="Amazon Ember" panose="020B0603020204020204" pitchFamily="34" charset="0"/>
                </a:rPr>
                <a:t>Amazon EBS</a:t>
              </a:r>
            </a:p>
          </p:txBody>
        </p:sp>
        <p:sp>
          <p:nvSpPr>
            <p:cNvPr id="130" name="TextBox 129">
              <a:extLst>
                <a:ext uri="{FF2B5EF4-FFF2-40B4-BE49-F238E27FC236}">
                  <a16:creationId xmlns:a16="http://schemas.microsoft.com/office/drawing/2014/main" id="{4B98B53F-A08A-4B08-AC6C-F09E9E73521C}"/>
                </a:ext>
              </a:extLst>
            </p:cNvPr>
            <p:cNvSpPr txBox="1"/>
            <p:nvPr/>
          </p:nvSpPr>
          <p:spPr>
            <a:xfrm>
              <a:off x="7754553" y="5600659"/>
              <a:ext cx="1307145" cy="584775"/>
            </a:xfrm>
            <a:prstGeom prst="rect">
              <a:avLst/>
            </a:prstGeom>
            <a:noFill/>
          </p:spPr>
          <p:txBody>
            <a:bodyPr wrap="square" rtlCol="0">
              <a:spAutoFit/>
            </a:bodyPr>
            <a:lstStyle/>
            <a:p>
              <a:pPr algn="ctr"/>
              <a:r>
                <a:rPr lang="en-US" sz="1600">
                  <a:ea typeface="Amazon Ember" panose="020B0603020204020204" pitchFamily="34" charset="0"/>
                  <a:cs typeface="Amazon Ember" panose="020B0603020204020204" pitchFamily="34" charset="0"/>
                </a:rPr>
                <a:t>Amazon </a:t>
              </a:r>
              <a:br>
                <a:rPr lang="en-US" sz="1600">
                  <a:ea typeface="Amazon Ember" panose="020B0603020204020204" pitchFamily="34" charset="0"/>
                  <a:cs typeface="Amazon Ember" panose="020B0603020204020204" pitchFamily="34" charset="0"/>
                </a:rPr>
              </a:br>
              <a:r>
                <a:rPr lang="en-US" sz="1600">
                  <a:ea typeface="Amazon Ember" panose="020B0603020204020204" pitchFamily="34" charset="0"/>
                  <a:cs typeface="Amazon Ember" panose="020B0603020204020204" pitchFamily="34" charset="0"/>
                </a:rPr>
                <a:t>EFS</a:t>
              </a:r>
            </a:p>
          </p:txBody>
        </p:sp>
        <p:sp>
          <p:nvSpPr>
            <p:cNvPr id="131" name="TextBox 130">
              <a:extLst>
                <a:ext uri="{FF2B5EF4-FFF2-40B4-BE49-F238E27FC236}">
                  <a16:creationId xmlns:a16="http://schemas.microsoft.com/office/drawing/2014/main" id="{9511B6FA-F479-4C05-9434-A51BF1F9A1A4}"/>
                </a:ext>
              </a:extLst>
            </p:cNvPr>
            <p:cNvSpPr txBox="1"/>
            <p:nvPr/>
          </p:nvSpPr>
          <p:spPr>
            <a:xfrm>
              <a:off x="8710241" y="5600659"/>
              <a:ext cx="1542192" cy="584775"/>
            </a:xfrm>
            <a:prstGeom prst="rect">
              <a:avLst/>
            </a:prstGeom>
            <a:noFill/>
          </p:spPr>
          <p:txBody>
            <a:bodyPr wrap="square" rtlCol="0">
              <a:spAutoFit/>
            </a:bodyPr>
            <a:lstStyle/>
            <a:p>
              <a:pPr algn="ctr"/>
              <a:r>
                <a:rPr lang="en-US" sz="1600">
                  <a:ea typeface="Amazon Ember" panose="020B0603020204020204" pitchFamily="34" charset="0"/>
                  <a:cs typeface="Amazon Ember" panose="020B0603020204020204" pitchFamily="34" charset="0"/>
                </a:rPr>
                <a:t>Amazon </a:t>
              </a:r>
              <a:br>
                <a:rPr lang="en-US" sz="1600">
                  <a:ea typeface="Amazon Ember" panose="020B0603020204020204" pitchFamily="34" charset="0"/>
                  <a:cs typeface="Amazon Ember" panose="020B0603020204020204" pitchFamily="34" charset="0"/>
                </a:rPr>
              </a:br>
              <a:r>
                <a:rPr lang="en-US" sz="1600">
                  <a:ea typeface="Amazon Ember" panose="020B0603020204020204" pitchFamily="34" charset="0"/>
                  <a:cs typeface="Amazon Ember" panose="020B0603020204020204" pitchFamily="34" charset="0"/>
                </a:rPr>
                <a:t>S3</a:t>
              </a:r>
            </a:p>
          </p:txBody>
        </p:sp>
        <p:sp>
          <p:nvSpPr>
            <p:cNvPr id="132" name="TextBox 131">
              <a:extLst>
                <a:ext uri="{FF2B5EF4-FFF2-40B4-BE49-F238E27FC236}">
                  <a16:creationId xmlns:a16="http://schemas.microsoft.com/office/drawing/2014/main" id="{50E511B7-7251-4826-8B58-A0C22D9D0F86}"/>
                </a:ext>
              </a:extLst>
            </p:cNvPr>
            <p:cNvSpPr txBox="1"/>
            <p:nvPr/>
          </p:nvSpPr>
          <p:spPr>
            <a:xfrm>
              <a:off x="9913340" y="5600659"/>
              <a:ext cx="1307145" cy="584775"/>
            </a:xfrm>
            <a:prstGeom prst="rect">
              <a:avLst/>
            </a:prstGeom>
            <a:noFill/>
          </p:spPr>
          <p:txBody>
            <a:bodyPr wrap="square" rtlCol="0">
              <a:spAutoFit/>
            </a:bodyPr>
            <a:lstStyle/>
            <a:p>
              <a:pPr algn="ctr"/>
              <a:r>
                <a:rPr lang="en-US" sz="1600">
                  <a:ea typeface="Amazon Ember" panose="020B0603020204020204" pitchFamily="34" charset="0"/>
                  <a:cs typeface="Amazon Ember" panose="020B0603020204020204" pitchFamily="34" charset="0"/>
                </a:rPr>
                <a:t>Amazon RDS</a:t>
              </a:r>
            </a:p>
          </p:txBody>
        </p:sp>
        <p:sp>
          <p:nvSpPr>
            <p:cNvPr id="70" name="Rectangle 69">
              <a:extLst>
                <a:ext uri="{FF2B5EF4-FFF2-40B4-BE49-F238E27FC236}">
                  <a16:creationId xmlns:a16="http://schemas.microsoft.com/office/drawing/2014/main" id="{4440F675-A90D-441D-9C99-E39DCEC4C58D}"/>
                </a:ext>
              </a:extLst>
            </p:cNvPr>
            <p:cNvSpPr/>
            <p:nvPr/>
          </p:nvSpPr>
          <p:spPr>
            <a:xfrm>
              <a:off x="6769564" y="1972935"/>
              <a:ext cx="1371600" cy="731520"/>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algn="ctr">
                <a:defRPr/>
              </a:pPr>
              <a:r>
                <a:rPr lang="en-US" sz="1600">
                  <a:solidFill>
                    <a:srgbClr val="DF3312"/>
                  </a:solidFill>
                  <a:latin typeface="Arial" panose="020B0604020202020204"/>
                  <a:ea typeface="+mn-ea"/>
                  <a:cs typeface="+mn-cs"/>
                </a:rPr>
                <a:t>Security </a:t>
              </a:r>
              <a:br>
                <a:rPr lang="en-US" sz="1600">
                  <a:solidFill>
                    <a:srgbClr val="DF3312"/>
                  </a:solidFill>
                  <a:latin typeface="Arial" panose="020B0604020202020204"/>
                  <a:ea typeface="+mn-ea"/>
                  <a:cs typeface="+mn-cs"/>
                </a:rPr>
              </a:br>
              <a:r>
                <a:rPr lang="en-US" sz="1600">
                  <a:solidFill>
                    <a:srgbClr val="DF3312"/>
                  </a:solidFill>
                  <a:latin typeface="Arial" panose="020B0604020202020204"/>
                  <a:ea typeface="+mn-ea"/>
                  <a:cs typeface="+mn-cs"/>
                </a:rPr>
                <a:t>groups</a:t>
              </a:r>
            </a:p>
          </p:txBody>
        </p:sp>
        <p:pic>
          <p:nvPicPr>
            <p:cNvPr id="74" name="Graphic 73">
              <a:extLst>
                <a:ext uri="{FF2B5EF4-FFF2-40B4-BE49-F238E27FC236}">
                  <a16:creationId xmlns:a16="http://schemas.microsoft.com/office/drawing/2014/main" id="{7BFC5EED-8C72-415E-A396-3E52601D468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3534427" y="4072306"/>
              <a:ext cx="693446" cy="693446"/>
            </a:xfrm>
            <a:prstGeom prst="rect">
              <a:avLst/>
            </a:prstGeom>
          </p:spPr>
        </p:pic>
        <p:pic>
          <p:nvPicPr>
            <p:cNvPr id="75" name="Graphic 74">
              <a:extLst>
                <a:ext uri="{FF2B5EF4-FFF2-40B4-BE49-F238E27FC236}">
                  <a16:creationId xmlns:a16="http://schemas.microsoft.com/office/drawing/2014/main" id="{C0A03FBA-245C-4413-9480-23A26F67857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3939073" y="4135564"/>
              <a:ext cx="693446" cy="693446"/>
            </a:xfrm>
            <a:prstGeom prst="rect">
              <a:avLst/>
            </a:prstGeom>
          </p:spPr>
        </p:pic>
        <p:pic>
          <p:nvPicPr>
            <p:cNvPr id="77" name="Graphic 76">
              <a:extLst>
                <a:ext uri="{FF2B5EF4-FFF2-40B4-BE49-F238E27FC236}">
                  <a16:creationId xmlns:a16="http://schemas.microsoft.com/office/drawing/2014/main" id="{68B38FCC-3F14-41D8-B2B7-9D077E9C5B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358888" y="4224706"/>
              <a:ext cx="693446" cy="693446"/>
            </a:xfrm>
            <a:prstGeom prst="rect">
              <a:avLst/>
            </a:prstGeom>
          </p:spPr>
        </p:pic>
        <p:pic>
          <p:nvPicPr>
            <p:cNvPr id="79" name="Graphic 78">
              <a:extLst>
                <a:ext uri="{FF2B5EF4-FFF2-40B4-BE49-F238E27FC236}">
                  <a16:creationId xmlns:a16="http://schemas.microsoft.com/office/drawing/2014/main" id="{E14488D1-6906-4882-8E57-847F44CDD32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631692" y="3115314"/>
              <a:ext cx="469900" cy="469900"/>
            </a:xfrm>
            <a:prstGeom prst="rect">
              <a:avLst/>
            </a:prstGeom>
          </p:spPr>
        </p:pic>
        <p:pic>
          <p:nvPicPr>
            <p:cNvPr id="80" name="Graphic 79">
              <a:extLst>
                <a:ext uri="{FF2B5EF4-FFF2-40B4-BE49-F238E27FC236}">
                  <a16:creationId xmlns:a16="http://schemas.microsoft.com/office/drawing/2014/main" id="{3C2D1B22-C366-48E3-BBD9-EF7F5032264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4123938" y="1994701"/>
              <a:ext cx="469900" cy="469900"/>
            </a:xfrm>
            <a:prstGeom prst="rect">
              <a:avLst/>
            </a:prstGeom>
          </p:spPr>
        </p:pic>
        <p:pic>
          <p:nvPicPr>
            <p:cNvPr id="81" name="Graphic 80">
              <a:extLst>
                <a:ext uri="{FF2B5EF4-FFF2-40B4-BE49-F238E27FC236}">
                  <a16:creationId xmlns:a16="http://schemas.microsoft.com/office/drawing/2014/main" id="{0F5B6056-7CAC-4F62-B271-D8808F78B10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8889694" y="2012992"/>
              <a:ext cx="469900" cy="469900"/>
            </a:xfrm>
            <a:prstGeom prst="rect">
              <a:avLst/>
            </a:prstGeom>
          </p:spPr>
        </p:pic>
        <p:grpSp>
          <p:nvGrpSpPr>
            <p:cNvPr id="11" name="Group 10">
              <a:extLst>
                <a:ext uri="{FF2B5EF4-FFF2-40B4-BE49-F238E27FC236}">
                  <a16:creationId xmlns:a16="http://schemas.microsoft.com/office/drawing/2014/main" id="{B197DCE9-D16F-40D8-9169-DF9933E3B66E}"/>
                </a:ext>
                <a:ext uri="{C183D7F6-B498-43B3-948B-1728B52AA6E4}">
                  <adec:decorative xmlns:adec="http://schemas.microsoft.com/office/drawing/2017/decorative" val="1"/>
                </a:ext>
              </a:extLst>
            </p:cNvPr>
            <p:cNvGrpSpPr/>
            <p:nvPr/>
          </p:nvGrpSpPr>
          <p:grpSpPr>
            <a:xfrm>
              <a:off x="1428087" y="5337246"/>
              <a:ext cx="679912" cy="679912"/>
              <a:chOff x="1428087" y="5260736"/>
              <a:chExt cx="679912" cy="679912"/>
            </a:xfrm>
          </p:grpSpPr>
          <p:pic>
            <p:nvPicPr>
              <p:cNvPr id="82" name="Graphic 81">
                <a:extLst>
                  <a:ext uri="{FF2B5EF4-FFF2-40B4-BE49-F238E27FC236}">
                    <a16:creationId xmlns:a16="http://schemas.microsoft.com/office/drawing/2014/main" id="{6A20A2D9-A7D7-4D02-88E7-C6007544C38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1428087" y="5260736"/>
                <a:ext cx="679912" cy="679912"/>
              </a:xfrm>
              <a:prstGeom prst="rect">
                <a:avLst/>
              </a:prstGeom>
            </p:spPr>
          </p:pic>
          <p:sp>
            <p:nvSpPr>
              <p:cNvPr id="6" name="TextBox 5">
                <a:extLst>
                  <a:ext uri="{FF2B5EF4-FFF2-40B4-BE49-F238E27FC236}">
                    <a16:creationId xmlns:a16="http://schemas.microsoft.com/office/drawing/2014/main" id="{8D736786-E894-4AC6-A868-BFA9869C2648}"/>
                  </a:ext>
                </a:extLst>
              </p:cNvPr>
              <p:cNvSpPr txBox="1"/>
              <p:nvPr/>
            </p:nvSpPr>
            <p:spPr>
              <a:xfrm>
                <a:off x="1485754" y="5431415"/>
                <a:ext cx="524503"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DAS</a:t>
                </a:r>
              </a:p>
            </p:txBody>
          </p:sp>
        </p:grpSp>
        <p:grpSp>
          <p:nvGrpSpPr>
            <p:cNvPr id="10" name="Group 9">
              <a:extLst>
                <a:ext uri="{FF2B5EF4-FFF2-40B4-BE49-F238E27FC236}">
                  <a16:creationId xmlns:a16="http://schemas.microsoft.com/office/drawing/2014/main" id="{CDDBBA44-2882-4C03-B551-E10043BE33E3}"/>
                </a:ext>
                <a:ext uri="{C183D7F6-B498-43B3-948B-1728B52AA6E4}">
                  <adec:decorative xmlns:adec="http://schemas.microsoft.com/office/drawing/2017/decorative" val="1"/>
                </a:ext>
              </a:extLst>
            </p:cNvPr>
            <p:cNvGrpSpPr/>
            <p:nvPr/>
          </p:nvGrpSpPr>
          <p:grpSpPr>
            <a:xfrm>
              <a:off x="2393185" y="5337246"/>
              <a:ext cx="679912" cy="679912"/>
              <a:chOff x="2099577" y="5293948"/>
              <a:chExt cx="679912" cy="679912"/>
            </a:xfrm>
          </p:grpSpPr>
          <p:sp>
            <p:nvSpPr>
              <p:cNvPr id="83" name="TextBox 82">
                <a:extLst>
                  <a:ext uri="{FF2B5EF4-FFF2-40B4-BE49-F238E27FC236}">
                    <a16:creationId xmlns:a16="http://schemas.microsoft.com/office/drawing/2014/main" id="{B7CB0AEE-AF2D-4AD2-9716-2BFBA31F77E3}"/>
                  </a:ext>
                </a:extLst>
              </p:cNvPr>
              <p:cNvSpPr txBox="1"/>
              <p:nvPr/>
            </p:nvSpPr>
            <p:spPr>
              <a:xfrm>
                <a:off x="2154840" y="5464627"/>
                <a:ext cx="530915"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SAN</a:t>
                </a:r>
              </a:p>
            </p:txBody>
          </p:sp>
          <p:pic>
            <p:nvPicPr>
              <p:cNvPr id="87" name="Graphic 86">
                <a:extLst>
                  <a:ext uri="{FF2B5EF4-FFF2-40B4-BE49-F238E27FC236}">
                    <a16:creationId xmlns:a16="http://schemas.microsoft.com/office/drawing/2014/main" id="{4CD6C272-BAD8-44DA-B642-F1FB217F95E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2099577" y="5293948"/>
                <a:ext cx="679912" cy="679912"/>
              </a:xfrm>
              <a:prstGeom prst="rect">
                <a:avLst/>
              </a:prstGeom>
            </p:spPr>
          </p:pic>
        </p:grpSp>
        <p:grpSp>
          <p:nvGrpSpPr>
            <p:cNvPr id="9" name="Group 8">
              <a:extLst>
                <a:ext uri="{FF2B5EF4-FFF2-40B4-BE49-F238E27FC236}">
                  <a16:creationId xmlns:a16="http://schemas.microsoft.com/office/drawing/2014/main" id="{C3B734A9-8805-4E17-B211-2C5312ADFD0C}"/>
                </a:ext>
                <a:ext uri="{C183D7F6-B498-43B3-948B-1728B52AA6E4}">
                  <adec:decorative xmlns:adec="http://schemas.microsoft.com/office/drawing/2017/decorative" val="1"/>
                </a:ext>
              </a:extLst>
            </p:cNvPr>
            <p:cNvGrpSpPr/>
            <p:nvPr/>
          </p:nvGrpSpPr>
          <p:grpSpPr>
            <a:xfrm>
              <a:off x="3358283" y="5198571"/>
              <a:ext cx="679912" cy="818587"/>
              <a:chOff x="3358283" y="5198571"/>
              <a:chExt cx="679912" cy="818587"/>
            </a:xfrm>
          </p:grpSpPr>
          <p:grpSp>
            <p:nvGrpSpPr>
              <p:cNvPr id="7" name="Group 6">
                <a:extLst>
                  <a:ext uri="{FF2B5EF4-FFF2-40B4-BE49-F238E27FC236}">
                    <a16:creationId xmlns:a16="http://schemas.microsoft.com/office/drawing/2014/main" id="{AB9DA5F2-AF7F-4D2A-94CE-8CB86455522F}"/>
                  </a:ext>
                </a:extLst>
              </p:cNvPr>
              <p:cNvGrpSpPr/>
              <p:nvPr/>
            </p:nvGrpSpPr>
            <p:grpSpPr>
              <a:xfrm>
                <a:off x="3572260" y="5198571"/>
                <a:ext cx="251959" cy="219487"/>
                <a:chOff x="3555015" y="5198571"/>
                <a:chExt cx="251959" cy="219487"/>
              </a:xfrm>
            </p:grpSpPr>
            <p:sp>
              <p:nvSpPr>
                <p:cNvPr id="110" name="Rectangle 109">
                  <a:extLst>
                    <a:ext uri="{FF2B5EF4-FFF2-40B4-BE49-F238E27FC236}">
                      <a16:creationId xmlns:a16="http://schemas.microsoft.com/office/drawing/2014/main" id="{7DF711C3-0279-AA49-ABF0-578970E4DF1A}"/>
                    </a:ext>
                    <a:ext uri="{C183D7F6-B498-43B3-948B-1728B52AA6E4}">
                      <adec:decorative xmlns:adec="http://schemas.microsoft.com/office/drawing/2017/decorative" val="1"/>
                    </a:ext>
                  </a:extLst>
                </p:cNvPr>
                <p:cNvSpPr/>
                <p:nvPr/>
              </p:nvSpPr>
              <p:spPr>
                <a:xfrm>
                  <a:off x="3636926" y="5198571"/>
                  <a:ext cx="96677" cy="80812"/>
                </a:xfrm>
                <a:prstGeom prst="rect">
                  <a:avLst/>
                </a:prstGeom>
                <a:solidFill>
                  <a:srgbClr val="304356"/>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ea typeface="Amazon Ember" panose="020B0603020204020204" pitchFamily="34" charset="0"/>
                    <a:cs typeface="Amazon Ember" panose="020B0603020204020204" pitchFamily="34" charset="0"/>
                  </a:endParaRPr>
                </a:p>
              </p:txBody>
            </p:sp>
            <p:sp>
              <p:nvSpPr>
                <p:cNvPr id="111" name="Rectangle 110">
                  <a:extLst>
                    <a:ext uri="{FF2B5EF4-FFF2-40B4-BE49-F238E27FC236}">
                      <a16:creationId xmlns:a16="http://schemas.microsoft.com/office/drawing/2014/main" id="{C11F5C54-1075-F049-9B78-0FC31B624C7E}"/>
                    </a:ext>
                    <a:ext uri="{C183D7F6-B498-43B3-948B-1728B52AA6E4}">
                      <adec:decorative xmlns:adec="http://schemas.microsoft.com/office/drawing/2017/decorative" val="1"/>
                    </a:ext>
                  </a:extLst>
                </p:cNvPr>
                <p:cNvSpPr/>
                <p:nvPr/>
              </p:nvSpPr>
              <p:spPr>
                <a:xfrm>
                  <a:off x="3555015" y="5337246"/>
                  <a:ext cx="96677" cy="80812"/>
                </a:xfrm>
                <a:prstGeom prst="rect">
                  <a:avLst/>
                </a:prstGeom>
                <a:solidFill>
                  <a:srgbClr val="304356"/>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ea typeface="Amazon Ember" panose="020B0603020204020204" pitchFamily="34" charset="0"/>
                    <a:cs typeface="Amazon Ember" panose="020B0603020204020204" pitchFamily="34" charset="0"/>
                  </a:endParaRPr>
                </a:p>
              </p:txBody>
            </p:sp>
            <p:sp>
              <p:nvSpPr>
                <p:cNvPr id="112" name="Rectangle 111">
                  <a:extLst>
                    <a:ext uri="{FF2B5EF4-FFF2-40B4-BE49-F238E27FC236}">
                      <a16:creationId xmlns:a16="http://schemas.microsoft.com/office/drawing/2014/main" id="{6719E8C0-582B-B44F-88E6-72F4027A6D53}"/>
                    </a:ext>
                    <a:ext uri="{C183D7F6-B498-43B3-948B-1728B52AA6E4}">
                      <adec:decorative xmlns:adec="http://schemas.microsoft.com/office/drawing/2017/decorative" val="1"/>
                    </a:ext>
                  </a:extLst>
                </p:cNvPr>
                <p:cNvSpPr/>
                <p:nvPr/>
              </p:nvSpPr>
              <p:spPr>
                <a:xfrm>
                  <a:off x="3710297" y="5337246"/>
                  <a:ext cx="96677" cy="80812"/>
                </a:xfrm>
                <a:prstGeom prst="rect">
                  <a:avLst/>
                </a:prstGeom>
                <a:solidFill>
                  <a:srgbClr val="304356"/>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ea typeface="Amazon Ember" panose="020B0603020204020204" pitchFamily="34" charset="0"/>
                    <a:cs typeface="Amazon Ember" panose="020B0603020204020204" pitchFamily="34" charset="0"/>
                  </a:endParaRPr>
                </a:p>
              </p:txBody>
            </p:sp>
            <p:cxnSp>
              <p:nvCxnSpPr>
                <p:cNvPr id="109" name="Straight Connector 108">
                  <a:extLst>
                    <a:ext uri="{FF2B5EF4-FFF2-40B4-BE49-F238E27FC236}">
                      <a16:creationId xmlns:a16="http://schemas.microsoft.com/office/drawing/2014/main" id="{6DFEF740-B6C7-044F-B67D-EABD31305BE6}"/>
                    </a:ext>
                    <a:ext uri="{C183D7F6-B498-43B3-948B-1728B52AA6E4}">
                      <adec:decorative xmlns:adec="http://schemas.microsoft.com/office/drawing/2017/decorative" val="1"/>
                    </a:ext>
                  </a:extLst>
                </p:cNvPr>
                <p:cNvCxnSpPr>
                  <a:stCxn id="110" idx="2"/>
                </p:cNvCxnSpPr>
                <p:nvPr/>
              </p:nvCxnSpPr>
              <p:spPr>
                <a:xfrm flipH="1">
                  <a:off x="3684259" y="5279383"/>
                  <a:ext cx="1006" cy="33381"/>
                </a:xfrm>
                <a:prstGeom prst="line">
                  <a:avLst/>
                </a:prstGeom>
                <a:ln w="6350">
                  <a:solidFill>
                    <a:srgbClr val="304356"/>
                  </a:solidFill>
                </a:ln>
                <a:effectLst/>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E1336F1B-92E7-0746-A514-7C37D1D585D9}"/>
                    </a:ext>
                    <a:ext uri="{C183D7F6-B498-43B3-948B-1728B52AA6E4}">
                      <adec:decorative xmlns:adec="http://schemas.microsoft.com/office/drawing/2017/decorative" val="1"/>
                    </a:ext>
                  </a:extLst>
                </p:cNvPr>
                <p:cNvCxnSpPr/>
                <p:nvPr/>
              </p:nvCxnSpPr>
              <p:spPr>
                <a:xfrm>
                  <a:off x="3600915" y="5308002"/>
                  <a:ext cx="159544" cy="0"/>
                </a:xfrm>
                <a:prstGeom prst="line">
                  <a:avLst/>
                </a:prstGeom>
                <a:ln w="6350">
                  <a:solidFill>
                    <a:srgbClr val="304356"/>
                  </a:solidFill>
                </a:ln>
                <a:effectLst/>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0F92887E-7CB3-5C4B-919A-83519AB088E8}"/>
                    </a:ext>
                    <a:ext uri="{C183D7F6-B498-43B3-948B-1728B52AA6E4}">
                      <adec:decorative xmlns:adec="http://schemas.microsoft.com/office/drawing/2017/decorative" val="1"/>
                    </a:ext>
                  </a:extLst>
                </p:cNvPr>
                <p:cNvCxnSpPr>
                  <a:stCxn id="111" idx="0"/>
                </p:cNvCxnSpPr>
                <p:nvPr/>
              </p:nvCxnSpPr>
              <p:spPr>
                <a:xfrm flipH="1" flipV="1">
                  <a:off x="3603296" y="5308002"/>
                  <a:ext cx="58" cy="29244"/>
                </a:xfrm>
                <a:prstGeom prst="line">
                  <a:avLst/>
                </a:prstGeom>
                <a:ln w="6350">
                  <a:solidFill>
                    <a:srgbClr val="304356"/>
                  </a:solidFill>
                </a:ln>
                <a:effectLst/>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6546E35F-EC5B-FE47-A66B-ED807599D79D}"/>
                    </a:ext>
                    <a:ext uri="{C183D7F6-B498-43B3-948B-1728B52AA6E4}">
                      <adec:decorative xmlns:adec="http://schemas.microsoft.com/office/drawing/2017/decorative" val="1"/>
                    </a:ext>
                  </a:extLst>
                </p:cNvPr>
                <p:cNvCxnSpPr>
                  <a:stCxn id="112" idx="0"/>
                </p:cNvCxnSpPr>
                <p:nvPr/>
              </p:nvCxnSpPr>
              <p:spPr>
                <a:xfrm flipH="1" flipV="1">
                  <a:off x="3758077" y="5308002"/>
                  <a:ext cx="559" cy="29244"/>
                </a:xfrm>
                <a:prstGeom prst="line">
                  <a:avLst/>
                </a:prstGeom>
                <a:ln w="6350">
                  <a:solidFill>
                    <a:srgbClr val="304356"/>
                  </a:solidFill>
                </a:ln>
                <a:effectLst/>
              </p:spPr>
              <p:style>
                <a:lnRef idx="2">
                  <a:schemeClr val="accent1"/>
                </a:lnRef>
                <a:fillRef idx="0">
                  <a:schemeClr val="accent1"/>
                </a:fillRef>
                <a:effectRef idx="1">
                  <a:schemeClr val="accent1"/>
                </a:effectRef>
                <a:fontRef idx="minor">
                  <a:schemeClr val="tx1"/>
                </a:fontRef>
              </p:style>
            </p:cxnSp>
          </p:grpSp>
          <p:grpSp>
            <p:nvGrpSpPr>
              <p:cNvPr id="8" name="Group 7">
                <a:extLst>
                  <a:ext uri="{FF2B5EF4-FFF2-40B4-BE49-F238E27FC236}">
                    <a16:creationId xmlns:a16="http://schemas.microsoft.com/office/drawing/2014/main" id="{548CA28B-C59B-4E58-B2D2-E589A6DA9A5B}"/>
                  </a:ext>
                </a:extLst>
              </p:cNvPr>
              <p:cNvGrpSpPr/>
              <p:nvPr/>
            </p:nvGrpSpPr>
            <p:grpSpPr>
              <a:xfrm>
                <a:off x="3358283" y="5337246"/>
                <a:ext cx="679912" cy="679912"/>
                <a:chOff x="3358283" y="5337246"/>
                <a:chExt cx="679912" cy="679912"/>
              </a:xfrm>
            </p:grpSpPr>
            <p:sp>
              <p:nvSpPr>
                <p:cNvPr id="86" name="TextBox 85">
                  <a:extLst>
                    <a:ext uri="{FF2B5EF4-FFF2-40B4-BE49-F238E27FC236}">
                      <a16:creationId xmlns:a16="http://schemas.microsoft.com/office/drawing/2014/main" id="{5A9CC442-B2AE-4DB8-B224-D4B799D66C91}"/>
                    </a:ext>
                  </a:extLst>
                </p:cNvPr>
                <p:cNvSpPr txBox="1"/>
                <p:nvPr/>
              </p:nvSpPr>
              <p:spPr>
                <a:xfrm>
                  <a:off x="3413546" y="5507925"/>
                  <a:ext cx="530915"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NAS</a:t>
                  </a:r>
                </a:p>
              </p:txBody>
            </p:sp>
            <p:pic>
              <p:nvPicPr>
                <p:cNvPr id="88" name="Graphic 87">
                  <a:extLst>
                    <a:ext uri="{FF2B5EF4-FFF2-40B4-BE49-F238E27FC236}">
                      <a16:creationId xmlns:a16="http://schemas.microsoft.com/office/drawing/2014/main" id="{DD619C65-1374-459B-BA78-1004811DCD1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3358283" y="5337246"/>
                  <a:ext cx="679912" cy="679912"/>
                </a:xfrm>
                <a:prstGeom prst="rect">
                  <a:avLst/>
                </a:prstGeom>
              </p:spPr>
            </p:pic>
          </p:grpSp>
        </p:grpSp>
      </p:grpSp>
    </p:spTree>
    <p:custDataLst>
      <p:tags r:id="rId1"/>
    </p:custDataLst>
    <p:extLst>
      <p:ext uri="{BB962C8B-B14F-4D97-AF65-F5344CB8AC3E}">
        <p14:creationId xmlns:p14="http://schemas.microsoft.com/office/powerpoint/2010/main" val="6785524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770038-1D40-9D31-7790-68F2C97F1EFA}"/>
              </a:ext>
            </a:extLst>
          </p:cNvPr>
          <p:cNvSpPr>
            <a:spLocks noGrp="1"/>
          </p:cNvSpPr>
          <p:nvPr>
            <p:ph type="sldNum" sz="quarter" idx="20"/>
          </p:nvPr>
        </p:nvSpPr>
        <p:spPr/>
        <p:txBody>
          <a:bodyPr/>
          <a:lstStyle/>
          <a:p>
            <a:fld id="{930176A1-BCF0-4712-97A6-6B495F55390B}" type="slidenum">
              <a:rPr lang="en-US" smtClean="0"/>
              <a:pPr/>
              <a:t>28</a:t>
            </a:fld>
            <a:endParaRPr lang="en-US" dirty="0"/>
          </a:p>
        </p:txBody>
      </p:sp>
      <p:sp>
        <p:nvSpPr>
          <p:cNvPr id="3" name="Title 2">
            <a:extLst>
              <a:ext uri="{FF2B5EF4-FFF2-40B4-BE49-F238E27FC236}">
                <a16:creationId xmlns:a16="http://schemas.microsoft.com/office/drawing/2014/main" id="{1C33BA10-EEF7-00DA-BF7A-DB5C9FDD7BB1}"/>
              </a:ext>
            </a:extLst>
          </p:cNvPr>
          <p:cNvSpPr>
            <a:spLocks noGrp="1"/>
          </p:cNvSpPr>
          <p:nvPr>
            <p:ph type="title"/>
          </p:nvPr>
        </p:nvSpPr>
        <p:spPr/>
        <p:txBody>
          <a:bodyPr/>
          <a:lstStyle/>
          <a:p>
            <a:r>
              <a:rPr lang="en-DE" dirty="0"/>
              <a:t>Cloud Computing Advantages</a:t>
            </a:r>
          </a:p>
        </p:txBody>
      </p:sp>
      <p:sp>
        <p:nvSpPr>
          <p:cNvPr id="5" name="Content Placeholder 19">
            <a:extLst>
              <a:ext uri="{FF2B5EF4-FFF2-40B4-BE49-F238E27FC236}">
                <a16:creationId xmlns:a16="http://schemas.microsoft.com/office/drawing/2014/main" id="{19D12950-9A33-2911-3936-2D42DB1DEF2A}"/>
              </a:ext>
            </a:extLst>
          </p:cNvPr>
          <p:cNvSpPr>
            <a:spLocks noGrp="1"/>
          </p:cNvSpPr>
          <p:nvPr>
            <p:ph sz="quarter" idx="21"/>
          </p:nvPr>
        </p:nvSpPr>
        <p:spPr>
          <a:xfrm>
            <a:off x="867410" y="4657882"/>
            <a:ext cx="4911090" cy="961868"/>
          </a:xfrm>
          <a:solidFill>
            <a:schemeClr val="bg1"/>
          </a:solidFill>
          <a:ln>
            <a:noFill/>
          </a:ln>
          <a:effectLst/>
        </p:spPr>
        <p:style>
          <a:lnRef idx="2">
            <a:schemeClr val="dk1"/>
          </a:lnRef>
          <a:fillRef idx="1">
            <a:schemeClr val="lt1"/>
          </a:fillRef>
          <a:effectRef idx="0">
            <a:schemeClr val="dk1"/>
          </a:effectRef>
          <a:fontRef idx="minor">
            <a:schemeClr val="dk1"/>
          </a:fontRef>
        </p:style>
        <p:txBody>
          <a:bodyPr vert="horz" wrap="square" lIns="91440" tIns="45720" rIns="91440" bIns="45720" rtlCol="0">
            <a:noAutofit/>
          </a:bodyPr>
          <a:lstStyle/>
          <a:p>
            <a:pPr algn="ctr">
              <a:spcAft>
                <a:spcPts val="600"/>
              </a:spcAft>
              <a:buClr>
                <a:srgbClr val="FF9900"/>
              </a:buClr>
              <a:buSzPct val="75000"/>
            </a:pPr>
            <a:r>
              <a:rPr lang="en-US" sz="2800" dirty="0">
                <a:latin typeface="Amazon Ember Light" charset="0"/>
              </a:rPr>
              <a:t>Investment in data center based on estimate</a:t>
            </a:r>
          </a:p>
        </p:txBody>
      </p:sp>
      <p:grpSp>
        <p:nvGrpSpPr>
          <p:cNvPr id="6" name="Group 5" descr="Pot filled with coins.">
            <a:extLst>
              <a:ext uri="{FF2B5EF4-FFF2-40B4-BE49-F238E27FC236}">
                <a16:creationId xmlns:a16="http://schemas.microsoft.com/office/drawing/2014/main" id="{CE53963A-B575-5C54-9AED-492B9A3B2F29}"/>
              </a:ext>
              <a:ext uri="{C183D7F6-B498-43B3-948B-1728B52AA6E4}">
                <adec:decorative xmlns:adec="http://schemas.microsoft.com/office/drawing/2017/decorative" val="0"/>
              </a:ext>
            </a:extLst>
          </p:cNvPr>
          <p:cNvGrpSpPr/>
          <p:nvPr/>
        </p:nvGrpSpPr>
        <p:grpSpPr>
          <a:xfrm>
            <a:off x="1855715" y="1662877"/>
            <a:ext cx="2827791" cy="3008062"/>
            <a:chOff x="1849364" y="1662877"/>
            <a:chExt cx="2827791" cy="3008062"/>
          </a:xfrm>
        </p:grpSpPr>
        <p:pic>
          <p:nvPicPr>
            <p:cNvPr id="7" name="Picture 6" descr="Black pot labeled Capital that is filled with gold coins.">
              <a:extLst>
                <a:ext uri="{FF2B5EF4-FFF2-40B4-BE49-F238E27FC236}">
                  <a16:creationId xmlns:a16="http://schemas.microsoft.com/office/drawing/2014/main" id="{52A1BE13-EC69-220B-9FC1-ECA50A2EFA10}"/>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1849364" y="1662877"/>
              <a:ext cx="2827791" cy="3008062"/>
            </a:xfrm>
            <a:prstGeom prst="rect">
              <a:avLst/>
            </a:prstGeom>
          </p:spPr>
        </p:pic>
        <p:sp>
          <p:nvSpPr>
            <p:cNvPr id="8" name="TextBox 7">
              <a:extLst>
                <a:ext uri="{FF2B5EF4-FFF2-40B4-BE49-F238E27FC236}">
                  <a16:creationId xmlns:a16="http://schemas.microsoft.com/office/drawing/2014/main" id="{121CAED7-FB86-4AF3-BA23-1D96BEE18C48}"/>
                </a:ext>
              </a:extLst>
            </p:cNvPr>
            <p:cNvSpPr txBox="1"/>
            <p:nvPr/>
          </p:nvSpPr>
          <p:spPr>
            <a:xfrm>
              <a:off x="2850743" y="2677641"/>
              <a:ext cx="1672574" cy="738664"/>
            </a:xfrm>
            <a:prstGeom prst="rect">
              <a:avLst/>
            </a:prstGeom>
            <a:noFill/>
          </p:spPr>
          <p:txBody>
            <a:bodyPr wrap="none" lIns="182880" tIns="146304" rIns="182880" bIns="146304" rtlCol="0">
              <a:spAutoFit/>
            </a:bodyPr>
            <a:lstStyle/>
            <a:p>
              <a:pPr>
                <a:lnSpc>
                  <a:spcPct val="90000"/>
                </a:lnSpc>
                <a:spcAft>
                  <a:spcPts val="1800"/>
                </a:spcAft>
              </a:pPr>
              <a:r>
                <a:rPr lang="en-US" sz="3200" dirty="0">
                  <a:solidFill>
                    <a:schemeClr val="bg1"/>
                  </a:solidFill>
                </a:rPr>
                <a:t>Capital</a:t>
              </a:r>
            </a:p>
          </p:txBody>
        </p:sp>
      </p:grpSp>
      <p:sp>
        <p:nvSpPr>
          <p:cNvPr id="9" name="Content Placeholder 19">
            <a:extLst>
              <a:ext uri="{FF2B5EF4-FFF2-40B4-BE49-F238E27FC236}">
                <a16:creationId xmlns:a16="http://schemas.microsoft.com/office/drawing/2014/main" id="{B3B242BC-BC16-3BEB-21A2-831D8D139F78}"/>
              </a:ext>
            </a:extLst>
          </p:cNvPr>
          <p:cNvSpPr txBox="1">
            <a:spLocks/>
          </p:cNvSpPr>
          <p:nvPr/>
        </p:nvSpPr>
        <p:spPr>
          <a:xfrm>
            <a:off x="6872806" y="4657883"/>
            <a:ext cx="4248707" cy="942369"/>
          </a:xfrm>
          <a:prstGeom prst="rect">
            <a:avLst/>
          </a:prstGeom>
          <a:solidFill>
            <a:schemeClr val="bg1"/>
          </a:solidFill>
          <a:ln>
            <a:noFill/>
          </a:ln>
          <a:effectLst/>
        </p:spPr>
        <p:style>
          <a:lnRef idx="2">
            <a:schemeClr val="dk1"/>
          </a:lnRef>
          <a:fillRef idx="1">
            <a:schemeClr val="lt1"/>
          </a:fillRef>
          <a:effectRef idx="0">
            <a:schemeClr val="dk1"/>
          </a:effectRef>
          <a:fontRef idx="minor">
            <a:schemeClr val="dk1"/>
          </a:fontRef>
        </p:style>
        <p:txBody>
          <a:bodyPr vert="horz" wrap="square" lIns="91440" tIns="45720" rIns="91440" bIns="45720" rtlCol="0">
            <a:noAutofit/>
          </a:bodyPr>
          <a:lstStyle>
            <a:lvl1pPr marR="0" indent="0" algn="ctr" defTabSz="914400" fontAlgn="auto">
              <a:lnSpc>
                <a:spcPct val="90000"/>
              </a:lnSpc>
              <a:spcBef>
                <a:spcPts val="1000"/>
              </a:spcBef>
              <a:spcAft>
                <a:spcPts val="600"/>
              </a:spcAft>
              <a:buClr>
                <a:srgbClr val="FF9900"/>
              </a:buClr>
              <a:buSzPct val="75000"/>
              <a:buFont typeface="Wingdings" panose="05000000000000000000" pitchFamily="2" charset="2"/>
              <a:buNone/>
              <a:tabLst/>
              <a:defRPr sz="2800" b="0" spc="0" baseline="0">
                <a:solidFill>
                  <a:schemeClr val="tx1"/>
                </a:solidFill>
                <a:latin typeface="Amazon Ember Light" charset="0"/>
                <a:ea typeface="Amazon Ember Light" charset="0"/>
                <a:cs typeface="Amazon Ember Light" charset="0"/>
              </a:defRPr>
            </a:lvl1pPr>
            <a:lvl2pPr marL="336143" marR="0" indent="0" defTabSz="914362" fontAlgn="auto">
              <a:lnSpc>
                <a:spcPct val="90000"/>
              </a:lnSpc>
              <a:spcBef>
                <a:spcPts val="500"/>
              </a:spcBef>
              <a:spcAft>
                <a:spcPts val="0"/>
              </a:spcAft>
              <a:buClrTx/>
              <a:buSzPct val="90000"/>
              <a:buFont typeface="Arial" pitchFamily="34" charset="0"/>
              <a:buNone/>
              <a:tabLst/>
              <a:defRPr sz="2000" spc="0" baseline="0"/>
            </a:lvl2pPr>
            <a:lvl3pPr marL="560238" marR="0" indent="0" defTabSz="914362" fontAlgn="auto">
              <a:lnSpc>
                <a:spcPct val="90000"/>
              </a:lnSpc>
              <a:spcBef>
                <a:spcPts val="500"/>
              </a:spcBef>
              <a:spcAft>
                <a:spcPts val="0"/>
              </a:spcAft>
              <a:buClrTx/>
              <a:buSzPct val="90000"/>
              <a:buFont typeface="Arial" pitchFamily="34" charset="0"/>
              <a:buNone/>
              <a:tabLst/>
              <a:defRPr sz="2000" spc="0" baseline="0"/>
            </a:lvl3pPr>
            <a:lvl4pPr marL="784334" marR="0" indent="0" defTabSz="914362" fontAlgn="auto">
              <a:lnSpc>
                <a:spcPct val="90000"/>
              </a:lnSpc>
              <a:spcBef>
                <a:spcPts val="500"/>
              </a:spcBef>
              <a:spcAft>
                <a:spcPts val="0"/>
              </a:spcAft>
              <a:buClrTx/>
              <a:buSzPct val="90000"/>
              <a:buFont typeface="Arial" pitchFamily="34" charset="0"/>
              <a:buNone/>
              <a:tabLst/>
              <a:defRPr sz="1667" spc="0" baseline="0"/>
            </a:lvl4pPr>
            <a:lvl5pPr marL="1008429" marR="0" indent="0" defTabSz="914362" fontAlgn="auto">
              <a:lnSpc>
                <a:spcPct val="90000"/>
              </a:lnSpc>
              <a:spcBef>
                <a:spcPts val="500"/>
              </a:spcBef>
              <a:spcAft>
                <a:spcPts val="0"/>
              </a:spcAft>
              <a:buClrTx/>
              <a:buSzPct val="90000"/>
              <a:buFont typeface="Arial" pitchFamily="34" charset="0"/>
              <a:buNone/>
              <a:tabLst/>
              <a:defRPr sz="1667" spc="0" baseline="0"/>
            </a:lvl5pPr>
            <a:lvl6pPr marL="2514494" indent="-228591" defTabSz="914362">
              <a:spcBef>
                <a:spcPct val="20000"/>
              </a:spcBef>
              <a:buFont typeface="Arial" pitchFamily="34" charset="0"/>
              <a:buChar char="•"/>
              <a:defRPr sz="1961"/>
            </a:lvl6pPr>
            <a:lvl7pPr marL="2971675" indent="-228591" defTabSz="914362">
              <a:spcBef>
                <a:spcPct val="20000"/>
              </a:spcBef>
              <a:buFont typeface="Arial" pitchFamily="34" charset="0"/>
              <a:buChar char="•"/>
              <a:defRPr sz="1961"/>
            </a:lvl7pPr>
            <a:lvl8pPr marL="3428856" indent="-228591" defTabSz="914362">
              <a:spcBef>
                <a:spcPct val="20000"/>
              </a:spcBef>
              <a:buFont typeface="Arial" pitchFamily="34" charset="0"/>
              <a:buChar char="•"/>
              <a:defRPr sz="1961"/>
            </a:lvl8pPr>
            <a:lvl9pPr marL="3886038" indent="-228591" defTabSz="914362">
              <a:spcBef>
                <a:spcPct val="20000"/>
              </a:spcBef>
              <a:buFont typeface="Arial" pitchFamily="34" charset="0"/>
              <a:buChar char="•"/>
              <a:defRPr sz="1961"/>
            </a:lvl9pPr>
          </a:lstStyle>
          <a:p>
            <a:r>
              <a:rPr lang="en-US" dirty="0"/>
              <a:t>Pay only what you consume</a:t>
            </a:r>
          </a:p>
        </p:txBody>
      </p:sp>
      <p:pic>
        <p:nvPicPr>
          <p:cNvPr id="10" name="Picture 9" descr="Stop watch.">
            <a:extLst>
              <a:ext uri="{FF2B5EF4-FFF2-40B4-BE49-F238E27FC236}">
                <a16:creationId xmlns:a16="http://schemas.microsoft.com/office/drawing/2014/main" id="{6B308B21-4BBF-E0B9-E203-9DD625DFFB45}"/>
              </a:ext>
            </a:extLst>
          </p:cNvPr>
          <p:cNvPicPr>
            <a:picLocks noChangeAspect="1"/>
          </p:cNvPicPr>
          <p:nvPr/>
        </p:nvPicPr>
        <p:blipFill>
          <a:blip r:embed="rId3"/>
          <a:stretch>
            <a:fillRect/>
          </a:stretch>
        </p:blipFill>
        <p:spPr>
          <a:xfrm>
            <a:off x="7731956" y="1713846"/>
            <a:ext cx="2318279" cy="2787729"/>
          </a:xfrm>
          <a:prstGeom prst="rect">
            <a:avLst/>
          </a:prstGeom>
        </p:spPr>
      </p:pic>
    </p:spTree>
    <p:extLst>
      <p:ext uri="{BB962C8B-B14F-4D97-AF65-F5344CB8AC3E}">
        <p14:creationId xmlns:p14="http://schemas.microsoft.com/office/powerpoint/2010/main" val="28382686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770038-1D40-9D31-7790-68F2C97F1EFA}"/>
              </a:ext>
            </a:extLst>
          </p:cNvPr>
          <p:cNvSpPr>
            <a:spLocks noGrp="1"/>
          </p:cNvSpPr>
          <p:nvPr>
            <p:ph type="sldNum" sz="quarter" idx="20"/>
          </p:nvPr>
        </p:nvSpPr>
        <p:spPr/>
        <p:txBody>
          <a:bodyPr/>
          <a:lstStyle/>
          <a:p>
            <a:fld id="{930176A1-BCF0-4712-97A6-6B495F55390B}" type="slidenum">
              <a:rPr lang="en-US" smtClean="0"/>
              <a:pPr/>
              <a:t>29</a:t>
            </a:fld>
            <a:endParaRPr lang="en-US" dirty="0"/>
          </a:p>
        </p:txBody>
      </p:sp>
      <p:sp>
        <p:nvSpPr>
          <p:cNvPr id="3" name="Title 2">
            <a:extLst>
              <a:ext uri="{FF2B5EF4-FFF2-40B4-BE49-F238E27FC236}">
                <a16:creationId xmlns:a16="http://schemas.microsoft.com/office/drawing/2014/main" id="{1C33BA10-EEF7-00DA-BF7A-DB5C9FDD7BB1}"/>
              </a:ext>
            </a:extLst>
          </p:cNvPr>
          <p:cNvSpPr>
            <a:spLocks noGrp="1"/>
          </p:cNvSpPr>
          <p:nvPr>
            <p:ph type="title"/>
          </p:nvPr>
        </p:nvSpPr>
        <p:spPr/>
        <p:txBody>
          <a:bodyPr/>
          <a:lstStyle/>
          <a:p>
            <a:r>
              <a:rPr lang="en-DE" dirty="0"/>
              <a:t>Cloud Computing Advantages</a:t>
            </a:r>
          </a:p>
        </p:txBody>
      </p:sp>
      <p:sp>
        <p:nvSpPr>
          <p:cNvPr id="11" name="Content Placeholder 19">
            <a:extLst>
              <a:ext uri="{FF2B5EF4-FFF2-40B4-BE49-F238E27FC236}">
                <a16:creationId xmlns:a16="http://schemas.microsoft.com/office/drawing/2014/main" id="{63899C27-241E-174A-8DB9-F793264048F9}"/>
              </a:ext>
            </a:extLst>
          </p:cNvPr>
          <p:cNvSpPr txBox="1">
            <a:spLocks/>
          </p:cNvSpPr>
          <p:nvPr/>
        </p:nvSpPr>
        <p:spPr bwMode="auto">
          <a:xfrm>
            <a:off x="259354" y="4565483"/>
            <a:ext cx="3696867" cy="1140589"/>
          </a:xfrm>
          <a:prstGeom prst="rect">
            <a:avLst/>
          </a:prstGeom>
          <a:solidFill>
            <a:schemeClr val="bg1"/>
          </a:solidFill>
          <a:ln w="25400" cap="flat" cmpd="sng" algn="ctr">
            <a:noFill/>
            <a:prstDash val="solid"/>
          </a:ln>
          <a:extLst>
            <a:ext uri="{91240B29-F687-4F45-9708-019B960494DF}">
              <a14:hiddenLine xmlns:a14="http://schemas.microsoft.com/office/drawing/2010/main" w="9525">
                <a:solidFill>
                  <a:srgbClr val="000000"/>
                </a:solidFill>
                <a:miter lim="800000"/>
                <a:headEnd/>
                <a:tailEnd/>
              </a14:hiddenLine>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normAutofit/>
          </a:bodyPr>
          <a:lstStyle>
            <a:lvl1pPr marL="179388" indent="-179388" algn="l" rtl="0" eaLnBrk="0" fontAlgn="base" hangingPunct="0">
              <a:lnSpc>
                <a:spcPct val="110000"/>
              </a:lnSpc>
              <a:spcBef>
                <a:spcPct val="0"/>
              </a:spcBef>
              <a:spcAft>
                <a:spcPts val="900"/>
              </a:spcAft>
              <a:buClr>
                <a:srgbClr val="6F6F6F"/>
              </a:buClr>
              <a:buFont typeface="Arial" charset="0"/>
              <a:buChar char="•"/>
              <a:defRPr sz="2000" kern="1200">
                <a:solidFill>
                  <a:schemeClr val="dk1"/>
                </a:solidFill>
                <a:latin typeface="+mn-lt"/>
                <a:ea typeface="+mn-ea"/>
                <a:cs typeface="+mn-cs"/>
              </a:defRPr>
            </a:lvl1pPr>
            <a:lvl2pPr marL="358775" indent="-179388" algn="l" rtl="0" eaLnBrk="0" fontAlgn="base" hangingPunct="0">
              <a:lnSpc>
                <a:spcPct val="110000"/>
              </a:lnSpc>
              <a:spcBef>
                <a:spcPct val="0"/>
              </a:spcBef>
              <a:spcAft>
                <a:spcPts val="900"/>
              </a:spcAft>
              <a:buClr>
                <a:srgbClr val="6F6F6F"/>
              </a:buClr>
              <a:buFont typeface="Arial" charset="0"/>
              <a:buChar char="•"/>
              <a:defRPr sz="1600" kern="1200">
                <a:solidFill>
                  <a:schemeClr val="dk1"/>
                </a:solidFill>
                <a:latin typeface="+mn-lt"/>
                <a:ea typeface="+mn-ea"/>
                <a:cs typeface="+mn-cs"/>
              </a:defRPr>
            </a:lvl2pPr>
            <a:lvl3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dk1"/>
                </a:solidFill>
                <a:latin typeface="+mn-lt"/>
                <a:ea typeface="+mn-ea"/>
                <a:cs typeface="+mn-cs"/>
              </a:defRPr>
            </a:lvl3pPr>
            <a:lvl4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dk1"/>
                </a:solidFill>
                <a:latin typeface="+mn-lt"/>
                <a:ea typeface="+mn-ea"/>
                <a:cs typeface="+mn-cs"/>
              </a:defRPr>
            </a:lvl4pPr>
            <a:lvl5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a:spcAft>
                <a:spcPts val="600"/>
              </a:spcAft>
              <a:buClr>
                <a:srgbClr val="FF9900"/>
              </a:buClr>
              <a:buSzPct val="75000"/>
              <a:buNone/>
            </a:pP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Overestimated </a:t>
            </a:r>
            <a:b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server capacity</a:t>
            </a: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12" name="Group 11" descr="Illustration of idle servers because of overestimated capacity.">
            <a:extLst>
              <a:ext uri="{FF2B5EF4-FFF2-40B4-BE49-F238E27FC236}">
                <a16:creationId xmlns:a16="http://schemas.microsoft.com/office/drawing/2014/main" id="{1A9BB109-9D00-D231-5609-07A651D51CD5}"/>
              </a:ext>
            </a:extLst>
          </p:cNvPr>
          <p:cNvGrpSpPr/>
          <p:nvPr/>
        </p:nvGrpSpPr>
        <p:grpSpPr>
          <a:xfrm>
            <a:off x="446297" y="2370922"/>
            <a:ext cx="3172317" cy="2194560"/>
            <a:chOff x="439946" y="2370922"/>
            <a:chExt cx="3172317" cy="2194560"/>
          </a:xfrm>
        </p:grpSpPr>
        <p:pic>
          <p:nvPicPr>
            <p:cNvPr id="13" name="Picture 12" descr="Thermometer showing a cold temperature.">
              <a:extLst>
                <a:ext uri="{FF2B5EF4-FFF2-40B4-BE49-F238E27FC236}">
                  <a16:creationId xmlns:a16="http://schemas.microsoft.com/office/drawing/2014/main" id="{506DB585-D32D-201C-A405-60FACE1E0CAF}"/>
                </a:ext>
              </a:extLst>
            </p:cNvPr>
            <p:cNvPicPr>
              <a:picLocks noChangeAspect="1"/>
            </p:cNvPicPr>
            <p:nvPr/>
          </p:nvPicPr>
          <p:blipFill>
            <a:blip r:embed="rId2"/>
            <a:stretch>
              <a:fillRect/>
            </a:stretch>
          </p:blipFill>
          <p:spPr>
            <a:xfrm>
              <a:off x="830370" y="2370922"/>
              <a:ext cx="2781893" cy="2194560"/>
            </a:xfrm>
            <a:prstGeom prst="rect">
              <a:avLst/>
            </a:prstGeom>
          </p:spPr>
        </p:pic>
        <p:pic>
          <p:nvPicPr>
            <p:cNvPr id="14" name="Picture 13" descr="Thermometer showing a cold temperature.">
              <a:extLst>
                <a:ext uri="{FF2B5EF4-FFF2-40B4-BE49-F238E27FC236}">
                  <a16:creationId xmlns:a16="http://schemas.microsoft.com/office/drawing/2014/main" id="{BC93CF52-4949-E33C-6564-56EC5EF9548D}"/>
                </a:ext>
              </a:extLst>
            </p:cNvPr>
            <p:cNvPicPr>
              <a:picLocks noChangeAspect="1"/>
            </p:cNvPicPr>
            <p:nvPr/>
          </p:nvPicPr>
          <p:blipFill>
            <a:blip r:embed="rId3"/>
            <a:stretch>
              <a:fillRect/>
            </a:stretch>
          </p:blipFill>
          <p:spPr>
            <a:xfrm>
              <a:off x="439946" y="2684354"/>
              <a:ext cx="1567696" cy="1567696"/>
            </a:xfrm>
            <a:prstGeom prst="rect">
              <a:avLst/>
            </a:prstGeom>
          </p:spPr>
        </p:pic>
      </p:grpSp>
      <p:sp>
        <p:nvSpPr>
          <p:cNvPr id="15" name="Content Placeholder 19">
            <a:extLst>
              <a:ext uri="{FF2B5EF4-FFF2-40B4-BE49-F238E27FC236}">
                <a16:creationId xmlns:a16="http://schemas.microsoft.com/office/drawing/2014/main" id="{AAC94479-736E-2989-E060-15063DC09814}"/>
              </a:ext>
            </a:extLst>
          </p:cNvPr>
          <p:cNvSpPr txBox="1">
            <a:spLocks/>
          </p:cNvSpPr>
          <p:nvPr/>
        </p:nvSpPr>
        <p:spPr>
          <a:xfrm>
            <a:off x="3956221" y="4565483"/>
            <a:ext cx="2915275" cy="942369"/>
          </a:xfrm>
          <a:prstGeom prst="rect">
            <a:avLst/>
          </a:prstGeom>
          <a:solidFill>
            <a:schemeClr val="bg1"/>
          </a:solidFill>
          <a:ln>
            <a:noFill/>
          </a:ln>
          <a:effectLst/>
        </p:spPr>
        <p:style>
          <a:lnRef idx="2">
            <a:schemeClr val="dk1"/>
          </a:lnRef>
          <a:fillRef idx="1">
            <a:schemeClr val="lt1"/>
          </a:fillRef>
          <a:effectRef idx="0">
            <a:schemeClr val="dk1"/>
          </a:effectRef>
          <a:fontRef idx="minor">
            <a:schemeClr val="dk1"/>
          </a:fontRef>
        </p:style>
        <p:txBody>
          <a:bodyPr vert="horz" wrap="square" lIns="91440" tIns="45720" rIns="91440" bIns="45720" rtlCol="0">
            <a:normAutofit/>
          </a:bodyPr>
          <a:lstStyle>
            <a:lvl1pPr marR="0" indent="0" algn="ctr" defTabSz="914400" fontAlgn="auto">
              <a:lnSpc>
                <a:spcPct val="90000"/>
              </a:lnSpc>
              <a:spcBef>
                <a:spcPts val="1000"/>
              </a:spcBef>
              <a:spcAft>
                <a:spcPts val="600"/>
              </a:spcAft>
              <a:buClr>
                <a:srgbClr val="FF9900"/>
              </a:buClr>
              <a:buSzPct val="75000"/>
              <a:buFont typeface="Wingdings" panose="05000000000000000000" pitchFamily="2" charset="2"/>
              <a:buNone/>
              <a:tabLst/>
              <a:defRPr sz="2800" b="0" spc="0" baseline="0">
                <a:solidFill>
                  <a:schemeClr val="tx1"/>
                </a:solidFill>
                <a:latin typeface="Amazon Ember Light" charset="0"/>
                <a:ea typeface="Amazon Ember Light" charset="0"/>
                <a:cs typeface="Amazon Ember Light" charset="0"/>
              </a:defRPr>
            </a:lvl1pPr>
            <a:lvl2pPr marL="336143" marR="0" indent="0" defTabSz="914362" fontAlgn="auto">
              <a:lnSpc>
                <a:spcPct val="90000"/>
              </a:lnSpc>
              <a:spcBef>
                <a:spcPts val="500"/>
              </a:spcBef>
              <a:spcAft>
                <a:spcPts val="0"/>
              </a:spcAft>
              <a:buClrTx/>
              <a:buSzPct val="90000"/>
              <a:buFont typeface="Arial" pitchFamily="34" charset="0"/>
              <a:buNone/>
              <a:tabLst/>
              <a:defRPr sz="2000" spc="0" baseline="0"/>
            </a:lvl2pPr>
            <a:lvl3pPr marL="560238" marR="0" indent="0" defTabSz="914362" fontAlgn="auto">
              <a:lnSpc>
                <a:spcPct val="90000"/>
              </a:lnSpc>
              <a:spcBef>
                <a:spcPts val="500"/>
              </a:spcBef>
              <a:spcAft>
                <a:spcPts val="0"/>
              </a:spcAft>
              <a:buClrTx/>
              <a:buSzPct val="90000"/>
              <a:buFont typeface="Arial" pitchFamily="34" charset="0"/>
              <a:buNone/>
              <a:tabLst/>
              <a:defRPr sz="2000" spc="0" baseline="0"/>
            </a:lvl3pPr>
            <a:lvl4pPr marL="784334" marR="0" indent="0" defTabSz="914362" fontAlgn="auto">
              <a:lnSpc>
                <a:spcPct val="90000"/>
              </a:lnSpc>
              <a:spcBef>
                <a:spcPts val="500"/>
              </a:spcBef>
              <a:spcAft>
                <a:spcPts val="0"/>
              </a:spcAft>
              <a:buClrTx/>
              <a:buSzPct val="90000"/>
              <a:buFont typeface="Arial" pitchFamily="34" charset="0"/>
              <a:buNone/>
              <a:tabLst/>
              <a:defRPr sz="1667" spc="0" baseline="0"/>
            </a:lvl4pPr>
            <a:lvl5pPr marL="1008429" marR="0" indent="0" defTabSz="914362" fontAlgn="auto">
              <a:lnSpc>
                <a:spcPct val="90000"/>
              </a:lnSpc>
              <a:spcBef>
                <a:spcPts val="500"/>
              </a:spcBef>
              <a:spcAft>
                <a:spcPts val="0"/>
              </a:spcAft>
              <a:buClrTx/>
              <a:buSzPct val="90000"/>
              <a:buFont typeface="Arial" pitchFamily="34" charset="0"/>
              <a:buNone/>
              <a:tabLst/>
              <a:defRPr sz="1667" spc="0" baseline="0"/>
            </a:lvl5pPr>
            <a:lvl6pPr marL="2514494" indent="-228591" defTabSz="914362">
              <a:spcBef>
                <a:spcPct val="20000"/>
              </a:spcBef>
              <a:buFont typeface="Arial" pitchFamily="34" charset="0"/>
              <a:buChar char="•"/>
              <a:defRPr sz="1961"/>
            </a:lvl6pPr>
            <a:lvl7pPr marL="2971675" indent="-228591" defTabSz="914362">
              <a:spcBef>
                <a:spcPct val="20000"/>
              </a:spcBef>
              <a:buFont typeface="Arial" pitchFamily="34" charset="0"/>
              <a:buChar char="•"/>
              <a:defRPr sz="1961"/>
            </a:lvl7pPr>
            <a:lvl8pPr marL="3428856" indent="-228591" defTabSz="914362">
              <a:spcBef>
                <a:spcPct val="20000"/>
              </a:spcBef>
              <a:buFont typeface="Arial" pitchFamily="34" charset="0"/>
              <a:buChar char="•"/>
              <a:defRPr sz="1961"/>
            </a:lvl8pPr>
            <a:lvl9pPr marL="3886038" indent="-228591" defTabSz="914362">
              <a:spcBef>
                <a:spcPct val="20000"/>
              </a:spcBef>
              <a:buFont typeface="Arial" pitchFamily="34" charset="0"/>
              <a:buChar char="•"/>
              <a:defRPr sz="1961"/>
            </a:lvl9pPr>
          </a:lstStyle>
          <a:p>
            <a:r>
              <a:rPr lang="en-US" dirty="0">
                <a:latin typeface="Amazon Ember" panose="020B0603020204020204" pitchFamily="34" charset="0"/>
                <a:ea typeface="Amazon Ember" panose="020B0603020204020204" pitchFamily="34" charset="0"/>
                <a:cs typeface="Amazon Ember" panose="020B0603020204020204" pitchFamily="34" charset="0"/>
              </a:rPr>
              <a:t>Underestimated </a:t>
            </a:r>
            <a:br>
              <a:rPr lang="en-US" dirty="0">
                <a:latin typeface="Amazon Ember" panose="020B0603020204020204" pitchFamily="34" charset="0"/>
                <a:ea typeface="Amazon Ember" panose="020B0603020204020204" pitchFamily="34" charset="0"/>
                <a:cs typeface="Amazon Ember" panose="020B0603020204020204" pitchFamily="34" charset="0"/>
              </a:rPr>
            </a:br>
            <a:r>
              <a:rPr lang="en-US" dirty="0">
                <a:latin typeface="Amazon Ember" panose="020B0603020204020204" pitchFamily="34" charset="0"/>
                <a:ea typeface="Amazon Ember" panose="020B0603020204020204" pitchFamily="34" charset="0"/>
                <a:cs typeface="Amazon Ember" panose="020B0603020204020204" pitchFamily="34" charset="0"/>
              </a:rPr>
              <a:t>server capacity</a:t>
            </a:r>
          </a:p>
        </p:txBody>
      </p:sp>
      <p:pic>
        <p:nvPicPr>
          <p:cNvPr id="16" name="Picture 15" descr="Illustration of hot servers and a thermometer showing a hot temperature.">
            <a:extLst>
              <a:ext uri="{FF2B5EF4-FFF2-40B4-BE49-F238E27FC236}">
                <a16:creationId xmlns:a16="http://schemas.microsoft.com/office/drawing/2014/main" id="{C5CB43D1-1FC9-F3CE-1608-38B284B85C9B}"/>
              </a:ext>
            </a:extLst>
          </p:cNvPr>
          <p:cNvPicPr>
            <a:picLocks noChangeAspect="1"/>
          </p:cNvPicPr>
          <p:nvPr/>
        </p:nvPicPr>
        <p:blipFill>
          <a:blip r:embed="rId4"/>
          <a:stretch>
            <a:fillRect/>
          </a:stretch>
        </p:blipFill>
        <p:spPr>
          <a:xfrm>
            <a:off x="4068977" y="1698152"/>
            <a:ext cx="2802518" cy="2910462"/>
          </a:xfrm>
          <a:prstGeom prst="rect">
            <a:avLst/>
          </a:prstGeom>
        </p:spPr>
      </p:pic>
      <p:sp>
        <p:nvSpPr>
          <p:cNvPr id="17" name="Content Placeholder 19">
            <a:extLst>
              <a:ext uri="{FF2B5EF4-FFF2-40B4-BE49-F238E27FC236}">
                <a16:creationId xmlns:a16="http://schemas.microsoft.com/office/drawing/2014/main" id="{EEFF5674-8F89-4B1E-1CE1-A51E7E024240}"/>
              </a:ext>
            </a:extLst>
          </p:cNvPr>
          <p:cNvSpPr txBox="1">
            <a:spLocks/>
          </p:cNvSpPr>
          <p:nvPr/>
        </p:nvSpPr>
        <p:spPr>
          <a:xfrm>
            <a:off x="8096643" y="4565483"/>
            <a:ext cx="2915275" cy="942369"/>
          </a:xfrm>
          <a:prstGeom prst="rect">
            <a:avLst/>
          </a:prstGeom>
          <a:solidFill>
            <a:schemeClr val="bg1"/>
          </a:solidFill>
          <a:ln>
            <a:noFill/>
          </a:ln>
          <a:effectLst/>
        </p:spPr>
        <p:style>
          <a:lnRef idx="2">
            <a:schemeClr val="dk1"/>
          </a:lnRef>
          <a:fillRef idx="1">
            <a:schemeClr val="lt1"/>
          </a:fillRef>
          <a:effectRef idx="0">
            <a:schemeClr val="dk1"/>
          </a:effectRef>
          <a:fontRef idx="minor">
            <a:schemeClr val="dk1"/>
          </a:fontRef>
        </p:style>
        <p:txBody>
          <a:bodyPr vert="horz" wrap="square" lIns="91440" tIns="45720" rIns="91440" bIns="45720" rtlCol="0">
            <a:normAutofit/>
          </a:bodyPr>
          <a:lstStyle>
            <a:lvl1pPr marR="0" indent="0" algn="ctr" defTabSz="914400" fontAlgn="auto">
              <a:lnSpc>
                <a:spcPct val="90000"/>
              </a:lnSpc>
              <a:spcBef>
                <a:spcPts val="1000"/>
              </a:spcBef>
              <a:spcAft>
                <a:spcPts val="600"/>
              </a:spcAft>
              <a:buClr>
                <a:srgbClr val="FF9900"/>
              </a:buClr>
              <a:buSzPct val="75000"/>
              <a:buFont typeface="Wingdings" panose="05000000000000000000" pitchFamily="2" charset="2"/>
              <a:buNone/>
              <a:tabLst/>
              <a:defRPr sz="2800" b="0" spc="0" baseline="0">
                <a:solidFill>
                  <a:schemeClr val="tx1"/>
                </a:solidFill>
                <a:latin typeface="Amazon Ember Light" charset="0"/>
                <a:ea typeface="Amazon Ember Light" charset="0"/>
                <a:cs typeface="Amazon Ember Light" charset="0"/>
              </a:defRPr>
            </a:lvl1pPr>
            <a:lvl2pPr marL="336143" marR="0" indent="0" defTabSz="914362" fontAlgn="auto">
              <a:lnSpc>
                <a:spcPct val="90000"/>
              </a:lnSpc>
              <a:spcBef>
                <a:spcPts val="500"/>
              </a:spcBef>
              <a:spcAft>
                <a:spcPts val="0"/>
              </a:spcAft>
              <a:buClrTx/>
              <a:buSzPct val="90000"/>
              <a:buFont typeface="Arial" pitchFamily="34" charset="0"/>
              <a:buNone/>
              <a:tabLst/>
              <a:defRPr sz="2000" spc="0" baseline="0"/>
            </a:lvl2pPr>
            <a:lvl3pPr marL="560238" marR="0" indent="0" defTabSz="914362" fontAlgn="auto">
              <a:lnSpc>
                <a:spcPct val="90000"/>
              </a:lnSpc>
              <a:spcBef>
                <a:spcPts val="500"/>
              </a:spcBef>
              <a:spcAft>
                <a:spcPts val="0"/>
              </a:spcAft>
              <a:buClrTx/>
              <a:buSzPct val="90000"/>
              <a:buFont typeface="Arial" pitchFamily="34" charset="0"/>
              <a:buNone/>
              <a:tabLst/>
              <a:defRPr sz="2000" spc="0" baseline="0"/>
            </a:lvl3pPr>
            <a:lvl4pPr marL="784334" marR="0" indent="0" defTabSz="914362" fontAlgn="auto">
              <a:lnSpc>
                <a:spcPct val="90000"/>
              </a:lnSpc>
              <a:spcBef>
                <a:spcPts val="500"/>
              </a:spcBef>
              <a:spcAft>
                <a:spcPts val="0"/>
              </a:spcAft>
              <a:buClrTx/>
              <a:buSzPct val="90000"/>
              <a:buFont typeface="Arial" pitchFamily="34" charset="0"/>
              <a:buNone/>
              <a:tabLst/>
              <a:defRPr sz="1667" spc="0" baseline="0"/>
            </a:lvl4pPr>
            <a:lvl5pPr marL="1008429" marR="0" indent="0" defTabSz="914362" fontAlgn="auto">
              <a:lnSpc>
                <a:spcPct val="90000"/>
              </a:lnSpc>
              <a:spcBef>
                <a:spcPts val="500"/>
              </a:spcBef>
              <a:spcAft>
                <a:spcPts val="0"/>
              </a:spcAft>
              <a:buClrTx/>
              <a:buSzPct val="90000"/>
              <a:buFont typeface="Arial" pitchFamily="34" charset="0"/>
              <a:buNone/>
              <a:tabLst/>
              <a:defRPr sz="1667" spc="0" baseline="0"/>
            </a:lvl5pPr>
            <a:lvl6pPr marL="2514494" indent="-228591" defTabSz="914362">
              <a:spcBef>
                <a:spcPct val="20000"/>
              </a:spcBef>
              <a:buFont typeface="Arial" pitchFamily="34" charset="0"/>
              <a:buChar char="•"/>
              <a:defRPr sz="1961"/>
            </a:lvl6pPr>
            <a:lvl7pPr marL="2971675" indent="-228591" defTabSz="914362">
              <a:spcBef>
                <a:spcPct val="20000"/>
              </a:spcBef>
              <a:buFont typeface="Arial" pitchFamily="34" charset="0"/>
              <a:buChar char="•"/>
              <a:defRPr sz="1961"/>
            </a:lvl7pPr>
            <a:lvl8pPr marL="3428856" indent="-228591" defTabSz="914362">
              <a:spcBef>
                <a:spcPct val="20000"/>
              </a:spcBef>
              <a:buFont typeface="Arial" pitchFamily="34" charset="0"/>
              <a:buChar char="•"/>
              <a:defRPr sz="1961"/>
            </a:lvl8pPr>
            <a:lvl9pPr marL="3886038" indent="-228591" defTabSz="914362">
              <a:spcBef>
                <a:spcPct val="20000"/>
              </a:spcBef>
              <a:buFont typeface="Arial" pitchFamily="34" charset="0"/>
              <a:buChar char="•"/>
              <a:defRPr sz="1961"/>
            </a:lvl9pPr>
          </a:lstStyle>
          <a:p>
            <a:r>
              <a:rPr lang="en-US" dirty="0">
                <a:latin typeface="Amazon Ember" panose="020B0603020204020204" pitchFamily="34" charset="0"/>
                <a:ea typeface="Amazon Ember" panose="020B0603020204020204" pitchFamily="34" charset="0"/>
                <a:cs typeface="Amazon Ember" panose="020B0603020204020204" pitchFamily="34" charset="0"/>
              </a:rPr>
              <a:t>Scaling on demand</a:t>
            </a:r>
          </a:p>
        </p:txBody>
      </p:sp>
      <p:grpSp>
        <p:nvGrpSpPr>
          <p:cNvPr id="18" name="Group 17" descr="Instances running over time tracks with application demand over time.">
            <a:extLst>
              <a:ext uri="{FF2B5EF4-FFF2-40B4-BE49-F238E27FC236}">
                <a16:creationId xmlns:a16="http://schemas.microsoft.com/office/drawing/2014/main" id="{F90B164A-6CF6-0E28-D38B-6E5C6DAE9FC4}"/>
              </a:ext>
            </a:extLst>
          </p:cNvPr>
          <p:cNvGrpSpPr/>
          <p:nvPr/>
        </p:nvGrpSpPr>
        <p:grpSpPr>
          <a:xfrm>
            <a:off x="7846164" y="2105400"/>
            <a:ext cx="3418390" cy="2423767"/>
            <a:chOff x="7839814" y="1781549"/>
            <a:chExt cx="3418390" cy="2423767"/>
          </a:xfrm>
        </p:grpSpPr>
        <p:pic>
          <p:nvPicPr>
            <p:cNvPr id="19" name="Picture 18" descr="Plot showing that the number of instances running over time tracks with application demand.">
              <a:extLst>
                <a:ext uri="{FF2B5EF4-FFF2-40B4-BE49-F238E27FC236}">
                  <a16:creationId xmlns:a16="http://schemas.microsoft.com/office/drawing/2014/main" id="{16506F4E-4249-E7E9-A21B-B21CE2DCF023}"/>
                </a:ext>
              </a:extLst>
            </p:cNvPr>
            <p:cNvPicPr>
              <a:picLocks noChangeAspect="1"/>
            </p:cNvPicPr>
            <p:nvPr/>
          </p:nvPicPr>
          <p:blipFill rotWithShape="1">
            <a:blip r:embed="rId5">
              <a:extLst>
                <a:ext uri="{28A0092B-C50C-407E-A947-70E740481C1C}">
                  <a14:useLocalDpi xmlns:a14="http://schemas.microsoft.com/office/drawing/2010/main" val="0"/>
                </a:ext>
              </a:extLst>
            </a:blip>
            <a:srcRect b="8460"/>
            <a:stretch/>
          </p:blipFill>
          <p:spPr>
            <a:xfrm>
              <a:off x="7839814" y="2011017"/>
              <a:ext cx="3265990" cy="2194299"/>
            </a:xfrm>
            <a:prstGeom prst="rect">
              <a:avLst/>
            </a:prstGeom>
          </p:spPr>
        </p:pic>
        <p:pic>
          <p:nvPicPr>
            <p:cNvPr id="20" name="Picture 19" descr="Chart showing that instances running over time tracks with application demand over time.">
              <a:extLst>
                <a:ext uri="{FF2B5EF4-FFF2-40B4-BE49-F238E27FC236}">
                  <a16:creationId xmlns:a16="http://schemas.microsoft.com/office/drawing/2014/main" id="{0C2B17AD-574E-2559-B94A-13FB68D2762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80462" y="1781549"/>
              <a:ext cx="3177742" cy="2376758"/>
            </a:xfrm>
            <a:prstGeom prst="rect">
              <a:avLst/>
            </a:prstGeom>
          </p:spPr>
        </p:pic>
      </p:grpSp>
    </p:spTree>
    <p:extLst>
      <p:ext uri="{BB962C8B-B14F-4D97-AF65-F5344CB8AC3E}">
        <p14:creationId xmlns:p14="http://schemas.microsoft.com/office/powerpoint/2010/main" val="35098143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4C6BA6-EE0E-E04C-52AC-BA2B69A21E5B}"/>
              </a:ext>
            </a:extLst>
          </p:cNvPr>
          <p:cNvSpPr>
            <a:spLocks noGrp="1"/>
          </p:cNvSpPr>
          <p:nvPr>
            <p:ph type="sldNum" sz="quarter" idx="20"/>
          </p:nvPr>
        </p:nvSpPr>
        <p:spPr/>
        <p:txBody>
          <a:bodyPr/>
          <a:lstStyle/>
          <a:p>
            <a:fld id="{930176A1-BCF0-4712-97A6-6B495F55390B}" type="slidenum">
              <a:rPr lang="en-US" smtClean="0"/>
              <a:pPr/>
              <a:t>30</a:t>
            </a:fld>
            <a:endParaRPr lang="en-US" dirty="0"/>
          </a:p>
        </p:txBody>
      </p:sp>
      <p:sp>
        <p:nvSpPr>
          <p:cNvPr id="3" name="Title 2">
            <a:extLst>
              <a:ext uri="{FF2B5EF4-FFF2-40B4-BE49-F238E27FC236}">
                <a16:creationId xmlns:a16="http://schemas.microsoft.com/office/drawing/2014/main" id="{E375A643-0FF1-941C-EB20-032427A17E39}"/>
              </a:ext>
            </a:extLst>
          </p:cNvPr>
          <p:cNvSpPr>
            <a:spLocks noGrp="1"/>
          </p:cNvSpPr>
          <p:nvPr>
            <p:ph type="title"/>
          </p:nvPr>
        </p:nvSpPr>
        <p:spPr/>
        <p:txBody>
          <a:bodyPr/>
          <a:lstStyle/>
          <a:p>
            <a:r>
              <a:rPr lang="en-DE" dirty="0"/>
              <a:t>Economies of scale</a:t>
            </a:r>
          </a:p>
        </p:txBody>
      </p:sp>
      <p:sp>
        <p:nvSpPr>
          <p:cNvPr id="5" name="TextBox 4">
            <a:extLst>
              <a:ext uri="{FF2B5EF4-FFF2-40B4-BE49-F238E27FC236}">
                <a16:creationId xmlns:a16="http://schemas.microsoft.com/office/drawing/2014/main" id="{73231233-129B-5946-E348-B25497A014AF}"/>
              </a:ext>
            </a:extLst>
          </p:cNvPr>
          <p:cNvSpPr txBox="1"/>
          <p:nvPr/>
        </p:nvSpPr>
        <p:spPr>
          <a:xfrm>
            <a:off x="315117" y="1506327"/>
            <a:ext cx="11408602" cy="1384995"/>
          </a:xfrm>
          <a:prstGeom prst="rect">
            <a:avLst/>
          </a:prstGeom>
          <a:noFill/>
        </p:spPr>
        <p:txBody>
          <a:bodyPr wrap="square" rtlCol="0">
            <a:spAutoFit/>
          </a:bodyPr>
          <a:lstStyle/>
          <a:p>
            <a:pPr algn="ctr"/>
            <a:r>
              <a:rPr lang="en-GB" sz="2800" dirty="0">
                <a:solidFill>
                  <a:srgbClr val="202124"/>
                </a:solidFill>
                <a:latin typeface="arial" panose="020B0604020202020204" pitchFamily="34" charset="0"/>
              </a:rPr>
              <a:t>Because of the aggregated usage across all customers, cloud providers can achieve greater economies of scale and pass these cost savings on to customers.</a:t>
            </a:r>
            <a:endParaRPr lang="en-US" sz="2800" dirty="0">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6" name="Group 5" descr="AWS Cloud economies of scale.">
            <a:extLst>
              <a:ext uri="{FF2B5EF4-FFF2-40B4-BE49-F238E27FC236}">
                <a16:creationId xmlns:a16="http://schemas.microsoft.com/office/drawing/2014/main" id="{2163AA95-A732-EDB8-D396-F3CEC4C281E1}"/>
              </a:ext>
              <a:ext uri="{C183D7F6-B498-43B3-948B-1728B52AA6E4}">
                <adec:decorative xmlns:adec="http://schemas.microsoft.com/office/drawing/2017/decorative" val="0"/>
              </a:ext>
            </a:extLst>
          </p:cNvPr>
          <p:cNvGrpSpPr/>
          <p:nvPr/>
        </p:nvGrpSpPr>
        <p:grpSpPr>
          <a:xfrm>
            <a:off x="1559146" y="3174350"/>
            <a:ext cx="3702948" cy="2946625"/>
            <a:chOff x="1852172" y="2891321"/>
            <a:chExt cx="3702948" cy="2946625"/>
          </a:xfrm>
        </p:grpSpPr>
        <p:sp>
          <p:nvSpPr>
            <p:cNvPr id="7" name="Rectangle 6">
              <a:extLst>
                <a:ext uri="{FF2B5EF4-FFF2-40B4-BE49-F238E27FC236}">
                  <a16:creationId xmlns:a16="http://schemas.microsoft.com/office/drawing/2014/main" id="{AE201AC0-19E8-D0DD-4208-656D5D13A008}"/>
                </a:ext>
              </a:extLst>
            </p:cNvPr>
            <p:cNvSpPr/>
            <p:nvPr/>
          </p:nvSpPr>
          <p:spPr>
            <a:xfrm>
              <a:off x="1852172" y="2891321"/>
              <a:ext cx="3702948" cy="2946625"/>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2800" dirty="0">
                  <a:solidFill>
                    <a:schemeClr val="tx1"/>
                  </a:solidFill>
                </a:rPr>
                <a:t>Cloud</a:t>
              </a:r>
            </a:p>
          </p:txBody>
        </p:sp>
        <p:sp>
          <p:nvSpPr>
            <p:cNvPr id="8" name="TextBox 7">
              <a:extLst>
                <a:ext uri="{FF2B5EF4-FFF2-40B4-BE49-F238E27FC236}">
                  <a16:creationId xmlns:a16="http://schemas.microsoft.com/office/drawing/2014/main" id="{788EF457-06C6-F148-9E1A-05F761952E19}"/>
                </a:ext>
              </a:extLst>
            </p:cNvPr>
            <p:cNvSpPr txBox="1"/>
            <p:nvPr/>
          </p:nvSpPr>
          <p:spPr>
            <a:xfrm>
              <a:off x="2245555" y="4133801"/>
              <a:ext cx="2598788" cy="461665"/>
            </a:xfrm>
            <a:prstGeom prst="rect">
              <a:avLst/>
            </a:prstGeom>
            <a:noFill/>
          </p:spPr>
          <p:txBody>
            <a:bodyPr wrap="none" rtlCol="0">
              <a:spAutoFit/>
            </a:bodyPr>
            <a:lstStyle/>
            <a:p>
              <a:r>
                <a:rPr lang="en-US" sz="2400" b="1" dirty="0">
                  <a:latin typeface="Amazon Ember" panose="02000000000000000000" pitchFamily="2" charset="0"/>
                  <a:ea typeface="Amazon Ember" panose="02000000000000000000" pitchFamily="2" charset="0"/>
                </a:rPr>
                <a:t>Economies of scale</a:t>
              </a:r>
            </a:p>
          </p:txBody>
        </p:sp>
      </p:grpSp>
      <p:sp>
        <p:nvSpPr>
          <p:cNvPr id="10" name="TextBox 9">
            <a:extLst>
              <a:ext uri="{FF2B5EF4-FFF2-40B4-BE49-F238E27FC236}">
                <a16:creationId xmlns:a16="http://schemas.microsoft.com/office/drawing/2014/main" id="{A6702D2F-9233-82D3-C697-C2A6B189D2C8}"/>
              </a:ext>
            </a:extLst>
          </p:cNvPr>
          <p:cNvSpPr txBox="1"/>
          <p:nvPr/>
        </p:nvSpPr>
        <p:spPr>
          <a:xfrm>
            <a:off x="5751862" y="4367447"/>
            <a:ext cx="979755" cy="400110"/>
          </a:xfrm>
          <a:prstGeom prst="rect">
            <a:avLst/>
          </a:prstGeom>
          <a:noFill/>
        </p:spPr>
        <p:txBody>
          <a:bodyPr wrap="none" rtlCol="0">
            <a:spAutoFit/>
          </a:bodyPr>
          <a:lstStyle>
            <a:defPPr>
              <a:defRPr lang="en-US"/>
            </a:defPPr>
            <a:lvl1pPr>
              <a:defRPr b="1">
                <a:latin typeface="Amazon Ember" panose="02000000000000000000" pitchFamily="2" charset="0"/>
                <a:ea typeface="Amazon Ember" panose="02000000000000000000" pitchFamily="2" charset="0"/>
              </a:defRPr>
            </a:lvl1pPr>
          </a:lstStyle>
          <a:p>
            <a:r>
              <a:rPr lang="en-US" sz="2000" dirty="0"/>
              <a:t>Savings</a:t>
            </a:r>
            <a:endParaRPr lang="en-US" dirty="0"/>
          </a:p>
        </p:txBody>
      </p:sp>
      <p:cxnSp>
        <p:nvCxnSpPr>
          <p:cNvPr id="11" name="Straight Arrow Connector 10" descr="Right-pointing arrow showing savings that are passed on to customer from AWS economies of scale.">
            <a:extLst>
              <a:ext uri="{FF2B5EF4-FFF2-40B4-BE49-F238E27FC236}">
                <a16:creationId xmlns:a16="http://schemas.microsoft.com/office/drawing/2014/main" id="{FF217BE6-FA74-EE00-A7B1-40E059F421AE}"/>
              </a:ext>
            </a:extLst>
          </p:cNvPr>
          <p:cNvCxnSpPr/>
          <p:nvPr/>
        </p:nvCxnSpPr>
        <p:spPr>
          <a:xfrm>
            <a:off x="5321106" y="4719229"/>
            <a:ext cx="178996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2" name="Group 11" descr="You pay only for the services you use.">
            <a:extLst>
              <a:ext uri="{FF2B5EF4-FFF2-40B4-BE49-F238E27FC236}">
                <a16:creationId xmlns:a16="http://schemas.microsoft.com/office/drawing/2014/main" id="{F175968D-F5B2-F602-86C5-2B46991A67CD}"/>
              </a:ext>
            </a:extLst>
          </p:cNvPr>
          <p:cNvGrpSpPr/>
          <p:nvPr/>
        </p:nvGrpSpPr>
        <p:grpSpPr>
          <a:xfrm>
            <a:off x="7266006" y="3170026"/>
            <a:ext cx="4215331" cy="3488311"/>
            <a:chOff x="7559031" y="2886997"/>
            <a:chExt cx="4215331" cy="3488311"/>
          </a:xfrm>
        </p:grpSpPr>
        <p:pic>
          <p:nvPicPr>
            <p:cNvPr id="13" name="Picture 12" descr="Outline of a person.">
              <a:extLst>
                <a:ext uri="{FF2B5EF4-FFF2-40B4-BE49-F238E27FC236}">
                  <a16:creationId xmlns:a16="http://schemas.microsoft.com/office/drawing/2014/main" id="{8B51AA4C-4CFE-8126-EE9B-3338526898E4}"/>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86861" y="3787807"/>
              <a:ext cx="2587501" cy="2587501"/>
            </a:xfrm>
            <a:prstGeom prst="rect">
              <a:avLst/>
            </a:prstGeom>
          </p:spPr>
        </p:pic>
        <p:pic>
          <p:nvPicPr>
            <p:cNvPr id="14" name="Picture 13" descr="Bill showing line items of services used and the total.">
              <a:extLst>
                <a:ext uri="{FF2B5EF4-FFF2-40B4-BE49-F238E27FC236}">
                  <a16:creationId xmlns:a16="http://schemas.microsoft.com/office/drawing/2014/main" id="{71A19591-A9B0-55AA-5623-804208EBA6B4}"/>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rot="900000">
              <a:off x="7559031" y="2886997"/>
              <a:ext cx="2177127" cy="2715471"/>
            </a:xfrm>
            <a:prstGeom prst="rect">
              <a:avLst/>
            </a:prstGeom>
            <a:ln>
              <a:solidFill>
                <a:schemeClr val="tx1"/>
              </a:solidFill>
            </a:ln>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6F5B803A-BDA5-55B3-CBF8-69DB7903187D}"/>
                </a:ext>
                <a:ext uri="{C183D7F6-B498-43B3-948B-1728B52AA6E4}">
                  <adec:decorative xmlns:adec="http://schemas.microsoft.com/office/drawing/2017/decorative" val="1"/>
                </a:ext>
              </a:extLst>
            </p:cNvPr>
            <p:cNvPicPr>
              <a:picLocks noChangeAspect="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rot="914300">
              <a:off x="7836943" y="4203981"/>
              <a:ext cx="1274174" cy="1274174"/>
            </a:xfrm>
            <a:prstGeom prst="rect">
              <a:avLst/>
            </a:prstGeom>
          </p:spPr>
        </p:pic>
      </p:grpSp>
    </p:spTree>
    <p:extLst>
      <p:ext uri="{BB962C8B-B14F-4D97-AF65-F5344CB8AC3E}">
        <p14:creationId xmlns:p14="http://schemas.microsoft.com/office/powerpoint/2010/main" val="21092687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69A86D-AE13-2767-6F83-33CED69A6AFF}"/>
              </a:ext>
            </a:extLst>
          </p:cNvPr>
          <p:cNvSpPr>
            <a:spLocks noGrp="1"/>
          </p:cNvSpPr>
          <p:nvPr>
            <p:ph type="sldNum" sz="quarter" idx="20"/>
          </p:nvPr>
        </p:nvSpPr>
        <p:spPr/>
        <p:txBody>
          <a:bodyPr/>
          <a:lstStyle/>
          <a:p>
            <a:fld id="{930176A1-BCF0-4712-97A6-6B495F55390B}" type="slidenum">
              <a:rPr lang="en-US" smtClean="0"/>
              <a:pPr/>
              <a:t>31</a:t>
            </a:fld>
            <a:endParaRPr lang="en-US" dirty="0"/>
          </a:p>
        </p:txBody>
      </p:sp>
      <p:sp>
        <p:nvSpPr>
          <p:cNvPr id="3" name="Title 2">
            <a:extLst>
              <a:ext uri="{FF2B5EF4-FFF2-40B4-BE49-F238E27FC236}">
                <a16:creationId xmlns:a16="http://schemas.microsoft.com/office/drawing/2014/main" id="{2761171A-E197-B126-171B-B770696EF520}"/>
              </a:ext>
            </a:extLst>
          </p:cNvPr>
          <p:cNvSpPr>
            <a:spLocks noGrp="1"/>
          </p:cNvSpPr>
          <p:nvPr>
            <p:ph type="title"/>
          </p:nvPr>
        </p:nvSpPr>
        <p:spPr/>
        <p:txBody>
          <a:bodyPr/>
          <a:lstStyle/>
          <a:p>
            <a:r>
              <a:rPr lang="en-GB" dirty="0"/>
              <a:t>Greater speed and agility</a:t>
            </a:r>
            <a:endParaRPr lang="en-DE" dirty="0"/>
          </a:p>
        </p:txBody>
      </p:sp>
      <p:sp>
        <p:nvSpPr>
          <p:cNvPr id="5" name="Content Placeholder 19">
            <a:extLst>
              <a:ext uri="{FF2B5EF4-FFF2-40B4-BE49-F238E27FC236}">
                <a16:creationId xmlns:a16="http://schemas.microsoft.com/office/drawing/2014/main" id="{6D3E2C4D-6982-3E9E-121B-AB4B59CCC8F3}"/>
              </a:ext>
            </a:extLst>
          </p:cNvPr>
          <p:cNvSpPr>
            <a:spLocks noGrp="1"/>
          </p:cNvSpPr>
          <p:nvPr>
            <p:ph sz="quarter" idx="21"/>
          </p:nvPr>
        </p:nvSpPr>
        <p:spPr>
          <a:xfrm>
            <a:off x="616974" y="4958621"/>
            <a:ext cx="5539740" cy="895811"/>
          </a:xfrm>
          <a:noFill/>
          <a:ln>
            <a:noFill/>
          </a:ln>
          <a:effectLst/>
        </p:spPr>
        <p:style>
          <a:lnRef idx="2">
            <a:schemeClr val="dk1"/>
          </a:lnRef>
          <a:fillRef idx="1">
            <a:schemeClr val="lt1"/>
          </a:fillRef>
          <a:effectRef idx="0">
            <a:schemeClr val="dk1"/>
          </a:effectRef>
          <a:fontRef idx="minor">
            <a:schemeClr val="dk1"/>
          </a:fontRef>
        </p:style>
        <p:txBody>
          <a:bodyPr vert="horz" wrap="square" lIns="91440" tIns="45720" rIns="91440" bIns="45720" rtlCol="0">
            <a:normAutofit lnSpcReduction="10000"/>
          </a:bodyPr>
          <a:lstStyle/>
          <a:p>
            <a:pPr algn="ctr">
              <a:spcBef>
                <a:spcPts val="1000"/>
              </a:spcBef>
              <a:spcAft>
                <a:spcPts val="600"/>
              </a:spcAft>
              <a:buClr>
                <a:srgbClr val="FF9900"/>
              </a:buClr>
              <a:buSzPct val="75000"/>
            </a:pPr>
            <a:r>
              <a:rPr lang="en-US" sz="2800" i="1" dirty="0">
                <a:latin typeface="Amazon Ember" panose="020B0603020204020204" pitchFamily="34" charset="0"/>
                <a:ea typeface="Amazon Ember" panose="020B0603020204020204" pitchFamily="34" charset="0"/>
                <a:cs typeface="Amazon Ember" panose="020B0603020204020204" pitchFamily="34" charset="0"/>
              </a:rPr>
              <a:t>Weeks between provisioning and availability of resources.</a:t>
            </a:r>
            <a:endParaRPr lang="en-US" sz="2800"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6" name="Picture 5" descr="An itemized purchasing receipt.">
            <a:extLst>
              <a:ext uri="{FF2B5EF4-FFF2-40B4-BE49-F238E27FC236}">
                <a16:creationId xmlns:a16="http://schemas.microsoft.com/office/drawing/2014/main" id="{AB0CC947-5BCF-CDB7-0C0B-470256DD17A7}"/>
              </a:ext>
            </a:extLst>
          </p:cNvPr>
          <p:cNvPicPr>
            <a:picLocks noChangeAspect="1"/>
          </p:cNvPicPr>
          <p:nvPr/>
        </p:nvPicPr>
        <p:blipFill rotWithShape="1">
          <a:blip r:embed="rId2"/>
          <a:srcRect l="3654" r="3138" b="17947"/>
          <a:stretch/>
        </p:blipFill>
        <p:spPr>
          <a:xfrm rot="20700000">
            <a:off x="1966344" y="2074289"/>
            <a:ext cx="2392426" cy="2529917"/>
          </a:xfrm>
          <a:prstGeom prst="rect">
            <a:avLst/>
          </a:prstGeom>
          <a:ln>
            <a:solidFill>
              <a:schemeClr val="tx1"/>
            </a:solidFill>
          </a:ln>
          <a:effectLst>
            <a:outerShdw blurRad="50800" dist="38100" dir="2700000" algn="tl" rotWithShape="0">
              <a:prstClr val="black">
                <a:alpha val="40000"/>
              </a:prstClr>
            </a:outerShdw>
          </a:effectLst>
        </p:spPr>
      </p:pic>
      <p:sp>
        <p:nvSpPr>
          <p:cNvPr id="7" name="Content Placeholder 19">
            <a:extLst>
              <a:ext uri="{FF2B5EF4-FFF2-40B4-BE49-F238E27FC236}">
                <a16:creationId xmlns:a16="http://schemas.microsoft.com/office/drawing/2014/main" id="{19DB12D5-37EE-A190-D056-8D698B590CC2}"/>
              </a:ext>
            </a:extLst>
          </p:cNvPr>
          <p:cNvSpPr txBox="1">
            <a:spLocks/>
          </p:cNvSpPr>
          <p:nvPr/>
        </p:nvSpPr>
        <p:spPr>
          <a:xfrm>
            <a:off x="6490276" y="4958621"/>
            <a:ext cx="4831359" cy="942369"/>
          </a:xfrm>
          <a:prstGeom prst="rect">
            <a:avLst/>
          </a:prstGeom>
          <a:noFill/>
          <a:ln>
            <a:noFill/>
          </a:ln>
          <a:effectLst/>
        </p:spPr>
        <p:style>
          <a:lnRef idx="2">
            <a:schemeClr val="dk1"/>
          </a:lnRef>
          <a:fillRef idx="1">
            <a:schemeClr val="lt1"/>
          </a:fillRef>
          <a:effectRef idx="0">
            <a:schemeClr val="dk1"/>
          </a:effectRef>
          <a:fontRef idx="minor">
            <a:schemeClr val="dk1"/>
          </a:fontRef>
        </p:style>
        <p:txBody>
          <a:bodyPr vert="horz" wrap="square" lIns="91440" tIns="45720" rIns="91440" bIns="45720" rtlCol="0">
            <a:noAutofit/>
          </a:bodyPr>
          <a:lstStyle>
            <a:lvl1pPr marR="0" indent="0" algn="ctr" defTabSz="914400" fontAlgn="auto">
              <a:lnSpc>
                <a:spcPct val="90000"/>
              </a:lnSpc>
              <a:spcBef>
                <a:spcPts val="1000"/>
              </a:spcBef>
              <a:spcAft>
                <a:spcPts val="600"/>
              </a:spcAft>
              <a:buClr>
                <a:srgbClr val="FF9900"/>
              </a:buClr>
              <a:buSzPct val="75000"/>
              <a:buFont typeface="Wingdings" panose="05000000000000000000" pitchFamily="2" charset="2"/>
              <a:buNone/>
              <a:tabLst/>
              <a:defRPr sz="2800" b="0" spc="0" baseline="0">
                <a:solidFill>
                  <a:schemeClr val="tx1"/>
                </a:solidFill>
                <a:latin typeface="Amazon Ember Light" charset="0"/>
                <a:ea typeface="Amazon Ember Light" charset="0"/>
                <a:cs typeface="Amazon Ember Light" charset="0"/>
              </a:defRPr>
            </a:lvl1pPr>
            <a:lvl2pPr marL="336143" marR="0" indent="0" defTabSz="914362" fontAlgn="auto">
              <a:lnSpc>
                <a:spcPct val="90000"/>
              </a:lnSpc>
              <a:spcBef>
                <a:spcPts val="500"/>
              </a:spcBef>
              <a:spcAft>
                <a:spcPts val="0"/>
              </a:spcAft>
              <a:buClrTx/>
              <a:buSzPct val="90000"/>
              <a:buFont typeface="Arial" pitchFamily="34" charset="0"/>
              <a:buNone/>
              <a:tabLst/>
              <a:defRPr sz="2000" spc="0" baseline="0"/>
            </a:lvl2pPr>
            <a:lvl3pPr marL="560238" marR="0" indent="0" defTabSz="914362" fontAlgn="auto">
              <a:lnSpc>
                <a:spcPct val="90000"/>
              </a:lnSpc>
              <a:spcBef>
                <a:spcPts val="500"/>
              </a:spcBef>
              <a:spcAft>
                <a:spcPts val="0"/>
              </a:spcAft>
              <a:buClrTx/>
              <a:buSzPct val="90000"/>
              <a:buFont typeface="Arial" pitchFamily="34" charset="0"/>
              <a:buNone/>
              <a:tabLst/>
              <a:defRPr sz="2000" spc="0" baseline="0"/>
            </a:lvl3pPr>
            <a:lvl4pPr marL="784334" marR="0" indent="0" defTabSz="914362" fontAlgn="auto">
              <a:lnSpc>
                <a:spcPct val="90000"/>
              </a:lnSpc>
              <a:spcBef>
                <a:spcPts val="500"/>
              </a:spcBef>
              <a:spcAft>
                <a:spcPts val="0"/>
              </a:spcAft>
              <a:buClrTx/>
              <a:buSzPct val="90000"/>
              <a:buFont typeface="Arial" pitchFamily="34" charset="0"/>
              <a:buNone/>
              <a:tabLst/>
              <a:defRPr sz="1667" spc="0" baseline="0"/>
            </a:lvl4pPr>
            <a:lvl5pPr marL="1008429" marR="0" indent="0" defTabSz="914362" fontAlgn="auto">
              <a:lnSpc>
                <a:spcPct val="90000"/>
              </a:lnSpc>
              <a:spcBef>
                <a:spcPts val="500"/>
              </a:spcBef>
              <a:spcAft>
                <a:spcPts val="0"/>
              </a:spcAft>
              <a:buClrTx/>
              <a:buSzPct val="90000"/>
              <a:buFont typeface="Arial" pitchFamily="34" charset="0"/>
              <a:buNone/>
              <a:tabLst/>
              <a:defRPr sz="1667" spc="0" baseline="0"/>
            </a:lvl5pPr>
            <a:lvl6pPr marL="2514494" indent="-228591" defTabSz="914362">
              <a:spcBef>
                <a:spcPct val="20000"/>
              </a:spcBef>
              <a:buFont typeface="Arial" pitchFamily="34" charset="0"/>
              <a:buChar char="•"/>
              <a:defRPr sz="1961"/>
            </a:lvl6pPr>
            <a:lvl7pPr marL="2971675" indent="-228591" defTabSz="914362">
              <a:spcBef>
                <a:spcPct val="20000"/>
              </a:spcBef>
              <a:buFont typeface="Arial" pitchFamily="34" charset="0"/>
              <a:buChar char="•"/>
              <a:defRPr sz="1961"/>
            </a:lvl7pPr>
            <a:lvl8pPr marL="3428856" indent="-228591" defTabSz="914362">
              <a:spcBef>
                <a:spcPct val="20000"/>
              </a:spcBef>
              <a:buFont typeface="Arial" pitchFamily="34" charset="0"/>
              <a:buChar char="•"/>
              <a:defRPr sz="1961"/>
            </a:lvl8pPr>
            <a:lvl9pPr marL="3886038" indent="-228591" defTabSz="914362">
              <a:spcBef>
                <a:spcPct val="20000"/>
              </a:spcBef>
              <a:buFont typeface="Arial" pitchFamily="34" charset="0"/>
              <a:buChar char="•"/>
              <a:defRPr sz="1961"/>
            </a:lvl9pPr>
          </a:lstStyle>
          <a:p>
            <a:r>
              <a:rPr lang="en-US" i="1" dirty="0">
                <a:latin typeface="Amazon Ember" panose="020B0603020204020204" pitchFamily="34" charset="0"/>
                <a:ea typeface="Amazon Ember" panose="020B0603020204020204" pitchFamily="34" charset="0"/>
                <a:cs typeface="Amazon Ember" panose="020B0603020204020204" pitchFamily="34" charset="0"/>
              </a:rPr>
              <a:t>Minutes between provisioning and availability of resources.</a:t>
            </a: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8" name="Group 7" descr="Hand cursor on a blue button that says launch.">
            <a:extLst>
              <a:ext uri="{FF2B5EF4-FFF2-40B4-BE49-F238E27FC236}">
                <a16:creationId xmlns:a16="http://schemas.microsoft.com/office/drawing/2014/main" id="{2B8C9C92-57B4-8A91-C3E1-51FA91D7B9D4}"/>
              </a:ext>
            </a:extLst>
          </p:cNvPr>
          <p:cNvGrpSpPr/>
          <p:nvPr/>
        </p:nvGrpSpPr>
        <p:grpSpPr>
          <a:xfrm>
            <a:off x="7160776" y="2779327"/>
            <a:ext cx="3496828" cy="1946170"/>
            <a:chOff x="7154426" y="2779327"/>
            <a:chExt cx="3496828" cy="1946170"/>
          </a:xfrm>
        </p:grpSpPr>
        <p:sp>
          <p:nvSpPr>
            <p:cNvPr id="9" name="Rounded Rectangle 8">
              <a:extLst>
                <a:ext uri="{FF2B5EF4-FFF2-40B4-BE49-F238E27FC236}">
                  <a16:creationId xmlns:a16="http://schemas.microsoft.com/office/drawing/2014/main" id="{2C2B07A6-D938-0498-4D01-3A8F49B7674F}"/>
                </a:ext>
              </a:extLst>
            </p:cNvPr>
            <p:cNvSpPr/>
            <p:nvPr/>
          </p:nvSpPr>
          <p:spPr>
            <a:xfrm>
              <a:off x="7154426" y="2779327"/>
              <a:ext cx="3496828" cy="1205654"/>
            </a:xfrm>
            <a:prstGeom prst="roundRect">
              <a:avLst/>
            </a:prstGeom>
            <a:gradFill flip="none" rotWithShape="1">
              <a:gsLst>
                <a:gs pos="0">
                  <a:srgbClr val="2F84D9">
                    <a:shade val="30000"/>
                    <a:satMod val="115000"/>
                  </a:srgbClr>
                </a:gs>
                <a:gs pos="50000">
                  <a:srgbClr val="2F84D9">
                    <a:shade val="67500"/>
                    <a:satMod val="115000"/>
                  </a:srgbClr>
                </a:gs>
                <a:gs pos="100000">
                  <a:srgbClr val="2F84D9">
                    <a:shade val="100000"/>
                    <a:satMod val="115000"/>
                  </a:srgbClr>
                </a:gs>
              </a:gsLst>
              <a:lin ang="16200000" scaled="1"/>
              <a:tileRect/>
            </a:gradFill>
            <a:ln w="28575">
              <a:solidFill>
                <a:srgbClr val="2066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617CA63F-9DBE-6E53-6E89-378E3819ADB9}"/>
                </a:ext>
              </a:extLst>
            </p:cNvPr>
            <p:cNvCxnSpPr/>
            <p:nvPr/>
          </p:nvCxnSpPr>
          <p:spPr>
            <a:xfrm>
              <a:off x="9576082" y="2779327"/>
              <a:ext cx="10049" cy="1205654"/>
            </a:xfrm>
            <a:prstGeom prst="line">
              <a:avLst/>
            </a:prstGeom>
            <a:ln w="28575">
              <a:solidFill>
                <a:srgbClr val="2066AF"/>
              </a:solidFill>
            </a:ln>
          </p:spPr>
          <p:style>
            <a:lnRef idx="1">
              <a:schemeClr val="accent1"/>
            </a:lnRef>
            <a:fillRef idx="0">
              <a:schemeClr val="accent1"/>
            </a:fillRef>
            <a:effectRef idx="0">
              <a:schemeClr val="accent1"/>
            </a:effectRef>
            <a:fontRef idx="minor">
              <a:schemeClr val="tx1"/>
            </a:fontRef>
          </p:style>
        </p:cxnSp>
        <p:sp>
          <p:nvSpPr>
            <p:cNvPr id="11" name="Isosceles Triangle 10">
              <a:extLst>
                <a:ext uri="{FF2B5EF4-FFF2-40B4-BE49-F238E27FC236}">
                  <a16:creationId xmlns:a16="http://schemas.microsoft.com/office/drawing/2014/main" id="{7EA8CC7B-8B07-CE4E-B30E-5DA9F5622152}"/>
                </a:ext>
              </a:extLst>
            </p:cNvPr>
            <p:cNvSpPr/>
            <p:nvPr/>
          </p:nvSpPr>
          <p:spPr>
            <a:xfrm rot="10800000">
              <a:off x="9947871" y="3339246"/>
              <a:ext cx="383093" cy="197774"/>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Hand cursor.">
              <a:extLst>
                <a:ext uri="{FF2B5EF4-FFF2-40B4-BE49-F238E27FC236}">
                  <a16:creationId xmlns:a16="http://schemas.microsoft.com/office/drawing/2014/main" id="{0A56442C-C120-D51C-7FB9-75583CC7B1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99400" y="3827855"/>
              <a:ext cx="664255" cy="897642"/>
            </a:xfrm>
            <a:prstGeom prst="rect">
              <a:avLst/>
            </a:prstGeom>
          </p:spPr>
        </p:pic>
        <p:sp>
          <p:nvSpPr>
            <p:cNvPr id="13" name="TextBox 12">
              <a:extLst>
                <a:ext uri="{FF2B5EF4-FFF2-40B4-BE49-F238E27FC236}">
                  <a16:creationId xmlns:a16="http://schemas.microsoft.com/office/drawing/2014/main" id="{5053F4DF-C6EE-7F08-25D5-BE0B077DDC41}"/>
                </a:ext>
              </a:extLst>
            </p:cNvPr>
            <p:cNvSpPr txBox="1"/>
            <p:nvPr/>
          </p:nvSpPr>
          <p:spPr>
            <a:xfrm>
              <a:off x="7362118" y="3074750"/>
              <a:ext cx="2177930" cy="677108"/>
            </a:xfrm>
            <a:prstGeom prst="rect">
              <a:avLst/>
            </a:prstGeom>
            <a:noFill/>
          </p:spPr>
          <p:txBody>
            <a:bodyPr wrap="square" rtlCol="0">
              <a:spAutoFit/>
            </a:bodyPr>
            <a:lstStyle/>
            <a:p>
              <a:r>
                <a:rPr lang="en-US" sz="3800" b="1" dirty="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rPr>
                <a:t>Launch</a:t>
              </a:r>
            </a:p>
          </p:txBody>
        </p:sp>
      </p:grpSp>
    </p:spTree>
    <p:extLst>
      <p:ext uri="{BB962C8B-B14F-4D97-AF65-F5344CB8AC3E}">
        <p14:creationId xmlns:p14="http://schemas.microsoft.com/office/powerpoint/2010/main" val="18301437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B23CBB-09FA-841F-7CCC-5EADE70BDF7A}"/>
              </a:ext>
            </a:extLst>
          </p:cNvPr>
          <p:cNvSpPr>
            <a:spLocks noGrp="1"/>
          </p:cNvSpPr>
          <p:nvPr>
            <p:ph type="sldNum" sz="quarter" idx="20"/>
          </p:nvPr>
        </p:nvSpPr>
        <p:spPr/>
        <p:txBody>
          <a:bodyPr/>
          <a:lstStyle/>
          <a:p>
            <a:fld id="{930176A1-BCF0-4712-97A6-6B495F55390B}" type="slidenum">
              <a:rPr lang="en-US" smtClean="0"/>
              <a:pPr/>
              <a:t>32</a:t>
            </a:fld>
            <a:endParaRPr lang="en-US" dirty="0"/>
          </a:p>
        </p:txBody>
      </p:sp>
      <p:sp>
        <p:nvSpPr>
          <p:cNvPr id="3" name="Title 2">
            <a:extLst>
              <a:ext uri="{FF2B5EF4-FFF2-40B4-BE49-F238E27FC236}">
                <a16:creationId xmlns:a16="http://schemas.microsoft.com/office/drawing/2014/main" id="{B7F6C238-6758-1CBD-7E06-1834F8EFD146}"/>
              </a:ext>
            </a:extLst>
          </p:cNvPr>
          <p:cNvSpPr>
            <a:spLocks noGrp="1"/>
          </p:cNvSpPr>
          <p:nvPr>
            <p:ph type="title"/>
          </p:nvPr>
        </p:nvSpPr>
        <p:spPr/>
        <p:txBody>
          <a:bodyPr/>
          <a:lstStyle/>
          <a:p>
            <a:r>
              <a:rPr lang="en-DE" dirty="0"/>
              <a:t>No data centers necessary anymore</a:t>
            </a:r>
          </a:p>
        </p:txBody>
      </p:sp>
      <p:grpSp>
        <p:nvGrpSpPr>
          <p:cNvPr id="5" name="Group 4" descr="Illustration of data center bills for payroll, utilities, maintenance, landscaping, and hardware.">
            <a:extLst>
              <a:ext uri="{FF2B5EF4-FFF2-40B4-BE49-F238E27FC236}">
                <a16:creationId xmlns:a16="http://schemas.microsoft.com/office/drawing/2014/main" id="{69EB473C-C23A-10A9-6E99-6DE442DC3DFE}"/>
              </a:ext>
            </a:extLst>
          </p:cNvPr>
          <p:cNvGrpSpPr/>
          <p:nvPr/>
        </p:nvGrpSpPr>
        <p:grpSpPr>
          <a:xfrm>
            <a:off x="40825" y="1750927"/>
            <a:ext cx="4163636" cy="3451332"/>
            <a:chOff x="34475" y="1750927"/>
            <a:chExt cx="4163636" cy="3451332"/>
          </a:xfrm>
        </p:grpSpPr>
        <p:pic>
          <p:nvPicPr>
            <p:cNvPr id="6" name="Picture 5">
              <a:extLst>
                <a:ext uri="{FF2B5EF4-FFF2-40B4-BE49-F238E27FC236}">
                  <a16:creationId xmlns:a16="http://schemas.microsoft.com/office/drawing/2014/main" id="{248E7D08-73E8-CDC3-0384-8D889A5EB503}"/>
                </a:ext>
                <a:ext uri="{C183D7F6-B498-43B3-948B-1728B52AA6E4}">
                  <adec:decorative xmlns:adec="http://schemas.microsoft.com/office/drawing/2017/decorative" val="1"/>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l="24349" t="9949" r="16733" b="6570"/>
            <a:stretch/>
          </p:blipFill>
          <p:spPr>
            <a:xfrm>
              <a:off x="34475" y="1750927"/>
              <a:ext cx="3882481" cy="3208989"/>
            </a:xfrm>
            <a:prstGeom prst="rect">
              <a:avLst/>
            </a:prstGeom>
          </p:spPr>
        </p:pic>
        <p:grpSp>
          <p:nvGrpSpPr>
            <p:cNvPr id="7" name="Group 6">
              <a:extLst>
                <a:ext uri="{FF2B5EF4-FFF2-40B4-BE49-F238E27FC236}">
                  <a16:creationId xmlns:a16="http://schemas.microsoft.com/office/drawing/2014/main" id="{D13B3B31-48AF-8BA1-9365-23BA3199CF38}"/>
                </a:ext>
              </a:extLst>
            </p:cNvPr>
            <p:cNvGrpSpPr/>
            <p:nvPr/>
          </p:nvGrpSpPr>
          <p:grpSpPr>
            <a:xfrm>
              <a:off x="839642" y="2021088"/>
              <a:ext cx="3358469" cy="3181171"/>
              <a:chOff x="-3431264" y="1620668"/>
              <a:chExt cx="3999338" cy="4106593"/>
            </a:xfrm>
          </p:grpSpPr>
          <p:sp>
            <p:nvSpPr>
              <p:cNvPr id="8" name="TextBox 7">
                <a:extLst>
                  <a:ext uri="{FF2B5EF4-FFF2-40B4-BE49-F238E27FC236}">
                    <a16:creationId xmlns:a16="http://schemas.microsoft.com/office/drawing/2014/main" id="{52505E34-12DB-9CC0-264A-B1D5BB1939E3}"/>
                  </a:ext>
                </a:extLst>
              </p:cNvPr>
              <p:cNvSpPr txBox="1"/>
              <p:nvPr/>
            </p:nvSpPr>
            <p:spPr>
              <a:xfrm rot="19800000">
                <a:off x="-3431264" y="1620668"/>
                <a:ext cx="1860023" cy="2884475"/>
              </a:xfrm>
              <a:prstGeom prst="rect">
                <a:avLst/>
              </a:prstGeom>
              <a:solidFill>
                <a:srgbClr val="FFC000"/>
              </a:solidFill>
              <a:ln w="12700">
                <a:solidFill>
                  <a:schemeClr val="tx1"/>
                </a:solidFill>
              </a:ln>
            </p:spPr>
            <p:txBody>
              <a:bodyPr wrap="none" lIns="182880" tIns="146304" rIns="182880" bIns="146304" rtlCol="0">
                <a:spAutoFit/>
              </a:bodyPr>
              <a:lstStyle/>
              <a:p>
                <a:pPr algn="ctr">
                  <a:lnSpc>
                    <a:spcPct val="90000"/>
                  </a:lnSpc>
                  <a:spcAft>
                    <a:spcPts val="1800"/>
                  </a:spcAft>
                </a:pPr>
                <a:r>
                  <a:rPr lang="en-US" sz="2000" b="1" dirty="0">
                    <a:gradFill>
                      <a:gsLst>
                        <a:gs pos="2917">
                          <a:schemeClr val="tx1"/>
                        </a:gs>
                        <a:gs pos="30000">
                          <a:schemeClr val="tx1"/>
                        </a:gs>
                      </a:gsLst>
                      <a:lin ang="5400000" scaled="0"/>
                    </a:gradFill>
                  </a:rPr>
                  <a:t>Payroll</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p>
            </p:txBody>
          </p:sp>
          <p:sp>
            <p:nvSpPr>
              <p:cNvPr id="9" name="TextBox 8">
                <a:extLst>
                  <a:ext uri="{FF2B5EF4-FFF2-40B4-BE49-F238E27FC236}">
                    <a16:creationId xmlns:a16="http://schemas.microsoft.com/office/drawing/2014/main" id="{6A921CDF-5EF9-8000-17D4-4303A20B44C4}"/>
                  </a:ext>
                </a:extLst>
              </p:cNvPr>
              <p:cNvSpPr txBox="1"/>
              <p:nvPr/>
            </p:nvSpPr>
            <p:spPr>
              <a:xfrm rot="19800000">
                <a:off x="-2834971" y="1846092"/>
                <a:ext cx="1860023" cy="2884475"/>
              </a:xfrm>
              <a:prstGeom prst="rect">
                <a:avLst/>
              </a:prstGeom>
              <a:solidFill>
                <a:srgbClr val="FFC000"/>
              </a:solidFill>
              <a:ln w="12700">
                <a:solidFill>
                  <a:schemeClr val="tx1"/>
                </a:solidFill>
              </a:ln>
            </p:spPr>
            <p:txBody>
              <a:bodyPr wrap="none" lIns="182880" tIns="146304" rIns="182880" bIns="146304" rtlCol="0">
                <a:spAutoFit/>
              </a:bodyPr>
              <a:lstStyle/>
              <a:p>
                <a:pPr algn="ctr">
                  <a:lnSpc>
                    <a:spcPct val="90000"/>
                  </a:lnSpc>
                  <a:spcAft>
                    <a:spcPts val="1800"/>
                  </a:spcAft>
                </a:pPr>
                <a:r>
                  <a:rPr lang="en-US" sz="2000" b="1" dirty="0">
                    <a:gradFill>
                      <a:gsLst>
                        <a:gs pos="2917">
                          <a:schemeClr val="tx1"/>
                        </a:gs>
                        <a:gs pos="30000">
                          <a:schemeClr val="tx1"/>
                        </a:gs>
                      </a:gsLst>
                      <a:lin ang="5400000" scaled="0"/>
                    </a:gradFill>
                  </a:rPr>
                  <a:t>Utilities</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p>
            </p:txBody>
          </p:sp>
          <p:sp>
            <p:nvSpPr>
              <p:cNvPr id="10" name="TextBox 9">
                <a:extLst>
                  <a:ext uri="{FF2B5EF4-FFF2-40B4-BE49-F238E27FC236}">
                    <a16:creationId xmlns:a16="http://schemas.microsoft.com/office/drawing/2014/main" id="{58621ACC-97BA-3DD7-8ACA-B565393BFAC1}"/>
                  </a:ext>
                </a:extLst>
              </p:cNvPr>
              <p:cNvSpPr txBox="1"/>
              <p:nvPr/>
            </p:nvSpPr>
            <p:spPr>
              <a:xfrm rot="19800000">
                <a:off x="-2391648" y="2076484"/>
                <a:ext cx="1999586" cy="3010056"/>
              </a:xfrm>
              <a:prstGeom prst="rect">
                <a:avLst/>
              </a:prstGeom>
              <a:solidFill>
                <a:srgbClr val="FFC000"/>
              </a:solidFill>
              <a:ln w="12700">
                <a:solidFill>
                  <a:schemeClr val="tx1"/>
                </a:solidFill>
              </a:ln>
            </p:spPr>
            <p:txBody>
              <a:bodyPr wrap="none" lIns="182880" tIns="146304" rIns="182880" bIns="146304" rtlCol="0">
                <a:noAutofit/>
              </a:bodyPr>
              <a:lstStyle/>
              <a:p>
                <a:pPr algn="ctr">
                  <a:lnSpc>
                    <a:spcPct val="90000"/>
                  </a:lnSpc>
                  <a:spcAft>
                    <a:spcPts val="1800"/>
                  </a:spcAft>
                </a:pPr>
                <a:r>
                  <a:rPr lang="en-US" sz="2000" b="1" dirty="0">
                    <a:gradFill>
                      <a:gsLst>
                        <a:gs pos="2917">
                          <a:schemeClr val="tx1"/>
                        </a:gs>
                        <a:gs pos="30000">
                          <a:schemeClr val="tx1"/>
                        </a:gs>
                      </a:gsLst>
                      <a:lin ang="5400000" scaled="0"/>
                    </a:gradFill>
                  </a:rPr>
                  <a:t>Maintenance</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p>
            </p:txBody>
          </p:sp>
          <p:sp>
            <p:nvSpPr>
              <p:cNvPr id="11" name="TextBox 10">
                <a:extLst>
                  <a:ext uri="{FF2B5EF4-FFF2-40B4-BE49-F238E27FC236}">
                    <a16:creationId xmlns:a16="http://schemas.microsoft.com/office/drawing/2014/main" id="{2506DC27-BF7C-7778-E100-2068C882135E}"/>
                  </a:ext>
                </a:extLst>
              </p:cNvPr>
              <p:cNvSpPr txBox="1"/>
              <p:nvPr/>
            </p:nvSpPr>
            <p:spPr>
              <a:xfrm rot="19800000">
                <a:off x="-1885854" y="2307764"/>
                <a:ext cx="1999586" cy="3010056"/>
              </a:xfrm>
              <a:prstGeom prst="rect">
                <a:avLst/>
              </a:prstGeom>
              <a:solidFill>
                <a:srgbClr val="FFC000"/>
              </a:solidFill>
              <a:ln w="12700">
                <a:solidFill>
                  <a:schemeClr val="tx1"/>
                </a:solidFill>
              </a:ln>
            </p:spPr>
            <p:txBody>
              <a:bodyPr wrap="none" lIns="182880" tIns="146304" rIns="182880" bIns="146304" rtlCol="0">
                <a:noAutofit/>
              </a:bodyPr>
              <a:lstStyle/>
              <a:p>
                <a:pPr algn="ctr">
                  <a:lnSpc>
                    <a:spcPct val="90000"/>
                  </a:lnSpc>
                  <a:spcAft>
                    <a:spcPts val="1800"/>
                  </a:spcAft>
                </a:pPr>
                <a:r>
                  <a:rPr lang="en-US" sz="2000" b="1" dirty="0">
                    <a:gradFill>
                      <a:gsLst>
                        <a:gs pos="2917">
                          <a:schemeClr val="tx1"/>
                        </a:gs>
                        <a:gs pos="30000">
                          <a:schemeClr val="tx1"/>
                        </a:gs>
                      </a:gsLst>
                      <a:lin ang="5400000" scaled="0"/>
                    </a:gradFill>
                  </a:rPr>
                  <a:t>Landscaping</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p>
            </p:txBody>
          </p:sp>
          <p:sp>
            <p:nvSpPr>
              <p:cNvPr id="12" name="TextBox 11">
                <a:extLst>
                  <a:ext uri="{FF2B5EF4-FFF2-40B4-BE49-F238E27FC236}">
                    <a16:creationId xmlns:a16="http://schemas.microsoft.com/office/drawing/2014/main" id="{F09B6BB5-B48F-954E-5002-3D3CD87DEE6D}"/>
                  </a:ext>
                </a:extLst>
              </p:cNvPr>
              <p:cNvSpPr txBox="1"/>
              <p:nvPr/>
            </p:nvSpPr>
            <p:spPr>
              <a:xfrm rot="19800000">
                <a:off x="-1431512" y="2717205"/>
                <a:ext cx="1999586" cy="3010056"/>
              </a:xfrm>
              <a:prstGeom prst="rect">
                <a:avLst/>
              </a:prstGeom>
              <a:solidFill>
                <a:srgbClr val="FFC000"/>
              </a:solidFill>
              <a:ln w="12700">
                <a:solidFill>
                  <a:schemeClr val="tx1"/>
                </a:solidFill>
              </a:ln>
            </p:spPr>
            <p:txBody>
              <a:bodyPr wrap="none" lIns="182880" tIns="146304" rIns="182880" bIns="146304" rtlCol="0">
                <a:noAutofit/>
              </a:bodyPr>
              <a:lstStyle/>
              <a:p>
                <a:pPr algn="ctr">
                  <a:lnSpc>
                    <a:spcPct val="90000"/>
                  </a:lnSpc>
                  <a:spcAft>
                    <a:spcPts val="1800"/>
                  </a:spcAft>
                </a:pPr>
                <a:r>
                  <a:rPr lang="en-US" sz="2000" b="1" dirty="0">
                    <a:gradFill>
                      <a:gsLst>
                        <a:gs pos="2917">
                          <a:schemeClr val="tx1"/>
                        </a:gs>
                        <a:gs pos="30000">
                          <a:schemeClr val="tx1"/>
                        </a:gs>
                      </a:gsLst>
                      <a:lin ang="5400000" scaled="0"/>
                    </a:gradFill>
                  </a:rPr>
                  <a:t>Hardware</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 .. …</a:t>
                </a:r>
              </a:p>
            </p:txBody>
          </p:sp>
        </p:grpSp>
      </p:grpSp>
      <p:sp>
        <p:nvSpPr>
          <p:cNvPr id="13" name="TextBox 12">
            <a:extLst>
              <a:ext uri="{FF2B5EF4-FFF2-40B4-BE49-F238E27FC236}">
                <a16:creationId xmlns:a16="http://schemas.microsoft.com/office/drawing/2014/main" id="{8F769F09-E7DF-C1A8-B432-37190AABE0F7}"/>
              </a:ext>
            </a:extLst>
          </p:cNvPr>
          <p:cNvSpPr txBox="1"/>
          <p:nvPr/>
        </p:nvSpPr>
        <p:spPr>
          <a:xfrm>
            <a:off x="918974" y="5378311"/>
            <a:ext cx="3286476" cy="523220"/>
          </a:xfrm>
          <a:prstGeom prst="rect">
            <a:avLst/>
          </a:prstGeom>
          <a:noFill/>
        </p:spPr>
        <p:txBody>
          <a:bodyPr wrap="none" rtlCol="0">
            <a:spAutoFit/>
          </a:bodyPr>
          <a:lstStyle/>
          <a:p>
            <a:pPr algn="ctr"/>
            <a:r>
              <a:rPr lang="en-US" sz="2800" dirty="0">
                <a:latin typeface="Amazon Ember" panose="020B0603020204020204" pitchFamily="34" charset="0"/>
                <a:ea typeface="Amazon Ember" panose="020B0603020204020204" pitchFamily="34" charset="0"/>
                <a:cs typeface="Amazon Ember" panose="020B0603020204020204" pitchFamily="34" charset="0"/>
              </a:rPr>
              <a:t>Running data centers</a:t>
            </a:r>
          </a:p>
        </p:txBody>
      </p:sp>
      <p:sp>
        <p:nvSpPr>
          <p:cNvPr id="14" name="Left-Right Arrow 11" descr="Left-right arrow labeled investment.">
            <a:extLst>
              <a:ext uri="{FF2B5EF4-FFF2-40B4-BE49-F238E27FC236}">
                <a16:creationId xmlns:a16="http://schemas.microsoft.com/office/drawing/2014/main" id="{15FFC683-E40E-B3EE-E691-61C76383B566}"/>
              </a:ext>
            </a:extLst>
          </p:cNvPr>
          <p:cNvSpPr/>
          <p:nvPr/>
        </p:nvSpPr>
        <p:spPr bwMode="auto">
          <a:xfrm>
            <a:off x="4819395" y="2849519"/>
            <a:ext cx="2559864" cy="1662774"/>
          </a:xfrm>
          <a:prstGeom prst="leftRightArrow">
            <a:avLst>
              <a:gd name="adj1" fmla="val 35090"/>
              <a:gd name="adj2" fmla="val 41055"/>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Investment</a:t>
            </a:r>
          </a:p>
        </p:txBody>
      </p:sp>
      <p:grpSp>
        <p:nvGrpSpPr>
          <p:cNvPr id="15" name="Group 14" descr="Cartoon office building and cartoon outline of people.">
            <a:extLst>
              <a:ext uri="{FF2B5EF4-FFF2-40B4-BE49-F238E27FC236}">
                <a16:creationId xmlns:a16="http://schemas.microsoft.com/office/drawing/2014/main" id="{7C27AC8B-5C48-990E-2EAF-B4EE7842196B}"/>
              </a:ext>
            </a:extLst>
          </p:cNvPr>
          <p:cNvGrpSpPr/>
          <p:nvPr/>
        </p:nvGrpSpPr>
        <p:grpSpPr>
          <a:xfrm>
            <a:off x="6918258" y="1965560"/>
            <a:ext cx="5175705" cy="3285723"/>
            <a:chOff x="6911907" y="1965559"/>
            <a:chExt cx="5175705" cy="3285723"/>
          </a:xfrm>
        </p:grpSpPr>
        <p:pic>
          <p:nvPicPr>
            <p:cNvPr id="16" name="Picture 15" descr="Cartoon office building.">
              <a:extLst>
                <a:ext uri="{FF2B5EF4-FFF2-40B4-BE49-F238E27FC236}">
                  <a16:creationId xmlns:a16="http://schemas.microsoft.com/office/drawing/2014/main" id="{B83F7958-6A69-A6DA-78F7-393D71BCA1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11907" y="1965559"/>
              <a:ext cx="3148995" cy="3148995"/>
            </a:xfrm>
            <a:prstGeom prst="rect">
              <a:avLst/>
            </a:prstGeom>
          </p:spPr>
        </p:pic>
        <p:grpSp>
          <p:nvGrpSpPr>
            <p:cNvPr id="17" name="Group 16">
              <a:extLst>
                <a:ext uri="{FF2B5EF4-FFF2-40B4-BE49-F238E27FC236}">
                  <a16:creationId xmlns:a16="http://schemas.microsoft.com/office/drawing/2014/main" id="{6A0BD707-C241-9CB9-166E-F1E54FBF93AB}"/>
                </a:ext>
              </a:extLst>
            </p:cNvPr>
            <p:cNvGrpSpPr/>
            <p:nvPr/>
          </p:nvGrpSpPr>
          <p:grpSpPr>
            <a:xfrm>
              <a:off x="9595462" y="3290019"/>
              <a:ext cx="2492150" cy="1961263"/>
              <a:chOff x="9595462" y="3290019"/>
              <a:chExt cx="2492150" cy="1961263"/>
            </a:xfrm>
          </p:grpSpPr>
          <p:pic>
            <p:nvPicPr>
              <p:cNvPr id="18" name="Picture 17" descr="Cartoon of customer outlines.">
                <a:extLst>
                  <a:ext uri="{FF2B5EF4-FFF2-40B4-BE49-F238E27FC236}">
                    <a16:creationId xmlns:a16="http://schemas.microsoft.com/office/drawing/2014/main" id="{695E7F81-6309-91CE-3DE8-CABB8D5B6ECD}"/>
                  </a:ext>
                </a:extLst>
              </p:cNvPr>
              <p:cNvPicPr>
                <a:picLocks noChangeAspect="1"/>
              </p:cNvPicPr>
              <p:nvPr/>
            </p:nvPicPr>
            <p:blipFill>
              <a:blip r:embed="rId5">
                <a:duotone>
                  <a:prstClr val="black"/>
                  <a:schemeClr val="accent3">
                    <a:tint val="45000"/>
                    <a:satMod val="400000"/>
                  </a:schemeClr>
                </a:duotone>
              </a:blip>
              <a:stretch>
                <a:fillRect/>
              </a:stretch>
            </p:blipFill>
            <p:spPr>
              <a:xfrm>
                <a:off x="10154557" y="3290019"/>
                <a:ext cx="1532065" cy="1532065"/>
              </a:xfrm>
              <a:prstGeom prst="rect">
                <a:avLst/>
              </a:prstGeom>
            </p:spPr>
          </p:pic>
          <p:pic>
            <p:nvPicPr>
              <p:cNvPr id="19" name="Picture 18" descr="Cartoon outline of customers.">
                <a:extLst>
                  <a:ext uri="{FF2B5EF4-FFF2-40B4-BE49-F238E27FC236}">
                    <a16:creationId xmlns:a16="http://schemas.microsoft.com/office/drawing/2014/main" id="{B411E76C-EEC8-4957-DA6C-8233F142E165}"/>
                  </a:ext>
                </a:extLst>
              </p:cNvPr>
              <p:cNvPicPr>
                <a:picLocks noChangeAspect="1"/>
              </p:cNvPicPr>
              <p:nvPr/>
            </p:nvPicPr>
            <p:blipFill>
              <a:blip r:embed="rId5">
                <a:duotone>
                  <a:prstClr val="black"/>
                  <a:schemeClr val="accent3">
                    <a:tint val="45000"/>
                    <a:satMod val="400000"/>
                  </a:schemeClr>
                </a:duotone>
              </a:blip>
              <a:stretch>
                <a:fillRect/>
              </a:stretch>
            </p:blipFill>
            <p:spPr>
              <a:xfrm>
                <a:off x="9595462" y="3675983"/>
                <a:ext cx="1532065" cy="1532065"/>
              </a:xfrm>
              <a:prstGeom prst="rect">
                <a:avLst/>
              </a:prstGeom>
            </p:spPr>
          </p:pic>
          <p:pic>
            <p:nvPicPr>
              <p:cNvPr id="20" name="Picture 19" descr="Cartoon outline of customers.">
                <a:extLst>
                  <a:ext uri="{FF2B5EF4-FFF2-40B4-BE49-F238E27FC236}">
                    <a16:creationId xmlns:a16="http://schemas.microsoft.com/office/drawing/2014/main" id="{D8201C07-8618-A496-C9B3-10438016B1A5}"/>
                  </a:ext>
                </a:extLst>
              </p:cNvPr>
              <p:cNvPicPr>
                <a:picLocks noChangeAspect="1"/>
              </p:cNvPicPr>
              <p:nvPr/>
            </p:nvPicPr>
            <p:blipFill>
              <a:blip r:embed="rId6">
                <a:duotone>
                  <a:prstClr val="black"/>
                  <a:schemeClr val="accent3">
                    <a:tint val="45000"/>
                    <a:satMod val="400000"/>
                  </a:schemeClr>
                </a:duotone>
                <a:extLst>
                  <a:ext uri="{BEBA8EAE-BF5A-486C-A8C5-ECC9F3942E4B}">
                    <a14:imgProps xmlns:a14="http://schemas.microsoft.com/office/drawing/2010/main">
                      <a14:imgLayer r:embed="rId7">
                        <a14:imgEffect>
                          <a14:colorTemperature colorTemp="4700"/>
                        </a14:imgEffect>
                      </a14:imgLayer>
                    </a14:imgProps>
                  </a:ext>
                </a:extLst>
              </a:blip>
              <a:stretch>
                <a:fillRect/>
              </a:stretch>
            </p:blipFill>
            <p:spPr>
              <a:xfrm>
                <a:off x="9817967" y="3530571"/>
                <a:ext cx="1532065" cy="1532065"/>
              </a:xfrm>
              <a:prstGeom prst="rect">
                <a:avLst/>
              </a:prstGeom>
            </p:spPr>
          </p:pic>
          <p:pic>
            <p:nvPicPr>
              <p:cNvPr id="21" name="Picture 20" descr="Cartoon outline of customers.">
                <a:extLst>
                  <a:ext uri="{FF2B5EF4-FFF2-40B4-BE49-F238E27FC236}">
                    <a16:creationId xmlns:a16="http://schemas.microsoft.com/office/drawing/2014/main" id="{0EFE952F-E58C-D05A-B777-D672E2CF1DE1}"/>
                  </a:ext>
                </a:extLst>
              </p:cNvPr>
              <p:cNvPicPr>
                <a:picLocks noChangeAspect="1"/>
              </p:cNvPicPr>
              <p:nvPr/>
            </p:nvPicPr>
            <p:blipFill>
              <a:blip r:embed="rId5">
                <a:duotone>
                  <a:prstClr val="black"/>
                  <a:schemeClr val="accent3">
                    <a:tint val="45000"/>
                    <a:satMod val="400000"/>
                  </a:schemeClr>
                </a:duotone>
              </a:blip>
              <a:stretch>
                <a:fillRect/>
              </a:stretch>
            </p:blipFill>
            <p:spPr>
              <a:xfrm>
                <a:off x="10097287" y="3650030"/>
                <a:ext cx="1532065" cy="1532065"/>
              </a:xfrm>
              <a:prstGeom prst="rect">
                <a:avLst/>
              </a:prstGeom>
            </p:spPr>
          </p:pic>
          <p:pic>
            <p:nvPicPr>
              <p:cNvPr id="22" name="Picture 21" descr="Cartoon outline of customers.">
                <a:extLst>
                  <a:ext uri="{FF2B5EF4-FFF2-40B4-BE49-F238E27FC236}">
                    <a16:creationId xmlns:a16="http://schemas.microsoft.com/office/drawing/2014/main" id="{4761F254-86D8-3606-A039-C3E74BC18223}"/>
                  </a:ext>
                </a:extLst>
              </p:cNvPr>
              <p:cNvPicPr>
                <a:picLocks noChangeAspect="1"/>
              </p:cNvPicPr>
              <p:nvPr/>
            </p:nvPicPr>
            <p:blipFill>
              <a:blip r:embed="rId5">
                <a:duotone>
                  <a:prstClr val="black"/>
                  <a:schemeClr val="accent3">
                    <a:tint val="45000"/>
                    <a:satMod val="400000"/>
                  </a:schemeClr>
                </a:duotone>
              </a:blip>
              <a:stretch>
                <a:fillRect/>
              </a:stretch>
            </p:blipFill>
            <p:spPr>
              <a:xfrm>
                <a:off x="10376607" y="3504618"/>
                <a:ext cx="1532065" cy="1532065"/>
              </a:xfrm>
              <a:prstGeom prst="rect">
                <a:avLst/>
              </a:prstGeom>
            </p:spPr>
          </p:pic>
          <p:pic>
            <p:nvPicPr>
              <p:cNvPr id="23" name="Picture 22" descr="Cartoon outline of customers.">
                <a:extLst>
                  <a:ext uri="{FF2B5EF4-FFF2-40B4-BE49-F238E27FC236}">
                    <a16:creationId xmlns:a16="http://schemas.microsoft.com/office/drawing/2014/main" id="{B48C5D42-327E-7B17-EA1C-5E15063250CF}"/>
                  </a:ext>
                </a:extLst>
              </p:cNvPr>
              <p:cNvPicPr>
                <a:picLocks noChangeAspect="1"/>
              </p:cNvPicPr>
              <p:nvPr/>
            </p:nvPicPr>
            <p:blipFill>
              <a:blip r:embed="rId5">
                <a:duotone>
                  <a:prstClr val="black"/>
                  <a:schemeClr val="accent3">
                    <a:tint val="45000"/>
                    <a:satMod val="400000"/>
                  </a:schemeClr>
                </a:duotone>
              </a:blip>
              <a:stretch>
                <a:fillRect/>
              </a:stretch>
            </p:blipFill>
            <p:spPr>
              <a:xfrm>
                <a:off x="10555547" y="3719217"/>
                <a:ext cx="1532065" cy="1532065"/>
              </a:xfrm>
              <a:prstGeom prst="rect">
                <a:avLst/>
              </a:prstGeom>
            </p:spPr>
          </p:pic>
        </p:grpSp>
      </p:grpSp>
      <p:sp>
        <p:nvSpPr>
          <p:cNvPr id="24" name="TextBox 23">
            <a:extLst>
              <a:ext uri="{FF2B5EF4-FFF2-40B4-BE49-F238E27FC236}">
                <a16:creationId xmlns:a16="http://schemas.microsoft.com/office/drawing/2014/main" id="{0CAD13B0-CC6D-926B-B21A-16AFDF5AF419}"/>
              </a:ext>
            </a:extLst>
          </p:cNvPr>
          <p:cNvSpPr txBox="1"/>
          <p:nvPr/>
        </p:nvSpPr>
        <p:spPr>
          <a:xfrm>
            <a:off x="7810696" y="5378311"/>
            <a:ext cx="3677610" cy="523220"/>
          </a:xfrm>
          <a:prstGeom prst="rect">
            <a:avLst/>
          </a:prstGeom>
          <a:noFill/>
        </p:spPr>
        <p:txBody>
          <a:bodyPr wrap="none" rtlCol="0">
            <a:spAutoFit/>
          </a:bodyPr>
          <a:lstStyle/>
          <a:p>
            <a:pPr algn="ctr"/>
            <a:r>
              <a:rPr lang="en-US" sz="2800" dirty="0">
                <a:latin typeface="Amazon Ember" panose="020B0603020204020204" pitchFamily="34" charset="0"/>
                <a:ea typeface="Amazon Ember" panose="020B0603020204020204" pitchFamily="34" charset="0"/>
                <a:cs typeface="Amazon Ember" panose="020B0603020204020204" pitchFamily="34" charset="0"/>
              </a:rPr>
              <a:t>Business and customers</a:t>
            </a:r>
          </a:p>
        </p:txBody>
      </p:sp>
    </p:spTree>
    <p:extLst>
      <p:ext uri="{BB962C8B-B14F-4D97-AF65-F5344CB8AC3E}">
        <p14:creationId xmlns:p14="http://schemas.microsoft.com/office/powerpoint/2010/main" val="37350858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E504F1E3-BCB4-6CC3-77F6-353EE07DA9AE}"/>
              </a:ext>
            </a:extLst>
          </p:cNvPr>
          <p:cNvSpPr>
            <a:spLocks noGrp="1"/>
          </p:cNvSpPr>
          <p:nvPr>
            <p:ph type="sldNum" sz="quarter" idx="20"/>
          </p:nvPr>
        </p:nvSpPr>
        <p:spPr/>
        <p:txBody>
          <a:bodyPr/>
          <a:lstStyle/>
          <a:p>
            <a:fld id="{930176A1-BCF0-4712-97A6-6B495F55390B}" type="slidenum">
              <a:rPr lang="en-US" smtClean="0"/>
              <a:pPr/>
              <a:t>33</a:t>
            </a:fld>
            <a:endParaRPr lang="en-US" dirty="0"/>
          </a:p>
        </p:txBody>
      </p:sp>
      <p:sp>
        <p:nvSpPr>
          <p:cNvPr id="2" name="Title 1"/>
          <p:cNvSpPr>
            <a:spLocks noGrp="1"/>
          </p:cNvSpPr>
          <p:nvPr>
            <p:ph type="title"/>
          </p:nvPr>
        </p:nvSpPr>
        <p:spPr/>
        <p:txBody>
          <a:bodyPr>
            <a:noAutofit/>
          </a:bodyPr>
          <a:lstStyle/>
          <a:p>
            <a:r>
              <a:rPr lang="en-US" dirty="0"/>
              <a:t>Global reach within minutes</a:t>
            </a:r>
          </a:p>
        </p:txBody>
      </p:sp>
      <p:grpSp>
        <p:nvGrpSpPr>
          <p:cNvPr id="11" name="Group 10" descr="World map of AWS Regions overlaid with a screenshot of the AWS management console with arrows pointing out to colorful photography icons on the different continents.">
            <a:extLst>
              <a:ext uri="{FF2B5EF4-FFF2-40B4-BE49-F238E27FC236}">
                <a16:creationId xmlns:a16="http://schemas.microsoft.com/office/drawing/2014/main" id="{202CD4C5-064E-4B29-976C-D4EB4593C5EB}"/>
              </a:ext>
            </a:extLst>
          </p:cNvPr>
          <p:cNvGrpSpPr/>
          <p:nvPr/>
        </p:nvGrpSpPr>
        <p:grpSpPr>
          <a:xfrm>
            <a:off x="6350" y="1285457"/>
            <a:ext cx="12192000" cy="5070893"/>
            <a:chOff x="0" y="1285456"/>
            <a:chExt cx="12192000" cy="5070893"/>
          </a:xfrm>
        </p:grpSpPr>
        <p:pic>
          <p:nvPicPr>
            <p:cNvPr id="5" name="Picture 4" descr="World map of AWS Regions."/>
            <p:cNvPicPr>
              <a:picLocks noChangeAspect="1"/>
            </p:cNvPicPr>
            <p:nvPr/>
          </p:nvPicPr>
          <p:blipFill rotWithShape="1">
            <a:blip r:embed="rId4"/>
            <a:srcRect t="14921" b="11880"/>
            <a:stretch/>
          </p:blipFill>
          <p:spPr>
            <a:xfrm>
              <a:off x="0" y="1300695"/>
              <a:ext cx="12192000" cy="5055654"/>
            </a:xfrm>
            <a:prstGeom prst="rect">
              <a:avLst/>
            </a:prstGeom>
            <a:ln w="19050">
              <a:solidFill>
                <a:schemeClr val="tx1"/>
              </a:solidFill>
            </a:ln>
          </p:spPr>
        </p:pic>
        <p:sp>
          <p:nvSpPr>
            <p:cNvPr id="8" name="Rectangle 7"/>
            <p:cNvSpPr/>
            <p:nvPr/>
          </p:nvSpPr>
          <p:spPr bwMode="auto">
            <a:xfrm>
              <a:off x="0" y="1285456"/>
              <a:ext cx="12192000" cy="5055654"/>
            </a:xfrm>
            <a:prstGeom prst="rect">
              <a:avLst/>
            </a:prstGeom>
            <a:solidFill>
              <a:srgbClr val="FFFFFF">
                <a:alpha val="50196"/>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Rounded Rectangle 5"/>
            <p:cNvSpPr/>
            <p:nvPr/>
          </p:nvSpPr>
          <p:spPr bwMode="auto">
            <a:xfrm>
              <a:off x="3405908" y="4625178"/>
              <a:ext cx="954057" cy="949514"/>
            </a:xfrm>
            <a:prstGeom prst="roundRect">
              <a:avLst/>
            </a:prstGeom>
            <a:solidFill>
              <a:schemeClr val="bg1"/>
            </a:solidFill>
            <a:ln w="2857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7" name="Picture 16">
              <a:extLst>
                <a:ext uri="{C183D7F6-B498-43B3-948B-1728B52AA6E4}">
                  <adec:decorative xmlns:adec="http://schemas.microsoft.com/office/drawing/2017/decorative" val="1"/>
                </a:ext>
              </a:extLst>
            </p:cNvPr>
            <p:cNvPicPr>
              <a:picLocks noChangeAspect="1"/>
            </p:cNvPicPr>
            <p:nvPr/>
          </p:nvPicPr>
          <p:blipFill>
            <a:blip r:embed="rId5">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3405908" y="4625177"/>
              <a:ext cx="954057" cy="949514"/>
            </a:xfrm>
            <a:prstGeom prst="rect">
              <a:avLst/>
            </a:prstGeom>
          </p:spPr>
        </p:pic>
        <p:sp>
          <p:nvSpPr>
            <p:cNvPr id="20" name="Rounded Rectangle 19"/>
            <p:cNvSpPr/>
            <p:nvPr/>
          </p:nvSpPr>
          <p:spPr bwMode="auto">
            <a:xfrm>
              <a:off x="2559870" y="2000080"/>
              <a:ext cx="975688" cy="971042"/>
            </a:xfrm>
            <a:prstGeom prst="roundRect">
              <a:avLst/>
            </a:prstGeom>
            <a:solidFill>
              <a:schemeClr val="bg1"/>
            </a:solidFill>
            <a:ln w="2857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21" name="Picture 20">
              <a:extLst>
                <a:ext uri="{C183D7F6-B498-43B3-948B-1728B52AA6E4}">
                  <adec:decorative xmlns:adec="http://schemas.microsoft.com/office/drawing/2017/decorative" val="1"/>
                </a:ext>
              </a:extLst>
            </p:cNvPr>
            <p:cNvPicPr>
              <a:picLocks noChangeAspect="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559870" y="2000079"/>
              <a:ext cx="975688" cy="971042"/>
            </a:xfrm>
            <a:prstGeom prst="rect">
              <a:avLst/>
            </a:prstGeom>
          </p:spPr>
        </p:pic>
        <p:sp>
          <p:nvSpPr>
            <p:cNvPr id="23" name="Rounded Rectangle 22"/>
            <p:cNvSpPr/>
            <p:nvPr/>
          </p:nvSpPr>
          <p:spPr bwMode="auto">
            <a:xfrm>
              <a:off x="9802619" y="4855955"/>
              <a:ext cx="994840" cy="990103"/>
            </a:xfrm>
            <a:prstGeom prst="roundRect">
              <a:avLst/>
            </a:prstGeom>
            <a:solidFill>
              <a:schemeClr val="bg1"/>
            </a:solidFill>
            <a:ln w="2857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24" name="Picture 23">
              <a:extLst>
                <a:ext uri="{C183D7F6-B498-43B3-948B-1728B52AA6E4}">
                  <adec:decorative xmlns:adec="http://schemas.microsoft.com/office/drawing/2017/decorative" val="1"/>
                </a:ext>
              </a:extLst>
            </p:cNvPr>
            <p:cNvPicPr>
              <a:picLocks noChangeAspect="1"/>
            </p:cNvPicPr>
            <p:nvPr/>
          </p:nvPicPr>
          <p:blipFill>
            <a:blip r:embed="rId5">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9802619" y="4855954"/>
              <a:ext cx="994840" cy="990103"/>
            </a:xfrm>
            <a:prstGeom prst="rect">
              <a:avLst/>
            </a:prstGeom>
          </p:spPr>
        </p:pic>
        <p:sp>
          <p:nvSpPr>
            <p:cNvPr id="29" name="Rounded Rectangle 28"/>
            <p:cNvSpPr/>
            <p:nvPr/>
          </p:nvSpPr>
          <p:spPr bwMode="auto">
            <a:xfrm>
              <a:off x="9042712" y="2776323"/>
              <a:ext cx="964829" cy="960235"/>
            </a:xfrm>
            <a:prstGeom prst="roundRect">
              <a:avLst/>
            </a:prstGeom>
            <a:solidFill>
              <a:schemeClr val="bg1"/>
            </a:solidFill>
            <a:ln w="2857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30" name="Picture 29">
              <a:extLst>
                <a:ext uri="{C183D7F6-B498-43B3-948B-1728B52AA6E4}">
                  <adec:decorative xmlns:adec="http://schemas.microsoft.com/office/drawing/2017/decorative" val="1"/>
                </a:ext>
              </a:extLst>
            </p:cNvPr>
            <p:cNvPicPr>
              <a:picLocks noChangeAspect="1"/>
            </p:cNvPicPr>
            <p:nvPr/>
          </p:nvPicPr>
          <p:blipFill>
            <a:blip r:embed="rId5">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9042712" y="2776322"/>
              <a:ext cx="964829" cy="960235"/>
            </a:xfrm>
            <a:prstGeom prst="rect">
              <a:avLst/>
            </a:prstGeom>
          </p:spPr>
        </p:pic>
        <p:cxnSp>
          <p:nvCxnSpPr>
            <p:cNvPr id="12" name="Straight Arrow Connector 11"/>
            <p:cNvCxnSpPr/>
            <p:nvPr/>
          </p:nvCxnSpPr>
          <p:spPr>
            <a:xfrm rot="10800000" flipV="1">
              <a:off x="4354286" y="4048144"/>
              <a:ext cx="2203166" cy="677195"/>
            </a:xfrm>
            <a:prstGeom prst="bentConnector3">
              <a:avLst>
                <a:gd name="adj1" fmla="val 50000"/>
              </a:avLst>
            </a:prstGeom>
            <a:ln w="28575">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10800000">
              <a:off x="3541486" y="2838483"/>
              <a:ext cx="3015966" cy="1209662"/>
            </a:xfrm>
            <a:prstGeom prst="bentConnector3">
              <a:avLst>
                <a:gd name="adj1" fmla="val 50000"/>
              </a:avLst>
            </a:prstGeom>
            <a:ln w="28575">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6531429" y="3651283"/>
              <a:ext cx="2481942" cy="391886"/>
            </a:xfrm>
            <a:prstGeom prst="bentConnector3">
              <a:avLst>
                <a:gd name="adj1" fmla="val 50000"/>
              </a:avLst>
            </a:prstGeom>
            <a:ln w="28575">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6557452" y="4048145"/>
              <a:ext cx="3268719" cy="865881"/>
            </a:xfrm>
            <a:prstGeom prst="bentConnector3">
              <a:avLst>
                <a:gd name="adj1" fmla="val 50000"/>
              </a:avLst>
            </a:prstGeom>
            <a:ln w="28575">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34" name="Picture 33">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95145" y="2485601"/>
              <a:ext cx="3947887" cy="3125089"/>
            </a:xfrm>
            <a:prstGeom prst="rect">
              <a:avLst/>
            </a:prstGeom>
            <a:ln w="28575">
              <a:solidFill>
                <a:schemeClr val="tx1"/>
              </a:solidFill>
            </a:ln>
            <a:effectLst>
              <a:outerShdw blurRad="50800" dist="38100" dir="2700000" algn="tl" rotWithShape="0">
                <a:prstClr val="black">
                  <a:alpha val="40000"/>
                </a:prstClr>
              </a:outerShdw>
            </a:effectLst>
          </p:spPr>
        </p:pic>
        <p:pic>
          <p:nvPicPr>
            <p:cNvPr id="3" name="Pictur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7413077" y="2500841"/>
              <a:ext cx="1229955" cy="3125089"/>
            </a:xfrm>
            <a:prstGeom prst="rect">
              <a:avLst/>
            </a:prstGeom>
            <a:ln w="28575">
              <a:solidFill>
                <a:schemeClr val="tx1"/>
              </a:solidFill>
            </a:ln>
            <a:effectLst>
              <a:outerShdw blurRad="50800" dist="38100" dir="2700000" algn="tl" rotWithShape="0">
                <a:prstClr val="black">
                  <a:alpha val="40000"/>
                </a:prstClr>
              </a:outerShdw>
            </a:effectLst>
          </p:spPr>
        </p:pic>
      </p:grpSp>
    </p:spTree>
    <p:custDataLst>
      <p:tags r:id="rId1"/>
    </p:custDataLst>
    <p:extLst>
      <p:ext uri="{BB962C8B-B14F-4D97-AF65-F5344CB8AC3E}">
        <p14:creationId xmlns:p14="http://schemas.microsoft.com/office/powerpoint/2010/main" val="8029986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80DE76-7311-A941-BEEE-39BD4F088999}"/>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34</a:t>
            </a:fld>
            <a:endParaRPr lang="en-US" dirty="0"/>
          </a:p>
        </p:txBody>
      </p:sp>
      <p:sp>
        <p:nvSpPr>
          <p:cNvPr id="2" name="Title 1">
            <a:extLst>
              <a:ext uri="{FF2B5EF4-FFF2-40B4-BE49-F238E27FC236}">
                <a16:creationId xmlns:a16="http://schemas.microsoft.com/office/drawing/2014/main" id="{23B179EA-DD20-D84F-A9E6-EAE1B9D86203}"/>
              </a:ext>
            </a:extLst>
          </p:cNvPr>
          <p:cNvSpPr>
            <a:spLocks noGrp="1"/>
          </p:cNvSpPr>
          <p:nvPr>
            <p:ph type="title"/>
          </p:nvPr>
        </p:nvSpPr>
        <p:spPr/>
        <p:txBody>
          <a:bodyPr/>
          <a:lstStyle/>
          <a:p>
            <a:r>
              <a:rPr lang="en-US" dirty="0"/>
              <a:t>AWS Global Infrastructure</a:t>
            </a:r>
          </a:p>
        </p:txBody>
      </p:sp>
      <p:sp>
        <p:nvSpPr>
          <p:cNvPr id="3" name="Content Placeholder 2">
            <a:extLst>
              <a:ext uri="{FF2B5EF4-FFF2-40B4-BE49-F238E27FC236}">
                <a16:creationId xmlns:a16="http://schemas.microsoft.com/office/drawing/2014/main" id="{CD187013-BE72-8142-9E68-CB78B2916219}"/>
              </a:ext>
            </a:extLst>
          </p:cNvPr>
          <p:cNvSpPr>
            <a:spLocks noGrp="1"/>
          </p:cNvSpPr>
          <p:nvPr>
            <p:ph sz="quarter" idx="21"/>
          </p:nvPr>
        </p:nvSpPr>
        <p:spPr>
          <a:xfrm>
            <a:off x="359512" y="1693739"/>
            <a:ext cx="11587890" cy="1377778"/>
          </a:xfrm>
        </p:spPr>
        <p:txBody>
          <a:bodyPr>
            <a:normAutofit/>
          </a:bodyPr>
          <a:lstStyle/>
          <a:p>
            <a:r>
              <a:rPr lang="en-GB" b="0" i="0" dirty="0">
                <a:solidFill>
                  <a:srgbClr val="202124"/>
                </a:solidFill>
                <a:effectLst/>
                <a:latin typeface="arial" panose="020B0604020202020204" pitchFamily="34" charset="0"/>
              </a:rPr>
              <a:t>The AWS Global Infrastructure was designed and built to provide a flexible, reliable, scalable, and secure cloud computing environment with high-performance global networking.</a:t>
            </a:r>
          </a:p>
        </p:txBody>
      </p:sp>
      <p:pic>
        <p:nvPicPr>
          <p:cNvPr id="11" name="Picture 10" descr="Example of AWS Global Infrastructure Map with the London circle selected.">
            <a:extLst>
              <a:ext uri="{FF2B5EF4-FFF2-40B4-BE49-F238E27FC236}">
                <a16:creationId xmlns:a16="http://schemas.microsoft.com/office/drawing/2014/main" id="{D4C93E41-19E1-4030-8370-741C7B795131}"/>
              </a:ext>
            </a:extLst>
          </p:cNvPr>
          <p:cNvPicPr>
            <a:picLocks noChangeAspect="1"/>
          </p:cNvPicPr>
          <p:nvPr/>
        </p:nvPicPr>
        <p:blipFill>
          <a:blip r:embed="rId4"/>
          <a:stretch>
            <a:fillRect/>
          </a:stretch>
        </p:blipFill>
        <p:spPr>
          <a:xfrm>
            <a:off x="5684812" y="2812460"/>
            <a:ext cx="6094439" cy="3326118"/>
          </a:xfrm>
          <a:prstGeom prst="rect">
            <a:avLst/>
          </a:prstGeom>
        </p:spPr>
      </p:pic>
      <p:sp>
        <p:nvSpPr>
          <p:cNvPr id="13" name="Content Placeholder 2">
            <a:extLst>
              <a:ext uri="{FF2B5EF4-FFF2-40B4-BE49-F238E27FC236}">
                <a16:creationId xmlns:a16="http://schemas.microsoft.com/office/drawing/2014/main" id="{CC3364EA-A46F-475D-B68F-2677DDDD3E9B}"/>
              </a:ext>
            </a:extLst>
          </p:cNvPr>
          <p:cNvSpPr txBox="1">
            <a:spLocks/>
          </p:cNvSpPr>
          <p:nvPr/>
        </p:nvSpPr>
        <p:spPr>
          <a:xfrm>
            <a:off x="425451" y="2822798"/>
            <a:ext cx="5161085" cy="332611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r>
              <a:rPr lang="en-US" sz="1800" dirty="0"/>
              <a:t>AWS Global Infrastructure Map: </a:t>
            </a:r>
            <a:r>
              <a:rPr lang="en-GB" sz="1400" dirty="0">
                <a:hlinkClick r:id="rId5"/>
              </a:rPr>
              <a:t>https://</a:t>
            </a:r>
            <a:r>
              <a:rPr lang="en-GB" sz="1400" dirty="0" err="1">
                <a:hlinkClick r:id="rId5"/>
              </a:rPr>
              <a:t>aws.amazon.com</a:t>
            </a:r>
            <a:r>
              <a:rPr lang="en-GB" sz="1400" dirty="0">
                <a:hlinkClick r:id="rId5"/>
              </a:rPr>
              <a:t>/about-</a:t>
            </a:r>
            <a:r>
              <a:rPr lang="en-GB" sz="1400" dirty="0" err="1">
                <a:hlinkClick r:id="rId5"/>
              </a:rPr>
              <a:t>aws</a:t>
            </a:r>
            <a:r>
              <a:rPr lang="en-GB" sz="1400" dirty="0">
                <a:hlinkClick r:id="rId5"/>
              </a:rPr>
              <a:t>/global-infrastructure/#</a:t>
            </a:r>
            <a:r>
              <a:rPr lang="en-GB" sz="1400" dirty="0" err="1">
                <a:hlinkClick r:id="rId5"/>
              </a:rPr>
              <a:t>AWS_Global_Infrastructure_Map</a:t>
            </a:r>
            <a:r>
              <a:rPr lang="en-US" sz="1800" dirty="0"/>
              <a:t> </a:t>
            </a:r>
            <a:br>
              <a:rPr lang="en-US" sz="1800" dirty="0"/>
            </a:br>
            <a:endParaRPr lang="en-US" sz="1800" dirty="0"/>
          </a:p>
          <a:p>
            <a:pPr marL="742950" lvl="1" indent="-285750"/>
            <a:r>
              <a:rPr lang="en-US" sz="1800" dirty="0"/>
              <a:t>Regions and Availability Zones: </a:t>
            </a:r>
            <a:r>
              <a:rPr lang="en-GB" sz="1400" dirty="0">
                <a:hlinkClick r:id="rId6"/>
              </a:rPr>
              <a:t>https://</a:t>
            </a:r>
            <a:r>
              <a:rPr lang="en-GB" sz="1400" dirty="0" err="1">
                <a:hlinkClick r:id="rId6"/>
              </a:rPr>
              <a:t>aws.amazon.com</a:t>
            </a:r>
            <a:r>
              <a:rPr lang="en-GB" sz="1400" dirty="0">
                <a:hlinkClick r:id="rId6"/>
              </a:rPr>
              <a:t>/about-</a:t>
            </a:r>
            <a:r>
              <a:rPr lang="en-GB" sz="1400" dirty="0" err="1">
                <a:hlinkClick r:id="rId6"/>
              </a:rPr>
              <a:t>aws</a:t>
            </a:r>
            <a:r>
              <a:rPr lang="en-GB" sz="1400" dirty="0">
                <a:hlinkClick r:id="rId6"/>
              </a:rPr>
              <a:t>/global-infrastructure/</a:t>
            </a:r>
            <a:r>
              <a:rPr lang="en-GB" sz="1400" dirty="0" err="1">
                <a:hlinkClick r:id="rId6"/>
              </a:rPr>
              <a:t>regions_az</a:t>
            </a:r>
            <a:r>
              <a:rPr lang="en-GB" sz="1400" dirty="0">
                <a:hlinkClick r:id="rId6"/>
              </a:rPr>
              <a:t>/</a:t>
            </a:r>
            <a:br>
              <a:rPr lang="en-US" sz="1800" dirty="0"/>
            </a:br>
            <a:endParaRPr lang="en-US" sz="1800" dirty="0"/>
          </a:p>
        </p:txBody>
      </p:sp>
    </p:spTree>
    <p:custDataLst>
      <p:tags r:id="rId1"/>
    </p:custDataLst>
    <p:extLst>
      <p:ext uri="{BB962C8B-B14F-4D97-AF65-F5344CB8AC3E}">
        <p14:creationId xmlns:p14="http://schemas.microsoft.com/office/powerpoint/2010/main" val="9903294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34E3763-1AA8-8F4E-B3E1-042F8AA3CAB8}"/>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35</a:t>
            </a:fld>
            <a:endParaRPr lang="en-US" dirty="0"/>
          </a:p>
        </p:txBody>
      </p:sp>
      <p:sp>
        <p:nvSpPr>
          <p:cNvPr id="5" name="Title 4"/>
          <p:cNvSpPr>
            <a:spLocks noGrp="1"/>
          </p:cNvSpPr>
          <p:nvPr>
            <p:ph type="title"/>
          </p:nvPr>
        </p:nvSpPr>
        <p:spPr/>
        <p:txBody>
          <a:bodyPr/>
          <a:lstStyle/>
          <a:p>
            <a:r>
              <a:rPr lang="en-US" dirty="0"/>
              <a:t>AWS Regions</a:t>
            </a:r>
          </a:p>
        </p:txBody>
      </p:sp>
      <p:sp>
        <p:nvSpPr>
          <p:cNvPr id="82" name="Content Placeholder 81"/>
          <p:cNvSpPr>
            <a:spLocks noGrp="1"/>
          </p:cNvSpPr>
          <p:nvPr>
            <p:ph sz="quarter" idx="21"/>
          </p:nvPr>
        </p:nvSpPr>
        <p:spPr>
          <a:xfrm>
            <a:off x="366142" y="1643743"/>
            <a:ext cx="7121968" cy="5291750"/>
          </a:xfrm>
        </p:spPr>
        <p:txBody>
          <a:bodyPr>
            <a:normAutofit/>
          </a:bodyPr>
          <a:lstStyle/>
          <a:p>
            <a:r>
              <a:rPr lang="en-GB" sz="2400" dirty="0"/>
              <a:t>An AWS Region is a geographic area.</a:t>
            </a:r>
          </a:p>
          <a:p>
            <a:pPr marL="342900" indent="-342900">
              <a:buFont typeface="Arial" panose="020B0604020202020204" pitchFamily="34" charset="0"/>
              <a:buChar char="•"/>
            </a:pPr>
            <a:r>
              <a:rPr lang="en-GB" sz="2400" dirty="0"/>
              <a:t>Data replication across regions is controlled by AWS</a:t>
            </a:r>
          </a:p>
          <a:p>
            <a:pPr marL="342900" indent="-342900">
              <a:buFont typeface="Arial" panose="020B0604020202020204" pitchFamily="34" charset="0"/>
              <a:buChar char="•"/>
            </a:pPr>
            <a:r>
              <a:rPr lang="en-GB" sz="2400" dirty="0"/>
              <a:t>Communication between regions uses the AWS backbone network infrastructure.</a:t>
            </a:r>
          </a:p>
          <a:p>
            <a:pPr marL="342900" indent="-342900">
              <a:buFont typeface="Arial" panose="020B0604020202020204" pitchFamily="34" charset="0"/>
              <a:buChar char="•"/>
            </a:pPr>
            <a:r>
              <a:rPr lang="en-GB" sz="2400" dirty="0"/>
              <a:t>Each region provides full redundancy and network connectivity.</a:t>
            </a:r>
          </a:p>
          <a:p>
            <a:pPr marL="342900" indent="-342900">
              <a:buFont typeface="Arial" panose="020B0604020202020204" pitchFamily="34" charset="0"/>
              <a:buChar char="•"/>
            </a:pPr>
            <a:r>
              <a:rPr lang="en-GB" sz="2400" dirty="0"/>
              <a:t>A region typically consists of two or more Availability Zones.</a:t>
            </a:r>
          </a:p>
        </p:txBody>
      </p:sp>
      <p:pic>
        <p:nvPicPr>
          <p:cNvPr id="7" name="Picture 6" descr="Snapshot from the infrastructure.aws website. See description in slide notes.">
            <a:extLst>
              <a:ext uri="{FF2B5EF4-FFF2-40B4-BE49-F238E27FC236}">
                <a16:creationId xmlns:a16="http://schemas.microsoft.com/office/drawing/2014/main" id="{41E8EDBE-1E70-6E4C-B5D1-307B0F49CB7F}"/>
              </a:ext>
            </a:extLst>
          </p:cNvPr>
          <p:cNvPicPr>
            <a:picLocks noChangeAspect="1"/>
          </p:cNvPicPr>
          <p:nvPr/>
        </p:nvPicPr>
        <p:blipFill>
          <a:blip r:embed="rId4"/>
          <a:stretch>
            <a:fillRect/>
          </a:stretch>
        </p:blipFill>
        <p:spPr>
          <a:xfrm>
            <a:off x="7747509" y="2433234"/>
            <a:ext cx="4226307" cy="3503387"/>
          </a:xfrm>
          <a:prstGeom prst="rect">
            <a:avLst/>
          </a:prstGeom>
        </p:spPr>
      </p:pic>
      <p:sp>
        <p:nvSpPr>
          <p:cNvPr id="8" name="TextBox 7">
            <a:extLst>
              <a:ext uri="{FF2B5EF4-FFF2-40B4-BE49-F238E27FC236}">
                <a16:creationId xmlns:a16="http://schemas.microsoft.com/office/drawing/2014/main" id="{0139AAD1-F803-8045-8389-DFF6D8425D61}"/>
              </a:ext>
              <a:ext uri="{C183D7F6-B498-43B3-948B-1728B52AA6E4}">
                <adec:decorative xmlns:adec="http://schemas.microsoft.com/office/drawing/2017/decorative" val="1"/>
              </a:ext>
            </a:extLst>
          </p:cNvPr>
          <p:cNvSpPr txBox="1"/>
          <p:nvPr/>
        </p:nvSpPr>
        <p:spPr>
          <a:xfrm>
            <a:off x="8795638" y="5952887"/>
            <a:ext cx="2239716"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Example: London Region</a:t>
            </a:r>
          </a:p>
        </p:txBody>
      </p:sp>
    </p:spTree>
    <p:custDataLst>
      <p:tags r:id="rId1"/>
    </p:custDataLst>
    <p:extLst>
      <p:ext uri="{BB962C8B-B14F-4D97-AF65-F5344CB8AC3E}">
        <p14:creationId xmlns:p14="http://schemas.microsoft.com/office/powerpoint/2010/main" val="17626787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2">
            <a:extLst>
              <a:ext uri="{FF2B5EF4-FFF2-40B4-BE49-F238E27FC236}">
                <a16:creationId xmlns:a16="http://schemas.microsoft.com/office/drawing/2014/main" id="{A8E0C7F1-1667-8748-9454-97D42B539905}"/>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36</a:t>
            </a:fld>
            <a:endParaRPr lang="en-US" dirty="0"/>
          </a:p>
        </p:txBody>
      </p:sp>
      <p:sp>
        <p:nvSpPr>
          <p:cNvPr id="2" name="Title 1"/>
          <p:cNvSpPr>
            <a:spLocks noGrp="1"/>
          </p:cNvSpPr>
          <p:nvPr>
            <p:ph type="title"/>
          </p:nvPr>
        </p:nvSpPr>
        <p:spPr/>
        <p:txBody>
          <a:bodyPr>
            <a:noAutofit/>
          </a:bodyPr>
          <a:lstStyle/>
          <a:p>
            <a:r>
              <a:rPr lang="en-US" dirty="0"/>
              <a:t>How to select a region?</a:t>
            </a:r>
          </a:p>
        </p:txBody>
      </p:sp>
      <p:sp>
        <p:nvSpPr>
          <p:cNvPr id="69" name="Parallelogram 68">
            <a:extLst>
              <a:ext uri="{C183D7F6-B498-43B3-948B-1728B52AA6E4}">
                <adec:decorative xmlns:adec="http://schemas.microsoft.com/office/drawing/2017/decorative" val="1"/>
              </a:ext>
            </a:extLst>
          </p:cNvPr>
          <p:cNvSpPr/>
          <p:nvPr/>
        </p:nvSpPr>
        <p:spPr>
          <a:xfrm>
            <a:off x="6559512" y="3915365"/>
            <a:ext cx="3438769" cy="139675"/>
          </a:xfrm>
          <a:prstGeom prst="parallelogram">
            <a:avLst>
              <a:gd name="adj" fmla="val 222143"/>
            </a:avLst>
          </a:prstGeom>
          <a:solidFill>
            <a:srgbClr val="008296"/>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64" name="Rectangle 63">
            <a:extLst>
              <a:ext uri="{C183D7F6-B498-43B3-948B-1728B52AA6E4}">
                <adec:decorative xmlns:adec="http://schemas.microsoft.com/office/drawing/2017/decorative" val="1"/>
              </a:ext>
            </a:extLst>
          </p:cNvPr>
          <p:cNvSpPr/>
          <p:nvPr/>
        </p:nvSpPr>
        <p:spPr>
          <a:xfrm>
            <a:off x="6112511" y="2760220"/>
            <a:ext cx="3988616" cy="1156676"/>
          </a:xfrm>
          <a:prstGeom prst="rect">
            <a:avLst/>
          </a:prstGeom>
          <a:solidFill>
            <a:srgbClr val="36C2B4"/>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65" name="Rectangle 64">
            <a:extLst>
              <a:ext uri="{C183D7F6-B498-43B3-948B-1728B52AA6E4}">
                <adec:decorative xmlns:adec="http://schemas.microsoft.com/office/drawing/2017/decorative" val="1"/>
              </a:ext>
            </a:extLst>
          </p:cNvPr>
          <p:cNvSpPr/>
          <p:nvPr/>
        </p:nvSpPr>
        <p:spPr>
          <a:xfrm>
            <a:off x="502058" y="1462740"/>
            <a:ext cx="9048680" cy="1141047"/>
          </a:xfrm>
          <a:prstGeom prst="rect">
            <a:avLst/>
          </a:prstGeom>
          <a:solidFill>
            <a:srgbClr val="504BAB"/>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66" name="Rectangle 65">
            <a:extLst>
              <a:ext uri="{C183D7F6-B498-43B3-948B-1728B52AA6E4}">
                <adec:decorative xmlns:adec="http://schemas.microsoft.com/office/drawing/2017/decorative" val="1"/>
              </a:ext>
            </a:extLst>
          </p:cNvPr>
          <p:cNvSpPr/>
          <p:nvPr/>
        </p:nvSpPr>
        <p:spPr>
          <a:xfrm>
            <a:off x="6542944" y="4058322"/>
            <a:ext cx="3985847" cy="1141047"/>
          </a:xfrm>
          <a:prstGeom prst="rect">
            <a:avLst/>
          </a:prstGeom>
          <a:solidFill>
            <a:srgbClr val="C9208A"/>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67" name="Rectangle 66">
            <a:extLst>
              <a:ext uri="{C183D7F6-B498-43B3-948B-1728B52AA6E4}">
                <adec:decorative xmlns:adec="http://schemas.microsoft.com/office/drawing/2017/decorative" val="1"/>
              </a:ext>
            </a:extLst>
          </p:cNvPr>
          <p:cNvSpPr/>
          <p:nvPr/>
        </p:nvSpPr>
        <p:spPr>
          <a:xfrm>
            <a:off x="7092303" y="5357546"/>
            <a:ext cx="4564185" cy="1141047"/>
          </a:xfrm>
          <a:prstGeom prst="rect">
            <a:avLst/>
          </a:prstGeom>
          <a:solidFill>
            <a:srgbClr val="232F3E"/>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70" name="Parallelogram 69">
            <a:extLst>
              <a:ext uri="{C183D7F6-B498-43B3-948B-1728B52AA6E4}">
                <adec:decorative xmlns:adec="http://schemas.microsoft.com/office/drawing/2017/decorative" val="1"/>
              </a:ext>
            </a:extLst>
          </p:cNvPr>
          <p:cNvSpPr/>
          <p:nvPr/>
        </p:nvSpPr>
        <p:spPr>
          <a:xfrm>
            <a:off x="6114899" y="2601702"/>
            <a:ext cx="3435839" cy="165735"/>
          </a:xfrm>
          <a:prstGeom prst="parallelogram">
            <a:avLst>
              <a:gd name="adj" fmla="val 222143"/>
            </a:avLst>
          </a:prstGeom>
          <a:solidFill>
            <a:srgbClr val="262262"/>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71" name="Parallelogram 70">
            <a:extLst>
              <a:ext uri="{C183D7F6-B498-43B3-948B-1728B52AA6E4}">
                <adec:decorative xmlns:adec="http://schemas.microsoft.com/office/drawing/2017/decorative" val="1"/>
              </a:ext>
            </a:extLst>
          </p:cNvPr>
          <p:cNvSpPr/>
          <p:nvPr/>
        </p:nvSpPr>
        <p:spPr>
          <a:xfrm>
            <a:off x="7094663" y="5197835"/>
            <a:ext cx="3438769" cy="159708"/>
          </a:xfrm>
          <a:prstGeom prst="parallelogram">
            <a:avLst>
              <a:gd name="adj" fmla="val 222143"/>
            </a:avLst>
          </a:prstGeom>
          <a:solidFill>
            <a:srgbClr val="9E1F63"/>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72" name="Oval 71">
            <a:extLst>
              <a:ext uri="{C183D7F6-B498-43B3-948B-1728B52AA6E4}">
                <adec:decorative xmlns:adec="http://schemas.microsoft.com/office/drawing/2017/decorative" val="1"/>
              </a:ext>
            </a:extLst>
          </p:cNvPr>
          <p:cNvSpPr/>
          <p:nvPr/>
        </p:nvSpPr>
        <p:spPr>
          <a:xfrm>
            <a:off x="6240159" y="2974017"/>
            <a:ext cx="731520" cy="731520"/>
          </a:xfrm>
          <a:prstGeom prst="ellipse">
            <a:avLst/>
          </a:prstGeom>
          <a:solidFill>
            <a:sysClr val="window" lastClr="FFFFFF"/>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73" name="Oval 72">
            <a:extLst>
              <a:ext uri="{C183D7F6-B498-43B3-948B-1728B52AA6E4}">
                <adec:decorative xmlns:adec="http://schemas.microsoft.com/office/drawing/2017/decorative" val="1"/>
              </a:ext>
            </a:extLst>
          </p:cNvPr>
          <p:cNvSpPr/>
          <p:nvPr/>
        </p:nvSpPr>
        <p:spPr>
          <a:xfrm>
            <a:off x="5807829" y="1657601"/>
            <a:ext cx="731520" cy="731520"/>
          </a:xfrm>
          <a:prstGeom prst="ellipse">
            <a:avLst/>
          </a:prstGeom>
          <a:solidFill>
            <a:sysClr val="window" lastClr="FFFFFF"/>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74" name="Oval 73">
            <a:extLst>
              <a:ext uri="{C183D7F6-B498-43B3-948B-1728B52AA6E4}">
                <adec:decorative xmlns:adec="http://schemas.microsoft.com/office/drawing/2017/decorative" val="1"/>
              </a:ext>
            </a:extLst>
          </p:cNvPr>
          <p:cNvSpPr/>
          <p:nvPr/>
        </p:nvSpPr>
        <p:spPr>
          <a:xfrm>
            <a:off x="6728901" y="4255268"/>
            <a:ext cx="731520" cy="731520"/>
          </a:xfrm>
          <a:prstGeom prst="ellipse">
            <a:avLst/>
          </a:prstGeom>
          <a:solidFill>
            <a:sysClr val="window" lastClr="FFFFFF"/>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75" name="Oval 74">
            <a:extLst>
              <a:ext uri="{C183D7F6-B498-43B3-948B-1728B52AA6E4}">
                <adec:decorative xmlns:adec="http://schemas.microsoft.com/office/drawing/2017/decorative" val="1"/>
              </a:ext>
            </a:extLst>
          </p:cNvPr>
          <p:cNvSpPr/>
          <p:nvPr/>
        </p:nvSpPr>
        <p:spPr>
          <a:xfrm>
            <a:off x="7290811" y="5562307"/>
            <a:ext cx="731520" cy="731520"/>
          </a:xfrm>
          <a:prstGeom prst="ellipse">
            <a:avLst/>
          </a:prstGeom>
          <a:solidFill>
            <a:sysClr val="window" lastClr="FFFFFF"/>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77" name="Rectangle 76"/>
          <p:cNvSpPr/>
          <p:nvPr/>
        </p:nvSpPr>
        <p:spPr>
          <a:xfrm>
            <a:off x="6713555" y="1646123"/>
            <a:ext cx="2752305" cy="707886"/>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r>
              <a:rPr lang="en-US" sz="2000" dirty="0">
                <a:solidFill>
                  <a:sysClr val="window" lastClr="FFFFFF"/>
                </a:solidFill>
                <a:latin typeface="Amazon Ember" panose="020B0603020204020204" pitchFamily="34" charset="0"/>
                <a:ea typeface="Amazon Ember" panose="020B0603020204020204" pitchFamily="34" charset="0"/>
                <a:cs typeface="Amazon Ember" panose="020B0603020204020204" pitchFamily="34" charset="0"/>
              </a:rPr>
              <a:t>Data governance, legal requirements</a:t>
            </a:r>
          </a:p>
        </p:txBody>
      </p:sp>
      <p:sp>
        <p:nvSpPr>
          <p:cNvPr id="76" name="Rectangle 75"/>
          <p:cNvSpPr/>
          <p:nvPr/>
        </p:nvSpPr>
        <p:spPr>
          <a:xfrm>
            <a:off x="7182935" y="2955782"/>
            <a:ext cx="2918192" cy="707886"/>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r>
              <a:rPr lang="en-US" sz="2000" dirty="0">
                <a:solidFill>
                  <a:sysClr val="window" lastClr="FFFFFF"/>
                </a:solidFill>
                <a:latin typeface="Amazon Ember" panose="020B0603020204020204" pitchFamily="34" charset="0"/>
                <a:ea typeface="Amazon Ember" panose="020B0603020204020204" pitchFamily="34" charset="0"/>
                <a:cs typeface="Amazon Ember" panose="020B0603020204020204" pitchFamily="34" charset="0"/>
              </a:rPr>
              <a:t>Proximity to customers (latency)</a:t>
            </a:r>
          </a:p>
        </p:txBody>
      </p:sp>
      <p:sp>
        <p:nvSpPr>
          <p:cNvPr id="78" name="Rectangle 77"/>
          <p:cNvSpPr/>
          <p:nvPr/>
        </p:nvSpPr>
        <p:spPr>
          <a:xfrm>
            <a:off x="7646379" y="4231177"/>
            <a:ext cx="2812988" cy="707886"/>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r>
              <a:rPr lang="en-US" sz="2000" dirty="0">
                <a:solidFill>
                  <a:sysClr val="window" lastClr="FFFFFF"/>
                </a:solidFill>
                <a:latin typeface="Amazon Ember" panose="020B0603020204020204" pitchFamily="34" charset="0"/>
                <a:ea typeface="Amazon Ember" panose="020B0603020204020204" pitchFamily="34" charset="0"/>
                <a:cs typeface="Amazon Ember" panose="020B0603020204020204" pitchFamily="34" charset="0"/>
              </a:rPr>
              <a:t>Services available within the Region</a:t>
            </a:r>
          </a:p>
        </p:txBody>
      </p:sp>
      <p:sp>
        <p:nvSpPr>
          <p:cNvPr id="79" name="Rectangle 78"/>
          <p:cNvSpPr/>
          <p:nvPr/>
        </p:nvSpPr>
        <p:spPr>
          <a:xfrm>
            <a:off x="8220842" y="5693573"/>
            <a:ext cx="3287464" cy="40011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r>
              <a:rPr lang="en-US" sz="2000" dirty="0">
                <a:solidFill>
                  <a:sysClr val="window" lastClr="FFFFFF"/>
                </a:solidFill>
                <a:latin typeface="Amazon Ember" panose="020B0603020204020204" pitchFamily="34" charset="0"/>
                <a:ea typeface="Amazon Ember" panose="020B0603020204020204" pitchFamily="34" charset="0"/>
                <a:cs typeface="Amazon Ember" panose="020B0603020204020204" pitchFamily="34" charset="0"/>
              </a:rPr>
              <a:t>Costs (vary by Region)</a:t>
            </a:r>
          </a:p>
        </p:txBody>
      </p:sp>
      <p:sp>
        <p:nvSpPr>
          <p:cNvPr id="92" name="Freeform 91">
            <a:extLst>
              <a:ext uri="{C183D7F6-B498-43B3-948B-1728B52AA6E4}">
                <adec:decorative xmlns:adec="http://schemas.microsoft.com/office/drawing/2017/decorative" val="1"/>
              </a:ext>
            </a:extLst>
          </p:cNvPr>
          <p:cNvSpPr>
            <a:spLocks noEditPoints="1"/>
          </p:cNvSpPr>
          <p:nvPr/>
        </p:nvSpPr>
        <p:spPr bwMode="auto">
          <a:xfrm>
            <a:off x="6882483" y="4395875"/>
            <a:ext cx="419636" cy="445952"/>
          </a:xfrm>
          <a:custGeom>
            <a:avLst/>
            <a:gdLst>
              <a:gd name="T0" fmla="*/ 2696 w 2974"/>
              <a:gd name="T1" fmla="*/ 2647 h 3175"/>
              <a:gd name="T2" fmla="*/ 2653 w 2974"/>
              <a:gd name="T3" fmla="*/ 2702 h 3175"/>
              <a:gd name="T4" fmla="*/ 2653 w 2974"/>
              <a:gd name="T5" fmla="*/ 2768 h 3175"/>
              <a:gd name="T6" fmla="*/ 2696 w 2974"/>
              <a:gd name="T7" fmla="*/ 2823 h 3175"/>
              <a:gd name="T8" fmla="*/ 2761 w 2974"/>
              <a:gd name="T9" fmla="*/ 2837 h 3175"/>
              <a:gd name="T10" fmla="*/ 2822 w 2974"/>
              <a:gd name="T11" fmla="*/ 2808 h 3175"/>
              <a:gd name="T12" fmla="*/ 2852 w 2974"/>
              <a:gd name="T13" fmla="*/ 2746 h 3175"/>
              <a:gd name="T14" fmla="*/ 2836 w 2974"/>
              <a:gd name="T15" fmla="*/ 2680 h 3175"/>
              <a:gd name="T16" fmla="*/ 2783 w 2974"/>
              <a:gd name="T17" fmla="*/ 2637 h 3175"/>
              <a:gd name="T18" fmla="*/ 541 w 2974"/>
              <a:gd name="T19" fmla="*/ 0 h 3175"/>
              <a:gd name="T20" fmla="*/ 1190 w 2974"/>
              <a:gd name="T21" fmla="*/ 816 h 3175"/>
              <a:gd name="T22" fmla="*/ 2426 w 2974"/>
              <a:gd name="T23" fmla="*/ 379 h 3175"/>
              <a:gd name="T24" fmla="*/ 2762 w 2974"/>
              <a:gd name="T25" fmla="*/ 718 h 3175"/>
              <a:gd name="T26" fmla="*/ 2912 w 2974"/>
              <a:gd name="T27" fmla="*/ 2566 h 3175"/>
              <a:gd name="T28" fmla="*/ 2948 w 2974"/>
              <a:gd name="T29" fmla="*/ 2621 h 3175"/>
              <a:gd name="T30" fmla="*/ 2974 w 2974"/>
              <a:gd name="T31" fmla="*/ 2715 h 3175"/>
              <a:gd name="T32" fmla="*/ 2960 w 2974"/>
              <a:gd name="T33" fmla="*/ 2810 h 3175"/>
              <a:gd name="T34" fmla="*/ 2907 w 2974"/>
              <a:gd name="T35" fmla="*/ 2894 h 3175"/>
              <a:gd name="T36" fmla="*/ 2824 w 2974"/>
              <a:gd name="T37" fmla="*/ 2949 h 3175"/>
              <a:gd name="T38" fmla="*/ 2730 w 2974"/>
              <a:gd name="T39" fmla="*/ 2962 h 3175"/>
              <a:gd name="T40" fmla="*/ 2637 w 2974"/>
              <a:gd name="T41" fmla="*/ 2936 h 3175"/>
              <a:gd name="T42" fmla="*/ 2582 w 2974"/>
              <a:gd name="T43" fmla="*/ 2898 h 3175"/>
              <a:gd name="T44" fmla="*/ 1459 w 2974"/>
              <a:gd name="T45" fmla="*/ 2121 h 3175"/>
              <a:gd name="T46" fmla="*/ 1211 w 2974"/>
              <a:gd name="T47" fmla="*/ 2271 h 3175"/>
              <a:gd name="T48" fmla="*/ 1157 w 2974"/>
              <a:gd name="T49" fmla="*/ 2357 h 3175"/>
              <a:gd name="T50" fmla="*/ 1075 w 2974"/>
              <a:gd name="T51" fmla="*/ 2460 h 3175"/>
              <a:gd name="T52" fmla="*/ 974 w 2974"/>
              <a:gd name="T53" fmla="*/ 2572 h 3175"/>
              <a:gd name="T54" fmla="*/ 864 w 2974"/>
              <a:gd name="T55" fmla="*/ 2683 h 3175"/>
              <a:gd name="T56" fmla="*/ 754 w 2974"/>
              <a:gd name="T57" fmla="*/ 2786 h 3175"/>
              <a:gd name="T58" fmla="*/ 651 w 2974"/>
              <a:gd name="T59" fmla="*/ 2868 h 3175"/>
              <a:gd name="T60" fmla="*/ 566 w 2974"/>
              <a:gd name="T61" fmla="*/ 2923 h 3175"/>
              <a:gd name="T62" fmla="*/ 418 w 2974"/>
              <a:gd name="T63" fmla="*/ 3175 h 3175"/>
              <a:gd name="T64" fmla="*/ 238 w 2974"/>
              <a:gd name="T65" fmla="*/ 2625 h 3175"/>
              <a:gd name="T66" fmla="*/ 280 w 2974"/>
              <a:gd name="T67" fmla="*/ 2546 h 3175"/>
              <a:gd name="T68" fmla="*/ 355 w 2974"/>
              <a:gd name="T69" fmla="*/ 2448 h 3175"/>
              <a:gd name="T70" fmla="*/ 450 w 2974"/>
              <a:gd name="T71" fmla="*/ 2338 h 3175"/>
              <a:gd name="T72" fmla="*/ 558 w 2974"/>
              <a:gd name="T73" fmla="*/ 2225 h 3175"/>
              <a:gd name="T74" fmla="*/ 669 w 2974"/>
              <a:gd name="T75" fmla="*/ 2119 h 3175"/>
              <a:gd name="T76" fmla="*/ 775 w 2974"/>
              <a:gd name="T77" fmla="*/ 2029 h 3175"/>
              <a:gd name="T78" fmla="*/ 867 w 2974"/>
              <a:gd name="T79" fmla="*/ 1964 h 3175"/>
              <a:gd name="T80" fmla="*/ 859 w 2974"/>
              <a:gd name="T81" fmla="*/ 1882 h 3175"/>
              <a:gd name="T82" fmla="*/ 1339 w 2974"/>
              <a:gd name="T83" fmla="*/ 1635 h 3175"/>
              <a:gd name="T84" fmla="*/ 240 w 2974"/>
              <a:gd name="T85" fmla="*/ 1135 h 3175"/>
              <a:gd name="T86" fmla="*/ 480 w 2974"/>
              <a:gd name="T87" fmla="*/ 759 h 3175"/>
              <a:gd name="T88" fmla="*/ 541 w 2974"/>
              <a:gd name="T89" fmla="*/ 0 h 3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974" h="3175">
                <a:moveTo>
                  <a:pt x="2738" y="2632"/>
                </a:moveTo>
                <a:lnTo>
                  <a:pt x="2716" y="2637"/>
                </a:lnTo>
                <a:lnTo>
                  <a:pt x="2696" y="2647"/>
                </a:lnTo>
                <a:lnTo>
                  <a:pt x="2676" y="2662"/>
                </a:lnTo>
                <a:lnTo>
                  <a:pt x="2662" y="2680"/>
                </a:lnTo>
                <a:lnTo>
                  <a:pt x="2653" y="2702"/>
                </a:lnTo>
                <a:lnTo>
                  <a:pt x="2648" y="2724"/>
                </a:lnTo>
                <a:lnTo>
                  <a:pt x="2649" y="2746"/>
                </a:lnTo>
                <a:lnTo>
                  <a:pt x="2653" y="2768"/>
                </a:lnTo>
                <a:lnTo>
                  <a:pt x="2663" y="2789"/>
                </a:lnTo>
                <a:lnTo>
                  <a:pt x="2677" y="2808"/>
                </a:lnTo>
                <a:lnTo>
                  <a:pt x="2696" y="2823"/>
                </a:lnTo>
                <a:lnTo>
                  <a:pt x="2717" y="2833"/>
                </a:lnTo>
                <a:lnTo>
                  <a:pt x="2738" y="2837"/>
                </a:lnTo>
                <a:lnTo>
                  <a:pt x="2761" y="2837"/>
                </a:lnTo>
                <a:lnTo>
                  <a:pt x="2783" y="2832"/>
                </a:lnTo>
                <a:lnTo>
                  <a:pt x="2804" y="2823"/>
                </a:lnTo>
                <a:lnTo>
                  <a:pt x="2822" y="2808"/>
                </a:lnTo>
                <a:lnTo>
                  <a:pt x="2836" y="2789"/>
                </a:lnTo>
                <a:lnTo>
                  <a:pt x="2846" y="2768"/>
                </a:lnTo>
                <a:lnTo>
                  <a:pt x="2852" y="2746"/>
                </a:lnTo>
                <a:lnTo>
                  <a:pt x="2852" y="2724"/>
                </a:lnTo>
                <a:lnTo>
                  <a:pt x="2846" y="2701"/>
                </a:lnTo>
                <a:lnTo>
                  <a:pt x="2836" y="2680"/>
                </a:lnTo>
                <a:lnTo>
                  <a:pt x="2822" y="2662"/>
                </a:lnTo>
                <a:lnTo>
                  <a:pt x="2804" y="2647"/>
                </a:lnTo>
                <a:lnTo>
                  <a:pt x="2783" y="2637"/>
                </a:lnTo>
                <a:lnTo>
                  <a:pt x="2761" y="2632"/>
                </a:lnTo>
                <a:lnTo>
                  <a:pt x="2738" y="2632"/>
                </a:lnTo>
                <a:close/>
                <a:moveTo>
                  <a:pt x="541" y="0"/>
                </a:moveTo>
                <a:lnTo>
                  <a:pt x="541" y="0"/>
                </a:lnTo>
                <a:lnTo>
                  <a:pt x="1188" y="175"/>
                </a:lnTo>
                <a:lnTo>
                  <a:pt x="1190" y="816"/>
                </a:lnTo>
                <a:lnTo>
                  <a:pt x="1667" y="1301"/>
                </a:lnTo>
                <a:lnTo>
                  <a:pt x="2149" y="815"/>
                </a:lnTo>
                <a:lnTo>
                  <a:pt x="2426" y="379"/>
                </a:lnTo>
                <a:lnTo>
                  <a:pt x="2734" y="205"/>
                </a:lnTo>
                <a:lnTo>
                  <a:pt x="2933" y="407"/>
                </a:lnTo>
                <a:lnTo>
                  <a:pt x="2762" y="718"/>
                </a:lnTo>
                <a:lnTo>
                  <a:pt x="2331" y="999"/>
                </a:lnTo>
                <a:lnTo>
                  <a:pt x="1850" y="1487"/>
                </a:lnTo>
                <a:lnTo>
                  <a:pt x="2912" y="2566"/>
                </a:lnTo>
                <a:lnTo>
                  <a:pt x="2910" y="2567"/>
                </a:lnTo>
                <a:lnTo>
                  <a:pt x="2931" y="2593"/>
                </a:lnTo>
                <a:lnTo>
                  <a:pt x="2948" y="2621"/>
                </a:lnTo>
                <a:lnTo>
                  <a:pt x="2962" y="2651"/>
                </a:lnTo>
                <a:lnTo>
                  <a:pt x="2970" y="2683"/>
                </a:lnTo>
                <a:lnTo>
                  <a:pt x="2974" y="2715"/>
                </a:lnTo>
                <a:lnTo>
                  <a:pt x="2974" y="2747"/>
                </a:lnTo>
                <a:lnTo>
                  <a:pt x="2969" y="2779"/>
                </a:lnTo>
                <a:lnTo>
                  <a:pt x="2960" y="2810"/>
                </a:lnTo>
                <a:lnTo>
                  <a:pt x="2946" y="2840"/>
                </a:lnTo>
                <a:lnTo>
                  <a:pt x="2929" y="2868"/>
                </a:lnTo>
                <a:lnTo>
                  <a:pt x="2907" y="2894"/>
                </a:lnTo>
                <a:lnTo>
                  <a:pt x="2881" y="2917"/>
                </a:lnTo>
                <a:lnTo>
                  <a:pt x="2854" y="2935"/>
                </a:lnTo>
                <a:lnTo>
                  <a:pt x="2824" y="2949"/>
                </a:lnTo>
                <a:lnTo>
                  <a:pt x="2793" y="2957"/>
                </a:lnTo>
                <a:lnTo>
                  <a:pt x="2762" y="2962"/>
                </a:lnTo>
                <a:lnTo>
                  <a:pt x="2730" y="2962"/>
                </a:lnTo>
                <a:lnTo>
                  <a:pt x="2699" y="2958"/>
                </a:lnTo>
                <a:lnTo>
                  <a:pt x="2668" y="2949"/>
                </a:lnTo>
                <a:lnTo>
                  <a:pt x="2637" y="2936"/>
                </a:lnTo>
                <a:lnTo>
                  <a:pt x="2610" y="2918"/>
                </a:lnTo>
                <a:lnTo>
                  <a:pt x="2584" y="2896"/>
                </a:lnTo>
                <a:lnTo>
                  <a:pt x="2582" y="2898"/>
                </a:lnTo>
                <a:lnTo>
                  <a:pt x="1521" y="1820"/>
                </a:lnTo>
                <a:lnTo>
                  <a:pt x="1342" y="2001"/>
                </a:lnTo>
                <a:lnTo>
                  <a:pt x="1459" y="2121"/>
                </a:lnTo>
                <a:lnTo>
                  <a:pt x="1277" y="2305"/>
                </a:lnTo>
                <a:lnTo>
                  <a:pt x="1221" y="2248"/>
                </a:lnTo>
                <a:lnTo>
                  <a:pt x="1211" y="2271"/>
                </a:lnTo>
                <a:lnTo>
                  <a:pt x="1196" y="2297"/>
                </a:lnTo>
                <a:lnTo>
                  <a:pt x="1178" y="2325"/>
                </a:lnTo>
                <a:lnTo>
                  <a:pt x="1157" y="2357"/>
                </a:lnTo>
                <a:lnTo>
                  <a:pt x="1132" y="2390"/>
                </a:lnTo>
                <a:lnTo>
                  <a:pt x="1105" y="2424"/>
                </a:lnTo>
                <a:lnTo>
                  <a:pt x="1075" y="2460"/>
                </a:lnTo>
                <a:lnTo>
                  <a:pt x="1042" y="2498"/>
                </a:lnTo>
                <a:lnTo>
                  <a:pt x="1010" y="2535"/>
                </a:lnTo>
                <a:lnTo>
                  <a:pt x="974" y="2572"/>
                </a:lnTo>
                <a:lnTo>
                  <a:pt x="938" y="2610"/>
                </a:lnTo>
                <a:lnTo>
                  <a:pt x="902" y="2647"/>
                </a:lnTo>
                <a:lnTo>
                  <a:pt x="864" y="2683"/>
                </a:lnTo>
                <a:lnTo>
                  <a:pt x="827" y="2720"/>
                </a:lnTo>
                <a:lnTo>
                  <a:pt x="789" y="2754"/>
                </a:lnTo>
                <a:lnTo>
                  <a:pt x="754" y="2786"/>
                </a:lnTo>
                <a:lnTo>
                  <a:pt x="718" y="2816"/>
                </a:lnTo>
                <a:lnTo>
                  <a:pt x="683" y="2843"/>
                </a:lnTo>
                <a:lnTo>
                  <a:pt x="651" y="2868"/>
                </a:lnTo>
                <a:lnTo>
                  <a:pt x="620" y="2890"/>
                </a:lnTo>
                <a:lnTo>
                  <a:pt x="592" y="2908"/>
                </a:lnTo>
                <a:lnTo>
                  <a:pt x="566" y="2923"/>
                </a:lnTo>
                <a:lnTo>
                  <a:pt x="543" y="2933"/>
                </a:lnTo>
                <a:lnTo>
                  <a:pt x="600" y="2990"/>
                </a:lnTo>
                <a:lnTo>
                  <a:pt x="418" y="3175"/>
                </a:lnTo>
                <a:lnTo>
                  <a:pt x="0" y="2752"/>
                </a:lnTo>
                <a:lnTo>
                  <a:pt x="182" y="2568"/>
                </a:lnTo>
                <a:lnTo>
                  <a:pt x="238" y="2625"/>
                </a:lnTo>
                <a:lnTo>
                  <a:pt x="248" y="2601"/>
                </a:lnTo>
                <a:lnTo>
                  <a:pt x="263" y="2575"/>
                </a:lnTo>
                <a:lnTo>
                  <a:pt x="280" y="2546"/>
                </a:lnTo>
                <a:lnTo>
                  <a:pt x="303" y="2515"/>
                </a:lnTo>
                <a:lnTo>
                  <a:pt x="327" y="2482"/>
                </a:lnTo>
                <a:lnTo>
                  <a:pt x="355" y="2448"/>
                </a:lnTo>
                <a:lnTo>
                  <a:pt x="384" y="2412"/>
                </a:lnTo>
                <a:lnTo>
                  <a:pt x="416" y="2375"/>
                </a:lnTo>
                <a:lnTo>
                  <a:pt x="450" y="2338"/>
                </a:lnTo>
                <a:lnTo>
                  <a:pt x="484" y="2299"/>
                </a:lnTo>
                <a:lnTo>
                  <a:pt x="521" y="2262"/>
                </a:lnTo>
                <a:lnTo>
                  <a:pt x="558" y="2225"/>
                </a:lnTo>
                <a:lnTo>
                  <a:pt x="595" y="2188"/>
                </a:lnTo>
                <a:lnTo>
                  <a:pt x="632" y="2153"/>
                </a:lnTo>
                <a:lnTo>
                  <a:pt x="669" y="2119"/>
                </a:lnTo>
                <a:lnTo>
                  <a:pt x="706" y="2087"/>
                </a:lnTo>
                <a:lnTo>
                  <a:pt x="740" y="2057"/>
                </a:lnTo>
                <a:lnTo>
                  <a:pt x="775" y="2029"/>
                </a:lnTo>
                <a:lnTo>
                  <a:pt x="808" y="2004"/>
                </a:lnTo>
                <a:lnTo>
                  <a:pt x="838" y="1983"/>
                </a:lnTo>
                <a:lnTo>
                  <a:pt x="867" y="1964"/>
                </a:lnTo>
                <a:lnTo>
                  <a:pt x="892" y="1950"/>
                </a:lnTo>
                <a:lnTo>
                  <a:pt x="916" y="1939"/>
                </a:lnTo>
                <a:lnTo>
                  <a:pt x="859" y="1882"/>
                </a:lnTo>
                <a:lnTo>
                  <a:pt x="1041" y="1698"/>
                </a:lnTo>
                <a:lnTo>
                  <a:pt x="1159" y="1817"/>
                </a:lnTo>
                <a:lnTo>
                  <a:pt x="1339" y="1635"/>
                </a:lnTo>
                <a:lnTo>
                  <a:pt x="853" y="1140"/>
                </a:lnTo>
                <a:lnTo>
                  <a:pt x="857" y="1136"/>
                </a:lnTo>
                <a:lnTo>
                  <a:pt x="240" y="1135"/>
                </a:lnTo>
                <a:lnTo>
                  <a:pt x="66" y="480"/>
                </a:lnTo>
                <a:lnTo>
                  <a:pt x="136" y="411"/>
                </a:lnTo>
                <a:lnTo>
                  <a:pt x="480" y="759"/>
                </a:lnTo>
                <a:lnTo>
                  <a:pt x="816" y="418"/>
                </a:lnTo>
                <a:lnTo>
                  <a:pt x="471" y="70"/>
                </a:lnTo>
                <a:lnTo>
                  <a:pt x="541" y="0"/>
                </a:lnTo>
                <a:close/>
              </a:path>
            </a:pathLst>
          </a:custGeom>
          <a:solidFill>
            <a:schemeClr val="accent6"/>
          </a:solidFill>
          <a:ln w="0">
            <a:noFill/>
            <a:prstDash val="solid"/>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endParaRPr lang="en-US" sz="2400" dirty="0">
              <a:latin typeface="Amazon Ember Light" charset="0"/>
              <a:ea typeface="Amazon Ember Light" charset="0"/>
              <a:cs typeface="Amazon Ember Light" charset="0"/>
            </a:endParaRPr>
          </a:p>
        </p:txBody>
      </p:sp>
      <p:sp>
        <p:nvSpPr>
          <p:cNvPr id="93" name="Freeform 92">
            <a:extLst>
              <a:ext uri="{C183D7F6-B498-43B3-948B-1728B52AA6E4}">
                <adec:decorative xmlns:adec="http://schemas.microsoft.com/office/drawing/2017/decorative" val="1"/>
              </a:ext>
            </a:extLst>
          </p:cNvPr>
          <p:cNvSpPr>
            <a:spLocks noEditPoints="1"/>
          </p:cNvSpPr>
          <p:nvPr/>
        </p:nvSpPr>
        <p:spPr bwMode="auto">
          <a:xfrm>
            <a:off x="5977058" y="1787581"/>
            <a:ext cx="397136" cy="451784"/>
          </a:xfrm>
          <a:custGeom>
            <a:avLst/>
            <a:gdLst>
              <a:gd name="T0" fmla="*/ 1320 w 2705"/>
              <a:gd name="T1" fmla="*/ 1965 h 3516"/>
              <a:gd name="T2" fmla="*/ 1206 w 2705"/>
              <a:gd name="T3" fmla="*/ 1996 h 3516"/>
              <a:gd name="T4" fmla="*/ 1115 w 2705"/>
              <a:gd name="T5" fmla="*/ 2071 h 3516"/>
              <a:gd name="T6" fmla="*/ 1061 w 2705"/>
              <a:gd name="T7" fmla="*/ 2177 h 3516"/>
              <a:gd name="T8" fmla="*/ 1051 w 2705"/>
              <a:gd name="T9" fmla="*/ 2298 h 3516"/>
              <a:gd name="T10" fmla="*/ 1089 w 2705"/>
              <a:gd name="T11" fmla="*/ 2406 h 3516"/>
              <a:gd name="T12" fmla="*/ 1135 w 2705"/>
              <a:gd name="T13" fmla="*/ 2952 h 3516"/>
              <a:gd name="T14" fmla="*/ 1157 w 2705"/>
              <a:gd name="T15" fmla="*/ 3016 h 3516"/>
              <a:gd name="T16" fmla="*/ 1214 w 2705"/>
              <a:gd name="T17" fmla="*/ 3052 h 3516"/>
              <a:gd name="T18" fmla="*/ 1490 w 2705"/>
              <a:gd name="T19" fmla="*/ 3052 h 3516"/>
              <a:gd name="T20" fmla="*/ 1547 w 2705"/>
              <a:gd name="T21" fmla="*/ 3016 h 3516"/>
              <a:gd name="T22" fmla="*/ 1570 w 2705"/>
              <a:gd name="T23" fmla="*/ 2952 h 3516"/>
              <a:gd name="T24" fmla="*/ 1616 w 2705"/>
              <a:gd name="T25" fmla="*/ 2406 h 3516"/>
              <a:gd name="T26" fmla="*/ 1653 w 2705"/>
              <a:gd name="T27" fmla="*/ 2298 h 3516"/>
              <a:gd name="T28" fmla="*/ 1643 w 2705"/>
              <a:gd name="T29" fmla="*/ 2177 h 3516"/>
              <a:gd name="T30" fmla="*/ 1590 w 2705"/>
              <a:gd name="T31" fmla="*/ 2071 h 3516"/>
              <a:gd name="T32" fmla="*/ 1499 w 2705"/>
              <a:gd name="T33" fmla="*/ 1996 h 3516"/>
              <a:gd name="T34" fmla="*/ 1384 w 2705"/>
              <a:gd name="T35" fmla="*/ 1965 h 3516"/>
              <a:gd name="T36" fmla="*/ 1352 w 2705"/>
              <a:gd name="T37" fmla="*/ 454 h 3516"/>
              <a:gd name="T38" fmla="*/ 1163 w 2705"/>
              <a:gd name="T39" fmla="*/ 484 h 3516"/>
              <a:gd name="T40" fmla="*/ 995 w 2705"/>
              <a:gd name="T41" fmla="*/ 565 h 3516"/>
              <a:gd name="T42" fmla="*/ 859 w 2705"/>
              <a:gd name="T43" fmla="*/ 690 h 3516"/>
              <a:gd name="T44" fmla="*/ 762 w 2705"/>
              <a:gd name="T45" fmla="*/ 850 h 3516"/>
              <a:gd name="T46" fmla="*/ 715 w 2705"/>
              <a:gd name="T47" fmla="*/ 1034 h 3516"/>
              <a:gd name="T48" fmla="*/ 1993 w 2705"/>
              <a:gd name="T49" fmla="*/ 1420 h 3516"/>
              <a:gd name="T50" fmla="*/ 1979 w 2705"/>
              <a:gd name="T51" fmla="*/ 971 h 3516"/>
              <a:gd name="T52" fmla="*/ 1914 w 2705"/>
              <a:gd name="T53" fmla="*/ 793 h 3516"/>
              <a:gd name="T54" fmla="*/ 1804 w 2705"/>
              <a:gd name="T55" fmla="*/ 644 h 3516"/>
              <a:gd name="T56" fmla="*/ 1657 w 2705"/>
              <a:gd name="T57" fmla="*/ 533 h 3516"/>
              <a:gd name="T58" fmla="*/ 1481 w 2705"/>
              <a:gd name="T59" fmla="*/ 468 h 3516"/>
              <a:gd name="T60" fmla="*/ 1351 w 2705"/>
              <a:gd name="T61" fmla="*/ 0 h 3516"/>
              <a:gd name="T62" fmla="*/ 1384 w 2705"/>
              <a:gd name="T63" fmla="*/ 0 h 3516"/>
              <a:gd name="T64" fmla="*/ 1628 w 2705"/>
              <a:gd name="T65" fmla="*/ 34 h 3516"/>
              <a:gd name="T66" fmla="*/ 1852 w 2705"/>
              <a:gd name="T67" fmla="*/ 119 h 3516"/>
              <a:gd name="T68" fmla="*/ 2048 w 2705"/>
              <a:gd name="T69" fmla="*/ 251 h 3516"/>
              <a:gd name="T70" fmla="*/ 2212 w 2705"/>
              <a:gd name="T71" fmla="*/ 422 h 3516"/>
              <a:gd name="T72" fmla="*/ 2337 w 2705"/>
              <a:gd name="T73" fmla="*/ 624 h 3516"/>
              <a:gd name="T74" fmla="*/ 2417 w 2705"/>
              <a:gd name="T75" fmla="*/ 853 h 3516"/>
              <a:gd name="T76" fmla="*/ 2444 w 2705"/>
              <a:gd name="T77" fmla="*/ 1100 h 3516"/>
              <a:gd name="T78" fmla="*/ 2544 w 2705"/>
              <a:gd name="T79" fmla="*/ 1423 h 3516"/>
              <a:gd name="T80" fmla="*/ 2625 w 2705"/>
              <a:gd name="T81" fmla="*/ 1467 h 3516"/>
              <a:gd name="T82" fmla="*/ 2683 w 2705"/>
              <a:gd name="T83" fmla="*/ 1551 h 3516"/>
              <a:gd name="T84" fmla="*/ 2705 w 2705"/>
              <a:gd name="T85" fmla="*/ 1664 h 3516"/>
              <a:gd name="T86" fmla="*/ 2695 w 2705"/>
              <a:gd name="T87" fmla="*/ 3349 h 3516"/>
              <a:gd name="T88" fmla="*/ 2648 w 2705"/>
              <a:gd name="T89" fmla="*/ 3444 h 3516"/>
              <a:gd name="T90" fmla="*/ 2573 w 2705"/>
              <a:gd name="T91" fmla="*/ 3504 h 3516"/>
              <a:gd name="T92" fmla="*/ 192 w 2705"/>
              <a:gd name="T93" fmla="*/ 3516 h 3516"/>
              <a:gd name="T94" fmla="*/ 104 w 2705"/>
              <a:gd name="T95" fmla="*/ 3489 h 3516"/>
              <a:gd name="T96" fmla="*/ 37 w 2705"/>
              <a:gd name="T97" fmla="*/ 3416 h 3516"/>
              <a:gd name="T98" fmla="*/ 2 w 2705"/>
              <a:gd name="T99" fmla="*/ 3311 h 3516"/>
              <a:gd name="T100" fmla="*/ 2 w 2705"/>
              <a:gd name="T101" fmla="*/ 1624 h 3516"/>
              <a:gd name="T102" fmla="*/ 37 w 2705"/>
              <a:gd name="T103" fmla="*/ 1520 h 3516"/>
              <a:gd name="T104" fmla="*/ 104 w 2705"/>
              <a:gd name="T105" fmla="*/ 1448 h 3516"/>
              <a:gd name="T106" fmla="*/ 192 w 2705"/>
              <a:gd name="T107" fmla="*/ 1420 h 3516"/>
              <a:gd name="T108" fmla="*/ 263 w 2705"/>
              <a:gd name="T109" fmla="*/ 1015 h 3516"/>
              <a:gd name="T110" fmla="*/ 309 w 2705"/>
              <a:gd name="T111" fmla="*/ 774 h 3516"/>
              <a:gd name="T112" fmla="*/ 405 w 2705"/>
              <a:gd name="T113" fmla="*/ 553 h 3516"/>
              <a:gd name="T114" fmla="*/ 543 w 2705"/>
              <a:gd name="T115" fmla="*/ 361 h 3516"/>
              <a:gd name="T116" fmla="*/ 718 w 2705"/>
              <a:gd name="T117" fmla="*/ 203 h 3516"/>
              <a:gd name="T118" fmla="*/ 924 w 2705"/>
              <a:gd name="T119" fmla="*/ 86 h 3516"/>
              <a:gd name="T120" fmla="*/ 1155 w 2705"/>
              <a:gd name="T121" fmla="*/ 16 h 3516"/>
              <a:gd name="T122" fmla="*/ 1335 w 2705"/>
              <a:gd name="T123" fmla="*/ 0 h 3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05" h="3516">
                <a:moveTo>
                  <a:pt x="1352" y="1965"/>
                </a:moveTo>
                <a:lnTo>
                  <a:pt x="1335" y="1965"/>
                </a:lnTo>
                <a:lnTo>
                  <a:pt x="1320" y="1965"/>
                </a:lnTo>
                <a:lnTo>
                  <a:pt x="1279" y="1970"/>
                </a:lnTo>
                <a:lnTo>
                  <a:pt x="1241" y="1980"/>
                </a:lnTo>
                <a:lnTo>
                  <a:pt x="1206" y="1996"/>
                </a:lnTo>
                <a:lnTo>
                  <a:pt x="1171" y="2017"/>
                </a:lnTo>
                <a:lnTo>
                  <a:pt x="1141" y="2042"/>
                </a:lnTo>
                <a:lnTo>
                  <a:pt x="1115" y="2071"/>
                </a:lnTo>
                <a:lnTo>
                  <a:pt x="1092" y="2103"/>
                </a:lnTo>
                <a:lnTo>
                  <a:pt x="1074" y="2139"/>
                </a:lnTo>
                <a:lnTo>
                  <a:pt x="1061" y="2177"/>
                </a:lnTo>
                <a:lnTo>
                  <a:pt x="1052" y="2217"/>
                </a:lnTo>
                <a:lnTo>
                  <a:pt x="1049" y="2258"/>
                </a:lnTo>
                <a:lnTo>
                  <a:pt x="1051" y="2298"/>
                </a:lnTo>
                <a:lnTo>
                  <a:pt x="1060" y="2337"/>
                </a:lnTo>
                <a:lnTo>
                  <a:pt x="1072" y="2373"/>
                </a:lnTo>
                <a:lnTo>
                  <a:pt x="1089" y="2406"/>
                </a:lnTo>
                <a:lnTo>
                  <a:pt x="1109" y="2438"/>
                </a:lnTo>
                <a:lnTo>
                  <a:pt x="1135" y="2466"/>
                </a:lnTo>
                <a:lnTo>
                  <a:pt x="1135" y="2952"/>
                </a:lnTo>
                <a:lnTo>
                  <a:pt x="1137" y="2975"/>
                </a:lnTo>
                <a:lnTo>
                  <a:pt x="1146" y="2997"/>
                </a:lnTo>
                <a:lnTo>
                  <a:pt x="1157" y="3016"/>
                </a:lnTo>
                <a:lnTo>
                  <a:pt x="1173" y="3032"/>
                </a:lnTo>
                <a:lnTo>
                  <a:pt x="1193" y="3044"/>
                </a:lnTo>
                <a:lnTo>
                  <a:pt x="1214" y="3052"/>
                </a:lnTo>
                <a:lnTo>
                  <a:pt x="1238" y="3054"/>
                </a:lnTo>
                <a:lnTo>
                  <a:pt x="1467" y="3054"/>
                </a:lnTo>
                <a:lnTo>
                  <a:pt x="1490" y="3052"/>
                </a:lnTo>
                <a:lnTo>
                  <a:pt x="1512" y="3044"/>
                </a:lnTo>
                <a:lnTo>
                  <a:pt x="1531" y="3032"/>
                </a:lnTo>
                <a:lnTo>
                  <a:pt x="1547" y="3016"/>
                </a:lnTo>
                <a:lnTo>
                  <a:pt x="1559" y="2997"/>
                </a:lnTo>
                <a:lnTo>
                  <a:pt x="1566" y="2975"/>
                </a:lnTo>
                <a:lnTo>
                  <a:pt x="1570" y="2952"/>
                </a:lnTo>
                <a:lnTo>
                  <a:pt x="1570" y="2466"/>
                </a:lnTo>
                <a:lnTo>
                  <a:pt x="1594" y="2438"/>
                </a:lnTo>
                <a:lnTo>
                  <a:pt x="1616" y="2406"/>
                </a:lnTo>
                <a:lnTo>
                  <a:pt x="1633" y="2373"/>
                </a:lnTo>
                <a:lnTo>
                  <a:pt x="1645" y="2337"/>
                </a:lnTo>
                <a:lnTo>
                  <a:pt x="1653" y="2298"/>
                </a:lnTo>
                <a:lnTo>
                  <a:pt x="1655" y="2258"/>
                </a:lnTo>
                <a:lnTo>
                  <a:pt x="1652" y="2217"/>
                </a:lnTo>
                <a:lnTo>
                  <a:pt x="1643" y="2177"/>
                </a:lnTo>
                <a:lnTo>
                  <a:pt x="1631" y="2139"/>
                </a:lnTo>
                <a:lnTo>
                  <a:pt x="1612" y="2103"/>
                </a:lnTo>
                <a:lnTo>
                  <a:pt x="1590" y="2071"/>
                </a:lnTo>
                <a:lnTo>
                  <a:pt x="1563" y="2042"/>
                </a:lnTo>
                <a:lnTo>
                  <a:pt x="1533" y="2017"/>
                </a:lnTo>
                <a:lnTo>
                  <a:pt x="1499" y="1996"/>
                </a:lnTo>
                <a:lnTo>
                  <a:pt x="1464" y="1980"/>
                </a:lnTo>
                <a:lnTo>
                  <a:pt x="1425" y="1970"/>
                </a:lnTo>
                <a:lnTo>
                  <a:pt x="1384" y="1965"/>
                </a:lnTo>
                <a:lnTo>
                  <a:pt x="1369" y="1965"/>
                </a:lnTo>
                <a:lnTo>
                  <a:pt x="1352" y="1965"/>
                </a:lnTo>
                <a:close/>
                <a:moveTo>
                  <a:pt x="1352" y="454"/>
                </a:moveTo>
                <a:lnTo>
                  <a:pt x="1287" y="458"/>
                </a:lnTo>
                <a:lnTo>
                  <a:pt x="1224" y="468"/>
                </a:lnTo>
                <a:lnTo>
                  <a:pt x="1163" y="484"/>
                </a:lnTo>
                <a:lnTo>
                  <a:pt x="1104" y="505"/>
                </a:lnTo>
                <a:lnTo>
                  <a:pt x="1047" y="533"/>
                </a:lnTo>
                <a:lnTo>
                  <a:pt x="995" y="565"/>
                </a:lnTo>
                <a:lnTo>
                  <a:pt x="945" y="603"/>
                </a:lnTo>
                <a:lnTo>
                  <a:pt x="900" y="644"/>
                </a:lnTo>
                <a:lnTo>
                  <a:pt x="859" y="690"/>
                </a:lnTo>
                <a:lnTo>
                  <a:pt x="822" y="741"/>
                </a:lnTo>
                <a:lnTo>
                  <a:pt x="790" y="793"/>
                </a:lnTo>
                <a:lnTo>
                  <a:pt x="762" y="850"/>
                </a:lnTo>
                <a:lnTo>
                  <a:pt x="741" y="909"/>
                </a:lnTo>
                <a:lnTo>
                  <a:pt x="725" y="971"/>
                </a:lnTo>
                <a:lnTo>
                  <a:pt x="715" y="1034"/>
                </a:lnTo>
                <a:lnTo>
                  <a:pt x="712" y="1100"/>
                </a:lnTo>
                <a:lnTo>
                  <a:pt x="712" y="1420"/>
                </a:lnTo>
                <a:lnTo>
                  <a:pt x="1993" y="1420"/>
                </a:lnTo>
                <a:lnTo>
                  <a:pt x="1993" y="1100"/>
                </a:lnTo>
                <a:lnTo>
                  <a:pt x="1989" y="1034"/>
                </a:lnTo>
                <a:lnTo>
                  <a:pt x="1979" y="971"/>
                </a:lnTo>
                <a:lnTo>
                  <a:pt x="1964" y="909"/>
                </a:lnTo>
                <a:lnTo>
                  <a:pt x="1942" y="850"/>
                </a:lnTo>
                <a:lnTo>
                  <a:pt x="1914" y="793"/>
                </a:lnTo>
                <a:lnTo>
                  <a:pt x="1882" y="741"/>
                </a:lnTo>
                <a:lnTo>
                  <a:pt x="1846" y="690"/>
                </a:lnTo>
                <a:lnTo>
                  <a:pt x="1804" y="644"/>
                </a:lnTo>
                <a:lnTo>
                  <a:pt x="1759" y="603"/>
                </a:lnTo>
                <a:lnTo>
                  <a:pt x="1710" y="565"/>
                </a:lnTo>
                <a:lnTo>
                  <a:pt x="1657" y="533"/>
                </a:lnTo>
                <a:lnTo>
                  <a:pt x="1601" y="505"/>
                </a:lnTo>
                <a:lnTo>
                  <a:pt x="1542" y="484"/>
                </a:lnTo>
                <a:lnTo>
                  <a:pt x="1481" y="468"/>
                </a:lnTo>
                <a:lnTo>
                  <a:pt x="1418" y="458"/>
                </a:lnTo>
                <a:lnTo>
                  <a:pt x="1352" y="454"/>
                </a:lnTo>
                <a:close/>
                <a:moveTo>
                  <a:pt x="1351" y="0"/>
                </a:moveTo>
                <a:lnTo>
                  <a:pt x="1353" y="0"/>
                </a:lnTo>
                <a:lnTo>
                  <a:pt x="1369" y="0"/>
                </a:lnTo>
                <a:lnTo>
                  <a:pt x="1384" y="0"/>
                </a:lnTo>
                <a:lnTo>
                  <a:pt x="1468" y="6"/>
                </a:lnTo>
                <a:lnTo>
                  <a:pt x="1549" y="16"/>
                </a:lnTo>
                <a:lnTo>
                  <a:pt x="1628" y="34"/>
                </a:lnTo>
                <a:lnTo>
                  <a:pt x="1706" y="57"/>
                </a:lnTo>
                <a:lnTo>
                  <a:pt x="1781" y="86"/>
                </a:lnTo>
                <a:lnTo>
                  <a:pt x="1852" y="119"/>
                </a:lnTo>
                <a:lnTo>
                  <a:pt x="1921" y="159"/>
                </a:lnTo>
                <a:lnTo>
                  <a:pt x="1986" y="203"/>
                </a:lnTo>
                <a:lnTo>
                  <a:pt x="2048" y="251"/>
                </a:lnTo>
                <a:lnTo>
                  <a:pt x="2107" y="304"/>
                </a:lnTo>
                <a:lnTo>
                  <a:pt x="2162" y="361"/>
                </a:lnTo>
                <a:lnTo>
                  <a:pt x="2212" y="422"/>
                </a:lnTo>
                <a:lnTo>
                  <a:pt x="2258" y="486"/>
                </a:lnTo>
                <a:lnTo>
                  <a:pt x="2300" y="553"/>
                </a:lnTo>
                <a:lnTo>
                  <a:pt x="2337" y="624"/>
                </a:lnTo>
                <a:lnTo>
                  <a:pt x="2368" y="698"/>
                </a:lnTo>
                <a:lnTo>
                  <a:pt x="2395" y="774"/>
                </a:lnTo>
                <a:lnTo>
                  <a:pt x="2417" y="853"/>
                </a:lnTo>
                <a:lnTo>
                  <a:pt x="2432" y="933"/>
                </a:lnTo>
                <a:lnTo>
                  <a:pt x="2441" y="1015"/>
                </a:lnTo>
                <a:lnTo>
                  <a:pt x="2444" y="1100"/>
                </a:lnTo>
                <a:lnTo>
                  <a:pt x="2444" y="1420"/>
                </a:lnTo>
                <a:lnTo>
                  <a:pt x="2513" y="1420"/>
                </a:lnTo>
                <a:lnTo>
                  <a:pt x="2544" y="1423"/>
                </a:lnTo>
                <a:lnTo>
                  <a:pt x="2573" y="1433"/>
                </a:lnTo>
                <a:lnTo>
                  <a:pt x="2601" y="1448"/>
                </a:lnTo>
                <a:lnTo>
                  <a:pt x="2625" y="1467"/>
                </a:lnTo>
                <a:lnTo>
                  <a:pt x="2648" y="1492"/>
                </a:lnTo>
                <a:lnTo>
                  <a:pt x="2667" y="1520"/>
                </a:lnTo>
                <a:lnTo>
                  <a:pt x="2683" y="1551"/>
                </a:lnTo>
                <a:lnTo>
                  <a:pt x="2695" y="1587"/>
                </a:lnTo>
                <a:lnTo>
                  <a:pt x="2702" y="1624"/>
                </a:lnTo>
                <a:lnTo>
                  <a:pt x="2705" y="1664"/>
                </a:lnTo>
                <a:lnTo>
                  <a:pt x="2705" y="3271"/>
                </a:lnTo>
                <a:lnTo>
                  <a:pt x="2702" y="3311"/>
                </a:lnTo>
                <a:lnTo>
                  <a:pt x="2695" y="3349"/>
                </a:lnTo>
                <a:lnTo>
                  <a:pt x="2683" y="3384"/>
                </a:lnTo>
                <a:lnTo>
                  <a:pt x="2667" y="3416"/>
                </a:lnTo>
                <a:lnTo>
                  <a:pt x="2648" y="3444"/>
                </a:lnTo>
                <a:lnTo>
                  <a:pt x="2625" y="3468"/>
                </a:lnTo>
                <a:lnTo>
                  <a:pt x="2601" y="3489"/>
                </a:lnTo>
                <a:lnTo>
                  <a:pt x="2573" y="3504"/>
                </a:lnTo>
                <a:lnTo>
                  <a:pt x="2544" y="3513"/>
                </a:lnTo>
                <a:lnTo>
                  <a:pt x="2513" y="3516"/>
                </a:lnTo>
                <a:lnTo>
                  <a:pt x="192" y="3516"/>
                </a:lnTo>
                <a:lnTo>
                  <a:pt x="161" y="3513"/>
                </a:lnTo>
                <a:lnTo>
                  <a:pt x="132" y="3504"/>
                </a:lnTo>
                <a:lnTo>
                  <a:pt x="104" y="3489"/>
                </a:lnTo>
                <a:lnTo>
                  <a:pt x="78" y="3468"/>
                </a:lnTo>
                <a:lnTo>
                  <a:pt x="57" y="3444"/>
                </a:lnTo>
                <a:lnTo>
                  <a:pt x="37" y="3416"/>
                </a:lnTo>
                <a:lnTo>
                  <a:pt x="21" y="3384"/>
                </a:lnTo>
                <a:lnTo>
                  <a:pt x="10" y="3349"/>
                </a:lnTo>
                <a:lnTo>
                  <a:pt x="2" y="3311"/>
                </a:lnTo>
                <a:lnTo>
                  <a:pt x="0" y="3271"/>
                </a:lnTo>
                <a:lnTo>
                  <a:pt x="0" y="1664"/>
                </a:lnTo>
                <a:lnTo>
                  <a:pt x="2" y="1624"/>
                </a:lnTo>
                <a:lnTo>
                  <a:pt x="10" y="1587"/>
                </a:lnTo>
                <a:lnTo>
                  <a:pt x="21" y="1551"/>
                </a:lnTo>
                <a:lnTo>
                  <a:pt x="37" y="1520"/>
                </a:lnTo>
                <a:lnTo>
                  <a:pt x="57" y="1492"/>
                </a:lnTo>
                <a:lnTo>
                  <a:pt x="78" y="1467"/>
                </a:lnTo>
                <a:lnTo>
                  <a:pt x="104" y="1448"/>
                </a:lnTo>
                <a:lnTo>
                  <a:pt x="132" y="1433"/>
                </a:lnTo>
                <a:lnTo>
                  <a:pt x="161" y="1423"/>
                </a:lnTo>
                <a:lnTo>
                  <a:pt x="192" y="1420"/>
                </a:lnTo>
                <a:lnTo>
                  <a:pt x="260" y="1420"/>
                </a:lnTo>
                <a:lnTo>
                  <a:pt x="260" y="1100"/>
                </a:lnTo>
                <a:lnTo>
                  <a:pt x="263" y="1015"/>
                </a:lnTo>
                <a:lnTo>
                  <a:pt x="273" y="933"/>
                </a:lnTo>
                <a:lnTo>
                  <a:pt x="288" y="853"/>
                </a:lnTo>
                <a:lnTo>
                  <a:pt x="309" y="774"/>
                </a:lnTo>
                <a:lnTo>
                  <a:pt x="336" y="698"/>
                </a:lnTo>
                <a:lnTo>
                  <a:pt x="367" y="624"/>
                </a:lnTo>
                <a:lnTo>
                  <a:pt x="405" y="553"/>
                </a:lnTo>
                <a:lnTo>
                  <a:pt x="446" y="486"/>
                </a:lnTo>
                <a:lnTo>
                  <a:pt x="492" y="422"/>
                </a:lnTo>
                <a:lnTo>
                  <a:pt x="543" y="361"/>
                </a:lnTo>
                <a:lnTo>
                  <a:pt x="597" y="304"/>
                </a:lnTo>
                <a:lnTo>
                  <a:pt x="656" y="251"/>
                </a:lnTo>
                <a:lnTo>
                  <a:pt x="718" y="203"/>
                </a:lnTo>
                <a:lnTo>
                  <a:pt x="784" y="159"/>
                </a:lnTo>
                <a:lnTo>
                  <a:pt x="852" y="119"/>
                </a:lnTo>
                <a:lnTo>
                  <a:pt x="924" y="86"/>
                </a:lnTo>
                <a:lnTo>
                  <a:pt x="999" y="57"/>
                </a:lnTo>
                <a:lnTo>
                  <a:pt x="1076" y="34"/>
                </a:lnTo>
                <a:lnTo>
                  <a:pt x="1155" y="16"/>
                </a:lnTo>
                <a:lnTo>
                  <a:pt x="1237" y="6"/>
                </a:lnTo>
                <a:lnTo>
                  <a:pt x="1320" y="0"/>
                </a:lnTo>
                <a:lnTo>
                  <a:pt x="1335" y="0"/>
                </a:lnTo>
                <a:lnTo>
                  <a:pt x="1351" y="0"/>
                </a:lnTo>
                <a:close/>
              </a:path>
            </a:pathLst>
          </a:custGeom>
          <a:solidFill>
            <a:schemeClr val="accent5"/>
          </a:solidFill>
          <a:ln w="0">
            <a:noFill/>
            <a:prstDash val="solid"/>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endParaRPr lang="en-US" sz="2400" dirty="0">
              <a:latin typeface="Amazon Ember Light" charset="0"/>
              <a:ea typeface="Amazon Ember Light" charset="0"/>
              <a:cs typeface="Amazon Ember Light" charset="0"/>
            </a:endParaRPr>
          </a:p>
        </p:txBody>
      </p:sp>
      <p:sp>
        <p:nvSpPr>
          <p:cNvPr id="94" name="Freeform 93">
            <a:extLst>
              <a:ext uri="{C183D7F6-B498-43B3-948B-1728B52AA6E4}">
                <adec:decorative xmlns:adec="http://schemas.microsoft.com/office/drawing/2017/decorative" val="1"/>
              </a:ext>
            </a:extLst>
          </p:cNvPr>
          <p:cNvSpPr>
            <a:spLocks noEditPoints="1"/>
          </p:cNvSpPr>
          <p:nvPr/>
        </p:nvSpPr>
        <p:spPr bwMode="auto">
          <a:xfrm>
            <a:off x="6439467" y="3083137"/>
            <a:ext cx="341376" cy="510843"/>
          </a:xfrm>
          <a:custGeom>
            <a:avLst/>
            <a:gdLst>
              <a:gd name="T0" fmla="*/ 952 w 2029"/>
              <a:gd name="T1" fmla="*/ 605 h 3349"/>
              <a:gd name="T2" fmla="*/ 875 w 2029"/>
              <a:gd name="T3" fmla="*/ 629 h 3349"/>
              <a:gd name="T4" fmla="*/ 808 w 2029"/>
              <a:gd name="T5" fmla="*/ 671 h 3349"/>
              <a:gd name="T6" fmla="*/ 756 w 2029"/>
              <a:gd name="T7" fmla="*/ 729 h 3349"/>
              <a:gd name="T8" fmla="*/ 723 w 2029"/>
              <a:gd name="T9" fmla="*/ 801 h 3349"/>
              <a:gd name="T10" fmla="*/ 711 w 2029"/>
              <a:gd name="T11" fmla="*/ 882 h 3349"/>
              <a:gd name="T12" fmla="*/ 723 w 2029"/>
              <a:gd name="T13" fmla="*/ 963 h 3349"/>
              <a:gd name="T14" fmla="*/ 756 w 2029"/>
              <a:gd name="T15" fmla="*/ 1034 h 3349"/>
              <a:gd name="T16" fmla="*/ 808 w 2029"/>
              <a:gd name="T17" fmla="*/ 1094 h 3349"/>
              <a:gd name="T18" fmla="*/ 875 w 2029"/>
              <a:gd name="T19" fmla="*/ 1136 h 3349"/>
              <a:gd name="T20" fmla="*/ 952 w 2029"/>
              <a:gd name="T21" fmla="*/ 1159 h 3349"/>
              <a:gd name="T22" fmla="*/ 1036 w 2029"/>
              <a:gd name="T23" fmla="*/ 1159 h 3349"/>
              <a:gd name="T24" fmla="*/ 1114 w 2029"/>
              <a:gd name="T25" fmla="*/ 1136 h 3349"/>
              <a:gd name="T26" fmla="*/ 1180 w 2029"/>
              <a:gd name="T27" fmla="*/ 1094 h 3349"/>
              <a:gd name="T28" fmla="*/ 1232 w 2029"/>
              <a:gd name="T29" fmla="*/ 1034 h 3349"/>
              <a:gd name="T30" fmla="*/ 1266 w 2029"/>
              <a:gd name="T31" fmla="*/ 963 h 3349"/>
              <a:gd name="T32" fmla="*/ 1277 w 2029"/>
              <a:gd name="T33" fmla="*/ 882 h 3349"/>
              <a:gd name="T34" fmla="*/ 1266 w 2029"/>
              <a:gd name="T35" fmla="*/ 801 h 3349"/>
              <a:gd name="T36" fmla="*/ 1232 w 2029"/>
              <a:gd name="T37" fmla="*/ 729 h 3349"/>
              <a:gd name="T38" fmla="*/ 1180 w 2029"/>
              <a:gd name="T39" fmla="*/ 671 h 3349"/>
              <a:gd name="T40" fmla="*/ 1114 w 2029"/>
              <a:gd name="T41" fmla="*/ 629 h 3349"/>
              <a:gd name="T42" fmla="*/ 1036 w 2029"/>
              <a:gd name="T43" fmla="*/ 605 h 3349"/>
              <a:gd name="T44" fmla="*/ 933 w 2029"/>
              <a:gd name="T45" fmla="*/ 0 h 3349"/>
              <a:gd name="T46" fmla="*/ 1043 w 2029"/>
              <a:gd name="T47" fmla="*/ 481 h 3349"/>
              <a:gd name="T48" fmla="*/ 1138 w 2029"/>
              <a:gd name="T49" fmla="*/ 506 h 3349"/>
              <a:gd name="T50" fmla="*/ 1224 w 2029"/>
              <a:gd name="T51" fmla="*/ 551 h 3349"/>
              <a:gd name="T52" fmla="*/ 1296 w 2029"/>
              <a:gd name="T53" fmla="*/ 615 h 3349"/>
              <a:gd name="T54" fmla="*/ 1350 w 2029"/>
              <a:gd name="T55" fmla="*/ 692 h 3349"/>
              <a:gd name="T56" fmla="*/ 1385 w 2029"/>
              <a:gd name="T57" fmla="*/ 782 h 3349"/>
              <a:gd name="T58" fmla="*/ 1397 w 2029"/>
              <a:gd name="T59" fmla="*/ 882 h 3349"/>
              <a:gd name="T60" fmla="*/ 1389 w 2029"/>
              <a:gd name="T61" fmla="*/ 967 h 3349"/>
              <a:gd name="T62" fmla="*/ 1362 w 2029"/>
              <a:gd name="T63" fmla="*/ 1045 h 3349"/>
              <a:gd name="T64" fmla="*/ 1785 w 2029"/>
              <a:gd name="T65" fmla="*/ 1611 h 3349"/>
              <a:gd name="T66" fmla="*/ 1873 w 2029"/>
              <a:gd name="T67" fmla="*/ 1470 h 3349"/>
              <a:gd name="T68" fmla="*/ 1785 w 2029"/>
              <a:gd name="T69" fmla="*/ 1838 h 3349"/>
              <a:gd name="T70" fmla="*/ 1605 w 2029"/>
              <a:gd name="T71" fmla="*/ 1698 h 3349"/>
              <a:gd name="T72" fmla="*/ 1909 w 2029"/>
              <a:gd name="T73" fmla="*/ 2816 h 3349"/>
              <a:gd name="T74" fmla="*/ 1758 w 2029"/>
              <a:gd name="T75" fmla="*/ 2878 h 3349"/>
              <a:gd name="T76" fmla="*/ 1015 w 2029"/>
              <a:gd name="T77" fmla="*/ 1310 h 3349"/>
              <a:gd name="T78" fmla="*/ 272 w 2029"/>
              <a:gd name="T79" fmla="*/ 2878 h 3349"/>
              <a:gd name="T80" fmla="*/ 121 w 2029"/>
              <a:gd name="T81" fmla="*/ 2816 h 3349"/>
              <a:gd name="T82" fmla="*/ 425 w 2029"/>
              <a:gd name="T83" fmla="*/ 1698 h 3349"/>
              <a:gd name="T84" fmla="*/ 237 w 2029"/>
              <a:gd name="T85" fmla="*/ 1838 h 3349"/>
              <a:gd name="T86" fmla="*/ 148 w 2029"/>
              <a:gd name="T87" fmla="*/ 1470 h 3349"/>
              <a:gd name="T88" fmla="*/ 237 w 2029"/>
              <a:gd name="T89" fmla="*/ 1611 h 3349"/>
              <a:gd name="T90" fmla="*/ 646 w 2029"/>
              <a:gd name="T91" fmla="*/ 1103 h 3349"/>
              <a:gd name="T92" fmla="*/ 603 w 2029"/>
              <a:gd name="T93" fmla="*/ 1022 h 3349"/>
              <a:gd name="T94" fmla="*/ 581 w 2029"/>
              <a:gd name="T95" fmla="*/ 931 h 3349"/>
              <a:gd name="T96" fmla="*/ 581 w 2029"/>
              <a:gd name="T97" fmla="*/ 831 h 3349"/>
              <a:gd name="T98" fmla="*/ 605 w 2029"/>
              <a:gd name="T99" fmla="*/ 736 h 3349"/>
              <a:gd name="T100" fmla="*/ 651 w 2029"/>
              <a:gd name="T101" fmla="*/ 652 h 3349"/>
              <a:gd name="T102" fmla="*/ 714 w 2029"/>
              <a:gd name="T103" fmla="*/ 581 h 3349"/>
              <a:gd name="T104" fmla="*/ 792 w 2029"/>
              <a:gd name="T105" fmla="*/ 526 h 3349"/>
              <a:gd name="T106" fmla="*/ 883 w 2029"/>
              <a:gd name="T107" fmla="*/ 491 h 3349"/>
              <a:gd name="T108" fmla="*/ 933 w 2029"/>
              <a:gd name="T109" fmla="*/ 0 h 3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29" h="3349">
                <a:moveTo>
                  <a:pt x="995" y="602"/>
                </a:moveTo>
                <a:lnTo>
                  <a:pt x="952" y="605"/>
                </a:lnTo>
                <a:lnTo>
                  <a:pt x="912" y="614"/>
                </a:lnTo>
                <a:lnTo>
                  <a:pt x="875" y="629"/>
                </a:lnTo>
                <a:lnTo>
                  <a:pt x="839" y="648"/>
                </a:lnTo>
                <a:lnTo>
                  <a:pt x="808" y="671"/>
                </a:lnTo>
                <a:lnTo>
                  <a:pt x="781" y="699"/>
                </a:lnTo>
                <a:lnTo>
                  <a:pt x="756" y="729"/>
                </a:lnTo>
                <a:lnTo>
                  <a:pt x="737" y="764"/>
                </a:lnTo>
                <a:lnTo>
                  <a:pt x="723" y="801"/>
                </a:lnTo>
                <a:lnTo>
                  <a:pt x="713" y="841"/>
                </a:lnTo>
                <a:lnTo>
                  <a:pt x="711" y="882"/>
                </a:lnTo>
                <a:lnTo>
                  <a:pt x="713" y="923"/>
                </a:lnTo>
                <a:lnTo>
                  <a:pt x="723" y="963"/>
                </a:lnTo>
                <a:lnTo>
                  <a:pt x="737" y="1000"/>
                </a:lnTo>
                <a:lnTo>
                  <a:pt x="756" y="1034"/>
                </a:lnTo>
                <a:lnTo>
                  <a:pt x="781" y="1066"/>
                </a:lnTo>
                <a:lnTo>
                  <a:pt x="808" y="1094"/>
                </a:lnTo>
                <a:lnTo>
                  <a:pt x="839" y="1117"/>
                </a:lnTo>
                <a:lnTo>
                  <a:pt x="875" y="1136"/>
                </a:lnTo>
                <a:lnTo>
                  <a:pt x="912" y="1150"/>
                </a:lnTo>
                <a:lnTo>
                  <a:pt x="952" y="1159"/>
                </a:lnTo>
                <a:lnTo>
                  <a:pt x="995" y="1163"/>
                </a:lnTo>
                <a:lnTo>
                  <a:pt x="1036" y="1159"/>
                </a:lnTo>
                <a:lnTo>
                  <a:pt x="1076" y="1150"/>
                </a:lnTo>
                <a:lnTo>
                  <a:pt x="1114" y="1136"/>
                </a:lnTo>
                <a:lnTo>
                  <a:pt x="1149" y="1117"/>
                </a:lnTo>
                <a:lnTo>
                  <a:pt x="1180" y="1094"/>
                </a:lnTo>
                <a:lnTo>
                  <a:pt x="1208" y="1066"/>
                </a:lnTo>
                <a:lnTo>
                  <a:pt x="1232" y="1034"/>
                </a:lnTo>
                <a:lnTo>
                  <a:pt x="1252" y="1000"/>
                </a:lnTo>
                <a:lnTo>
                  <a:pt x="1266" y="963"/>
                </a:lnTo>
                <a:lnTo>
                  <a:pt x="1274" y="923"/>
                </a:lnTo>
                <a:lnTo>
                  <a:pt x="1277" y="882"/>
                </a:lnTo>
                <a:lnTo>
                  <a:pt x="1274" y="841"/>
                </a:lnTo>
                <a:lnTo>
                  <a:pt x="1266" y="801"/>
                </a:lnTo>
                <a:lnTo>
                  <a:pt x="1252" y="764"/>
                </a:lnTo>
                <a:lnTo>
                  <a:pt x="1232" y="729"/>
                </a:lnTo>
                <a:lnTo>
                  <a:pt x="1208" y="699"/>
                </a:lnTo>
                <a:lnTo>
                  <a:pt x="1180" y="671"/>
                </a:lnTo>
                <a:lnTo>
                  <a:pt x="1149" y="648"/>
                </a:lnTo>
                <a:lnTo>
                  <a:pt x="1114" y="629"/>
                </a:lnTo>
                <a:lnTo>
                  <a:pt x="1076" y="614"/>
                </a:lnTo>
                <a:lnTo>
                  <a:pt x="1036" y="605"/>
                </a:lnTo>
                <a:lnTo>
                  <a:pt x="995" y="602"/>
                </a:lnTo>
                <a:close/>
                <a:moveTo>
                  <a:pt x="933" y="0"/>
                </a:moveTo>
                <a:lnTo>
                  <a:pt x="1043" y="0"/>
                </a:lnTo>
                <a:lnTo>
                  <a:pt x="1043" y="481"/>
                </a:lnTo>
                <a:lnTo>
                  <a:pt x="1092" y="491"/>
                </a:lnTo>
                <a:lnTo>
                  <a:pt x="1138" y="506"/>
                </a:lnTo>
                <a:lnTo>
                  <a:pt x="1182" y="526"/>
                </a:lnTo>
                <a:lnTo>
                  <a:pt x="1224" y="551"/>
                </a:lnTo>
                <a:lnTo>
                  <a:pt x="1261" y="581"/>
                </a:lnTo>
                <a:lnTo>
                  <a:pt x="1296" y="615"/>
                </a:lnTo>
                <a:lnTo>
                  <a:pt x="1324" y="652"/>
                </a:lnTo>
                <a:lnTo>
                  <a:pt x="1350" y="692"/>
                </a:lnTo>
                <a:lnTo>
                  <a:pt x="1371" y="736"/>
                </a:lnTo>
                <a:lnTo>
                  <a:pt x="1385" y="782"/>
                </a:lnTo>
                <a:lnTo>
                  <a:pt x="1394" y="831"/>
                </a:lnTo>
                <a:lnTo>
                  <a:pt x="1397" y="882"/>
                </a:lnTo>
                <a:lnTo>
                  <a:pt x="1395" y="924"/>
                </a:lnTo>
                <a:lnTo>
                  <a:pt x="1389" y="967"/>
                </a:lnTo>
                <a:lnTo>
                  <a:pt x="1377" y="1006"/>
                </a:lnTo>
                <a:lnTo>
                  <a:pt x="1362" y="1045"/>
                </a:lnTo>
                <a:lnTo>
                  <a:pt x="1573" y="1611"/>
                </a:lnTo>
                <a:lnTo>
                  <a:pt x="1785" y="1611"/>
                </a:lnTo>
                <a:lnTo>
                  <a:pt x="1785" y="1470"/>
                </a:lnTo>
                <a:lnTo>
                  <a:pt x="1873" y="1470"/>
                </a:lnTo>
                <a:lnTo>
                  <a:pt x="1873" y="1838"/>
                </a:lnTo>
                <a:lnTo>
                  <a:pt x="1785" y="1838"/>
                </a:lnTo>
                <a:lnTo>
                  <a:pt x="1785" y="1698"/>
                </a:lnTo>
                <a:lnTo>
                  <a:pt x="1605" y="1698"/>
                </a:lnTo>
                <a:lnTo>
                  <a:pt x="1929" y="2571"/>
                </a:lnTo>
                <a:lnTo>
                  <a:pt x="1909" y="2816"/>
                </a:lnTo>
                <a:lnTo>
                  <a:pt x="2029" y="3349"/>
                </a:lnTo>
                <a:lnTo>
                  <a:pt x="1758" y="2878"/>
                </a:lnTo>
                <a:lnTo>
                  <a:pt x="1563" y="2697"/>
                </a:lnTo>
                <a:lnTo>
                  <a:pt x="1015" y="1310"/>
                </a:lnTo>
                <a:lnTo>
                  <a:pt x="467" y="2697"/>
                </a:lnTo>
                <a:lnTo>
                  <a:pt x="272" y="2878"/>
                </a:lnTo>
                <a:lnTo>
                  <a:pt x="0" y="3349"/>
                </a:lnTo>
                <a:lnTo>
                  <a:pt x="121" y="2816"/>
                </a:lnTo>
                <a:lnTo>
                  <a:pt x="100" y="2571"/>
                </a:lnTo>
                <a:lnTo>
                  <a:pt x="425" y="1698"/>
                </a:lnTo>
                <a:lnTo>
                  <a:pt x="237" y="1698"/>
                </a:lnTo>
                <a:lnTo>
                  <a:pt x="237" y="1838"/>
                </a:lnTo>
                <a:lnTo>
                  <a:pt x="148" y="1838"/>
                </a:lnTo>
                <a:lnTo>
                  <a:pt x="148" y="1470"/>
                </a:lnTo>
                <a:lnTo>
                  <a:pt x="237" y="1470"/>
                </a:lnTo>
                <a:lnTo>
                  <a:pt x="237" y="1611"/>
                </a:lnTo>
                <a:lnTo>
                  <a:pt x="457" y="1611"/>
                </a:lnTo>
                <a:lnTo>
                  <a:pt x="646" y="1103"/>
                </a:lnTo>
                <a:lnTo>
                  <a:pt x="622" y="1064"/>
                </a:lnTo>
                <a:lnTo>
                  <a:pt x="603" y="1022"/>
                </a:lnTo>
                <a:lnTo>
                  <a:pt x="590" y="977"/>
                </a:lnTo>
                <a:lnTo>
                  <a:pt x="581" y="931"/>
                </a:lnTo>
                <a:lnTo>
                  <a:pt x="578" y="882"/>
                </a:lnTo>
                <a:lnTo>
                  <a:pt x="581" y="831"/>
                </a:lnTo>
                <a:lnTo>
                  <a:pt x="590" y="782"/>
                </a:lnTo>
                <a:lnTo>
                  <a:pt x="605" y="736"/>
                </a:lnTo>
                <a:lnTo>
                  <a:pt x="625" y="692"/>
                </a:lnTo>
                <a:lnTo>
                  <a:pt x="651" y="652"/>
                </a:lnTo>
                <a:lnTo>
                  <a:pt x="680" y="615"/>
                </a:lnTo>
                <a:lnTo>
                  <a:pt x="714" y="581"/>
                </a:lnTo>
                <a:lnTo>
                  <a:pt x="752" y="551"/>
                </a:lnTo>
                <a:lnTo>
                  <a:pt x="792" y="526"/>
                </a:lnTo>
                <a:lnTo>
                  <a:pt x="837" y="506"/>
                </a:lnTo>
                <a:lnTo>
                  <a:pt x="883" y="491"/>
                </a:lnTo>
                <a:lnTo>
                  <a:pt x="933" y="481"/>
                </a:lnTo>
                <a:lnTo>
                  <a:pt x="933" y="0"/>
                </a:lnTo>
                <a:close/>
              </a:path>
            </a:pathLst>
          </a:custGeom>
          <a:solidFill>
            <a:schemeClr val="accent3">
              <a:lumMod val="75000"/>
            </a:schemeClr>
          </a:solidFill>
          <a:ln w="0">
            <a:noFill/>
            <a:prstDash val="solid"/>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endParaRPr lang="en-US" sz="2400" dirty="0">
              <a:latin typeface="Amazon Ember Light" charset="0"/>
              <a:ea typeface="Amazon Ember Light" charset="0"/>
              <a:cs typeface="Amazon Ember Light" charset="0"/>
            </a:endParaRPr>
          </a:p>
        </p:txBody>
      </p:sp>
      <p:sp>
        <p:nvSpPr>
          <p:cNvPr id="95" name="Freeform 94">
            <a:extLst>
              <a:ext uri="{C183D7F6-B498-43B3-948B-1728B52AA6E4}">
                <adec:decorative xmlns:adec="http://schemas.microsoft.com/office/drawing/2017/decorative" val="1"/>
              </a:ext>
            </a:extLst>
          </p:cNvPr>
          <p:cNvSpPr>
            <a:spLocks noEditPoints="1"/>
          </p:cNvSpPr>
          <p:nvPr/>
        </p:nvSpPr>
        <p:spPr bwMode="auto">
          <a:xfrm>
            <a:off x="7407339" y="5659411"/>
            <a:ext cx="498467" cy="511633"/>
          </a:xfrm>
          <a:custGeom>
            <a:avLst/>
            <a:gdLst>
              <a:gd name="T0" fmla="*/ 2406 w 3180"/>
              <a:gd name="T1" fmla="*/ 1358 h 3260"/>
              <a:gd name="T2" fmla="*/ 2504 w 3180"/>
              <a:gd name="T3" fmla="*/ 1507 h 3260"/>
              <a:gd name="T4" fmla="*/ 2654 w 3180"/>
              <a:gd name="T5" fmla="*/ 1408 h 3260"/>
              <a:gd name="T6" fmla="*/ 2555 w 3180"/>
              <a:gd name="T7" fmla="*/ 1259 h 3260"/>
              <a:gd name="T8" fmla="*/ 2770 w 3180"/>
              <a:gd name="T9" fmla="*/ 565 h 3260"/>
              <a:gd name="T10" fmla="*/ 2754 w 3180"/>
              <a:gd name="T11" fmla="*/ 758 h 3260"/>
              <a:gd name="T12" fmla="*/ 2622 w 3180"/>
              <a:gd name="T13" fmla="*/ 955 h 3260"/>
              <a:gd name="T14" fmla="*/ 2986 w 3180"/>
              <a:gd name="T15" fmla="*/ 1513 h 3260"/>
              <a:gd name="T16" fmla="*/ 3103 w 3180"/>
              <a:gd name="T17" fmla="*/ 1857 h 3260"/>
              <a:gd name="T18" fmla="*/ 3180 w 3180"/>
              <a:gd name="T19" fmla="*/ 1873 h 3260"/>
              <a:gd name="T20" fmla="*/ 3043 w 3180"/>
              <a:gd name="T21" fmla="*/ 2392 h 3260"/>
              <a:gd name="T22" fmla="*/ 2730 w 3180"/>
              <a:gd name="T23" fmla="*/ 2607 h 3260"/>
              <a:gd name="T24" fmla="*/ 2477 w 3180"/>
              <a:gd name="T25" fmla="*/ 2882 h 3260"/>
              <a:gd name="T26" fmla="*/ 2508 w 3180"/>
              <a:gd name="T27" fmla="*/ 3060 h 3260"/>
              <a:gd name="T28" fmla="*/ 2118 w 3180"/>
              <a:gd name="T29" fmla="*/ 3117 h 3260"/>
              <a:gd name="T30" fmla="*/ 2022 w 3180"/>
              <a:gd name="T31" fmla="*/ 3060 h 3260"/>
              <a:gd name="T32" fmla="*/ 1953 w 3180"/>
              <a:gd name="T33" fmla="*/ 3189 h 3260"/>
              <a:gd name="T34" fmla="*/ 1668 w 3180"/>
              <a:gd name="T35" fmla="*/ 3257 h 3260"/>
              <a:gd name="T36" fmla="*/ 1621 w 3180"/>
              <a:gd name="T37" fmla="*/ 3155 h 3260"/>
              <a:gd name="T38" fmla="*/ 1208 w 3180"/>
              <a:gd name="T39" fmla="*/ 3149 h 3260"/>
              <a:gd name="T40" fmla="*/ 930 w 3180"/>
              <a:gd name="T41" fmla="*/ 3112 h 3260"/>
              <a:gd name="T42" fmla="*/ 917 w 3180"/>
              <a:gd name="T43" fmla="*/ 3211 h 3260"/>
              <a:gd name="T44" fmla="*/ 551 w 3180"/>
              <a:gd name="T45" fmla="*/ 3206 h 3260"/>
              <a:gd name="T46" fmla="*/ 535 w 3180"/>
              <a:gd name="T47" fmla="*/ 2998 h 3260"/>
              <a:gd name="T48" fmla="*/ 404 w 3180"/>
              <a:gd name="T49" fmla="*/ 2796 h 3260"/>
              <a:gd name="T50" fmla="*/ 70 w 3180"/>
              <a:gd name="T51" fmla="*/ 2369 h 3260"/>
              <a:gd name="T52" fmla="*/ 3 w 3180"/>
              <a:gd name="T53" fmla="*/ 1798 h 3260"/>
              <a:gd name="T54" fmla="*/ 221 w 3180"/>
              <a:gd name="T55" fmla="*/ 1191 h 3260"/>
              <a:gd name="T56" fmla="*/ 650 w 3180"/>
              <a:gd name="T57" fmla="*/ 934 h 3260"/>
              <a:gd name="T58" fmla="*/ 863 w 3180"/>
              <a:gd name="T59" fmla="*/ 1110 h 3260"/>
              <a:gd name="T60" fmla="*/ 735 w 3180"/>
              <a:gd name="T61" fmla="*/ 1163 h 3260"/>
              <a:gd name="T62" fmla="*/ 744 w 3180"/>
              <a:gd name="T63" fmla="*/ 1311 h 3260"/>
              <a:gd name="T64" fmla="*/ 1090 w 3180"/>
              <a:gd name="T65" fmla="*/ 1254 h 3260"/>
              <a:gd name="T66" fmla="*/ 1413 w 3180"/>
              <a:gd name="T67" fmla="*/ 1229 h 3260"/>
              <a:gd name="T68" fmla="*/ 1541 w 3180"/>
              <a:gd name="T69" fmla="*/ 1194 h 3260"/>
              <a:gd name="T70" fmla="*/ 1506 w 3180"/>
              <a:gd name="T71" fmla="*/ 1039 h 3260"/>
              <a:gd name="T72" fmla="*/ 1580 w 3180"/>
              <a:gd name="T73" fmla="*/ 837 h 3260"/>
              <a:gd name="T74" fmla="*/ 1830 w 3180"/>
              <a:gd name="T75" fmla="*/ 659 h 3260"/>
              <a:gd name="T76" fmla="*/ 2014 w 3180"/>
              <a:gd name="T77" fmla="*/ 703 h 3260"/>
              <a:gd name="T78" fmla="*/ 2125 w 3180"/>
              <a:gd name="T79" fmla="*/ 659 h 3260"/>
              <a:gd name="T80" fmla="*/ 2406 w 3180"/>
              <a:gd name="T81" fmla="*/ 560 h 3260"/>
              <a:gd name="T82" fmla="*/ 1131 w 3180"/>
              <a:gd name="T83" fmla="*/ 202 h 3260"/>
              <a:gd name="T84" fmla="*/ 894 w 3180"/>
              <a:gd name="T85" fmla="*/ 332 h 3260"/>
              <a:gd name="T86" fmla="*/ 1020 w 3180"/>
              <a:gd name="T87" fmla="*/ 271 h 3260"/>
              <a:gd name="T88" fmla="*/ 995 w 3180"/>
              <a:gd name="T89" fmla="*/ 125 h 3260"/>
              <a:gd name="T90" fmla="*/ 719 w 3180"/>
              <a:gd name="T91" fmla="*/ 370 h 3260"/>
              <a:gd name="T92" fmla="*/ 765 w 3180"/>
              <a:gd name="T93" fmla="*/ 746 h 3260"/>
              <a:gd name="T94" fmla="*/ 1094 w 3180"/>
              <a:gd name="T95" fmla="*/ 919 h 3260"/>
              <a:gd name="T96" fmla="*/ 1423 w 3180"/>
              <a:gd name="T97" fmla="*/ 746 h 3260"/>
              <a:gd name="T98" fmla="*/ 1468 w 3180"/>
              <a:gd name="T99" fmla="*/ 370 h 3260"/>
              <a:gd name="T100" fmla="*/ 1192 w 3180"/>
              <a:gd name="T101" fmla="*/ 125 h 3260"/>
              <a:gd name="T102" fmla="*/ 1352 w 3180"/>
              <a:gd name="T103" fmla="*/ 71 h 3260"/>
              <a:gd name="T104" fmla="*/ 1595 w 3180"/>
              <a:gd name="T105" fmla="*/ 406 h 3260"/>
              <a:gd name="T106" fmla="*/ 1508 w 3180"/>
              <a:gd name="T107" fmla="*/ 820 h 3260"/>
              <a:gd name="T108" fmla="*/ 1150 w 3180"/>
              <a:gd name="T109" fmla="*/ 1028 h 3260"/>
              <a:gd name="T110" fmla="*/ 750 w 3180"/>
              <a:gd name="T111" fmla="*/ 899 h 3260"/>
              <a:gd name="T112" fmla="*/ 581 w 3180"/>
              <a:gd name="T113" fmla="*/ 516 h 3260"/>
              <a:gd name="T114" fmla="*/ 750 w 3180"/>
              <a:gd name="T115" fmla="*/ 133 h 3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180" h="3260">
                <a:moveTo>
                  <a:pt x="2530" y="1257"/>
                </a:moveTo>
                <a:lnTo>
                  <a:pt x="2504" y="1259"/>
                </a:lnTo>
                <a:lnTo>
                  <a:pt x="2480" y="1266"/>
                </a:lnTo>
                <a:lnTo>
                  <a:pt x="2458" y="1278"/>
                </a:lnTo>
                <a:lnTo>
                  <a:pt x="2440" y="1293"/>
                </a:lnTo>
                <a:lnTo>
                  <a:pt x="2425" y="1312"/>
                </a:lnTo>
                <a:lnTo>
                  <a:pt x="2413" y="1334"/>
                </a:lnTo>
                <a:lnTo>
                  <a:pt x="2406" y="1358"/>
                </a:lnTo>
                <a:lnTo>
                  <a:pt x="2403" y="1383"/>
                </a:lnTo>
                <a:lnTo>
                  <a:pt x="2406" y="1409"/>
                </a:lnTo>
                <a:lnTo>
                  <a:pt x="2413" y="1433"/>
                </a:lnTo>
                <a:lnTo>
                  <a:pt x="2425" y="1454"/>
                </a:lnTo>
                <a:lnTo>
                  <a:pt x="2440" y="1473"/>
                </a:lnTo>
                <a:lnTo>
                  <a:pt x="2458" y="1488"/>
                </a:lnTo>
                <a:lnTo>
                  <a:pt x="2480" y="1500"/>
                </a:lnTo>
                <a:lnTo>
                  <a:pt x="2504" y="1507"/>
                </a:lnTo>
                <a:lnTo>
                  <a:pt x="2530" y="1511"/>
                </a:lnTo>
                <a:lnTo>
                  <a:pt x="2555" y="1507"/>
                </a:lnTo>
                <a:lnTo>
                  <a:pt x="2579" y="1500"/>
                </a:lnTo>
                <a:lnTo>
                  <a:pt x="2600" y="1488"/>
                </a:lnTo>
                <a:lnTo>
                  <a:pt x="2618" y="1473"/>
                </a:lnTo>
                <a:lnTo>
                  <a:pt x="2634" y="1454"/>
                </a:lnTo>
                <a:lnTo>
                  <a:pt x="2645" y="1433"/>
                </a:lnTo>
                <a:lnTo>
                  <a:pt x="2654" y="1408"/>
                </a:lnTo>
                <a:lnTo>
                  <a:pt x="2656" y="1383"/>
                </a:lnTo>
                <a:lnTo>
                  <a:pt x="2654" y="1358"/>
                </a:lnTo>
                <a:lnTo>
                  <a:pt x="2645" y="1334"/>
                </a:lnTo>
                <a:lnTo>
                  <a:pt x="2634" y="1312"/>
                </a:lnTo>
                <a:lnTo>
                  <a:pt x="2618" y="1293"/>
                </a:lnTo>
                <a:lnTo>
                  <a:pt x="2600" y="1278"/>
                </a:lnTo>
                <a:lnTo>
                  <a:pt x="2579" y="1266"/>
                </a:lnTo>
                <a:lnTo>
                  <a:pt x="2555" y="1259"/>
                </a:lnTo>
                <a:lnTo>
                  <a:pt x="2530" y="1257"/>
                </a:lnTo>
                <a:close/>
                <a:moveTo>
                  <a:pt x="2647" y="514"/>
                </a:moveTo>
                <a:lnTo>
                  <a:pt x="2675" y="514"/>
                </a:lnTo>
                <a:lnTo>
                  <a:pt x="2698" y="517"/>
                </a:lnTo>
                <a:lnTo>
                  <a:pt x="2718" y="523"/>
                </a:lnTo>
                <a:lnTo>
                  <a:pt x="2740" y="534"/>
                </a:lnTo>
                <a:lnTo>
                  <a:pt x="2757" y="548"/>
                </a:lnTo>
                <a:lnTo>
                  <a:pt x="2770" y="565"/>
                </a:lnTo>
                <a:lnTo>
                  <a:pt x="2779" y="584"/>
                </a:lnTo>
                <a:lnTo>
                  <a:pt x="2784" y="605"/>
                </a:lnTo>
                <a:lnTo>
                  <a:pt x="2786" y="628"/>
                </a:lnTo>
                <a:lnTo>
                  <a:pt x="2785" y="652"/>
                </a:lnTo>
                <a:lnTo>
                  <a:pt x="2781" y="678"/>
                </a:lnTo>
                <a:lnTo>
                  <a:pt x="2774" y="704"/>
                </a:lnTo>
                <a:lnTo>
                  <a:pt x="2765" y="731"/>
                </a:lnTo>
                <a:lnTo>
                  <a:pt x="2754" y="758"/>
                </a:lnTo>
                <a:lnTo>
                  <a:pt x="2741" y="786"/>
                </a:lnTo>
                <a:lnTo>
                  <a:pt x="2727" y="813"/>
                </a:lnTo>
                <a:lnTo>
                  <a:pt x="2711" y="839"/>
                </a:lnTo>
                <a:lnTo>
                  <a:pt x="2694" y="866"/>
                </a:lnTo>
                <a:lnTo>
                  <a:pt x="2677" y="890"/>
                </a:lnTo>
                <a:lnTo>
                  <a:pt x="2659" y="913"/>
                </a:lnTo>
                <a:lnTo>
                  <a:pt x="2640" y="934"/>
                </a:lnTo>
                <a:lnTo>
                  <a:pt x="2622" y="955"/>
                </a:lnTo>
                <a:lnTo>
                  <a:pt x="2685" y="1015"/>
                </a:lnTo>
                <a:lnTo>
                  <a:pt x="2742" y="1078"/>
                </a:lnTo>
                <a:lnTo>
                  <a:pt x="2795" y="1145"/>
                </a:lnTo>
                <a:lnTo>
                  <a:pt x="2845" y="1213"/>
                </a:lnTo>
                <a:lnTo>
                  <a:pt x="2888" y="1285"/>
                </a:lnTo>
                <a:lnTo>
                  <a:pt x="2926" y="1359"/>
                </a:lnTo>
                <a:lnTo>
                  <a:pt x="2958" y="1435"/>
                </a:lnTo>
                <a:lnTo>
                  <a:pt x="2986" y="1513"/>
                </a:lnTo>
                <a:lnTo>
                  <a:pt x="3008" y="1592"/>
                </a:lnTo>
                <a:lnTo>
                  <a:pt x="3023" y="1674"/>
                </a:lnTo>
                <a:lnTo>
                  <a:pt x="3032" y="1757"/>
                </a:lnTo>
                <a:lnTo>
                  <a:pt x="3045" y="1788"/>
                </a:lnTo>
                <a:lnTo>
                  <a:pt x="3059" y="1811"/>
                </a:lnTo>
                <a:lnTo>
                  <a:pt x="3073" y="1831"/>
                </a:lnTo>
                <a:lnTo>
                  <a:pt x="3088" y="1846"/>
                </a:lnTo>
                <a:lnTo>
                  <a:pt x="3103" y="1857"/>
                </a:lnTo>
                <a:lnTo>
                  <a:pt x="3118" y="1865"/>
                </a:lnTo>
                <a:lnTo>
                  <a:pt x="3133" y="1870"/>
                </a:lnTo>
                <a:lnTo>
                  <a:pt x="3146" y="1873"/>
                </a:lnTo>
                <a:lnTo>
                  <a:pt x="3157" y="1874"/>
                </a:lnTo>
                <a:lnTo>
                  <a:pt x="3167" y="1875"/>
                </a:lnTo>
                <a:lnTo>
                  <a:pt x="3174" y="1874"/>
                </a:lnTo>
                <a:lnTo>
                  <a:pt x="3179" y="1873"/>
                </a:lnTo>
                <a:lnTo>
                  <a:pt x="3180" y="1873"/>
                </a:lnTo>
                <a:lnTo>
                  <a:pt x="3180" y="2376"/>
                </a:lnTo>
                <a:lnTo>
                  <a:pt x="3177" y="2375"/>
                </a:lnTo>
                <a:lnTo>
                  <a:pt x="3167" y="2375"/>
                </a:lnTo>
                <a:lnTo>
                  <a:pt x="3151" y="2376"/>
                </a:lnTo>
                <a:lnTo>
                  <a:pt x="3131" y="2377"/>
                </a:lnTo>
                <a:lnTo>
                  <a:pt x="3104" y="2380"/>
                </a:lnTo>
                <a:lnTo>
                  <a:pt x="3075" y="2385"/>
                </a:lnTo>
                <a:lnTo>
                  <a:pt x="3043" y="2392"/>
                </a:lnTo>
                <a:lnTo>
                  <a:pt x="3008" y="2402"/>
                </a:lnTo>
                <a:lnTo>
                  <a:pt x="2971" y="2415"/>
                </a:lnTo>
                <a:lnTo>
                  <a:pt x="2933" y="2431"/>
                </a:lnTo>
                <a:lnTo>
                  <a:pt x="2894" y="2453"/>
                </a:lnTo>
                <a:lnTo>
                  <a:pt x="2856" y="2478"/>
                </a:lnTo>
                <a:lnTo>
                  <a:pt x="2818" y="2509"/>
                </a:lnTo>
                <a:lnTo>
                  <a:pt x="2781" y="2546"/>
                </a:lnTo>
                <a:lnTo>
                  <a:pt x="2730" y="2607"/>
                </a:lnTo>
                <a:lnTo>
                  <a:pt x="2675" y="2666"/>
                </a:lnTo>
                <a:lnTo>
                  <a:pt x="2614" y="2723"/>
                </a:lnTo>
                <a:lnTo>
                  <a:pt x="2552" y="2776"/>
                </a:lnTo>
                <a:lnTo>
                  <a:pt x="2484" y="2827"/>
                </a:lnTo>
                <a:lnTo>
                  <a:pt x="2480" y="2835"/>
                </a:lnTo>
                <a:lnTo>
                  <a:pt x="2477" y="2847"/>
                </a:lnTo>
                <a:lnTo>
                  <a:pt x="2476" y="2863"/>
                </a:lnTo>
                <a:lnTo>
                  <a:pt x="2477" y="2882"/>
                </a:lnTo>
                <a:lnTo>
                  <a:pt x="2479" y="2904"/>
                </a:lnTo>
                <a:lnTo>
                  <a:pt x="2481" y="2926"/>
                </a:lnTo>
                <a:lnTo>
                  <a:pt x="2485" y="2950"/>
                </a:lnTo>
                <a:lnTo>
                  <a:pt x="2490" y="2973"/>
                </a:lnTo>
                <a:lnTo>
                  <a:pt x="2495" y="2998"/>
                </a:lnTo>
                <a:lnTo>
                  <a:pt x="2499" y="3020"/>
                </a:lnTo>
                <a:lnTo>
                  <a:pt x="2504" y="3041"/>
                </a:lnTo>
                <a:lnTo>
                  <a:pt x="2508" y="3060"/>
                </a:lnTo>
                <a:lnTo>
                  <a:pt x="2512" y="3075"/>
                </a:lnTo>
                <a:lnTo>
                  <a:pt x="2515" y="3088"/>
                </a:lnTo>
                <a:lnTo>
                  <a:pt x="2517" y="3096"/>
                </a:lnTo>
                <a:lnTo>
                  <a:pt x="2517" y="3098"/>
                </a:lnTo>
                <a:lnTo>
                  <a:pt x="2119" y="3136"/>
                </a:lnTo>
                <a:lnTo>
                  <a:pt x="2119" y="3134"/>
                </a:lnTo>
                <a:lnTo>
                  <a:pt x="2119" y="3127"/>
                </a:lnTo>
                <a:lnTo>
                  <a:pt x="2118" y="3117"/>
                </a:lnTo>
                <a:lnTo>
                  <a:pt x="2117" y="3105"/>
                </a:lnTo>
                <a:lnTo>
                  <a:pt x="2114" y="3091"/>
                </a:lnTo>
                <a:lnTo>
                  <a:pt x="2111" y="3076"/>
                </a:lnTo>
                <a:lnTo>
                  <a:pt x="2107" y="3063"/>
                </a:lnTo>
                <a:lnTo>
                  <a:pt x="2101" y="3052"/>
                </a:lnTo>
                <a:lnTo>
                  <a:pt x="2094" y="3043"/>
                </a:lnTo>
                <a:lnTo>
                  <a:pt x="2084" y="3038"/>
                </a:lnTo>
                <a:lnTo>
                  <a:pt x="2022" y="3060"/>
                </a:lnTo>
                <a:lnTo>
                  <a:pt x="2015" y="3067"/>
                </a:lnTo>
                <a:lnTo>
                  <a:pt x="2005" y="3079"/>
                </a:lnTo>
                <a:lnTo>
                  <a:pt x="1996" y="3095"/>
                </a:lnTo>
                <a:lnTo>
                  <a:pt x="1987" y="3111"/>
                </a:lnTo>
                <a:lnTo>
                  <a:pt x="1978" y="3130"/>
                </a:lnTo>
                <a:lnTo>
                  <a:pt x="1970" y="3149"/>
                </a:lnTo>
                <a:lnTo>
                  <a:pt x="1961" y="3169"/>
                </a:lnTo>
                <a:lnTo>
                  <a:pt x="1953" y="3189"/>
                </a:lnTo>
                <a:lnTo>
                  <a:pt x="1946" y="3208"/>
                </a:lnTo>
                <a:lnTo>
                  <a:pt x="1940" y="3224"/>
                </a:lnTo>
                <a:lnTo>
                  <a:pt x="1935" y="3238"/>
                </a:lnTo>
                <a:lnTo>
                  <a:pt x="1931" y="3249"/>
                </a:lnTo>
                <a:lnTo>
                  <a:pt x="1928" y="3256"/>
                </a:lnTo>
                <a:lnTo>
                  <a:pt x="1927" y="3258"/>
                </a:lnTo>
                <a:lnTo>
                  <a:pt x="1669" y="3260"/>
                </a:lnTo>
                <a:lnTo>
                  <a:pt x="1668" y="3257"/>
                </a:lnTo>
                <a:lnTo>
                  <a:pt x="1665" y="3250"/>
                </a:lnTo>
                <a:lnTo>
                  <a:pt x="1661" y="3239"/>
                </a:lnTo>
                <a:lnTo>
                  <a:pt x="1656" y="3225"/>
                </a:lnTo>
                <a:lnTo>
                  <a:pt x="1649" y="3210"/>
                </a:lnTo>
                <a:lnTo>
                  <a:pt x="1643" y="3195"/>
                </a:lnTo>
                <a:lnTo>
                  <a:pt x="1635" y="3180"/>
                </a:lnTo>
                <a:lnTo>
                  <a:pt x="1628" y="3166"/>
                </a:lnTo>
                <a:lnTo>
                  <a:pt x="1621" y="3155"/>
                </a:lnTo>
                <a:lnTo>
                  <a:pt x="1615" y="3148"/>
                </a:lnTo>
                <a:lnTo>
                  <a:pt x="1610" y="3146"/>
                </a:lnTo>
                <a:lnTo>
                  <a:pt x="1514" y="3153"/>
                </a:lnTo>
                <a:lnTo>
                  <a:pt x="1418" y="3155"/>
                </a:lnTo>
                <a:lnTo>
                  <a:pt x="1359" y="3155"/>
                </a:lnTo>
                <a:lnTo>
                  <a:pt x="1305" y="3154"/>
                </a:lnTo>
                <a:lnTo>
                  <a:pt x="1255" y="3152"/>
                </a:lnTo>
                <a:lnTo>
                  <a:pt x="1208" y="3149"/>
                </a:lnTo>
                <a:lnTo>
                  <a:pt x="1161" y="3144"/>
                </a:lnTo>
                <a:lnTo>
                  <a:pt x="1115" y="3137"/>
                </a:lnTo>
                <a:lnTo>
                  <a:pt x="1069" y="3129"/>
                </a:lnTo>
                <a:lnTo>
                  <a:pt x="1020" y="3118"/>
                </a:lnTo>
                <a:lnTo>
                  <a:pt x="970" y="3104"/>
                </a:lnTo>
                <a:lnTo>
                  <a:pt x="953" y="3103"/>
                </a:lnTo>
                <a:lnTo>
                  <a:pt x="940" y="3106"/>
                </a:lnTo>
                <a:lnTo>
                  <a:pt x="930" y="3112"/>
                </a:lnTo>
                <a:lnTo>
                  <a:pt x="922" y="3120"/>
                </a:lnTo>
                <a:lnTo>
                  <a:pt x="917" y="3130"/>
                </a:lnTo>
                <a:lnTo>
                  <a:pt x="913" y="3143"/>
                </a:lnTo>
                <a:lnTo>
                  <a:pt x="912" y="3156"/>
                </a:lnTo>
                <a:lnTo>
                  <a:pt x="912" y="3170"/>
                </a:lnTo>
                <a:lnTo>
                  <a:pt x="913" y="3185"/>
                </a:lnTo>
                <a:lnTo>
                  <a:pt x="915" y="3198"/>
                </a:lnTo>
                <a:lnTo>
                  <a:pt x="917" y="3211"/>
                </a:lnTo>
                <a:lnTo>
                  <a:pt x="920" y="3223"/>
                </a:lnTo>
                <a:lnTo>
                  <a:pt x="922" y="3233"/>
                </a:lnTo>
                <a:lnTo>
                  <a:pt x="924" y="3241"/>
                </a:lnTo>
                <a:lnTo>
                  <a:pt x="926" y="3246"/>
                </a:lnTo>
                <a:lnTo>
                  <a:pt x="927" y="3247"/>
                </a:lnTo>
                <a:lnTo>
                  <a:pt x="551" y="3219"/>
                </a:lnTo>
                <a:lnTo>
                  <a:pt x="551" y="3216"/>
                </a:lnTo>
                <a:lnTo>
                  <a:pt x="551" y="3206"/>
                </a:lnTo>
                <a:lnTo>
                  <a:pt x="551" y="3191"/>
                </a:lnTo>
                <a:lnTo>
                  <a:pt x="550" y="3171"/>
                </a:lnTo>
                <a:lnTo>
                  <a:pt x="549" y="3147"/>
                </a:lnTo>
                <a:lnTo>
                  <a:pt x="547" y="3121"/>
                </a:lnTo>
                <a:lnTo>
                  <a:pt x="545" y="3092"/>
                </a:lnTo>
                <a:lnTo>
                  <a:pt x="543" y="3060"/>
                </a:lnTo>
                <a:lnTo>
                  <a:pt x="539" y="3029"/>
                </a:lnTo>
                <a:lnTo>
                  <a:pt x="535" y="2998"/>
                </a:lnTo>
                <a:lnTo>
                  <a:pt x="529" y="2967"/>
                </a:lnTo>
                <a:lnTo>
                  <a:pt x="523" y="2938"/>
                </a:lnTo>
                <a:lnTo>
                  <a:pt x="515" y="2911"/>
                </a:lnTo>
                <a:lnTo>
                  <a:pt x="506" y="2887"/>
                </a:lnTo>
                <a:lnTo>
                  <a:pt x="496" y="2867"/>
                </a:lnTo>
                <a:lnTo>
                  <a:pt x="484" y="2852"/>
                </a:lnTo>
                <a:lnTo>
                  <a:pt x="470" y="2842"/>
                </a:lnTo>
                <a:lnTo>
                  <a:pt x="404" y="2796"/>
                </a:lnTo>
                <a:lnTo>
                  <a:pt x="343" y="2749"/>
                </a:lnTo>
                <a:lnTo>
                  <a:pt x="289" y="2700"/>
                </a:lnTo>
                <a:lnTo>
                  <a:pt x="239" y="2650"/>
                </a:lnTo>
                <a:lnTo>
                  <a:pt x="196" y="2597"/>
                </a:lnTo>
                <a:lnTo>
                  <a:pt x="158" y="2544"/>
                </a:lnTo>
                <a:lnTo>
                  <a:pt x="124" y="2487"/>
                </a:lnTo>
                <a:lnTo>
                  <a:pt x="96" y="2429"/>
                </a:lnTo>
                <a:lnTo>
                  <a:pt x="70" y="2369"/>
                </a:lnTo>
                <a:lnTo>
                  <a:pt x="50" y="2306"/>
                </a:lnTo>
                <a:lnTo>
                  <a:pt x="34" y="2241"/>
                </a:lnTo>
                <a:lnTo>
                  <a:pt x="21" y="2175"/>
                </a:lnTo>
                <a:lnTo>
                  <a:pt x="11" y="2105"/>
                </a:lnTo>
                <a:lnTo>
                  <a:pt x="5" y="2033"/>
                </a:lnTo>
                <a:lnTo>
                  <a:pt x="1" y="1959"/>
                </a:lnTo>
                <a:lnTo>
                  <a:pt x="0" y="1882"/>
                </a:lnTo>
                <a:lnTo>
                  <a:pt x="3" y="1798"/>
                </a:lnTo>
                <a:lnTo>
                  <a:pt x="11" y="1715"/>
                </a:lnTo>
                <a:lnTo>
                  <a:pt x="26" y="1634"/>
                </a:lnTo>
                <a:lnTo>
                  <a:pt x="45" y="1554"/>
                </a:lnTo>
                <a:lnTo>
                  <a:pt x="70" y="1477"/>
                </a:lnTo>
                <a:lnTo>
                  <a:pt x="101" y="1401"/>
                </a:lnTo>
                <a:lnTo>
                  <a:pt x="136" y="1329"/>
                </a:lnTo>
                <a:lnTo>
                  <a:pt x="176" y="1259"/>
                </a:lnTo>
                <a:lnTo>
                  <a:pt x="221" y="1191"/>
                </a:lnTo>
                <a:lnTo>
                  <a:pt x="271" y="1126"/>
                </a:lnTo>
                <a:lnTo>
                  <a:pt x="325" y="1065"/>
                </a:lnTo>
                <a:lnTo>
                  <a:pt x="384" y="1007"/>
                </a:lnTo>
                <a:lnTo>
                  <a:pt x="447" y="951"/>
                </a:lnTo>
                <a:lnTo>
                  <a:pt x="514" y="900"/>
                </a:lnTo>
                <a:lnTo>
                  <a:pt x="585" y="852"/>
                </a:lnTo>
                <a:lnTo>
                  <a:pt x="616" y="895"/>
                </a:lnTo>
                <a:lnTo>
                  <a:pt x="650" y="934"/>
                </a:lnTo>
                <a:lnTo>
                  <a:pt x="687" y="970"/>
                </a:lnTo>
                <a:lnTo>
                  <a:pt x="728" y="1003"/>
                </a:lnTo>
                <a:lnTo>
                  <a:pt x="771" y="1031"/>
                </a:lnTo>
                <a:lnTo>
                  <a:pt x="817" y="1057"/>
                </a:lnTo>
                <a:lnTo>
                  <a:pt x="865" y="1078"/>
                </a:lnTo>
                <a:lnTo>
                  <a:pt x="916" y="1095"/>
                </a:lnTo>
                <a:lnTo>
                  <a:pt x="888" y="1103"/>
                </a:lnTo>
                <a:lnTo>
                  <a:pt x="863" y="1110"/>
                </a:lnTo>
                <a:lnTo>
                  <a:pt x="843" y="1117"/>
                </a:lnTo>
                <a:lnTo>
                  <a:pt x="827" y="1123"/>
                </a:lnTo>
                <a:lnTo>
                  <a:pt x="815" y="1127"/>
                </a:lnTo>
                <a:lnTo>
                  <a:pt x="808" y="1130"/>
                </a:lnTo>
                <a:lnTo>
                  <a:pt x="805" y="1131"/>
                </a:lnTo>
                <a:lnTo>
                  <a:pt x="776" y="1141"/>
                </a:lnTo>
                <a:lnTo>
                  <a:pt x="753" y="1151"/>
                </a:lnTo>
                <a:lnTo>
                  <a:pt x="735" y="1163"/>
                </a:lnTo>
                <a:lnTo>
                  <a:pt x="721" y="1176"/>
                </a:lnTo>
                <a:lnTo>
                  <a:pt x="713" y="1192"/>
                </a:lnTo>
                <a:lnTo>
                  <a:pt x="708" y="1210"/>
                </a:lnTo>
                <a:lnTo>
                  <a:pt x="707" y="1233"/>
                </a:lnTo>
                <a:lnTo>
                  <a:pt x="709" y="1256"/>
                </a:lnTo>
                <a:lnTo>
                  <a:pt x="717" y="1277"/>
                </a:lnTo>
                <a:lnTo>
                  <a:pt x="729" y="1296"/>
                </a:lnTo>
                <a:lnTo>
                  <a:pt x="744" y="1311"/>
                </a:lnTo>
                <a:lnTo>
                  <a:pt x="762" y="1323"/>
                </a:lnTo>
                <a:lnTo>
                  <a:pt x="782" y="1332"/>
                </a:lnTo>
                <a:lnTo>
                  <a:pt x="805" y="1334"/>
                </a:lnTo>
                <a:lnTo>
                  <a:pt x="864" y="1312"/>
                </a:lnTo>
                <a:lnTo>
                  <a:pt x="923" y="1293"/>
                </a:lnTo>
                <a:lnTo>
                  <a:pt x="980" y="1277"/>
                </a:lnTo>
                <a:lnTo>
                  <a:pt x="1036" y="1264"/>
                </a:lnTo>
                <a:lnTo>
                  <a:pt x="1090" y="1254"/>
                </a:lnTo>
                <a:lnTo>
                  <a:pt x="1142" y="1245"/>
                </a:lnTo>
                <a:lnTo>
                  <a:pt x="1191" y="1239"/>
                </a:lnTo>
                <a:lnTo>
                  <a:pt x="1238" y="1235"/>
                </a:lnTo>
                <a:lnTo>
                  <a:pt x="1281" y="1232"/>
                </a:lnTo>
                <a:lnTo>
                  <a:pt x="1320" y="1229"/>
                </a:lnTo>
                <a:lnTo>
                  <a:pt x="1355" y="1228"/>
                </a:lnTo>
                <a:lnTo>
                  <a:pt x="1387" y="1228"/>
                </a:lnTo>
                <a:lnTo>
                  <a:pt x="1413" y="1229"/>
                </a:lnTo>
                <a:lnTo>
                  <a:pt x="1434" y="1230"/>
                </a:lnTo>
                <a:lnTo>
                  <a:pt x="1449" y="1232"/>
                </a:lnTo>
                <a:lnTo>
                  <a:pt x="1459" y="1233"/>
                </a:lnTo>
                <a:lnTo>
                  <a:pt x="1462" y="1233"/>
                </a:lnTo>
                <a:lnTo>
                  <a:pt x="1485" y="1229"/>
                </a:lnTo>
                <a:lnTo>
                  <a:pt x="1506" y="1222"/>
                </a:lnTo>
                <a:lnTo>
                  <a:pt x="1526" y="1210"/>
                </a:lnTo>
                <a:lnTo>
                  <a:pt x="1541" y="1194"/>
                </a:lnTo>
                <a:lnTo>
                  <a:pt x="1553" y="1176"/>
                </a:lnTo>
                <a:lnTo>
                  <a:pt x="1561" y="1155"/>
                </a:lnTo>
                <a:lnTo>
                  <a:pt x="1563" y="1131"/>
                </a:lnTo>
                <a:lnTo>
                  <a:pt x="1561" y="1108"/>
                </a:lnTo>
                <a:lnTo>
                  <a:pt x="1553" y="1086"/>
                </a:lnTo>
                <a:lnTo>
                  <a:pt x="1541" y="1068"/>
                </a:lnTo>
                <a:lnTo>
                  <a:pt x="1526" y="1052"/>
                </a:lnTo>
                <a:lnTo>
                  <a:pt x="1506" y="1039"/>
                </a:lnTo>
                <a:lnTo>
                  <a:pt x="1485" y="1032"/>
                </a:lnTo>
                <a:lnTo>
                  <a:pt x="1462" y="1029"/>
                </a:lnTo>
                <a:lnTo>
                  <a:pt x="1390" y="1028"/>
                </a:lnTo>
                <a:lnTo>
                  <a:pt x="1435" y="997"/>
                </a:lnTo>
                <a:lnTo>
                  <a:pt x="1476" y="963"/>
                </a:lnTo>
                <a:lnTo>
                  <a:pt x="1514" y="924"/>
                </a:lnTo>
                <a:lnTo>
                  <a:pt x="1549" y="883"/>
                </a:lnTo>
                <a:lnTo>
                  <a:pt x="1580" y="837"/>
                </a:lnTo>
                <a:lnTo>
                  <a:pt x="1607" y="790"/>
                </a:lnTo>
                <a:lnTo>
                  <a:pt x="1629" y="740"/>
                </a:lnTo>
                <a:lnTo>
                  <a:pt x="1646" y="688"/>
                </a:lnTo>
                <a:lnTo>
                  <a:pt x="1659" y="633"/>
                </a:lnTo>
                <a:lnTo>
                  <a:pt x="1706" y="638"/>
                </a:lnTo>
                <a:lnTo>
                  <a:pt x="1750" y="645"/>
                </a:lnTo>
                <a:lnTo>
                  <a:pt x="1791" y="652"/>
                </a:lnTo>
                <a:lnTo>
                  <a:pt x="1830" y="659"/>
                </a:lnTo>
                <a:lnTo>
                  <a:pt x="1867" y="666"/>
                </a:lnTo>
                <a:lnTo>
                  <a:pt x="1899" y="673"/>
                </a:lnTo>
                <a:lnTo>
                  <a:pt x="1929" y="681"/>
                </a:lnTo>
                <a:lnTo>
                  <a:pt x="1954" y="687"/>
                </a:lnTo>
                <a:lnTo>
                  <a:pt x="1976" y="693"/>
                </a:lnTo>
                <a:lnTo>
                  <a:pt x="1993" y="698"/>
                </a:lnTo>
                <a:lnTo>
                  <a:pt x="2007" y="701"/>
                </a:lnTo>
                <a:lnTo>
                  <a:pt x="2014" y="703"/>
                </a:lnTo>
                <a:lnTo>
                  <a:pt x="2017" y="704"/>
                </a:lnTo>
                <a:lnTo>
                  <a:pt x="2020" y="703"/>
                </a:lnTo>
                <a:lnTo>
                  <a:pt x="2027" y="700"/>
                </a:lnTo>
                <a:lnTo>
                  <a:pt x="2039" y="695"/>
                </a:lnTo>
                <a:lnTo>
                  <a:pt x="2055" y="688"/>
                </a:lnTo>
                <a:lnTo>
                  <a:pt x="2075" y="680"/>
                </a:lnTo>
                <a:lnTo>
                  <a:pt x="2098" y="669"/>
                </a:lnTo>
                <a:lnTo>
                  <a:pt x="2125" y="659"/>
                </a:lnTo>
                <a:lnTo>
                  <a:pt x="2154" y="647"/>
                </a:lnTo>
                <a:lnTo>
                  <a:pt x="2187" y="635"/>
                </a:lnTo>
                <a:lnTo>
                  <a:pt x="2220" y="623"/>
                </a:lnTo>
                <a:lnTo>
                  <a:pt x="2255" y="610"/>
                </a:lnTo>
                <a:lnTo>
                  <a:pt x="2291" y="598"/>
                </a:lnTo>
                <a:lnTo>
                  <a:pt x="2330" y="585"/>
                </a:lnTo>
                <a:lnTo>
                  <a:pt x="2368" y="572"/>
                </a:lnTo>
                <a:lnTo>
                  <a:pt x="2406" y="560"/>
                </a:lnTo>
                <a:lnTo>
                  <a:pt x="2443" y="550"/>
                </a:lnTo>
                <a:lnTo>
                  <a:pt x="2481" y="540"/>
                </a:lnTo>
                <a:lnTo>
                  <a:pt x="2518" y="531"/>
                </a:lnTo>
                <a:lnTo>
                  <a:pt x="2553" y="524"/>
                </a:lnTo>
                <a:lnTo>
                  <a:pt x="2587" y="519"/>
                </a:lnTo>
                <a:lnTo>
                  <a:pt x="2618" y="515"/>
                </a:lnTo>
                <a:lnTo>
                  <a:pt x="2647" y="514"/>
                </a:lnTo>
                <a:close/>
                <a:moveTo>
                  <a:pt x="1131" y="202"/>
                </a:moveTo>
                <a:lnTo>
                  <a:pt x="1210" y="796"/>
                </a:lnTo>
                <a:lnTo>
                  <a:pt x="1086" y="813"/>
                </a:lnTo>
                <a:lnTo>
                  <a:pt x="1033" y="413"/>
                </a:lnTo>
                <a:lnTo>
                  <a:pt x="1005" y="423"/>
                </a:lnTo>
                <a:lnTo>
                  <a:pt x="973" y="432"/>
                </a:lnTo>
                <a:lnTo>
                  <a:pt x="936" y="438"/>
                </a:lnTo>
                <a:lnTo>
                  <a:pt x="909" y="441"/>
                </a:lnTo>
                <a:lnTo>
                  <a:pt x="894" y="332"/>
                </a:lnTo>
                <a:lnTo>
                  <a:pt x="922" y="328"/>
                </a:lnTo>
                <a:lnTo>
                  <a:pt x="947" y="324"/>
                </a:lnTo>
                <a:lnTo>
                  <a:pt x="967" y="318"/>
                </a:lnTo>
                <a:lnTo>
                  <a:pt x="984" y="310"/>
                </a:lnTo>
                <a:lnTo>
                  <a:pt x="997" y="301"/>
                </a:lnTo>
                <a:lnTo>
                  <a:pt x="1007" y="291"/>
                </a:lnTo>
                <a:lnTo>
                  <a:pt x="1015" y="281"/>
                </a:lnTo>
                <a:lnTo>
                  <a:pt x="1020" y="271"/>
                </a:lnTo>
                <a:lnTo>
                  <a:pt x="1024" y="260"/>
                </a:lnTo>
                <a:lnTo>
                  <a:pt x="1026" y="250"/>
                </a:lnTo>
                <a:lnTo>
                  <a:pt x="1027" y="240"/>
                </a:lnTo>
                <a:lnTo>
                  <a:pt x="1028" y="217"/>
                </a:lnTo>
                <a:lnTo>
                  <a:pt x="1131" y="202"/>
                </a:lnTo>
                <a:close/>
                <a:moveTo>
                  <a:pt x="1094" y="112"/>
                </a:moveTo>
                <a:lnTo>
                  <a:pt x="1044" y="115"/>
                </a:lnTo>
                <a:lnTo>
                  <a:pt x="995" y="125"/>
                </a:lnTo>
                <a:lnTo>
                  <a:pt x="949" y="140"/>
                </a:lnTo>
                <a:lnTo>
                  <a:pt x="906" y="160"/>
                </a:lnTo>
                <a:lnTo>
                  <a:pt x="864" y="185"/>
                </a:lnTo>
                <a:lnTo>
                  <a:pt x="827" y="215"/>
                </a:lnTo>
                <a:lnTo>
                  <a:pt x="794" y="248"/>
                </a:lnTo>
                <a:lnTo>
                  <a:pt x="765" y="285"/>
                </a:lnTo>
                <a:lnTo>
                  <a:pt x="740" y="327"/>
                </a:lnTo>
                <a:lnTo>
                  <a:pt x="719" y="370"/>
                </a:lnTo>
                <a:lnTo>
                  <a:pt x="704" y="417"/>
                </a:lnTo>
                <a:lnTo>
                  <a:pt x="695" y="465"/>
                </a:lnTo>
                <a:lnTo>
                  <a:pt x="692" y="516"/>
                </a:lnTo>
                <a:lnTo>
                  <a:pt x="695" y="566"/>
                </a:lnTo>
                <a:lnTo>
                  <a:pt x="704" y="615"/>
                </a:lnTo>
                <a:lnTo>
                  <a:pt x="719" y="661"/>
                </a:lnTo>
                <a:lnTo>
                  <a:pt x="740" y="706"/>
                </a:lnTo>
                <a:lnTo>
                  <a:pt x="765" y="746"/>
                </a:lnTo>
                <a:lnTo>
                  <a:pt x="794" y="784"/>
                </a:lnTo>
                <a:lnTo>
                  <a:pt x="827" y="817"/>
                </a:lnTo>
                <a:lnTo>
                  <a:pt x="864" y="847"/>
                </a:lnTo>
                <a:lnTo>
                  <a:pt x="906" y="872"/>
                </a:lnTo>
                <a:lnTo>
                  <a:pt x="949" y="892"/>
                </a:lnTo>
                <a:lnTo>
                  <a:pt x="995" y="907"/>
                </a:lnTo>
                <a:lnTo>
                  <a:pt x="1044" y="916"/>
                </a:lnTo>
                <a:lnTo>
                  <a:pt x="1094" y="919"/>
                </a:lnTo>
                <a:lnTo>
                  <a:pt x="1144" y="916"/>
                </a:lnTo>
                <a:lnTo>
                  <a:pt x="1192" y="907"/>
                </a:lnTo>
                <a:lnTo>
                  <a:pt x="1239" y="892"/>
                </a:lnTo>
                <a:lnTo>
                  <a:pt x="1282" y="872"/>
                </a:lnTo>
                <a:lnTo>
                  <a:pt x="1323" y="847"/>
                </a:lnTo>
                <a:lnTo>
                  <a:pt x="1360" y="817"/>
                </a:lnTo>
                <a:lnTo>
                  <a:pt x="1394" y="784"/>
                </a:lnTo>
                <a:lnTo>
                  <a:pt x="1423" y="746"/>
                </a:lnTo>
                <a:lnTo>
                  <a:pt x="1448" y="706"/>
                </a:lnTo>
                <a:lnTo>
                  <a:pt x="1468" y="661"/>
                </a:lnTo>
                <a:lnTo>
                  <a:pt x="1483" y="615"/>
                </a:lnTo>
                <a:lnTo>
                  <a:pt x="1492" y="566"/>
                </a:lnTo>
                <a:lnTo>
                  <a:pt x="1495" y="516"/>
                </a:lnTo>
                <a:lnTo>
                  <a:pt x="1492" y="465"/>
                </a:lnTo>
                <a:lnTo>
                  <a:pt x="1483" y="417"/>
                </a:lnTo>
                <a:lnTo>
                  <a:pt x="1468" y="370"/>
                </a:lnTo>
                <a:lnTo>
                  <a:pt x="1448" y="327"/>
                </a:lnTo>
                <a:lnTo>
                  <a:pt x="1423" y="285"/>
                </a:lnTo>
                <a:lnTo>
                  <a:pt x="1394" y="248"/>
                </a:lnTo>
                <a:lnTo>
                  <a:pt x="1360" y="215"/>
                </a:lnTo>
                <a:lnTo>
                  <a:pt x="1323" y="185"/>
                </a:lnTo>
                <a:lnTo>
                  <a:pt x="1282" y="160"/>
                </a:lnTo>
                <a:lnTo>
                  <a:pt x="1239" y="140"/>
                </a:lnTo>
                <a:lnTo>
                  <a:pt x="1192" y="125"/>
                </a:lnTo>
                <a:lnTo>
                  <a:pt x="1144" y="115"/>
                </a:lnTo>
                <a:lnTo>
                  <a:pt x="1094" y="112"/>
                </a:lnTo>
                <a:close/>
                <a:moveTo>
                  <a:pt x="1094" y="0"/>
                </a:moveTo>
                <a:lnTo>
                  <a:pt x="1150" y="3"/>
                </a:lnTo>
                <a:lnTo>
                  <a:pt x="1203" y="12"/>
                </a:lnTo>
                <a:lnTo>
                  <a:pt x="1256" y="27"/>
                </a:lnTo>
                <a:lnTo>
                  <a:pt x="1306" y="46"/>
                </a:lnTo>
                <a:lnTo>
                  <a:pt x="1352" y="71"/>
                </a:lnTo>
                <a:lnTo>
                  <a:pt x="1397" y="99"/>
                </a:lnTo>
                <a:lnTo>
                  <a:pt x="1438" y="133"/>
                </a:lnTo>
                <a:lnTo>
                  <a:pt x="1475" y="170"/>
                </a:lnTo>
                <a:lnTo>
                  <a:pt x="1508" y="211"/>
                </a:lnTo>
                <a:lnTo>
                  <a:pt x="1537" y="256"/>
                </a:lnTo>
                <a:lnTo>
                  <a:pt x="1562" y="303"/>
                </a:lnTo>
                <a:lnTo>
                  <a:pt x="1581" y="353"/>
                </a:lnTo>
                <a:lnTo>
                  <a:pt x="1595" y="406"/>
                </a:lnTo>
                <a:lnTo>
                  <a:pt x="1604" y="460"/>
                </a:lnTo>
                <a:lnTo>
                  <a:pt x="1607" y="516"/>
                </a:lnTo>
                <a:lnTo>
                  <a:pt x="1604" y="572"/>
                </a:lnTo>
                <a:lnTo>
                  <a:pt x="1595" y="626"/>
                </a:lnTo>
                <a:lnTo>
                  <a:pt x="1581" y="679"/>
                </a:lnTo>
                <a:lnTo>
                  <a:pt x="1562" y="729"/>
                </a:lnTo>
                <a:lnTo>
                  <a:pt x="1537" y="777"/>
                </a:lnTo>
                <a:lnTo>
                  <a:pt x="1508" y="820"/>
                </a:lnTo>
                <a:lnTo>
                  <a:pt x="1475" y="862"/>
                </a:lnTo>
                <a:lnTo>
                  <a:pt x="1438" y="899"/>
                </a:lnTo>
                <a:lnTo>
                  <a:pt x="1397" y="932"/>
                </a:lnTo>
                <a:lnTo>
                  <a:pt x="1352" y="962"/>
                </a:lnTo>
                <a:lnTo>
                  <a:pt x="1306" y="986"/>
                </a:lnTo>
                <a:lnTo>
                  <a:pt x="1256" y="1005"/>
                </a:lnTo>
                <a:lnTo>
                  <a:pt x="1203" y="1020"/>
                </a:lnTo>
                <a:lnTo>
                  <a:pt x="1150" y="1028"/>
                </a:lnTo>
                <a:lnTo>
                  <a:pt x="1094" y="1031"/>
                </a:lnTo>
                <a:lnTo>
                  <a:pt x="1038" y="1028"/>
                </a:lnTo>
                <a:lnTo>
                  <a:pt x="984" y="1020"/>
                </a:lnTo>
                <a:lnTo>
                  <a:pt x="932" y="1005"/>
                </a:lnTo>
                <a:lnTo>
                  <a:pt x="882" y="986"/>
                </a:lnTo>
                <a:lnTo>
                  <a:pt x="835" y="962"/>
                </a:lnTo>
                <a:lnTo>
                  <a:pt x="791" y="932"/>
                </a:lnTo>
                <a:lnTo>
                  <a:pt x="750" y="899"/>
                </a:lnTo>
                <a:lnTo>
                  <a:pt x="712" y="862"/>
                </a:lnTo>
                <a:lnTo>
                  <a:pt x="679" y="820"/>
                </a:lnTo>
                <a:lnTo>
                  <a:pt x="651" y="777"/>
                </a:lnTo>
                <a:lnTo>
                  <a:pt x="626" y="729"/>
                </a:lnTo>
                <a:lnTo>
                  <a:pt x="607" y="679"/>
                </a:lnTo>
                <a:lnTo>
                  <a:pt x="593" y="626"/>
                </a:lnTo>
                <a:lnTo>
                  <a:pt x="584" y="572"/>
                </a:lnTo>
                <a:lnTo>
                  <a:pt x="581" y="516"/>
                </a:lnTo>
                <a:lnTo>
                  <a:pt x="584" y="460"/>
                </a:lnTo>
                <a:lnTo>
                  <a:pt x="593" y="406"/>
                </a:lnTo>
                <a:lnTo>
                  <a:pt x="607" y="353"/>
                </a:lnTo>
                <a:lnTo>
                  <a:pt x="626" y="303"/>
                </a:lnTo>
                <a:lnTo>
                  <a:pt x="651" y="256"/>
                </a:lnTo>
                <a:lnTo>
                  <a:pt x="679" y="211"/>
                </a:lnTo>
                <a:lnTo>
                  <a:pt x="712" y="170"/>
                </a:lnTo>
                <a:lnTo>
                  <a:pt x="750" y="133"/>
                </a:lnTo>
                <a:lnTo>
                  <a:pt x="791" y="99"/>
                </a:lnTo>
                <a:lnTo>
                  <a:pt x="835" y="71"/>
                </a:lnTo>
                <a:lnTo>
                  <a:pt x="882" y="46"/>
                </a:lnTo>
                <a:lnTo>
                  <a:pt x="932" y="27"/>
                </a:lnTo>
                <a:lnTo>
                  <a:pt x="984" y="12"/>
                </a:lnTo>
                <a:lnTo>
                  <a:pt x="1038" y="3"/>
                </a:lnTo>
                <a:lnTo>
                  <a:pt x="1094" y="0"/>
                </a:lnTo>
                <a:close/>
              </a:path>
            </a:pathLst>
          </a:custGeom>
          <a:solidFill>
            <a:schemeClr val="accent1"/>
          </a:solidFill>
          <a:ln w="0">
            <a:noFill/>
            <a:prstDash val="solid"/>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endParaRPr lang="en-US" sz="2400" dirty="0">
              <a:latin typeface="Amazon Ember Light" charset="0"/>
              <a:ea typeface="Amazon Ember Light" charset="0"/>
              <a:cs typeface="Amazon Ember Light" charset="0"/>
            </a:endParaRPr>
          </a:p>
        </p:txBody>
      </p:sp>
    </p:spTree>
    <p:custDataLst>
      <p:tags r:id="rId1"/>
    </p:custDataLst>
    <p:extLst>
      <p:ext uri="{BB962C8B-B14F-4D97-AF65-F5344CB8AC3E}">
        <p14:creationId xmlns:p14="http://schemas.microsoft.com/office/powerpoint/2010/main" val="39289443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82ADCF2-25D1-2A42-B5A4-12980042FD3E}"/>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37</a:t>
            </a:fld>
            <a:endParaRPr lang="en-US" dirty="0"/>
          </a:p>
        </p:txBody>
      </p:sp>
      <p:sp>
        <p:nvSpPr>
          <p:cNvPr id="2" name="Title 1">
            <a:extLst>
              <a:ext uri="{FF2B5EF4-FFF2-40B4-BE49-F238E27FC236}">
                <a16:creationId xmlns:a16="http://schemas.microsoft.com/office/drawing/2014/main" id="{04B2B9C9-0087-2E48-9AE0-EFFFC2E07C29}"/>
              </a:ext>
            </a:extLst>
          </p:cNvPr>
          <p:cNvSpPr>
            <a:spLocks noGrp="1"/>
          </p:cNvSpPr>
          <p:nvPr>
            <p:ph type="title"/>
          </p:nvPr>
        </p:nvSpPr>
        <p:spPr/>
        <p:txBody>
          <a:bodyPr/>
          <a:lstStyle/>
          <a:p>
            <a:r>
              <a:rPr lang="en-US" dirty="0">
                <a:latin typeface="+mj-lt"/>
              </a:rPr>
              <a:t>Availability Zones</a:t>
            </a:r>
          </a:p>
        </p:txBody>
      </p:sp>
      <p:sp>
        <p:nvSpPr>
          <p:cNvPr id="3" name="Content Placeholder 2">
            <a:extLst>
              <a:ext uri="{FF2B5EF4-FFF2-40B4-BE49-F238E27FC236}">
                <a16:creationId xmlns:a16="http://schemas.microsoft.com/office/drawing/2014/main" id="{534932A2-509A-974D-9CDC-AC8878475E11}"/>
              </a:ext>
            </a:extLst>
          </p:cNvPr>
          <p:cNvSpPr>
            <a:spLocks noGrp="1"/>
          </p:cNvSpPr>
          <p:nvPr>
            <p:ph sz="quarter" idx="21"/>
          </p:nvPr>
        </p:nvSpPr>
        <p:spPr>
          <a:xfrm>
            <a:off x="288947" y="2063263"/>
            <a:ext cx="6933805" cy="3323987"/>
          </a:xfrm>
        </p:spPr>
        <p:txBody>
          <a:bodyPr/>
          <a:lstStyle/>
          <a:p>
            <a:pPr marL="342900" indent="-342900">
              <a:buFont typeface="Arial" panose="020B0604020202020204" pitchFamily="34" charset="0"/>
              <a:buChar char="•"/>
            </a:pPr>
            <a:r>
              <a:rPr lang="en-GB" sz="2400" dirty="0"/>
              <a:t>Each region has multiple Availability Zones.</a:t>
            </a:r>
          </a:p>
          <a:p>
            <a:pPr marL="342900" indent="-342900">
              <a:buFont typeface="Arial" panose="020B0604020202020204" pitchFamily="34" charset="0"/>
              <a:buChar char="•"/>
            </a:pPr>
            <a:r>
              <a:rPr lang="en-GB" sz="2400" dirty="0"/>
              <a:t>Each Availability Zone is a fully isolated partition of the AWS infrastructure.</a:t>
            </a:r>
          </a:p>
          <a:p>
            <a:pPr marL="342900" indent="-342900">
              <a:buFont typeface="Arial" panose="020B0604020202020204" pitchFamily="34" charset="0"/>
              <a:buChar char="•"/>
            </a:pPr>
            <a:r>
              <a:rPr lang="en-GB" sz="2400" dirty="0"/>
              <a:t>Availability Zones consist of separate data </a:t>
            </a:r>
            <a:r>
              <a:rPr lang="en-GB" sz="2400" dirty="0" err="1"/>
              <a:t>centers</a:t>
            </a:r>
            <a:r>
              <a:rPr lang="en-GB" sz="2400" dirty="0"/>
              <a:t>.</a:t>
            </a:r>
          </a:p>
          <a:p>
            <a:pPr marL="342900" indent="-342900">
              <a:buFont typeface="Arial" panose="020B0604020202020204" pitchFamily="34" charset="0"/>
              <a:buChar char="•"/>
            </a:pPr>
            <a:r>
              <a:rPr lang="en-GB" sz="2400" dirty="0"/>
              <a:t>They are designed for fault isolation.</a:t>
            </a:r>
          </a:p>
          <a:p>
            <a:pPr marL="342900" indent="-342900">
              <a:buFont typeface="Arial" panose="020B0604020202020204" pitchFamily="34" charset="0"/>
              <a:buChar char="•"/>
            </a:pPr>
            <a:r>
              <a:rPr lang="en-GB" sz="2400" dirty="0"/>
              <a:t>They are connected to other Availability Zones via private high-speed networks.</a:t>
            </a:r>
          </a:p>
          <a:p>
            <a:pPr marL="342900" indent="-342900">
              <a:buFont typeface="Arial" panose="020B0604020202020204" pitchFamily="34" charset="0"/>
              <a:buChar char="•"/>
            </a:pPr>
            <a:r>
              <a:rPr lang="en-GB" sz="2400" dirty="0"/>
              <a:t>For resilience reasons, AWS recommends replicating data and resources across Availability Zones.</a:t>
            </a:r>
          </a:p>
        </p:txBody>
      </p:sp>
      <p:grpSp>
        <p:nvGrpSpPr>
          <p:cNvPr id="5" name="Group 4" descr="Architectural diagram showing three data centers in an Availability Zone that is itself in a region.">
            <a:extLst>
              <a:ext uri="{FF2B5EF4-FFF2-40B4-BE49-F238E27FC236}">
                <a16:creationId xmlns:a16="http://schemas.microsoft.com/office/drawing/2014/main" id="{31BFE179-068D-9793-C014-15E7FB5EA4F2}"/>
              </a:ext>
            </a:extLst>
          </p:cNvPr>
          <p:cNvGrpSpPr/>
          <p:nvPr/>
        </p:nvGrpSpPr>
        <p:grpSpPr>
          <a:xfrm>
            <a:off x="7552544" y="1463930"/>
            <a:ext cx="3989314" cy="4892421"/>
            <a:chOff x="7546194" y="1463929"/>
            <a:chExt cx="3989314" cy="4892421"/>
          </a:xfrm>
        </p:grpSpPr>
        <p:sp>
          <p:nvSpPr>
            <p:cNvPr id="9" name="Rectangle 8">
              <a:extLst>
                <a:ext uri="{FF2B5EF4-FFF2-40B4-BE49-F238E27FC236}">
                  <a16:creationId xmlns:a16="http://schemas.microsoft.com/office/drawing/2014/main" id="{C7552D4D-AEAE-9945-96D8-48F59EE4C822}"/>
                </a:ext>
                <a:ext uri="{C183D7F6-B498-43B3-948B-1728B52AA6E4}">
                  <adec:decorative xmlns:adec="http://schemas.microsoft.com/office/drawing/2017/decorative" val="1"/>
                </a:ext>
              </a:extLst>
            </p:cNvPr>
            <p:cNvSpPr/>
            <p:nvPr/>
          </p:nvSpPr>
          <p:spPr>
            <a:xfrm>
              <a:off x="7546194" y="1463929"/>
              <a:ext cx="3989314" cy="48924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   AWS Cloud</a:t>
              </a:r>
            </a:p>
          </p:txBody>
        </p:sp>
        <p:pic>
          <p:nvPicPr>
            <p:cNvPr id="10" name="Graphic 9">
              <a:extLst>
                <a:ext uri="{FF2B5EF4-FFF2-40B4-BE49-F238E27FC236}">
                  <a16:creationId xmlns:a16="http://schemas.microsoft.com/office/drawing/2014/main" id="{EFF8704B-A651-0C40-8426-CE81AA2CBD2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46194" y="1463929"/>
              <a:ext cx="474119" cy="474119"/>
            </a:xfrm>
            <a:prstGeom prst="rect">
              <a:avLst/>
            </a:prstGeom>
          </p:spPr>
        </p:pic>
        <p:sp>
          <p:nvSpPr>
            <p:cNvPr id="11" name="Rectangle 10">
              <a:extLst>
                <a:ext uri="{FF2B5EF4-FFF2-40B4-BE49-F238E27FC236}">
                  <a16:creationId xmlns:a16="http://schemas.microsoft.com/office/drawing/2014/main" id="{D7B44574-00D4-7A45-AB07-B46220FF838D}"/>
                </a:ext>
                <a:ext uri="{C183D7F6-B498-43B3-948B-1728B52AA6E4}">
                  <adec:decorative xmlns:adec="http://schemas.microsoft.com/office/drawing/2017/decorative" val="1"/>
                </a:ext>
              </a:extLst>
            </p:cNvPr>
            <p:cNvSpPr/>
            <p:nvPr/>
          </p:nvSpPr>
          <p:spPr>
            <a:xfrm>
              <a:off x="7817720" y="2063262"/>
              <a:ext cx="3436434" cy="4149969"/>
            </a:xfrm>
            <a:prstGeom prst="rect">
              <a:avLst/>
            </a:prstGeom>
            <a:noFill/>
            <a:ln w="12700">
              <a:solidFill>
                <a:srgbClr val="7CD1EA"/>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rgbClr val="7CD1EA"/>
                  </a:solidFill>
                </a:rPr>
                <a:t>Region </a:t>
              </a:r>
              <a:r>
                <a:rPr lang="en-US" sz="1600" b="1" dirty="0">
                  <a:solidFill>
                    <a:srgbClr val="7CD1EA"/>
                  </a:solidFill>
                </a:rPr>
                <a:t>eu-west-1</a:t>
              </a:r>
              <a:endParaRPr lang="en-US" sz="1200" b="1" dirty="0">
                <a:solidFill>
                  <a:srgbClr val="7CD1EA"/>
                </a:solidFill>
              </a:endParaRPr>
            </a:p>
          </p:txBody>
        </p:sp>
        <p:pic>
          <p:nvPicPr>
            <p:cNvPr id="12" name="Graphic 11">
              <a:extLst>
                <a:ext uri="{FF2B5EF4-FFF2-40B4-BE49-F238E27FC236}">
                  <a16:creationId xmlns:a16="http://schemas.microsoft.com/office/drawing/2014/main" id="{C859271C-AE4B-8043-9AA1-2CF383D813B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17720" y="2077934"/>
              <a:ext cx="330200" cy="330200"/>
            </a:xfrm>
            <a:prstGeom prst="rect">
              <a:avLst/>
            </a:prstGeom>
          </p:spPr>
        </p:pic>
        <p:sp>
          <p:nvSpPr>
            <p:cNvPr id="13" name="Rectangle 12">
              <a:extLst>
                <a:ext uri="{FF2B5EF4-FFF2-40B4-BE49-F238E27FC236}">
                  <a16:creationId xmlns:a16="http://schemas.microsoft.com/office/drawing/2014/main" id="{F792A278-18B7-8F45-A4AF-23FE11508F6D}"/>
                </a:ext>
                <a:ext uri="{C183D7F6-B498-43B3-948B-1728B52AA6E4}">
                  <adec:decorative xmlns:adec="http://schemas.microsoft.com/office/drawing/2017/decorative" val="1"/>
                </a:ext>
              </a:extLst>
            </p:cNvPr>
            <p:cNvSpPr/>
            <p:nvPr/>
          </p:nvSpPr>
          <p:spPr>
            <a:xfrm>
              <a:off x="7955729" y="2508649"/>
              <a:ext cx="3067632" cy="1941217"/>
            </a:xfrm>
            <a:prstGeom prst="rect">
              <a:avLst/>
            </a:prstGeom>
            <a:noFill/>
            <a:ln w="12700">
              <a:solidFill>
                <a:srgbClr val="36C2B4"/>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rgbClr val="36C2B4"/>
                  </a:solidFill>
                </a:rPr>
                <a:t>Availability Zone </a:t>
              </a:r>
              <a:r>
                <a:rPr lang="en-US" sz="1600" b="1" dirty="0">
                  <a:solidFill>
                    <a:srgbClr val="36C2B4"/>
                  </a:solidFill>
                </a:rPr>
                <a:t>eu-west-1a</a:t>
              </a:r>
            </a:p>
          </p:txBody>
        </p:sp>
        <p:sp>
          <p:nvSpPr>
            <p:cNvPr id="33" name="Rectangle 32">
              <a:extLst>
                <a:ext uri="{FF2B5EF4-FFF2-40B4-BE49-F238E27FC236}">
                  <a16:creationId xmlns:a16="http://schemas.microsoft.com/office/drawing/2014/main" id="{E684FC33-3BF3-8F4C-A4F7-49EF4744F043}"/>
                </a:ext>
                <a:ext uri="{C183D7F6-B498-43B3-948B-1728B52AA6E4}">
                  <adec:decorative xmlns:adec="http://schemas.microsoft.com/office/drawing/2017/decorative" val="1"/>
                </a:ext>
              </a:extLst>
            </p:cNvPr>
            <p:cNvSpPr/>
            <p:nvPr/>
          </p:nvSpPr>
          <p:spPr>
            <a:xfrm>
              <a:off x="8093877" y="2915523"/>
              <a:ext cx="1859015" cy="462189"/>
            </a:xfrm>
            <a:prstGeom prst="rect">
              <a:avLst/>
            </a:prstGeom>
            <a:noFill/>
            <a:ln w="12700">
              <a:solidFill>
                <a:srgbClr val="5A6B8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r>
                <a:rPr lang="en-US" sz="1600" dirty="0">
                  <a:solidFill>
                    <a:srgbClr val="5A6B86"/>
                  </a:solidFill>
                </a:rPr>
                <a:t>Data center </a:t>
              </a:r>
            </a:p>
          </p:txBody>
        </p:sp>
        <p:pic>
          <p:nvPicPr>
            <p:cNvPr id="34" name="Graphic 33">
              <a:extLst>
                <a:ext uri="{FF2B5EF4-FFF2-40B4-BE49-F238E27FC236}">
                  <a16:creationId xmlns:a16="http://schemas.microsoft.com/office/drawing/2014/main" id="{4DFB739A-6359-8645-876D-B35A4B4497C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93877" y="2915523"/>
              <a:ext cx="330200" cy="330200"/>
            </a:xfrm>
            <a:prstGeom prst="rect">
              <a:avLst/>
            </a:prstGeom>
          </p:spPr>
        </p:pic>
        <p:sp>
          <p:nvSpPr>
            <p:cNvPr id="35" name="Rectangle 34">
              <a:extLst>
                <a:ext uri="{FF2B5EF4-FFF2-40B4-BE49-F238E27FC236}">
                  <a16:creationId xmlns:a16="http://schemas.microsoft.com/office/drawing/2014/main" id="{14B57C52-A119-F94D-94FB-7F98B3D248A5}"/>
                </a:ext>
                <a:ext uri="{C183D7F6-B498-43B3-948B-1728B52AA6E4}">
                  <adec:decorative xmlns:adec="http://schemas.microsoft.com/office/drawing/2017/decorative" val="1"/>
                </a:ext>
              </a:extLst>
            </p:cNvPr>
            <p:cNvSpPr/>
            <p:nvPr/>
          </p:nvSpPr>
          <p:spPr>
            <a:xfrm>
              <a:off x="8370034" y="3421502"/>
              <a:ext cx="1859015" cy="462189"/>
            </a:xfrm>
            <a:prstGeom prst="rect">
              <a:avLst/>
            </a:prstGeom>
            <a:noFill/>
            <a:ln w="12700">
              <a:solidFill>
                <a:srgbClr val="5A6B8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r>
                <a:rPr lang="en-US" sz="1600" dirty="0">
                  <a:solidFill>
                    <a:srgbClr val="5A6B86"/>
                  </a:solidFill>
                </a:rPr>
                <a:t>Data center </a:t>
              </a:r>
            </a:p>
          </p:txBody>
        </p:sp>
        <p:pic>
          <p:nvPicPr>
            <p:cNvPr id="36" name="Graphic 35">
              <a:extLst>
                <a:ext uri="{FF2B5EF4-FFF2-40B4-BE49-F238E27FC236}">
                  <a16:creationId xmlns:a16="http://schemas.microsoft.com/office/drawing/2014/main" id="{8C3818B5-AC7E-D840-BB39-C99496D8BEA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70034" y="3421502"/>
              <a:ext cx="330200" cy="330200"/>
            </a:xfrm>
            <a:prstGeom prst="rect">
              <a:avLst/>
            </a:prstGeom>
          </p:spPr>
        </p:pic>
        <p:sp>
          <p:nvSpPr>
            <p:cNvPr id="37" name="Rectangle 36">
              <a:extLst>
                <a:ext uri="{FF2B5EF4-FFF2-40B4-BE49-F238E27FC236}">
                  <a16:creationId xmlns:a16="http://schemas.microsoft.com/office/drawing/2014/main" id="{BF00D293-1DA5-E34D-8E10-4D5ECB593EF3}"/>
                </a:ext>
                <a:ext uri="{C183D7F6-B498-43B3-948B-1728B52AA6E4}">
                  <adec:decorative xmlns:adec="http://schemas.microsoft.com/office/drawing/2017/decorative" val="1"/>
                </a:ext>
              </a:extLst>
            </p:cNvPr>
            <p:cNvSpPr/>
            <p:nvPr/>
          </p:nvSpPr>
          <p:spPr>
            <a:xfrm>
              <a:off x="8615313" y="3927481"/>
              <a:ext cx="1859015" cy="462189"/>
            </a:xfrm>
            <a:prstGeom prst="rect">
              <a:avLst/>
            </a:prstGeom>
            <a:noFill/>
            <a:ln w="12700">
              <a:solidFill>
                <a:srgbClr val="5A6B8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r>
                <a:rPr lang="en-US" sz="1600" dirty="0">
                  <a:solidFill>
                    <a:srgbClr val="5A6B86"/>
                  </a:solidFill>
                </a:rPr>
                <a:t>Data center </a:t>
              </a:r>
            </a:p>
          </p:txBody>
        </p:sp>
        <p:pic>
          <p:nvPicPr>
            <p:cNvPr id="38" name="Graphic 37">
              <a:extLst>
                <a:ext uri="{FF2B5EF4-FFF2-40B4-BE49-F238E27FC236}">
                  <a16:creationId xmlns:a16="http://schemas.microsoft.com/office/drawing/2014/main" id="{B9920E63-7871-7F43-ADD0-FBE69B5DB3B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615313" y="3927481"/>
              <a:ext cx="330200" cy="330200"/>
            </a:xfrm>
            <a:prstGeom prst="rect">
              <a:avLst/>
            </a:prstGeom>
          </p:spPr>
        </p:pic>
        <p:sp>
          <p:nvSpPr>
            <p:cNvPr id="39" name="Rectangle 38">
              <a:extLst>
                <a:ext uri="{FF2B5EF4-FFF2-40B4-BE49-F238E27FC236}">
                  <a16:creationId xmlns:a16="http://schemas.microsoft.com/office/drawing/2014/main" id="{2DCF7A24-1B43-884E-83BD-8381C514FC46}"/>
                </a:ext>
                <a:ext uri="{C183D7F6-B498-43B3-948B-1728B52AA6E4}">
                  <adec:decorative xmlns:adec="http://schemas.microsoft.com/office/drawing/2017/decorative" val="1"/>
                </a:ext>
              </a:extLst>
            </p:cNvPr>
            <p:cNvSpPr/>
            <p:nvPr/>
          </p:nvSpPr>
          <p:spPr>
            <a:xfrm>
              <a:off x="7962255" y="4586085"/>
              <a:ext cx="3067632" cy="584449"/>
            </a:xfrm>
            <a:prstGeom prst="rect">
              <a:avLst/>
            </a:prstGeom>
            <a:noFill/>
            <a:ln w="12700">
              <a:solidFill>
                <a:srgbClr val="36C2B4"/>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rgbClr val="36C2B4"/>
                  </a:solidFill>
                </a:rPr>
                <a:t>Availability Zone </a:t>
              </a:r>
              <a:r>
                <a:rPr lang="en-US" sz="1600" b="1" dirty="0">
                  <a:solidFill>
                    <a:srgbClr val="36C2B4"/>
                  </a:solidFill>
                </a:rPr>
                <a:t>eu-west-1b</a:t>
              </a:r>
            </a:p>
          </p:txBody>
        </p:sp>
        <p:sp>
          <p:nvSpPr>
            <p:cNvPr id="40" name="Rectangle 39">
              <a:extLst>
                <a:ext uri="{FF2B5EF4-FFF2-40B4-BE49-F238E27FC236}">
                  <a16:creationId xmlns:a16="http://schemas.microsoft.com/office/drawing/2014/main" id="{5096F1EE-082C-574B-B269-93D80DFE9DA7}"/>
                </a:ext>
                <a:ext uri="{C183D7F6-B498-43B3-948B-1728B52AA6E4}">
                  <adec:decorative xmlns:adec="http://schemas.microsoft.com/office/drawing/2017/decorative" val="1"/>
                </a:ext>
              </a:extLst>
            </p:cNvPr>
            <p:cNvSpPr/>
            <p:nvPr/>
          </p:nvSpPr>
          <p:spPr>
            <a:xfrm>
              <a:off x="7955729" y="5302523"/>
              <a:ext cx="3067632" cy="584449"/>
            </a:xfrm>
            <a:prstGeom prst="rect">
              <a:avLst/>
            </a:prstGeom>
            <a:noFill/>
            <a:ln w="12700">
              <a:solidFill>
                <a:srgbClr val="36C2B4"/>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rgbClr val="36C2B4"/>
                  </a:solidFill>
                </a:rPr>
                <a:t>Availability Zone </a:t>
              </a:r>
              <a:r>
                <a:rPr lang="en-US" sz="1600" b="1" dirty="0">
                  <a:solidFill>
                    <a:srgbClr val="36C2B4"/>
                  </a:solidFill>
                </a:rPr>
                <a:t>eu-west-1c</a:t>
              </a:r>
            </a:p>
          </p:txBody>
        </p:sp>
      </p:grpSp>
    </p:spTree>
    <p:custDataLst>
      <p:tags r:id="rId1"/>
    </p:custDataLst>
    <p:extLst>
      <p:ext uri="{BB962C8B-B14F-4D97-AF65-F5344CB8AC3E}">
        <p14:creationId xmlns:p14="http://schemas.microsoft.com/office/powerpoint/2010/main" val="40119572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5B79BE2-941D-8D47-AF8C-1D3E4773E362}"/>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38</a:t>
            </a:fld>
            <a:endParaRPr lang="en-US" dirty="0"/>
          </a:p>
        </p:txBody>
      </p:sp>
      <p:sp>
        <p:nvSpPr>
          <p:cNvPr id="2" name="Title 1"/>
          <p:cNvSpPr>
            <a:spLocks noGrp="1"/>
          </p:cNvSpPr>
          <p:nvPr>
            <p:ph type="title"/>
          </p:nvPr>
        </p:nvSpPr>
        <p:spPr/>
        <p:txBody>
          <a:bodyPr/>
          <a:lstStyle/>
          <a:p>
            <a:r>
              <a:rPr lang="en-US" dirty="0"/>
              <a:t>AWS Data Centers</a:t>
            </a:r>
          </a:p>
        </p:txBody>
      </p:sp>
      <p:sp>
        <p:nvSpPr>
          <p:cNvPr id="4" name="Content Placeholder 3"/>
          <p:cNvSpPr>
            <a:spLocks noGrp="1"/>
          </p:cNvSpPr>
          <p:nvPr>
            <p:ph sz="quarter" idx="21"/>
          </p:nvPr>
        </p:nvSpPr>
        <p:spPr>
          <a:xfrm>
            <a:off x="297202" y="1654629"/>
            <a:ext cx="6720840" cy="4702628"/>
          </a:xfrm>
        </p:spPr>
        <p:txBody>
          <a:bodyPr>
            <a:noAutofit/>
          </a:bodyPr>
          <a:lstStyle/>
          <a:p>
            <a:pPr marL="285750" indent="-285750">
              <a:buFont typeface="Arial" panose="020B0604020202020204" pitchFamily="34" charset="0"/>
              <a:buChar char="•"/>
            </a:pPr>
            <a:r>
              <a:rPr lang="en-GB" b="1" dirty="0"/>
              <a:t>AWS data </a:t>
            </a:r>
            <a:r>
              <a:rPr lang="en-GB" b="1" dirty="0" err="1"/>
              <a:t>centers</a:t>
            </a:r>
            <a:r>
              <a:rPr lang="en-GB" b="1" dirty="0"/>
              <a:t> are designed with security in mind.</a:t>
            </a:r>
            <a:endParaRPr lang="en-GB" dirty="0"/>
          </a:p>
          <a:p>
            <a:pPr marL="285750" indent="-285750">
              <a:buFont typeface="Arial" panose="020B0604020202020204" pitchFamily="34" charset="0"/>
              <a:buChar char="•"/>
            </a:pPr>
            <a:r>
              <a:rPr lang="en-GB" b="1" dirty="0"/>
              <a:t>Data </a:t>
            </a:r>
            <a:r>
              <a:rPr lang="en-GB" b="1" dirty="0" err="1"/>
              <a:t>centers</a:t>
            </a:r>
            <a:r>
              <a:rPr lang="en-GB" b="1" dirty="0"/>
              <a:t> are where data is stored and data processing takes place.</a:t>
            </a:r>
            <a:endParaRPr lang="en-GB" dirty="0"/>
          </a:p>
          <a:p>
            <a:pPr marL="285750" indent="-285750">
              <a:buFont typeface="Arial" panose="020B0604020202020204" pitchFamily="34" charset="0"/>
              <a:buChar char="•"/>
            </a:pPr>
            <a:r>
              <a:rPr lang="en-GB" b="1" dirty="0"/>
              <a:t>Each data </a:t>
            </a:r>
            <a:r>
              <a:rPr lang="en-GB" b="1" dirty="0" err="1"/>
              <a:t>center</a:t>
            </a:r>
            <a:r>
              <a:rPr lang="en-GB" b="1" dirty="0"/>
              <a:t> has redundant power, networking, and connectivity and is housed in a separate facility.</a:t>
            </a:r>
            <a:endParaRPr lang="en-GB" dirty="0"/>
          </a:p>
          <a:p>
            <a:pPr marL="285750" indent="-285750">
              <a:buFont typeface="Arial" panose="020B0604020202020204" pitchFamily="34" charset="0"/>
              <a:buChar char="•"/>
            </a:pPr>
            <a:r>
              <a:rPr lang="en-GB" b="1" dirty="0"/>
              <a:t>A data </a:t>
            </a:r>
            <a:r>
              <a:rPr lang="en-GB" b="1" dirty="0" err="1"/>
              <a:t>center</a:t>
            </a:r>
            <a:r>
              <a:rPr lang="en-GB" b="1" dirty="0"/>
              <a:t> typically contains between 50,000 and 80,000 physical servers.</a:t>
            </a:r>
            <a:endParaRPr lang="en-GB" dirty="0"/>
          </a:p>
        </p:txBody>
      </p:sp>
      <p:pic>
        <p:nvPicPr>
          <p:cNvPr id="6" name="Picture 5">
            <a:extLst>
              <a:ext uri="{FF2B5EF4-FFF2-40B4-BE49-F238E27FC236}">
                <a16:creationId xmlns:a16="http://schemas.microsoft.com/office/drawing/2014/main" id="{C45D10C6-8A55-D245-B5FF-F89BFB560367}"/>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092951" y="2137079"/>
            <a:ext cx="4814547" cy="3519761"/>
          </a:xfrm>
          <a:prstGeom prst="rect">
            <a:avLst/>
          </a:prstGeom>
        </p:spPr>
      </p:pic>
    </p:spTree>
    <p:custDataLst>
      <p:tags r:id="rId1"/>
    </p:custDataLst>
    <p:extLst>
      <p:ext uri="{BB962C8B-B14F-4D97-AF65-F5344CB8AC3E}">
        <p14:creationId xmlns:p14="http://schemas.microsoft.com/office/powerpoint/2010/main" val="34037523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C1233A3-68AD-D54C-B5B1-AEBF58D9F79E}"/>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39</a:t>
            </a:fld>
            <a:endParaRPr lang="en-US" dirty="0"/>
          </a:p>
        </p:txBody>
      </p:sp>
      <p:sp>
        <p:nvSpPr>
          <p:cNvPr id="5" name="Title 4"/>
          <p:cNvSpPr>
            <a:spLocks noGrp="1"/>
          </p:cNvSpPr>
          <p:nvPr>
            <p:ph type="title"/>
          </p:nvPr>
        </p:nvSpPr>
        <p:spPr/>
        <p:txBody>
          <a:bodyPr/>
          <a:lstStyle/>
          <a:p>
            <a:r>
              <a:rPr lang="en-US" dirty="0"/>
              <a:t>AWS infrastructure features </a:t>
            </a:r>
          </a:p>
        </p:txBody>
      </p:sp>
      <p:sp>
        <p:nvSpPr>
          <p:cNvPr id="82" name="Content Placeholder 81"/>
          <p:cNvSpPr>
            <a:spLocks noGrp="1"/>
          </p:cNvSpPr>
          <p:nvPr>
            <p:ph sz="quarter" idx="21"/>
          </p:nvPr>
        </p:nvSpPr>
        <p:spPr>
          <a:xfrm>
            <a:off x="372512" y="1629845"/>
            <a:ext cx="6015720" cy="5415474"/>
          </a:xfrm>
        </p:spPr>
        <p:txBody>
          <a:bodyPr>
            <a:noAutofit/>
          </a:bodyPr>
          <a:lstStyle/>
          <a:p>
            <a:pPr marL="230188" indent="-230188">
              <a:spcBef>
                <a:spcPts val="1200"/>
              </a:spcBef>
            </a:pPr>
            <a:r>
              <a:rPr lang="de-DE" dirty="0"/>
              <a:t>	•	</a:t>
            </a:r>
            <a:r>
              <a:rPr lang="de-DE" dirty="0" err="1"/>
              <a:t>Elasticity</a:t>
            </a:r>
            <a:r>
              <a:rPr lang="de-DE" dirty="0"/>
              <a:t> and </a:t>
            </a:r>
            <a:r>
              <a:rPr lang="de-DE" dirty="0" err="1"/>
              <a:t>scalability</a:t>
            </a:r>
            <a:endParaRPr lang="de-DE" dirty="0"/>
          </a:p>
          <a:p>
            <a:pPr marL="230188" indent="-230188">
              <a:spcBef>
                <a:spcPts val="1200"/>
              </a:spcBef>
            </a:pPr>
            <a:r>
              <a:rPr lang="de-DE" dirty="0"/>
              <a:t>	•	</a:t>
            </a:r>
            <a:r>
              <a:rPr lang="de-DE" dirty="0" err="1"/>
              <a:t>Elastic</a:t>
            </a:r>
            <a:r>
              <a:rPr lang="de-DE" dirty="0"/>
              <a:t> </a:t>
            </a:r>
            <a:r>
              <a:rPr lang="de-DE" dirty="0" err="1"/>
              <a:t>infrastructure</a:t>
            </a:r>
            <a:r>
              <a:rPr lang="de-DE" dirty="0"/>
              <a:t>; </a:t>
            </a:r>
            <a:r>
              <a:rPr lang="de-DE" dirty="0" err="1"/>
              <a:t>dynamic</a:t>
            </a:r>
            <a:r>
              <a:rPr lang="de-DE" dirty="0"/>
              <a:t> </a:t>
            </a:r>
            <a:r>
              <a:rPr lang="de-DE" dirty="0" err="1"/>
              <a:t>capacity</a:t>
            </a:r>
            <a:r>
              <a:rPr lang="de-DE" dirty="0"/>
              <a:t> </a:t>
            </a:r>
            <a:r>
              <a:rPr lang="de-DE" dirty="0" err="1"/>
              <a:t>adjustment</a:t>
            </a:r>
            <a:endParaRPr lang="de-DE" dirty="0"/>
          </a:p>
          <a:p>
            <a:pPr marL="230188" indent="-230188">
              <a:spcBef>
                <a:spcPts val="1200"/>
              </a:spcBef>
            </a:pPr>
            <a:r>
              <a:rPr lang="de-DE" dirty="0"/>
              <a:t>	•	</a:t>
            </a:r>
            <a:r>
              <a:rPr lang="de-DE" dirty="0" err="1"/>
              <a:t>Scalable</a:t>
            </a:r>
            <a:r>
              <a:rPr lang="de-DE" dirty="0"/>
              <a:t> </a:t>
            </a:r>
            <a:r>
              <a:rPr lang="de-DE" dirty="0" err="1"/>
              <a:t>infrastructure</a:t>
            </a:r>
            <a:r>
              <a:rPr lang="de-DE" dirty="0"/>
              <a:t>; </a:t>
            </a:r>
            <a:r>
              <a:rPr lang="de-DE" dirty="0" err="1"/>
              <a:t>adapts</a:t>
            </a:r>
            <a:r>
              <a:rPr lang="de-DE" dirty="0"/>
              <a:t> </a:t>
            </a:r>
            <a:r>
              <a:rPr lang="de-DE" dirty="0" err="1"/>
              <a:t>to</a:t>
            </a:r>
            <a:r>
              <a:rPr lang="de-DE" dirty="0"/>
              <a:t> </a:t>
            </a:r>
            <a:r>
              <a:rPr lang="de-DE" dirty="0" err="1"/>
              <a:t>growth</a:t>
            </a:r>
            <a:endParaRPr lang="de-DE" dirty="0"/>
          </a:p>
          <a:p>
            <a:pPr marL="230188" indent="-230188">
              <a:spcBef>
                <a:spcPts val="1200"/>
              </a:spcBef>
            </a:pPr>
            <a:r>
              <a:rPr lang="de-DE" dirty="0"/>
              <a:t>	•	Fault </a:t>
            </a:r>
            <a:r>
              <a:rPr lang="de-DE" dirty="0" err="1"/>
              <a:t>tolerance</a:t>
            </a:r>
            <a:endParaRPr lang="de-DE" dirty="0"/>
          </a:p>
          <a:p>
            <a:pPr marL="230188" indent="-230188">
              <a:spcBef>
                <a:spcPts val="1200"/>
              </a:spcBef>
            </a:pPr>
            <a:r>
              <a:rPr lang="de-DE" dirty="0"/>
              <a:t>	•	</a:t>
            </a:r>
            <a:r>
              <a:rPr lang="de-DE" dirty="0" err="1"/>
              <a:t>Continues</a:t>
            </a:r>
            <a:r>
              <a:rPr lang="de-DE" dirty="0"/>
              <a:t> </a:t>
            </a:r>
            <a:r>
              <a:rPr lang="de-DE" dirty="0" err="1"/>
              <a:t>to</a:t>
            </a:r>
            <a:r>
              <a:rPr lang="de-DE" dirty="0"/>
              <a:t> </a:t>
            </a:r>
            <a:r>
              <a:rPr lang="de-DE" dirty="0" err="1"/>
              <a:t>operate</a:t>
            </a:r>
            <a:r>
              <a:rPr lang="de-DE" dirty="0"/>
              <a:t> </a:t>
            </a:r>
            <a:r>
              <a:rPr lang="de-DE" dirty="0" err="1"/>
              <a:t>correctly</a:t>
            </a:r>
            <a:r>
              <a:rPr lang="de-DE" dirty="0"/>
              <a:t> </a:t>
            </a:r>
            <a:r>
              <a:rPr lang="de-DE" dirty="0" err="1"/>
              <a:t>even</a:t>
            </a:r>
            <a:r>
              <a:rPr lang="de-DE" dirty="0"/>
              <a:t> in </a:t>
            </a:r>
            <a:r>
              <a:rPr lang="de-DE" dirty="0" err="1"/>
              <a:t>the</a:t>
            </a:r>
            <a:r>
              <a:rPr lang="de-DE" dirty="0"/>
              <a:t> </a:t>
            </a:r>
            <a:r>
              <a:rPr lang="de-DE" dirty="0" err="1"/>
              <a:t>event</a:t>
            </a:r>
            <a:r>
              <a:rPr lang="de-DE" dirty="0"/>
              <a:t> </a:t>
            </a:r>
            <a:r>
              <a:rPr lang="de-DE" dirty="0" err="1"/>
              <a:t>of</a:t>
            </a:r>
            <a:r>
              <a:rPr lang="de-DE" dirty="0"/>
              <a:t> a 	</a:t>
            </a:r>
            <a:r>
              <a:rPr lang="de-DE" dirty="0" err="1"/>
              <a:t>failure</a:t>
            </a:r>
            <a:endParaRPr lang="de-DE" dirty="0"/>
          </a:p>
          <a:p>
            <a:pPr marL="230188" indent="-230188">
              <a:spcBef>
                <a:spcPts val="1200"/>
              </a:spcBef>
            </a:pPr>
            <a:r>
              <a:rPr lang="de-DE" dirty="0"/>
              <a:t>	•	</a:t>
            </a:r>
            <a:r>
              <a:rPr lang="de-DE" dirty="0" err="1"/>
              <a:t>Built</a:t>
            </a:r>
            <a:r>
              <a:rPr lang="de-DE" dirty="0"/>
              <a:t>-in </a:t>
            </a:r>
            <a:r>
              <a:rPr lang="de-DE" dirty="0" err="1"/>
              <a:t>redundancy</a:t>
            </a:r>
            <a:r>
              <a:rPr lang="de-DE" dirty="0"/>
              <a:t> </a:t>
            </a:r>
            <a:r>
              <a:rPr lang="de-DE" dirty="0" err="1"/>
              <a:t>of</a:t>
            </a:r>
            <a:r>
              <a:rPr lang="de-DE" dirty="0"/>
              <a:t> </a:t>
            </a:r>
            <a:r>
              <a:rPr lang="de-DE" dirty="0" err="1"/>
              <a:t>components</a:t>
            </a:r>
            <a:endParaRPr lang="de-DE" dirty="0"/>
          </a:p>
          <a:p>
            <a:pPr marL="230188" indent="-230188">
              <a:spcBef>
                <a:spcPts val="1200"/>
              </a:spcBef>
            </a:pPr>
            <a:r>
              <a:rPr lang="de-DE" dirty="0"/>
              <a:t>	•	High </a:t>
            </a:r>
            <a:r>
              <a:rPr lang="de-DE" dirty="0" err="1"/>
              <a:t>availability</a:t>
            </a:r>
            <a:endParaRPr lang="de-DE" dirty="0"/>
          </a:p>
          <a:p>
            <a:pPr marL="230188" indent="-230188">
              <a:spcBef>
                <a:spcPts val="1200"/>
              </a:spcBef>
            </a:pPr>
            <a:r>
              <a:rPr lang="de-DE" dirty="0"/>
              <a:t>	•	High </a:t>
            </a:r>
            <a:r>
              <a:rPr lang="de-DE" dirty="0" err="1"/>
              <a:t>level</a:t>
            </a:r>
            <a:r>
              <a:rPr lang="de-DE" dirty="0"/>
              <a:t> </a:t>
            </a:r>
            <a:r>
              <a:rPr lang="de-DE" dirty="0" err="1"/>
              <a:t>of</a:t>
            </a:r>
            <a:r>
              <a:rPr lang="de-DE" dirty="0"/>
              <a:t> operational </a:t>
            </a:r>
            <a:r>
              <a:rPr lang="de-DE" dirty="0" err="1"/>
              <a:t>performance</a:t>
            </a:r>
            <a:endParaRPr lang="de-DE" dirty="0"/>
          </a:p>
          <a:p>
            <a:pPr marL="230188" indent="-230188">
              <a:spcBef>
                <a:spcPts val="1200"/>
              </a:spcBef>
            </a:pPr>
            <a:r>
              <a:rPr lang="de-DE" dirty="0"/>
              <a:t>	•	</a:t>
            </a:r>
            <a:r>
              <a:rPr lang="de-DE" dirty="0" err="1"/>
              <a:t>Minimized</a:t>
            </a:r>
            <a:r>
              <a:rPr lang="de-DE" dirty="0"/>
              <a:t> </a:t>
            </a:r>
            <a:r>
              <a:rPr lang="de-DE" dirty="0" err="1"/>
              <a:t>downtime</a:t>
            </a:r>
            <a:endParaRPr lang="de-DE" dirty="0"/>
          </a:p>
          <a:p>
            <a:pPr marL="230188" indent="-230188">
              <a:spcBef>
                <a:spcPts val="1200"/>
              </a:spcBef>
            </a:pPr>
            <a:r>
              <a:rPr lang="de-DE" dirty="0"/>
              <a:t>	•	</a:t>
            </a:r>
            <a:r>
              <a:rPr lang="de-DE" dirty="0" err="1"/>
              <a:t>No</a:t>
            </a:r>
            <a:r>
              <a:rPr lang="de-DE" dirty="0"/>
              <a:t> human </a:t>
            </a:r>
            <a:r>
              <a:rPr lang="de-DE" dirty="0" err="1"/>
              <a:t>intervention</a:t>
            </a:r>
            <a:r>
              <a:rPr lang="de-DE" dirty="0"/>
              <a:t> </a:t>
            </a:r>
            <a:r>
              <a:rPr lang="de-DE" dirty="0" err="1"/>
              <a:t>required</a:t>
            </a:r>
            <a:endParaRPr lang="en-US" sz="1200" dirty="0"/>
          </a:p>
        </p:txBody>
      </p:sp>
      <p:grpSp>
        <p:nvGrpSpPr>
          <p:cNvPr id="3" name="Group 2" descr="Diagram shows three Availability Zones and how each is physically distinct, has backup generators and cooling equipment, uninterrupted power supply, and network connectivity.">
            <a:extLst>
              <a:ext uri="{FF2B5EF4-FFF2-40B4-BE49-F238E27FC236}">
                <a16:creationId xmlns:a16="http://schemas.microsoft.com/office/drawing/2014/main" id="{2159BB7B-02F6-3C8C-C140-D3DF51078F0B}"/>
              </a:ext>
            </a:extLst>
          </p:cNvPr>
          <p:cNvGrpSpPr/>
          <p:nvPr/>
        </p:nvGrpSpPr>
        <p:grpSpPr>
          <a:xfrm>
            <a:off x="6392375" y="1481329"/>
            <a:ext cx="5584303" cy="4739719"/>
            <a:chOff x="6386024" y="1481328"/>
            <a:chExt cx="5584303" cy="4739719"/>
          </a:xfrm>
        </p:grpSpPr>
        <p:sp>
          <p:nvSpPr>
            <p:cNvPr id="76" name="TextBox 75">
              <a:extLst>
                <a:ext uri="{C183D7F6-B498-43B3-948B-1728B52AA6E4}">
                  <adec:decorative xmlns:adec="http://schemas.microsoft.com/office/drawing/2017/decorative" val="1"/>
                </a:ext>
              </a:extLst>
            </p:cNvPr>
            <p:cNvSpPr txBox="1"/>
            <p:nvPr/>
          </p:nvSpPr>
          <p:spPr>
            <a:xfrm>
              <a:off x="8614980" y="5794521"/>
              <a:ext cx="1821259" cy="400110"/>
            </a:xfrm>
            <a:prstGeom prst="rect">
              <a:avLst/>
            </a:prstGeom>
            <a:noFill/>
          </p:spPr>
          <p:txBody>
            <a:bodyPr wrap="square" rtlCol="0">
              <a:spAutoFit/>
            </a:bodyPr>
            <a:lstStyle/>
            <a:p>
              <a:pPr defTabSz="457200">
                <a:defRPr/>
              </a:pPr>
              <a:r>
                <a:rPr lang="en-US" sz="2000" b="1" dirty="0">
                  <a:solidFill>
                    <a:srgbClr val="FF9933"/>
                  </a:solidFill>
                  <a:latin typeface="Amazon Ember" panose="020B0603020204020204" pitchFamily="34" charset="0"/>
                  <a:ea typeface="Amazon Ember" panose="020B0603020204020204" pitchFamily="34" charset="0"/>
                  <a:cs typeface="Amazon Ember" panose="020B0603020204020204" pitchFamily="34" charset="0"/>
                </a:rPr>
                <a:t>AWS Region</a:t>
              </a:r>
            </a:p>
          </p:txBody>
        </p:sp>
        <p:sp>
          <p:nvSpPr>
            <p:cNvPr id="88" name="Rounded Rectangle 87">
              <a:extLst>
                <a:ext uri="{C183D7F6-B498-43B3-948B-1728B52AA6E4}">
                  <adec:decorative xmlns:adec="http://schemas.microsoft.com/office/drawing/2017/decorative" val="1"/>
                </a:ext>
              </a:extLst>
            </p:cNvPr>
            <p:cNvSpPr/>
            <p:nvPr/>
          </p:nvSpPr>
          <p:spPr>
            <a:xfrm>
              <a:off x="6547105" y="1481328"/>
              <a:ext cx="5423222" cy="4739719"/>
            </a:xfrm>
            <a:prstGeom prst="roundRect">
              <a:avLst>
                <a:gd name="adj" fmla="val 9818"/>
              </a:avLst>
            </a:prstGeom>
            <a:noFill/>
            <a:ln w="28575" cap="flat" cmpd="sng" algn="ctr">
              <a:solidFill>
                <a:srgbClr val="474746"/>
              </a:solidFill>
              <a:prstDash val="sysDot"/>
            </a:ln>
            <a:effectLst/>
          </p:spPr>
          <p:txBody>
            <a:bodyPr anchor="ctr"/>
            <a:lstStyle/>
            <a:p>
              <a:pPr algn="ctr" defTabSz="457200">
                <a:defRPr/>
              </a:pPr>
              <a:endParaRPr lang="en-US" dirty="0">
                <a:solidFill>
                  <a:srgbClr val="474746"/>
                </a:solidFill>
                <a:latin typeface="Helvetica Neue"/>
                <a:ea typeface="+mn-ea"/>
                <a:cs typeface="Helvetica Neue"/>
              </a:endParaRPr>
            </a:p>
          </p:txBody>
        </p:sp>
        <p:grpSp>
          <p:nvGrpSpPr>
            <p:cNvPr id="89" name="Group 88">
              <a:extLst>
                <a:ext uri="{C183D7F6-B498-43B3-948B-1728B52AA6E4}">
                  <adec:decorative xmlns:adec="http://schemas.microsoft.com/office/drawing/2017/decorative" val="1"/>
                </a:ext>
              </a:extLst>
            </p:cNvPr>
            <p:cNvGrpSpPr/>
            <p:nvPr/>
          </p:nvGrpSpPr>
          <p:grpSpPr>
            <a:xfrm>
              <a:off x="7611035" y="2197620"/>
              <a:ext cx="3749106" cy="3099682"/>
              <a:chOff x="5824622" y="1393367"/>
              <a:chExt cx="2753241" cy="2363417"/>
            </a:xfrm>
          </p:grpSpPr>
          <p:sp>
            <p:nvSpPr>
              <p:cNvPr id="90" name="Rounded Rectangle 89"/>
              <p:cNvSpPr>
                <a:spLocks noChangeAspect="1"/>
              </p:cNvSpPr>
              <p:nvPr/>
            </p:nvSpPr>
            <p:spPr>
              <a:xfrm>
                <a:off x="5824622" y="1393367"/>
                <a:ext cx="1247337" cy="1108189"/>
              </a:xfrm>
              <a:prstGeom prst="roundRect">
                <a:avLst>
                  <a:gd name="adj" fmla="val 9818"/>
                </a:avLst>
              </a:prstGeom>
              <a:noFill/>
              <a:ln w="28575" cap="flat" cmpd="sng" algn="ctr">
                <a:solidFill>
                  <a:srgbClr val="F7981F"/>
                </a:solidFill>
                <a:prstDash val="lgDash"/>
              </a:ln>
              <a:effectLst/>
            </p:spPr>
            <p:txBody>
              <a:bodyPr anchor="ctr"/>
              <a:lstStyle/>
              <a:p>
                <a:pPr algn="ctr" defTabSz="457200">
                  <a:defRPr/>
                </a:pPr>
                <a:endParaRPr lang="en-US" dirty="0">
                  <a:solidFill>
                    <a:srgbClr val="474746"/>
                  </a:solidFill>
                  <a:latin typeface="Helvetica Neue"/>
                  <a:ea typeface="+mn-ea"/>
                  <a:cs typeface="Helvetica Neue"/>
                </a:endParaRPr>
              </a:p>
            </p:txBody>
          </p:sp>
          <p:sp>
            <p:nvSpPr>
              <p:cNvPr id="102" name="TextBox 32"/>
              <p:cNvSpPr txBox="1">
                <a:spLocks noChangeArrowheads="1"/>
              </p:cNvSpPr>
              <p:nvPr/>
            </p:nvSpPr>
            <p:spPr bwMode="auto">
              <a:xfrm>
                <a:off x="5841897" y="2306875"/>
                <a:ext cx="1205123" cy="140802"/>
              </a:xfrm>
              <a:prstGeom prst="rect">
                <a:avLst/>
              </a:prstGeom>
              <a:noFill/>
              <a:ln w="9525">
                <a:noFill/>
                <a:miter lim="800000"/>
                <a:headEnd/>
                <a:tailEnd/>
              </a:ln>
            </p:spPr>
            <p:txBody>
              <a:bodyPr wrap="square" lIns="0" tIns="0" rIns="0" bIns="0">
                <a:spAutoFit/>
              </a:bodyPr>
              <a:lstStyle/>
              <a:p>
                <a:pPr algn="ctr" defTabSz="457200">
                  <a:defRPr/>
                </a:pPr>
                <a:r>
                  <a:rPr lang="en-US" sz="1200" b="1" dirty="0">
                    <a:solidFill>
                      <a:srgbClr val="F7981F"/>
                    </a:solidFill>
                    <a:latin typeface="Helvetica Neue"/>
                    <a:ea typeface="Verdana" pitchFamily="34" charset="0"/>
                    <a:cs typeface="Helvetica Neue"/>
                  </a:rPr>
                  <a:t>Availability Zone</a:t>
                </a:r>
              </a:p>
            </p:txBody>
          </p:sp>
          <p:grpSp>
            <p:nvGrpSpPr>
              <p:cNvPr id="103" name="Group 102"/>
              <p:cNvGrpSpPr/>
              <p:nvPr/>
            </p:nvGrpSpPr>
            <p:grpSpPr>
              <a:xfrm>
                <a:off x="5887498" y="1468928"/>
                <a:ext cx="534082" cy="359495"/>
                <a:chOff x="5073543" y="1559577"/>
                <a:chExt cx="1683987" cy="1133507"/>
              </a:xfrm>
              <a:solidFill>
                <a:srgbClr val="0C67AE">
                  <a:lumMod val="40000"/>
                  <a:lumOff val="60000"/>
                </a:srgbClr>
              </a:solidFill>
            </p:grpSpPr>
            <p:sp>
              <p:nvSpPr>
                <p:cNvPr id="151" name="Rectangle 150"/>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algn="ctr" defTabSz="457200">
                    <a:defRPr/>
                  </a:pPr>
                  <a:endParaRPr lang="en-US" sz="2800" dirty="0">
                    <a:solidFill>
                      <a:srgbClr val="474746"/>
                    </a:solidFill>
                    <a:latin typeface="Arial"/>
                    <a:ea typeface="+mn-ea"/>
                    <a:cs typeface="+mn-cs"/>
                  </a:endParaRPr>
                </a:p>
              </p:txBody>
            </p:sp>
            <p:pic>
              <p:nvPicPr>
                <p:cNvPr id="152" name="Picture 151"/>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grpSp>
            <p:nvGrpSpPr>
              <p:cNvPr id="104" name="Group 103"/>
              <p:cNvGrpSpPr/>
              <p:nvPr/>
            </p:nvGrpSpPr>
            <p:grpSpPr>
              <a:xfrm>
                <a:off x="6474097" y="1468928"/>
                <a:ext cx="534082" cy="359495"/>
                <a:chOff x="5073543" y="1559577"/>
                <a:chExt cx="1683987" cy="1133507"/>
              </a:xfrm>
              <a:solidFill>
                <a:srgbClr val="0C67AE">
                  <a:lumMod val="40000"/>
                  <a:lumOff val="60000"/>
                </a:srgbClr>
              </a:solidFill>
            </p:grpSpPr>
            <p:sp>
              <p:nvSpPr>
                <p:cNvPr id="149" name="Rectangle 148"/>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algn="ctr" defTabSz="457200">
                    <a:defRPr/>
                  </a:pPr>
                  <a:endParaRPr lang="en-US" sz="2800" dirty="0">
                    <a:solidFill>
                      <a:srgbClr val="474746"/>
                    </a:solidFill>
                    <a:latin typeface="Arial"/>
                    <a:ea typeface="+mn-ea"/>
                    <a:cs typeface="+mn-cs"/>
                  </a:endParaRPr>
                </a:p>
              </p:txBody>
            </p:sp>
            <p:pic>
              <p:nvPicPr>
                <p:cNvPr id="150" name="Picture 149"/>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grpSp>
            <p:nvGrpSpPr>
              <p:cNvPr id="105" name="Group 104"/>
              <p:cNvGrpSpPr/>
              <p:nvPr/>
            </p:nvGrpSpPr>
            <p:grpSpPr>
              <a:xfrm>
                <a:off x="5887498" y="1894938"/>
                <a:ext cx="534082" cy="359495"/>
                <a:chOff x="5073543" y="1559577"/>
                <a:chExt cx="1683987" cy="1133507"/>
              </a:xfrm>
              <a:solidFill>
                <a:srgbClr val="0C67AE">
                  <a:lumMod val="40000"/>
                  <a:lumOff val="60000"/>
                </a:srgbClr>
              </a:solidFill>
            </p:grpSpPr>
            <p:sp>
              <p:nvSpPr>
                <p:cNvPr id="147" name="Rectangle 146"/>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algn="ctr" defTabSz="457200">
                    <a:defRPr/>
                  </a:pPr>
                  <a:endParaRPr lang="en-US" sz="2800" dirty="0">
                    <a:solidFill>
                      <a:srgbClr val="474746"/>
                    </a:solidFill>
                    <a:latin typeface="Arial"/>
                    <a:ea typeface="+mn-ea"/>
                    <a:cs typeface="+mn-cs"/>
                  </a:endParaRPr>
                </a:p>
              </p:txBody>
            </p:sp>
            <p:pic>
              <p:nvPicPr>
                <p:cNvPr id="148" name="Picture 147"/>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grpSp>
            <p:nvGrpSpPr>
              <p:cNvPr id="106" name="Group 105"/>
              <p:cNvGrpSpPr/>
              <p:nvPr/>
            </p:nvGrpSpPr>
            <p:grpSpPr>
              <a:xfrm>
                <a:off x="6474097" y="1894938"/>
                <a:ext cx="534082" cy="359495"/>
                <a:chOff x="5073543" y="1559577"/>
                <a:chExt cx="1683987" cy="1133507"/>
              </a:xfrm>
              <a:solidFill>
                <a:srgbClr val="0C67AE">
                  <a:lumMod val="40000"/>
                  <a:lumOff val="60000"/>
                </a:srgbClr>
              </a:solidFill>
            </p:grpSpPr>
            <p:sp>
              <p:nvSpPr>
                <p:cNvPr id="145" name="Rectangle 144"/>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algn="ctr" defTabSz="457200">
                    <a:defRPr/>
                  </a:pPr>
                  <a:endParaRPr lang="en-US" sz="2800" dirty="0">
                    <a:solidFill>
                      <a:srgbClr val="474746"/>
                    </a:solidFill>
                    <a:latin typeface="Arial"/>
                    <a:ea typeface="+mn-ea"/>
                    <a:cs typeface="+mn-cs"/>
                  </a:endParaRPr>
                </a:p>
              </p:txBody>
            </p:sp>
            <p:pic>
              <p:nvPicPr>
                <p:cNvPr id="146" name="Picture 145"/>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sp>
            <p:nvSpPr>
              <p:cNvPr id="107" name="TextBox 106"/>
              <p:cNvSpPr txBox="1"/>
              <p:nvPr/>
            </p:nvSpPr>
            <p:spPr>
              <a:xfrm>
                <a:off x="5927674" y="1711381"/>
                <a:ext cx="453729" cy="116832"/>
              </a:xfrm>
              <a:prstGeom prst="rect">
                <a:avLst/>
              </a:prstGeom>
              <a:noFill/>
            </p:spPr>
            <p:txBody>
              <a:bodyPr wrap="square" lIns="0" tIns="0" rIns="0" bIns="0" rtlCol="0" anchor="ctr" anchorCtr="0">
                <a:noAutofit/>
              </a:bodyPr>
              <a:lstStyle/>
              <a:p>
                <a:pPr algn="ctr" defTabSz="457200">
                  <a:defRPr/>
                </a:pPr>
                <a:r>
                  <a:rPr lang="en-US" sz="600" dirty="0">
                    <a:solidFill>
                      <a:srgbClr val="474746"/>
                    </a:solidFill>
                  </a:rPr>
                  <a:t>Data center</a:t>
                </a:r>
              </a:p>
            </p:txBody>
          </p:sp>
          <p:sp>
            <p:nvSpPr>
              <p:cNvPr id="108" name="TextBox 107"/>
              <p:cNvSpPr txBox="1"/>
              <p:nvPr/>
            </p:nvSpPr>
            <p:spPr>
              <a:xfrm>
                <a:off x="6514273" y="1713650"/>
                <a:ext cx="453729" cy="116832"/>
              </a:xfrm>
              <a:prstGeom prst="rect">
                <a:avLst/>
              </a:prstGeom>
              <a:noFill/>
            </p:spPr>
            <p:txBody>
              <a:bodyPr wrap="square" lIns="0" tIns="0" rIns="0" bIns="0" rtlCol="0" anchor="ctr" anchorCtr="0">
                <a:noAutofit/>
              </a:bodyPr>
              <a:lstStyle/>
              <a:p>
                <a:pPr algn="ctr" defTabSz="457200">
                  <a:defRPr/>
                </a:pPr>
                <a:r>
                  <a:rPr lang="en-US" sz="600" dirty="0">
                    <a:solidFill>
                      <a:srgbClr val="474746"/>
                    </a:solidFill>
                  </a:rPr>
                  <a:t>Data center</a:t>
                </a:r>
              </a:p>
            </p:txBody>
          </p:sp>
          <p:sp>
            <p:nvSpPr>
              <p:cNvPr id="109" name="TextBox 108"/>
              <p:cNvSpPr txBox="1"/>
              <p:nvPr/>
            </p:nvSpPr>
            <p:spPr>
              <a:xfrm>
                <a:off x="5922855" y="2136262"/>
                <a:ext cx="453729" cy="116832"/>
              </a:xfrm>
              <a:prstGeom prst="rect">
                <a:avLst/>
              </a:prstGeom>
              <a:noFill/>
            </p:spPr>
            <p:txBody>
              <a:bodyPr wrap="square" lIns="0" tIns="0" rIns="0" bIns="0" rtlCol="0" anchor="ctr" anchorCtr="0">
                <a:noAutofit/>
              </a:bodyPr>
              <a:lstStyle/>
              <a:p>
                <a:pPr algn="ctr" defTabSz="457200">
                  <a:defRPr/>
                </a:pPr>
                <a:r>
                  <a:rPr lang="en-US" sz="600" dirty="0">
                    <a:solidFill>
                      <a:srgbClr val="474746"/>
                    </a:solidFill>
                  </a:rPr>
                  <a:t>Data center</a:t>
                </a:r>
              </a:p>
            </p:txBody>
          </p:sp>
          <p:sp>
            <p:nvSpPr>
              <p:cNvPr id="110" name="TextBox 109"/>
              <p:cNvSpPr txBox="1"/>
              <p:nvPr/>
            </p:nvSpPr>
            <p:spPr>
              <a:xfrm>
                <a:off x="6514273" y="2136262"/>
                <a:ext cx="453729" cy="116832"/>
              </a:xfrm>
              <a:prstGeom prst="rect">
                <a:avLst/>
              </a:prstGeom>
              <a:noFill/>
            </p:spPr>
            <p:txBody>
              <a:bodyPr wrap="square" lIns="0" tIns="0" rIns="0" bIns="0" rtlCol="0" anchor="ctr" anchorCtr="0">
                <a:noAutofit/>
              </a:bodyPr>
              <a:lstStyle/>
              <a:p>
                <a:pPr algn="ctr" defTabSz="457200">
                  <a:defRPr/>
                </a:pPr>
                <a:r>
                  <a:rPr lang="en-US" sz="600" dirty="0">
                    <a:solidFill>
                      <a:srgbClr val="474746"/>
                    </a:solidFill>
                  </a:rPr>
                  <a:t>Data center</a:t>
                </a:r>
              </a:p>
            </p:txBody>
          </p:sp>
          <p:sp>
            <p:nvSpPr>
              <p:cNvPr id="111" name="Rounded Rectangle 110"/>
              <p:cNvSpPr>
                <a:spLocks noChangeAspect="1"/>
              </p:cNvSpPr>
              <p:nvPr/>
            </p:nvSpPr>
            <p:spPr>
              <a:xfrm>
                <a:off x="7330526" y="1397200"/>
                <a:ext cx="1247337" cy="1108189"/>
              </a:xfrm>
              <a:prstGeom prst="roundRect">
                <a:avLst>
                  <a:gd name="adj" fmla="val 9818"/>
                </a:avLst>
              </a:prstGeom>
              <a:noFill/>
              <a:ln w="28575" cap="flat" cmpd="sng" algn="ctr">
                <a:solidFill>
                  <a:srgbClr val="F7981F"/>
                </a:solidFill>
                <a:prstDash val="lgDash"/>
              </a:ln>
              <a:effectLst/>
            </p:spPr>
            <p:txBody>
              <a:bodyPr anchor="ctr"/>
              <a:lstStyle/>
              <a:p>
                <a:pPr algn="ctr" defTabSz="457200">
                  <a:defRPr/>
                </a:pPr>
                <a:endParaRPr lang="en-US" dirty="0">
                  <a:solidFill>
                    <a:srgbClr val="474746"/>
                  </a:solidFill>
                  <a:latin typeface="Helvetica Neue"/>
                  <a:ea typeface="+mn-ea"/>
                  <a:cs typeface="Helvetica Neue"/>
                </a:endParaRPr>
              </a:p>
            </p:txBody>
          </p:sp>
          <p:grpSp>
            <p:nvGrpSpPr>
              <p:cNvPr id="112" name="Group 111"/>
              <p:cNvGrpSpPr/>
              <p:nvPr/>
            </p:nvGrpSpPr>
            <p:grpSpPr>
              <a:xfrm>
                <a:off x="7393402" y="1472761"/>
                <a:ext cx="534082" cy="359495"/>
                <a:chOff x="5073543" y="1559577"/>
                <a:chExt cx="1683987" cy="1133507"/>
              </a:xfrm>
              <a:solidFill>
                <a:srgbClr val="0C67AE">
                  <a:lumMod val="40000"/>
                  <a:lumOff val="60000"/>
                </a:srgbClr>
              </a:solidFill>
            </p:grpSpPr>
            <p:sp>
              <p:nvSpPr>
                <p:cNvPr id="143" name="Rectangle 142"/>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algn="ctr" defTabSz="457200">
                    <a:defRPr/>
                  </a:pPr>
                  <a:endParaRPr lang="en-US" sz="2800" dirty="0">
                    <a:solidFill>
                      <a:srgbClr val="474746"/>
                    </a:solidFill>
                    <a:latin typeface="Arial"/>
                    <a:ea typeface="+mn-ea"/>
                    <a:cs typeface="+mn-cs"/>
                  </a:endParaRPr>
                </a:p>
              </p:txBody>
            </p:sp>
            <p:pic>
              <p:nvPicPr>
                <p:cNvPr id="144" name="Picture 143"/>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grpSp>
            <p:nvGrpSpPr>
              <p:cNvPr id="113" name="Group 112"/>
              <p:cNvGrpSpPr/>
              <p:nvPr/>
            </p:nvGrpSpPr>
            <p:grpSpPr>
              <a:xfrm>
                <a:off x="7980001" y="1472761"/>
                <a:ext cx="534082" cy="359495"/>
                <a:chOff x="5073543" y="1559577"/>
                <a:chExt cx="1683987" cy="1133507"/>
              </a:xfrm>
              <a:solidFill>
                <a:srgbClr val="0C67AE">
                  <a:lumMod val="40000"/>
                  <a:lumOff val="60000"/>
                </a:srgbClr>
              </a:solidFill>
            </p:grpSpPr>
            <p:sp>
              <p:nvSpPr>
                <p:cNvPr id="141" name="Rectangle 140"/>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algn="ctr" defTabSz="457200">
                    <a:defRPr/>
                  </a:pPr>
                  <a:endParaRPr lang="en-US" sz="2800" dirty="0">
                    <a:solidFill>
                      <a:srgbClr val="474746"/>
                    </a:solidFill>
                    <a:latin typeface="Arial"/>
                    <a:ea typeface="+mn-ea"/>
                    <a:cs typeface="+mn-cs"/>
                  </a:endParaRPr>
                </a:p>
              </p:txBody>
            </p:sp>
            <p:pic>
              <p:nvPicPr>
                <p:cNvPr id="142" name="Picture 141"/>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grpSp>
            <p:nvGrpSpPr>
              <p:cNvPr id="114" name="Group 113"/>
              <p:cNvGrpSpPr/>
              <p:nvPr/>
            </p:nvGrpSpPr>
            <p:grpSpPr>
              <a:xfrm>
                <a:off x="7393402" y="1898771"/>
                <a:ext cx="534082" cy="359495"/>
                <a:chOff x="5073543" y="1559577"/>
                <a:chExt cx="1683987" cy="1133507"/>
              </a:xfrm>
              <a:solidFill>
                <a:srgbClr val="0C67AE">
                  <a:lumMod val="40000"/>
                  <a:lumOff val="60000"/>
                </a:srgbClr>
              </a:solidFill>
            </p:grpSpPr>
            <p:sp>
              <p:nvSpPr>
                <p:cNvPr id="139" name="Rectangle 138"/>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algn="ctr" defTabSz="457200">
                    <a:defRPr/>
                  </a:pPr>
                  <a:endParaRPr lang="en-US" sz="2800" dirty="0">
                    <a:solidFill>
                      <a:srgbClr val="474746"/>
                    </a:solidFill>
                    <a:latin typeface="Arial"/>
                    <a:ea typeface="+mn-ea"/>
                    <a:cs typeface="+mn-cs"/>
                  </a:endParaRPr>
                </a:p>
              </p:txBody>
            </p:sp>
            <p:pic>
              <p:nvPicPr>
                <p:cNvPr id="140" name="Picture 139"/>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grpSp>
            <p:nvGrpSpPr>
              <p:cNvPr id="115" name="Group 114"/>
              <p:cNvGrpSpPr/>
              <p:nvPr/>
            </p:nvGrpSpPr>
            <p:grpSpPr>
              <a:xfrm>
                <a:off x="7980001" y="1898771"/>
                <a:ext cx="534082" cy="359495"/>
                <a:chOff x="5073543" y="1559577"/>
                <a:chExt cx="1683987" cy="1133507"/>
              </a:xfrm>
              <a:solidFill>
                <a:srgbClr val="0C67AE">
                  <a:lumMod val="40000"/>
                  <a:lumOff val="60000"/>
                </a:srgbClr>
              </a:solidFill>
            </p:grpSpPr>
            <p:sp>
              <p:nvSpPr>
                <p:cNvPr id="137" name="Rectangle 136"/>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algn="ctr" defTabSz="457200">
                    <a:defRPr/>
                  </a:pPr>
                  <a:endParaRPr lang="en-US" sz="2800" dirty="0">
                    <a:solidFill>
                      <a:srgbClr val="474746"/>
                    </a:solidFill>
                    <a:latin typeface="Arial"/>
                    <a:ea typeface="+mn-ea"/>
                    <a:cs typeface="+mn-cs"/>
                  </a:endParaRPr>
                </a:p>
              </p:txBody>
            </p:sp>
            <p:pic>
              <p:nvPicPr>
                <p:cNvPr id="138" name="Picture 137"/>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sp>
            <p:nvSpPr>
              <p:cNvPr id="116" name="TextBox 115"/>
              <p:cNvSpPr txBox="1"/>
              <p:nvPr/>
            </p:nvSpPr>
            <p:spPr>
              <a:xfrm>
                <a:off x="7433578" y="1715214"/>
                <a:ext cx="453729" cy="116832"/>
              </a:xfrm>
              <a:prstGeom prst="rect">
                <a:avLst/>
              </a:prstGeom>
              <a:noFill/>
            </p:spPr>
            <p:txBody>
              <a:bodyPr wrap="square" lIns="0" tIns="0" rIns="0" bIns="0" rtlCol="0" anchor="ctr" anchorCtr="0">
                <a:noAutofit/>
              </a:bodyPr>
              <a:lstStyle/>
              <a:p>
                <a:pPr algn="ctr" defTabSz="457200">
                  <a:defRPr/>
                </a:pPr>
                <a:r>
                  <a:rPr lang="en-US" sz="600" dirty="0">
                    <a:solidFill>
                      <a:srgbClr val="474746"/>
                    </a:solidFill>
                  </a:rPr>
                  <a:t>Data center</a:t>
                </a:r>
              </a:p>
            </p:txBody>
          </p:sp>
          <p:sp>
            <p:nvSpPr>
              <p:cNvPr id="117" name="TextBox 116"/>
              <p:cNvSpPr txBox="1"/>
              <p:nvPr/>
            </p:nvSpPr>
            <p:spPr>
              <a:xfrm>
                <a:off x="8020177" y="1717483"/>
                <a:ext cx="453729" cy="116832"/>
              </a:xfrm>
              <a:prstGeom prst="rect">
                <a:avLst/>
              </a:prstGeom>
              <a:noFill/>
            </p:spPr>
            <p:txBody>
              <a:bodyPr wrap="square" lIns="0" tIns="0" rIns="0" bIns="0" rtlCol="0" anchor="ctr" anchorCtr="0">
                <a:noAutofit/>
              </a:bodyPr>
              <a:lstStyle/>
              <a:p>
                <a:pPr algn="ctr" defTabSz="457200">
                  <a:defRPr/>
                </a:pPr>
                <a:r>
                  <a:rPr lang="en-US" sz="600" dirty="0">
                    <a:solidFill>
                      <a:srgbClr val="474746"/>
                    </a:solidFill>
                  </a:rPr>
                  <a:t>Data center</a:t>
                </a:r>
              </a:p>
            </p:txBody>
          </p:sp>
          <p:sp>
            <p:nvSpPr>
              <p:cNvPr id="118" name="TextBox 117"/>
              <p:cNvSpPr txBox="1"/>
              <p:nvPr/>
            </p:nvSpPr>
            <p:spPr>
              <a:xfrm>
                <a:off x="7428759" y="2140095"/>
                <a:ext cx="453729" cy="116832"/>
              </a:xfrm>
              <a:prstGeom prst="rect">
                <a:avLst/>
              </a:prstGeom>
              <a:noFill/>
            </p:spPr>
            <p:txBody>
              <a:bodyPr wrap="square" lIns="0" tIns="0" rIns="0" bIns="0" rtlCol="0" anchor="ctr" anchorCtr="0">
                <a:noAutofit/>
              </a:bodyPr>
              <a:lstStyle/>
              <a:p>
                <a:pPr algn="ctr" defTabSz="457200">
                  <a:defRPr/>
                </a:pPr>
                <a:r>
                  <a:rPr lang="en-US" sz="600" dirty="0">
                    <a:solidFill>
                      <a:srgbClr val="474746"/>
                    </a:solidFill>
                  </a:rPr>
                  <a:t>Data center</a:t>
                </a:r>
              </a:p>
            </p:txBody>
          </p:sp>
          <p:sp>
            <p:nvSpPr>
              <p:cNvPr id="119" name="TextBox 118"/>
              <p:cNvSpPr txBox="1"/>
              <p:nvPr/>
            </p:nvSpPr>
            <p:spPr>
              <a:xfrm>
                <a:off x="8020177" y="2140095"/>
                <a:ext cx="453729" cy="116832"/>
              </a:xfrm>
              <a:prstGeom prst="rect">
                <a:avLst/>
              </a:prstGeom>
              <a:noFill/>
            </p:spPr>
            <p:txBody>
              <a:bodyPr wrap="square" lIns="0" tIns="0" rIns="0" bIns="0" rtlCol="0" anchor="ctr" anchorCtr="0">
                <a:noAutofit/>
              </a:bodyPr>
              <a:lstStyle/>
              <a:p>
                <a:pPr algn="ctr" defTabSz="457200">
                  <a:defRPr/>
                </a:pPr>
                <a:r>
                  <a:rPr lang="en-US" sz="600" dirty="0">
                    <a:solidFill>
                      <a:srgbClr val="474746"/>
                    </a:solidFill>
                  </a:rPr>
                  <a:t>Data center</a:t>
                </a:r>
              </a:p>
            </p:txBody>
          </p:sp>
          <p:sp>
            <p:nvSpPr>
              <p:cNvPr id="120" name="Rounded Rectangle 119"/>
              <p:cNvSpPr>
                <a:spLocks noChangeAspect="1"/>
              </p:cNvSpPr>
              <p:nvPr/>
            </p:nvSpPr>
            <p:spPr>
              <a:xfrm>
                <a:off x="6567700" y="2648595"/>
                <a:ext cx="1247337" cy="1108189"/>
              </a:xfrm>
              <a:prstGeom prst="roundRect">
                <a:avLst>
                  <a:gd name="adj" fmla="val 9818"/>
                </a:avLst>
              </a:prstGeom>
              <a:noFill/>
              <a:ln w="28575" cap="flat" cmpd="sng" algn="ctr">
                <a:solidFill>
                  <a:srgbClr val="F7981F"/>
                </a:solidFill>
                <a:prstDash val="lgDash"/>
              </a:ln>
              <a:effectLst/>
            </p:spPr>
            <p:txBody>
              <a:bodyPr anchor="ctr"/>
              <a:lstStyle/>
              <a:p>
                <a:pPr algn="ctr" defTabSz="457200">
                  <a:defRPr/>
                </a:pPr>
                <a:endParaRPr lang="en-US" dirty="0">
                  <a:solidFill>
                    <a:srgbClr val="474746"/>
                  </a:solidFill>
                  <a:latin typeface="Helvetica Neue"/>
                  <a:ea typeface="+mn-ea"/>
                  <a:cs typeface="Helvetica Neue"/>
                </a:endParaRPr>
              </a:p>
            </p:txBody>
          </p:sp>
          <p:grpSp>
            <p:nvGrpSpPr>
              <p:cNvPr id="121" name="Group 120"/>
              <p:cNvGrpSpPr/>
              <p:nvPr/>
            </p:nvGrpSpPr>
            <p:grpSpPr>
              <a:xfrm>
                <a:off x="6630576" y="2724156"/>
                <a:ext cx="534082" cy="359495"/>
                <a:chOff x="5073543" y="1559577"/>
                <a:chExt cx="1683987" cy="1133507"/>
              </a:xfrm>
              <a:solidFill>
                <a:srgbClr val="0C67AE">
                  <a:lumMod val="40000"/>
                  <a:lumOff val="60000"/>
                </a:srgbClr>
              </a:solidFill>
            </p:grpSpPr>
            <p:sp>
              <p:nvSpPr>
                <p:cNvPr id="135" name="Rectangle 134"/>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algn="ctr" defTabSz="457200">
                    <a:defRPr/>
                  </a:pPr>
                  <a:endParaRPr lang="en-US" sz="2800" dirty="0">
                    <a:solidFill>
                      <a:srgbClr val="474746"/>
                    </a:solidFill>
                    <a:latin typeface="Arial"/>
                    <a:ea typeface="+mn-ea"/>
                    <a:cs typeface="+mn-cs"/>
                  </a:endParaRPr>
                </a:p>
              </p:txBody>
            </p:sp>
            <p:pic>
              <p:nvPicPr>
                <p:cNvPr id="136" name="Picture 135"/>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grpSp>
            <p:nvGrpSpPr>
              <p:cNvPr id="122" name="Group 121"/>
              <p:cNvGrpSpPr/>
              <p:nvPr/>
            </p:nvGrpSpPr>
            <p:grpSpPr>
              <a:xfrm>
                <a:off x="7217175" y="2724156"/>
                <a:ext cx="534082" cy="359495"/>
                <a:chOff x="5073543" y="1559577"/>
                <a:chExt cx="1683987" cy="1133507"/>
              </a:xfrm>
              <a:solidFill>
                <a:srgbClr val="0C67AE">
                  <a:lumMod val="40000"/>
                  <a:lumOff val="60000"/>
                </a:srgbClr>
              </a:solidFill>
            </p:grpSpPr>
            <p:sp>
              <p:nvSpPr>
                <p:cNvPr id="133" name="Rectangle 132"/>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algn="ctr" defTabSz="457200">
                    <a:defRPr/>
                  </a:pPr>
                  <a:endParaRPr lang="en-US" sz="2800" dirty="0">
                    <a:solidFill>
                      <a:srgbClr val="474746"/>
                    </a:solidFill>
                    <a:latin typeface="Arial"/>
                    <a:ea typeface="+mn-ea"/>
                    <a:cs typeface="+mn-cs"/>
                  </a:endParaRPr>
                </a:p>
              </p:txBody>
            </p:sp>
            <p:pic>
              <p:nvPicPr>
                <p:cNvPr id="134" name="Picture 133"/>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grpSp>
            <p:nvGrpSpPr>
              <p:cNvPr id="123" name="Group 122"/>
              <p:cNvGrpSpPr/>
              <p:nvPr/>
            </p:nvGrpSpPr>
            <p:grpSpPr>
              <a:xfrm>
                <a:off x="6630576" y="3150166"/>
                <a:ext cx="534082" cy="359495"/>
                <a:chOff x="5073543" y="1559577"/>
                <a:chExt cx="1683987" cy="1133507"/>
              </a:xfrm>
              <a:solidFill>
                <a:srgbClr val="0C67AE">
                  <a:lumMod val="40000"/>
                  <a:lumOff val="60000"/>
                </a:srgbClr>
              </a:solidFill>
            </p:grpSpPr>
            <p:sp>
              <p:nvSpPr>
                <p:cNvPr id="131" name="Rectangle 130"/>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algn="ctr" defTabSz="457200">
                    <a:defRPr/>
                  </a:pPr>
                  <a:endParaRPr lang="en-US" sz="2800" dirty="0">
                    <a:solidFill>
                      <a:srgbClr val="474746"/>
                    </a:solidFill>
                    <a:latin typeface="Arial"/>
                    <a:ea typeface="+mn-ea"/>
                    <a:cs typeface="+mn-cs"/>
                  </a:endParaRPr>
                </a:p>
              </p:txBody>
            </p:sp>
            <p:pic>
              <p:nvPicPr>
                <p:cNvPr id="132" name="Picture 131"/>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grpSp>
            <p:nvGrpSpPr>
              <p:cNvPr id="124" name="Group 123"/>
              <p:cNvGrpSpPr/>
              <p:nvPr/>
            </p:nvGrpSpPr>
            <p:grpSpPr>
              <a:xfrm>
                <a:off x="7217175" y="3150166"/>
                <a:ext cx="534082" cy="359495"/>
                <a:chOff x="5073543" y="1559577"/>
                <a:chExt cx="1683987" cy="1133507"/>
              </a:xfrm>
              <a:solidFill>
                <a:srgbClr val="0C67AE">
                  <a:lumMod val="40000"/>
                  <a:lumOff val="60000"/>
                </a:srgbClr>
              </a:solidFill>
            </p:grpSpPr>
            <p:sp>
              <p:nvSpPr>
                <p:cNvPr id="129" name="Rectangle 128"/>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algn="ctr" defTabSz="457200">
                    <a:defRPr/>
                  </a:pPr>
                  <a:endParaRPr lang="en-US" sz="2800" dirty="0">
                    <a:solidFill>
                      <a:srgbClr val="474746"/>
                    </a:solidFill>
                    <a:latin typeface="Arial"/>
                    <a:ea typeface="+mn-ea"/>
                    <a:cs typeface="+mn-cs"/>
                  </a:endParaRPr>
                </a:p>
              </p:txBody>
            </p:sp>
            <p:pic>
              <p:nvPicPr>
                <p:cNvPr id="130" name="Picture 129"/>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sp>
            <p:nvSpPr>
              <p:cNvPr id="125" name="TextBox 124"/>
              <p:cNvSpPr txBox="1"/>
              <p:nvPr/>
            </p:nvSpPr>
            <p:spPr>
              <a:xfrm>
                <a:off x="6670752" y="2966609"/>
                <a:ext cx="453729" cy="116832"/>
              </a:xfrm>
              <a:prstGeom prst="rect">
                <a:avLst/>
              </a:prstGeom>
              <a:noFill/>
            </p:spPr>
            <p:txBody>
              <a:bodyPr wrap="square" lIns="0" tIns="0" rIns="0" bIns="0" rtlCol="0" anchor="ctr" anchorCtr="0">
                <a:noAutofit/>
              </a:bodyPr>
              <a:lstStyle/>
              <a:p>
                <a:pPr algn="ctr" defTabSz="457200">
                  <a:defRPr/>
                </a:pPr>
                <a:r>
                  <a:rPr lang="en-US" sz="600" dirty="0">
                    <a:solidFill>
                      <a:srgbClr val="474746"/>
                    </a:solidFill>
                  </a:rPr>
                  <a:t>Data center</a:t>
                </a:r>
              </a:p>
            </p:txBody>
          </p:sp>
          <p:sp>
            <p:nvSpPr>
              <p:cNvPr id="126" name="TextBox 125"/>
              <p:cNvSpPr txBox="1"/>
              <p:nvPr/>
            </p:nvSpPr>
            <p:spPr>
              <a:xfrm>
                <a:off x="7257351" y="2968878"/>
                <a:ext cx="453729" cy="116832"/>
              </a:xfrm>
              <a:prstGeom prst="rect">
                <a:avLst/>
              </a:prstGeom>
              <a:noFill/>
            </p:spPr>
            <p:txBody>
              <a:bodyPr wrap="square" lIns="0" tIns="0" rIns="0" bIns="0" rtlCol="0" anchor="ctr" anchorCtr="0">
                <a:noAutofit/>
              </a:bodyPr>
              <a:lstStyle/>
              <a:p>
                <a:pPr algn="ctr" defTabSz="457200">
                  <a:defRPr/>
                </a:pPr>
                <a:r>
                  <a:rPr lang="en-US" sz="600" dirty="0">
                    <a:solidFill>
                      <a:srgbClr val="474746"/>
                    </a:solidFill>
                  </a:rPr>
                  <a:t>Data center</a:t>
                </a:r>
              </a:p>
            </p:txBody>
          </p:sp>
          <p:sp>
            <p:nvSpPr>
              <p:cNvPr id="127" name="TextBox 126"/>
              <p:cNvSpPr txBox="1"/>
              <p:nvPr/>
            </p:nvSpPr>
            <p:spPr>
              <a:xfrm>
                <a:off x="6665933" y="3391490"/>
                <a:ext cx="453729" cy="116832"/>
              </a:xfrm>
              <a:prstGeom prst="rect">
                <a:avLst/>
              </a:prstGeom>
              <a:noFill/>
            </p:spPr>
            <p:txBody>
              <a:bodyPr wrap="square" lIns="0" tIns="0" rIns="0" bIns="0" rtlCol="0" anchor="ctr" anchorCtr="0">
                <a:noAutofit/>
              </a:bodyPr>
              <a:lstStyle/>
              <a:p>
                <a:pPr algn="ctr" defTabSz="457200">
                  <a:defRPr/>
                </a:pPr>
                <a:r>
                  <a:rPr lang="en-US" sz="600" dirty="0">
                    <a:solidFill>
                      <a:srgbClr val="474746"/>
                    </a:solidFill>
                  </a:rPr>
                  <a:t>Data center</a:t>
                </a:r>
              </a:p>
            </p:txBody>
          </p:sp>
          <p:sp>
            <p:nvSpPr>
              <p:cNvPr id="128" name="TextBox 127"/>
              <p:cNvSpPr txBox="1"/>
              <p:nvPr/>
            </p:nvSpPr>
            <p:spPr>
              <a:xfrm>
                <a:off x="7257351" y="3391490"/>
                <a:ext cx="453729" cy="116832"/>
              </a:xfrm>
              <a:prstGeom prst="rect">
                <a:avLst/>
              </a:prstGeom>
              <a:noFill/>
            </p:spPr>
            <p:txBody>
              <a:bodyPr wrap="square" lIns="0" tIns="0" rIns="0" bIns="0" rtlCol="0" anchor="ctr" anchorCtr="0">
                <a:noAutofit/>
              </a:bodyPr>
              <a:lstStyle/>
              <a:p>
                <a:pPr algn="ctr" defTabSz="457200">
                  <a:defRPr/>
                </a:pPr>
                <a:r>
                  <a:rPr lang="en-US" sz="600" dirty="0">
                    <a:solidFill>
                      <a:srgbClr val="474746"/>
                    </a:solidFill>
                  </a:rPr>
                  <a:t>Data center</a:t>
                </a:r>
              </a:p>
            </p:txBody>
          </p:sp>
        </p:grpSp>
        <p:sp>
          <p:nvSpPr>
            <p:cNvPr id="153" name="TextBox 32">
              <a:extLst>
                <a:ext uri="{C183D7F6-B498-43B3-948B-1728B52AA6E4}">
                  <adec:decorative xmlns:adec="http://schemas.microsoft.com/office/drawing/2017/decorative" val="1"/>
                </a:ext>
              </a:extLst>
            </p:cNvPr>
            <p:cNvSpPr txBox="1">
              <a:spLocks noChangeArrowheads="1"/>
            </p:cNvSpPr>
            <p:nvPr/>
          </p:nvSpPr>
          <p:spPr bwMode="auto">
            <a:xfrm>
              <a:off x="9699706" y="3401867"/>
              <a:ext cx="1641024" cy="184666"/>
            </a:xfrm>
            <a:prstGeom prst="rect">
              <a:avLst/>
            </a:prstGeom>
            <a:noFill/>
            <a:ln w="9525">
              <a:noFill/>
              <a:miter lim="800000"/>
              <a:headEnd/>
              <a:tailEnd/>
            </a:ln>
          </p:spPr>
          <p:txBody>
            <a:bodyPr wrap="square" lIns="0" tIns="0" rIns="0" bIns="0">
              <a:spAutoFit/>
            </a:bodyPr>
            <a:lstStyle/>
            <a:p>
              <a:pPr algn="ctr" defTabSz="457200"/>
              <a:r>
                <a:rPr lang="en-US" sz="1200" b="1" dirty="0">
                  <a:solidFill>
                    <a:srgbClr val="F7981F"/>
                  </a:solidFill>
                  <a:latin typeface="Helvetica Neue"/>
                  <a:ea typeface="Verdana" pitchFamily="34" charset="0"/>
                  <a:cs typeface="Helvetica Neue"/>
                </a:rPr>
                <a:t>Availability Zone</a:t>
              </a:r>
            </a:p>
          </p:txBody>
        </p:sp>
        <p:sp>
          <p:nvSpPr>
            <p:cNvPr id="154" name="TextBox 32">
              <a:extLst>
                <a:ext uri="{C183D7F6-B498-43B3-948B-1728B52AA6E4}">
                  <adec:decorative xmlns:adec="http://schemas.microsoft.com/office/drawing/2017/decorative" val="1"/>
                </a:ext>
              </a:extLst>
            </p:cNvPr>
            <p:cNvSpPr txBox="1">
              <a:spLocks noChangeArrowheads="1"/>
            </p:cNvSpPr>
            <p:nvPr/>
          </p:nvSpPr>
          <p:spPr bwMode="auto">
            <a:xfrm>
              <a:off x="8504486" y="5047513"/>
              <a:ext cx="1641024" cy="184666"/>
            </a:xfrm>
            <a:prstGeom prst="rect">
              <a:avLst/>
            </a:prstGeom>
            <a:noFill/>
            <a:ln w="9525">
              <a:noFill/>
              <a:miter lim="800000"/>
              <a:headEnd/>
              <a:tailEnd/>
            </a:ln>
          </p:spPr>
          <p:txBody>
            <a:bodyPr wrap="square" lIns="0" tIns="0" rIns="0" bIns="0">
              <a:spAutoFit/>
            </a:bodyPr>
            <a:lstStyle/>
            <a:p>
              <a:pPr algn="ctr" defTabSz="457200"/>
              <a:r>
                <a:rPr lang="en-US" sz="1200" b="1" dirty="0">
                  <a:solidFill>
                    <a:srgbClr val="F7981F"/>
                  </a:solidFill>
                  <a:latin typeface="Helvetica Neue"/>
                  <a:ea typeface="Verdana" pitchFamily="34" charset="0"/>
                  <a:cs typeface="Helvetica Neue"/>
                </a:rPr>
                <a:t>Availability Zone</a:t>
              </a:r>
            </a:p>
          </p:txBody>
        </p:sp>
        <p:sp>
          <p:nvSpPr>
            <p:cNvPr id="2" name="TextBox 1">
              <a:extLst>
                <a:ext uri="{FF2B5EF4-FFF2-40B4-BE49-F238E27FC236}">
                  <a16:creationId xmlns:a16="http://schemas.microsoft.com/office/drawing/2014/main" id="{738F1031-98EA-EA4B-99BC-CFE5E045C071}"/>
                </a:ext>
                <a:ext uri="{C183D7F6-B498-43B3-948B-1728B52AA6E4}">
                  <adec:decorative xmlns:adec="http://schemas.microsoft.com/office/drawing/2017/decorative" val="1"/>
                </a:ext>
              </a:extLst>
            </p:cNvPr>
            <p:cNvSpPr txBox="1"/>
            <p:nvPr/>
          </p:nvSpPr>
          <p:spPr>
            <a:xfrm>
              <a:off x="6386024" y="1531951"/>
              <a:ext cx="1674261"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Physically distinct</a:t>
              </a:r>
            </a:p>
          </p:txBody>
        </p:sp>
        <p:sp>
          <p:nvSpPr>
            <p:cNvPr id="62" name="TextBox 61">
              <a:extLst>
                <a:ext uri="{FF2B5EF4-FFF2-40B4-BE49-F238E27FC236}">
                  <a16:creationId xmlns:a16="http://schemas.microsoft.com/office/drawing/2014/main" id="{808B9664-FF3A-7041-B5F5-EC74A096544D}"/>
                </a:ext>
                <a:ext uri="{C183D7F6-B498-43B3-948B-1728B52AA6E4}">
                  <adec:decorative xmlns:adec="http://schemas.microsoft.com/office/drawing/2017/decorative" val="1"/>
                </a:ext>
              </a:extLst>
            </p:cNvPr>
            <p:cNvSpPr txBox="1"/>
            <p:nvPr/>
          </p:nvSpPr>
          <p:spPr>
            <a:xfrm>
              <a:off x="6386024" y="5526544"/>
              <a:ext cx="2006604"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Uninterruptible power supply</a:t>
              </a:r>
            </a:p>
          </p:txBody>
        </p:sp>
        <p:sp>
          <p:nvSpPr>
            <p:cNvPr id="63" name="TextBox 62">
              <a:extLst>
                <a:ext uri="{FF2B5EF4-FFF2-40B4-BE49-F238E27FC236}">
                  <a16:creationId xmlns:a16="http://schemas.microsoft.com/office/drawing/2014/main" id="{6D506ACB-AAD4-134C-943D-A824C41D8D8C}"/>
                </a:ext>
                <a:ext uri="{C183D7F6-B498-43B3-948B-1728B52AA6E4}">
                  <adec:decorative xmlns:adec="http://schemas.microsoft.com/office/drawing/2017/decorative" val="1"/>
                </a:ext>
              </a:extLst>
            </p:cNvPr>
            <p:cNvSpPr txBox="1"/>
            <p:nvPr/>
          </p:nvSpPr>
          <p:spPr>
            <a:xfrm>
              <a:off x="10718891" y="1531951"/>
              <a:ext cx="1220125"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Backup generators</a:t>
              </a:r>
            </a:p>
          </p:txBody>
        </p:sp>
        <p:sp>
          <p:nvSpPr>
            <p:cNvPr id="64" name="TextBox 63">
              <a:extLst>
                <a:ext uri="{FF2B5EF4-FFF2-40B4-BE49-F238E27FC236}">
                  <a16:creationId xmlns:a16="http://schemas.microsoft.com/office/drawing/2014/main" id="{C66482AF-898C-B440-980C-282C2EC4A953}"/>
                </a:ext>
                <a:ext uri="{C183D7F6-B498-43B3-948B-1728B52AA6E4}">
                  <adec:decorative xmlns:adec="http://schemas.microsoft.com/office/drawing/2017/decorative" val="1"/>
                </a:ext>
              </a:extLst>
            </p:cNvPr>
            <p:cNvSpPr txBox="1"/>
            <p:nvPr/>
          </p:nvSpPr>
          <p:spPr>
            <a:xfrm>
              <a:off x="10743737" y="5526544"/>
              <a:ext cx="1220125"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Cooling equipment</a:t>
              </a:r>
            </a:p>
          </p:txBody>
        </p:sp>
        <p:pic>
          <p:nvPicPr>
            <p:cNvPr id="4" name="Picture 3">
              <a:extLst>
                <a:ext uri="{FF2B5EF4-FFF2-40B4-BE49-F238E27FC236}">
                  <a16:creationId xmlns:a16="http://schemas.microsoft.com/office/drawing/2014/main" id="{9A4C7010-E04F-A945-8528-16B0AB1C324F}"/>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0329683" y="3790943"/>
              <a:ext cx="1117600" cy="1358900"/>
            </a:xfrm>
            <a:prstGeom prst="rect">
              <a:avLst/>
            </a:prstGeom>
          </p:spPr>
        </p:pic>
        <p:pic>
          <p:nvPicPr>
            <p:cNvPr id="7" name="Picture 6">
              <a:extLst>
                <a:ext uri="{FF2B5EF4-FFF2-40B4-BE49-F238E27FC236}">
                  <a16:creationId xmlns:a16="http://schemas.microsoft.com/office/drawing/2014/main" id="{C796E603-9867-0543-81CE-B18CBE9C76F7}"/>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657431" y="1528951"/>
              <a:ext cx="1511300" cy="546100"/>
            </a:xfrm>
            <a:prstGeom prst="rect">
              <a:avLst/>
            </a:prstGeom>
          </p:spPr>
        </p:pic>
        <p:pic>
          <p:nvPicPr>
            <p:cNvPr id="9" name="Picture 8">
              <a:extLst>
                <a:ext uri="{FF2B5EF4-FFF2-40B4-BE49-F238E27FC236}">
                  <a16:creationId xmlns:a16="http://schemas.microsoft.com/office/drawing/2014/main" id="{DD36F52F-86A8-5549-8DD2-B1D397B6238C}"/>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7497446" y="3682834"/>
              <a:ext cx="1079500" cy="1422400"/>
            </a:xfrm>
            <a:prstGeom prst="rect">
              <a:avLst/>
            </a:prstGeom>
          </p:spPr>
        </p:pic>
        <p:sp>
          <p:nvSpPr>
            <p:cNvPr id="65" name="TextBox 64">
              <a:extLst>
                <a:ext uri="{FF2B5EF4-FFF2-40B4-BE49-F238E27FC236}">
                  <a16:creationId xmlns:a16="http://schemas.microsoft.com/office/drawing/2014/main" id="{3E45CA22-D52C-C140-90F7-299E9B07846A}"/>
                </a:ext>
                <a:ext uri="{C183D7F6-B498-43B3-948B-1728B52AA6E4}">
                  <adec:decorative xmlns:adec="http://schemas.microsoft.com/office/drawing/2017/decorative" val="1"/>
                </a:ext>
              </a:extLst>
            </p:cNvPr>
            <p:cNvSpPr txBox="1"/>
            <p:nvPr/>
          </p:nvSpPr>
          <p:spPr>
            <a:xfrm>
              <a:off x="6521731" y="4310049"/>
              <a:ext cx="1404847"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Network connectivity</a:t>
              </a:r>
            </a:p>
          </p:txBody>
        </p:sp>
      </p:grpSp>
    </p:spTree>
    <p:custDataLst>
      <p:tags r:id="rId1"/>
    </p:custDataLst>
    <p:extLst>
      <p:ext uri="{BB962C8B-B14F-4D97-AF65-F5344CB8AC3E}">
        <p14:creationId xmlns:p14="http://schemas.microsoft.com/office/powerpoint/2010/main" val="31825431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shared responsibility model</a:t>
            </a:r>
          </a:p>
        </p:txBody>
      </p:sp>
      <p:pic>
        <p:nvPicPr>
          <p:cNvPr id="6" name="Picture 5" descr="Table showing AWS and customer responsibilities outlines in the notes.">
            <a:extLst>
              <a:ext uri="{FF2B5EF4-FFF2-40B4-BE49-F238E27FC236}">
                <a16:creationId xmlns:a16="http://schemas.microsoft.com/office/drawing/2014/main" id="{D5F4E624-EA61-354F-A853-2DFDFBA31A41}"/>
              </a:ext>
            </a:extLst>
          </p:cNvPr>
          <p:cNvPicPr>
            <a:picLocks noChangeAspect="1"/>
          </p:cNvPicPr>
          <p:nvPr/>
        </p:nvPicPr>
        <p:blipFill>
          <a:blip r:embed="rId4"/>
          <a:stretch>
            <a:fillRect/>
          </a:stretch>
        </p:blipFill>
        <p:spPr>
          <a:xfrm>
            <a:off x="1835925" y="1626788"/>
            <a:ext cx="8641693" cy="4759579"/>
          </a:xfrm>
          <a:prstGeom prst="rect">
            <a:avLst/>
          </a:prstGeom>
        </p:spPr>
      </p:pic>
      <p:sp>
        <p:nvSpPr>
          <p:cNvPr id="3" name="Slide Number Placeholder 2">
            <a:extLst>
              <a:ext uri="{FF2B5EF4-FFF2-40B4-BE49-F238E27FC236}">
                <a16:creationId xmlns:a16="http://schemas.microsoft.com/office/drawing/2014/main" id="{80BEC6BD-FE49-6AFE-F78F-EF5ACD82FD3F}"/>
              </a:ext>
            </a:extLst>
          </p:cNvPr>
          <p:cNvSpPr>
            <a:spLocks noGrp="1"/>
          </p:cNvSpPr>
          <p:nvPr>
            <p:ph type="sldNum" sz="quarter" idx="20"/>
          </p:nvPr>
        </p:nvSpPr>
        <p:spPr/>
        <p:txBody>
          <a:bodyPr/>
          <a:lstStyle/>
          <a:p>
            <a:fld id="{930176A1-BCF0-4712-97A6-6B495F55390B}" type="slidenum">
              <a:rPr lang="en-US" smtClean="0"/>
              <a:pPr/>
              <a:t>40</a:t>
            </a:fld>
            <a:endParaRPr lang="en-US"/>
          </a:p>
        </p:txBody>
      </p:sp>
    </p:spTree>
    <p:custDataLst>
      <p:tags r:id="rId1"/>
    </p:custDataLst>
    <p:extLst>
      <p:ext uri="{BB962C8B-B14F-4D97-AF65-F5344CB8AC3E}">
        <p14:creationId xmlns:p14="http://schemas.microsoft.com/office/powerpoint/2010/main" val="34888094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BFEC340-B24E-7F46-896A-C6AABAAC16C3}"/>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41</a:t>
            </a:fld>
            <a:endParaRPr lang="en-US"/>
          </a:p>
        </p:txBody>
      </p:sp>
      <p:sp>
        <p:nvSpPr>
          <p:cNvPr id="2" name="Title 1"/>
          <p:cNvSpPr>
            <a:spLocks noGrp="1"/>
          </p:cNvSpPr>
          <p:nvPr>
            <p:ph type="title"/>
          </p:nvPr>
        </p:nvSpPr>
        <p:spPr/>
        <p:txBody>
          <a:bodyPr>
            <a:noAutofit/>
          </a:bodyPr>
          <a:lstStyle/>
          <a:p>
            <a:r>
              <a:rPr lang="en-US">
                <a:latin typeface="+mj-lt"/>
              </a:rPr>
              <a:t>AWS responsibility: Security </a:t>
            </a:r>
            <a:r>
              <a:rPr lang="en-US" i="1">
                <a:latin typeface="+mj-lt"/>
                <a:ea typeface="Amazon Ember Medium" panose="020B0603020204030204" pitchFamily="34" charset="0"/>
                <a:cs typeface="Amazon Ember Medium" panose="020B0603020204030204" pitchFamily="34" charset="0"/>
              </a:rPr>
              <a:t>of</a:t>
            </a:r>
            <a:r>
              <a:rPr lang="en-US">
                <a:latin typeface="+mj-lt"/>
              </a:rPr>
              <a:t> the cloud</a:t>
            </a:r>
          </a:p>
        </p:txBody>
      </p:sp>
      <p:sp>
        <p:nvSpPr>
          <p:cNvPr id="5" name="Content Placeholder 4">
            <a:extLst>
              <a:ext uri="{FF2B5EF4-FFF2-40B4-BE49-F238E27FC236}">
                <a16:creationId xmlns:a16="http://schemas.microsoft.com/office/drawing/2014/main" id="{40751EE0-0829-BA4D-840A-AB4C542CD4C6}"/>
              </a:ext>
            </a:extLst>
          </p:cNvPr>
          <p:cNvSpPr>
            <a:spLocks noGrp="1"/>
          </p:cNvSpPr>
          <p:nvPr>
            <p:ph sz="quarter" idx="21"/>
          </p:nvPr>
        </p:nvSpPr>
        <p:spPr>
          <a:xfrm>
            <a:off x="6184705" y="2042076"/>
            <a:ext cx="5504688" cy="4645152"/>
          </a:xfrm>
        </p:spPr>
        <p:txBody>
          <a:bodyPr>
            <a:normAutofit/>
          </a:bodyPr>
          <a:lstStyle/>
          <a:p>
            <a:r>
              <a:rPr lang="en-GB" sz="2000" dirty="0"/>
              <a:t>AWS responsibilities:</a:t>
            </a:r>
          </a:p>
          <a:p>
            <a:pPr marL="342900" indent="-342900">
              <a:buFont typeface="Arial" panose="020B0604020202020204" pitchFamily="34" charset="0"/>
              <a:buChar char="•"/>
            </a:pPr>
            <a:r>
              <a:rPr lang="en-GB" sz="2000" dirty="0"/>
              <a:t>Physical security of data </a:t>
            </a:r>
            <a:r>
              <a:rPr lang="en-GB" sz="2000" dirty="0" err="1"/>
              <a:t>centers</a:t>
            </a:r>
            <a:endParaRPr lang="en-GB" sz="2000" dirty="0"/>
          </a:p>
          <a:p>
            <a:pPr marL="342900" indent="-342900">
              <a:buFont typeface="Arial" panose="020B0604020202020204" pitchFamily="34" charset="0"/>
              <a:buChar char="•"/>
            </a:pPr>
            <a:r>
              <a:rPr lang="en-GB" sz="2000" dirty="0"/>
              <a:t>Controlled, on-demand access</a:t>
            </a:r>
          </a:p>
          <a:p>
            <a:pPr marL="342900" indent="-342900">
              <a:buFont typeface="Arial" panose="020B0604020202020204" pitchFamily="34" charset="0"/>
              <a:buChar char="•"/>
            </a:pPr>
            <a:r>
              <a:rPr lang="en-GB" sz="2000" dirty="0"/>
              <a:t>Hardware and software infrastructure</a:t>
            </a:r>
          </a:p>
          <a:p>
            <a:pPr marL="342900" indent="-342900">
              <a:buFont typeface="Arial" panose="020B0604020202020204" pitchFamily="34" charset="0"/>
              <a:buChar char="•"/>
            </a:pPr>
            <a:r>
              <a:rPr lang="en-GB" sz="2000" dirty="0"/>
              <a:t>Decommissioning of storage, logging access to the host operating system (OS), and monitoring</a:t>
            </a:r>
          </a:p>
          <a:p>
            <a:pPr marL="342900" indent="-342900">
              <a:buFont typeface="Arial" panose="020B0604020202020204" pitchFamily="34" charset="0"/>
              <a:buChar char="•"/>
            </a:pPr>
            <a:r>
              <a:rPr lang="en-GB" sz="2000" dirty="0"/>
              <a:t>Network infrastructure</a:t>
            </a:r>
          </a:p>
          <a:p>
            <a:pPr marL="342900" indent="-342900">
              <a:buFont typeface="Arial" panose="020B0604020202020204" pitchFamily="34" charset="0"/>
              <a:buChar char="•"/>
            </a:pPr>
            <a:r>
              <a:rPr lang="en-GB" sz="2000" dirty="0"/>
              <a:t>Intrusion detection</a:t>
            </a:r>
          </a:p>
          <a:p>
            <a:pPr marL="342900" indent="-342900">
              <a:buFont typeface="Arial" panose="020B0604020202020204" pitchFamily="34" charset="0"/>
              <a:buChar char="•"/>
            </a:pPr>
            <a:r>
              <a:rPr lang="en-GB" sz="2000" dirty="0"/>
              <a:t>Virtualization infrastructure</a:t>
            </a:r>
          </a:p>
          <a:p>
            <a:pPr marL="342900" indent="-342900">
              <a:buFont typeface="Arial" panose="020B0604020202020204" pitchFamily="34" charset="0"/>
              <a:buChar char="•"/>
            </a:pPr>
            <a:r>
              <a:rPr lang="en-GB" sz="2000" dirty="0"/>
              <a:t>Instance isolation</a:t>
            </a:r>
          </a:p>
        </p:txBody>
      </p:sp>
      <p:grpSp>
        <p:nvGrpSpPr>
          <p:cNvPr id="6" name="Group 5" descr="AWS Services showing four icons labeled as follows: compute, storage, database, and networking.">
            <a:extLst>
              <a:ext uri="{FF2B5EF4-FFF2-40B4-BE49-F238E27FC236}">
                <a16:creationId xmlns:a16="http://schemas.microsoft.com/office/drawing/2014/main" id="{DFFE68B3-B6EB-4267-639F-85C108F3B6F7}"/>
              </a:ext>
            </a:extLst>
          </p:cNvPr>
          <p:cNvGrpSpPr/>
          <p:nvPr/>
        </p:nvGrpSpPr>
        <p:grpSpPr>
          <a:xfrm>
            <a:off x="447351" y="2172635"/>
            <a:ext cx="5323665" cy="1375517"/>
            <a:chOff x="441000" y="2172634"/>
            <a:chExt cx="5323665" cy="1375517"/>
          </a:xfrm>
        </p:grpSpPr>
        <p:sp>
          <p:nvSpPr>
            <p:cNvPr id="18" name="Rectangle 17">
              <a:extLst>
                <a:ext uri="{FF2B5EF4-FFF2-40B4-BE49-F238E27FC236}">
                  <a16:creationId xmlns:a16="http://schemas.microsoft.com/office/drawing/2014/main" id="{1204C99E-1809-DC4F-AA5D-4B07C5CB4A64}"/>
                </a:ext>
              </a:extLst>
            </p:cNvPr>
            <p:cNvSpPr/>
            <p:nvPr/>
          </p:nvSpPr>
          <p:spPr>
            <a:xfrm>
              <a:off x="441000" y="2172634"/>
              <a:ext cx="5323665" cy="1362465"/>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r>
                <a:rPr lang="en-US" b="1">
                  <a:solidFill>
                    <a:schemeClr val="tx1"/>
                  </a:solidFill>
                </a:rPr>
                <a:t>AWS services</a:t>
              </a:r>
            </a:p>
          </p:txBody>
        </p:sp>
        <p:pic>
          <p:nvPicPr>
            <p:cNvPr id="10" name="Graphic 9">
              <a:extLst>
                <a:ext uri="{FF2B5EF4-FFF2-40B4-BE49-F238E27FC236}">
                  <a16:creationId xmlns:a16="http://schemas.microsoft.com/office/drawing/2014/main" id="{0A401706-D3C2-4240-8BCC-E191126A684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6992" y="2582294"/>
              <a:ext cx="659595" cy="659595"/>
            </a:xfrm>
            <a:prstGeom prst="rect">
              <a:avLst/>
            </a:prstGeom>
          </p:spPr>
        </p:pic>
        <p:sp>
          <p:nvSpPr>
            <p:cNvPr id="3" name="TextBox 2">
              <a:extLst>
                <a:ext uri="{FF2B5EF4-FFF2-40B4-BE49-F238E27FC236}">
                  <a16:creationId xmlns:a16="http://schemas.microsoft.com/office/drawing/2014/main" id="{1B20CD48-D3E3-8649-99CD-E7BBAC1D5D35}"/>
                </a:ext>
              </a:extLst>
            </p:cNvPr>
            <p:cNvSpPr txBox="1"/>
            <p:nvPr/>
          </p:nvSpPr>
          <p:spPr>
            <a:xfrm>
              <a:off x="570613" y="3196545"/>
              <a:ext cx="1016625" cy="338554"/>
            </a:xfrm>
            <a:prstGeom prst="rect">
              <a:avLst/>
            </a:prstGeom>
            <a:noFill/>
          </p:spPr>
          <p:txBody>
            <a:bodyPr wrap="none" rtlCol="0">
              <a:spAutoFit/>
            </a:bodyPr>
            <a:lstStyle/>
            <a:p>
              <a:r>
                <a:rPr lang="en-US" sz="1600">
                  <a:latin typeface="Arial" panose="020B0604020202020204" pitchFamily="34" charset="0"/>
                  <a:ea typeface="Amazon Ember Light" panose="020B0403020204020204" pitchFamily="34" charset="0"/>
                  <a:cs typeface="Arial" panose="020B0604020202020204" pitchFamily="34" charset="0"/>
                </a:rPr>
                <a:t>Compute</a:t>
              </a:r>
            </a:p>
          </p:txBody>
        </p:sp>
        <p:sp>
          <p:nvSpPr>
            <p:cNvPr id="12" name="TextBox 11">
              <a:extLst>
                <a:ext uri="{FF2B5EF4-FFF2-40B4-BE49-F238E27FC236}">
                  <a16:creationId xmlns:a16="http://schemas.microsoft.com/office/drawing/2014/main" id="{A3335D24-F115-9B4E-963F-7E5DE065A869}"/>
                </a:ext>
              </a:extLst>
            </p:cNvPr>
            <p:cNvSpPr txBox="1"/>
            <p:nvPr/>
          </p:nvSpPr>
          <p:spPr>
            <a:xfrm>
              <a:off x="1883201" y="3195910"/>
              <a:ext cx="902811" cy="338554"/>
            </a:xfrm>
            <a:prstGeom prst="rect">
              <a:avLst/>
            </a:prstGeom>
            <a:noFill/>
          </p:spPr>
          <p:txBody>
            <a:bodyPr wrap="none" rtlCol="0">
              <a:spAutoFit/>
            </a:bodyPr>
            <a:lstStyle/>
            <a:p>
              <a:r>
                <a:rPr lang="en-US" sz="1600">
                  <a:latin typeface="Arial" panose="020B0604020202020204" pitchFamily="34" charset="0"/>
                  <a:ea typeface="Amazon Ember Light" panose="020B0403020204020204" pitchFamily="34" charset="0"/>
                  <a:cs typeface="Arial" panose="020B0604020202020204" pitchFamily="34" charset="0"/>
                </a:rPr>
                <a:t>Storage</a:t>
              </a:r>
            </a:p>
          </p:txBody>
        </p:sp>
        <p:sp>
          <p:nvSpPr>
            <p:cNvPr id="13" name="TextBox 12">
              <a:extLst>
                <a:ext uri="{FF2B5EF4-FFF2-40B4-BE49-F238E27FC236}">
                  <a16:creationId xmlns:a16="http://schemas.microsoft.com/office/drawing/2014/main" id="{66C48087-CD60-0E4A-BC00-261EE7B3DBD8}"/>
                </a:ext>
              </a:extLst>
            </p:cNvPr>
            <p:cNvSpPr txBox="1"/>
            <p:nvPr/>
          </p:nvSpPr>
          <p:spPr>
            <a:xfrm>
              <a:off x="3092260" y="3209597"/>
              <a:ext cx="1061509" cy="338554"/>
            </a:xfrm>
            <a:prstGeom prst="rect">
              <a:avLst/>
            </a:prstGeom>
            <a:noFill/>
          </p:spPr>
          <p:txBody>
            <a:bodyPr wrap="none" rtlCol="0">
              <a:spAutoFit/>
            </a:bodyPr>
            <a:lstStyle/>
            <a:p>
              <a:r>
                <a:rPr lang="en-US" sz="1600">
                  <a:latin typeface="Arial" panose="020B0604020202020204" pitchFamily="34" charset="0"/>
                  <a:ea typeface="Amazon Ember Light" panose="020B0403020204020204" pitchFamily="34" charset="0"/>
                  <a:cs typeface="Arial" panose="020B0604020202020204" pitchFamily="34" charset="0"/>
                </a:rPr>
                <a:t>Database</a:t>
              </a:r>
            </a:p>
          </p:txBody>
        </p:sp>
        <p:sp>
          <p:nvSpPr>
            <p:cNvPr id="14" name="TextBox 13">
              <a:extLst>
                <a:ext uri="{FF2B5EF4-FFF2-40B4-BE49-F238E27FC236}">
                  <a16:creationId xmlns:a16="http://schemas.microsoft.com/office/drawing/2014/main" id="{EFDF146A-9CD5-AB48-BD87-2DC140812655}"/>
                </a:ext>
              </a:extLst>
            </p:cNvPr>
            <p:cNvSpPr txBox="1"/>
            <p:nvPr/>
          </p:nvSpPr>
          <p:spPr>
            <a:xfrm>
              <a:off x="4289432" y="3209597"/>
              <a:ext cx="1208985" cy="338554"/>
            </a:xfrm>
            <a:prstGeom prst="rect">
              <a:avLst/>
            </a:prstGeom>
            <a:noFill/>
          </p:spPr>
          <p:txBody>
            <a:bodyPr wrap="none" rtlCol="0">
              <a:spAutoFit/>
            </a:bodyPr>
            <a:lstStyle/>
            <a:p>
              <a:r>
                <a:rPr lang="en-US" sz="1600">
                  <a:latin typeface="Arial" panose="020B0604020202020204" pitchFamily="34" charset="0"/>
                  <a:ea typeface="Amazon Ember Light" panose="020B0403020204020204" pitchFamily="34" charset="0"/>
                  <a:cs typeface="Arial" panose="020B0604020202020204" pitchFamily="34" charset="0"/>
                </a:rPr>
                <a:t>Networking</a:t>
              </a:r>
            </a:p>
          </p:txBody>
        </p:sp>
        <p:pic>
          <p:nvPicPr>
            <p:cNvPr id="15" name="Graphic 14">
              <a:extLst>
                <a:ext uri="{FF2B5EF4-FFF2-40B4-BE49-F238E27FC236}">
                  <a16:creationId xmlns:a16="http://schemas.microsoft.com/office/drawing/2014/main" id="{9500C1C1-62F5-0145-B5BD-61AEE95E6B3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06967" y="2582294"/>
              <a:ext cx="659595" cy="659595"/>
            </a:xfrm>
            <a:prstGeom prst="rect">
              <a:avLst/>
            </a:prstGeom>
          </p:spPr>
        </p:pic>
        <p:pic>
          <p:nvPicPr>
            <p:cNvPr id="16" name="Graphic 15">
              <a:extLst>
                <a:ext uri="{FF2B5EF4-FFF2-40B4-BE49-F238E27FC236}">
                  <a16:creationId xmlns:a16="http://schemas.microsoft.com/office/drawing/2014/main" id="{A06448C9-6A1E-E74F-A9AF-2B21ED1B525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021979" y="2582294"/>
              <a:ext cx="659596" cy="659596"/>
            </a:xfrm>
            <a:prstGeom prst="rect">
              <a:avLst/>
            </a:prstGeom>
          </p:spPr>
        </p:pic>
        <p:pic>
          <p:nvPicPr>
            <p:cNvPr id="17" name="Graphic 16">
              <a:extLst>
                <a:ext uri="{FF2B5EF4-FFF2-40B4-BE49-F238E27FC236}">
                  <a16:creationId xmlns:a16="http://schemas.microsoft.com/office/drawing/2014/main" id="{4C83EBCD-3B3F-CC4D-931C-23846B80B14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591955" y="2582294"/>
              <a:ext cx="659595" cy="659595"/>
            </a:xfrm>
            <a:prstGeom prst="rect">
              <a:avLst/>
            </a:prstGeom>
          </p:spPr>
        </p:pic>
      </p:grpSp>
      <p:grpSp>
        <p:nvGrpSpPr>
          <p:cNvPr id="8" name="Group 7" descr="Box labeled AWS Global Infrastructure containing an icon labeled &quot;Edge locations&quot; and another labeled &quot;Regions&quot; that contains an item labeled &quot;Availability Zones.&quot;">
            <a:extLst>
              <a:ext uri="{FF2B5EF4-FFF2-40B4-BE49-F238E27FC236}">
                <a16:creationId xmlns:a16="http://schemas.microsoft.com/office/drawing/2014/main" id="{3AF02045-8D0B-78BB-EDE2-E288212C27EB}"/>
              </a:ext>
            </a:extLst>
          </p:cNvPr>
          <p:cNvGrpSpPr/>
          <p:nvPr/>
        </p:nvGrpSpPr>
        <p:grpSpPr>
          <a:xfrm>
            <a:off x="447351" y="3660495"/>
            <a:ext cx="5323665" cy="1362464"/>
            <a:chOff x="441000" y="3660495"/>
            <a:chExt cx="5323665" cy="1362464"/>
          </a:xfrm>
        </p:grpSpPr>
        <p:sp>
          <p:nvSpPr>
            <p:cNvPr id="19" name="Rectangle 18">
              <a:extLst>
                <a:ext uri="{FF2B5EF4-FFF2-40B4-BE49-F238E27FC236}">
                  <a16:creationId xmlns:a16="http://schemas.microsoft.com/office/drawing/2014/main" id="{C859B9F7-4319-CB42-A6B4-B6C986D043D6}"/>
                </a:ext>
              </a:extLst>
            </p:cNvPr>
            <p:cNvSpPr/>
            <p:nvPr/>
          </p:nvSpPr>
          <p:spPr>
            <a:xfrm>
              <a:off x="441000" y="3660495"/>
              <a:ext cx="5323665" cy="1362464"/>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r>
                <a:rPr lang="en-US">
                  <a:solidFill>
                    <a:schemeClr val="tx1"/>
                  </a:solidFill>
                  <a:latin typeface="Amazon Ember" panose="02000000000000000000" pitchFamily="2" charset="0"/>
                  <a:ea typeface="Amazon Ember" panose="02000000000000000000" pitchFamily="2" charset="0"/>
                </a:rPr>
                <a:t>AWS Global </a:t>
              </a:r>
              <a:br>
                <a:rPr lang="en-US">
                  <a:solidFill>
                    <a:schemeClr val="tx1"/>
                  </a:solidFill>
                  <a:latin typeface="Amazon Ember" panose="02000000000000000000" pitchFamily="2" charset="0"/>
                  <a:ea typeface="Amazon Ember" panose="02000000000000000000" pitchFamily="2" charset="0"/>
                </a:rPr>
              </a:br>
              <a:r>
                <a:rPr lang="en-US">
                  <a:solidFill>
                    <a:schemeClr val="tx1"/>
                  </a:solidFill>
                  <a:latin typeface="Amazon Ember" panose="02000000000000000000" pitchFamily="2" charset="0"/>
                  <a:ea typeface="Amazon Ember" panose="02000000000000000000" pitchFamily="2" charset="0"/>
                </a:rPr>
                <a:t>Infrastructure</a:t>
              </a:r>
            </a:p>
          </p:txBody>
        </p:sp>
        <p:sp>
          <p:nvSpPr>
            <p:cNvPr id="20" name="Rectangle 19">
              <a:extLst>
                <a:ext uri="{FF2B5EF4-FFF2-40B4-BE49-F238E27FC236}">
                  <a16:creationId xmlns:a16="http://schemas.microsoft.com/office/drawing/2014/main" id="{B56B23F6-830F-BE4B-BF7A-870E0F8EC5D8}"/>
                </a:ext>
              </a:extLst>
            </p:cNvPr>
            <p:cNvSpPr/>
            <p:nvPr/>
          </p:nvSpPr>
          <p:spPr>
            <a:xfrm>
              <a:off x="2010012" y="3773587"/>
              <a:ext cx="2013886" cy="1024566"/>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chemeClr val="tx1"/>
                  </a:solidFill>
                  <a:latin typeface="Amazon Ember" panose="02000000000000000000" pitchFamily="2" charset="0"/>
                  <a:ea typeface="Amazon Ember" panose="02000000000000000000" pitchFamily="2" charset="0"/>
                </a:rPr>
                <a:t>Regions</a:t>
              </a:r>
              <a:endParaRPr lang="en-US" sz="1200">
                <a:solidFill>
                  <a:schemeClr val="tx1"/>
                </a:solidFill>
                <a:latin typeface="Amazon Ember" panose="02000000000000000000" pitchFamily="2" charset="0"/>
                <a:ea typeface="Amazon Ember" panose="02000000000000000000" pitchFamily="2" charset="0"/>
              </a:endParaRPr>
            </a:p>
          </p:txBody>
        </p:sp>
        <p:pic>
          <p:nvPicPr>
            <p:cNvPr id="21" name="Graphic 20">
              <a:extLst>
                <a:ext uri="{FF2B5EF4-FFF2-40B4-BE49-F238E27FC236}">
                  <a16:creationId xmlns:a16="http://schemas.microsoft.com/office/drawing/2014/main" id="{D8269494-C325-A941-BC53-08B5862DBB8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010012" y="3773587"/>
              <a:ext cx="330200" cy="330200"/>
            </a:xfrm>
            <a:prstGeom prst="rect">
              <a:avLst/>
            </a:prstGeom>
          </p:spPr>
        </p:pic>
        <p:sp>
          <p:nvSpPr>
            <p:cNvPr id="22" name="Rectangle 21">
              <a:extLst>
                <a:ext uri="{FF2B5EF4-FFF2-40B4-BE49-F238E27FC236}">
                  <a16:creationId xmlns:a16="http://schemas.microsoft.com/office/drawing/2014/main" id="{E9CA7CAF-24D0-9748-8D87-F79A061B2AC9}"/>
                </a:ext>
              </a:extLst>
            </p:cNvPr>
            <p:cNvSpPr/>
            <p:nvPr/>
          </p:nvSpPr>
          <p:spPr>
            <a:xfrm>
              <a:off x="2072779" y="4224459"/>
              <a:ext cx="1877626" cy="466604"/>
            </a:xfrm>
            <a:prstGeom prst="rect">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a:solidFill>
                    <a:schemeClr val="tx1"/>
                  </a:solidFill>
                  <a:latin typeface="Amazon Ember" panose="02000000000000000000" pitchFamily="2" charset="0"/>
                  <a:ea typeface="Amazon Ember" panose="02000000000000000000" pitchFamily="2" charset="0"/>
                </a:rPr>
                <a:t>Availability Zones</a:t>
              </a:r>
            </a:p>
          </p:txBody>
        </p:sp>
        <p:sp>
          <p:nvSpPr>
            <p:cNvPr id="24" name="TextBox 23" descr="box labeled AWS Global Infrastructure. Shows  a Regions box containing Availability Zones and an icon labeled Edge locations.">
              <a:extLst>
                <a:ext uri="{FF2B5EF4-FFF2-40B4-BE49-F238E27FC236}">
                  <a16:creationId xmlns:a16="http://schemas.microsoft.com/office/drawing/2014/main" id="{35FE19B9-7FDC-C64D-99F4-6D3C264F05D4}"/>
                </a:ext>
              </a:extLst>
            </p:cNvPr>
            <p:cNvSpPr txBox="1"/>
            <p:nvPr/>
          </p:nvSpPr>
          <p:spPr>
            <a:xfrm>
              <a:off x="4109806" y="4386028"/>
              <a:ext cx="1654859" cy="338554"/>
            </a:xfrm>
            <a:prstGeom prst="rect">
              <a:avLst/>
            </a:prstGeom>
            <a:noFill/>
          </p:spPr>
          <p:txBody>
            <a:bodyPr wrap="square" rtlCol="0">
              <a:spAutoFit/>
            </a:bodyPr>
            <a:lstStyle/>
            <a:p>
              <a:pPr algn="ctr"/>
              <a:r>
                <a:rPr lang="en-US" sz="1600">
                  <a:latin typeface="Amazon Ember" panose="02000000000000000000" pitchFamily="2" charset="0"/>
                  <a:ea typeface="Amazon Ember" panose="02000000000000000000" pitchFamily="2" charset="0"/>
                  <a:cs typeface="Arial" panose="020B0604020202020204" pitchFamily="34" charset="0"/>
                </a:rPr>
                <a:t>Edge locations</a:t>
              </a:r>
            </a:p>
          </p:txBody>
        </p:sp>
        <p:pic>
          <p:nvPicPr>
            <p:cNvPr id="25" name="Graphic 24">
              <a:extLst>
                <a:ext uri="{FF2B5EF4-FFF2-40B4-BE49-F238E27FC236}">
                  <a16:creationId xmlns:a16="http://schemas.microsoft.com/office/drawing/2014/main" id="{78A233E0-26B9-DF4D-9339-6BD1AC512A4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659331" y="3894752"/>
              <a:ext cx="469900" cy="469900"/>
            </a:xfrm>
            <a:prstGeom prst="rect">
              <a:avLst/>
            </a:prstGeom>
          </p:spPr>
        </p:pic>
      </p:grpSp>
      <p:pic>
        <p:nvPicPr>
          <p:cNvPr id="11" name="Picture 10">
            <a:extLst>
              <a:ext uri="{FF2B5EF4-FFF2-40B4-BE49-F238E27FC236}">
                <a16:creationId xmlns:a16="http://schemas.microsoft.com/office/drawing/2014/main" id="{B7C3252A-593F-224A-8569-BF6868508692}"/>
              </a:ex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10586810" y="1524228"/>
            <a:ext cx="1192441" cy="1199988"/>
          </a:xfrm>
          <a:prstGeom prst="rect">
            <a:avLst/>
          </a:prstGeom>
        </p:spPr>
      </p:pic>
      <p:pic>
        <p:nvPicPr>
          <p:cNvPr id="26" name="Picture 25">
            <a:extLst>
              <a:ext uri="{FF2B5EF4-FFF2-40B4-BE49-F238E27FC236}">
                <a16:creationId xmlns:a16="http://schemas.microsoft.com/office/drawing/2014/main" id="{E9D390CA-BA69-2C45-AE15-2219534BD377}"/>
              </a:ex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9985063" y="5217080"/>
            <a:ext cx="1704331" cy="1204973"/>
          </a:xfrm>
          <a:prstGeom prst="rect">
            <a:avLst/>
          </a:prstGeom>
        </p:spPr>
      </p:pic>
    </p:spTree>
    <p:custDataLst>
      <p:tags r:id="rId1"/>
    </p:custDataLst>
    <p:extLst>
      <p:ext uri="{BB962C8B-B14F-4D97-AF65-F5344CB8AC3E}">
        <p14:creationId xmlns:p14="http://schemas.microsoft.com/office/powerpoint/2010/main" val="19000068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02AD194-FDCE-DE40-ACDC-34462D47F30C}"/>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42</a:t>
            </a:fld>
            <a:endParaRPr lang="en-US"/>
          </a:p>
        </p:txBody>
      </p:sp>
      <p:sp>
        <p:nvSpPr>
          <p:cNvPr id="2" name="Title 1"/>
          <p:cNvSpPr>
            <a:spLocks noGrp="1"/>
          </p:cNvSpPr>
          <p:nvPr>
            <p:ph type="title"/>
          </p:nvPr>
        </p:nvSpPr>
        <p:spPr/>
        <p:txBody>
          <a:bodyPr>
            <a:noAutofit/>
          </a:bodyPr>
          <a:lstStyle/>
          <a:p>
            <a:r>
              <a:rPr lang="en-US">
                <a:latin typeface="+mj-lt"/>
              </a:rPr>
              <a:t>Customer responsibility: Security </a:t>
            </a:r>
            <a:r>
              <a:rPr lang="en-US" i="1">
                <a:latin typeface="+mj-lt"/>
                <a:ea typeface="Amazon Ember" panose="020B0603020204020204" pitchFamily="34" charset="0"/>
                <a:cs typeface="Amazon Ember" panose="020B0603020204020204" pitchFamily="34" charset="0"/>
              </a:rPr>
              <a:t>in</a:t>
            </a:r>
            <a:r>
              <a:rPr lang="en-US" b="1">
                <a:solidFill>
                  <a:schemeClr val="accent5">
                    <a:lumMod val="50000"/>
                  </a:schemeClr>
                </a:solidFill>
                <a:latin typeface="+mj-lt"/>
              </a:rPr>
              <a:t> </a:t>
            </a:r>
            <a:r>
              <a:rPr lang="en-US">
                <a:latin typeface="+mj-lt"/>
              </a:rPr>
              <a:t>the cloud</a:t>
            </a:r>
          </a:p>
        </p:txBody>
      </p:sp>
      <p:sp>
        <p:nvSpPr>
          <p:cNvPr id="4" name="Content Placeholder 3">
            <a:extLst>
              <a:ext uri="{FF2B5EF4-FFF2-40B4-BE49-F238E27FC236}">
                <a16:creationId xmlns:a16="http://schemas.microsoft.com/office/drawing/2014/main" id="{C8DC1965-B68E-EA4E-9BED-CDBA4C6064DA}"/>
              </a:ext>
            </a:extLst>
          </p:cNvPr>
          <p:cNvSpPr>
            <a:spLocks noGrp="1"/>
          </p:cNvSpPr>
          <p:nvPr>
            <p:ph sz="quarter" idx="21"/>
          </p:nvPr>
        </p:nvSpPr>
        <p:spPr>
          <a:xfrm>
            <a:off x="6219031" y="1753983"/>
            <a:ext cx="5504688" cy="4645152"/>
          </a:xfrm>
        </p:spPr>
        <p:txBody>
          <a:bodyPr>
            <a:normAutofit/>
          </a:bodyPr>
          <a:lstStyle/>
          <a:p>
            <a:r>
              <a:rPr lang="en-GB" sz="2000" dirty="0"/>
              <a:t>Customer responsibilities:</a:t>
            </a:r>
          </a:p>
          <a:p>
            <a:pPr marL="342900" indent="-342900">
              <a:buFont typeface="Arial" panose="020B0604020202020204" pitchFamily="34" charset="0"/>
              <a:buChar char="•"/>
            </a:pPr>
            <a:r>
              <a:rPr lang="en-GB" sz="2000" dirty="0"/>
              <a:t>Amazon Elastic Compute Cloud (Amazon EC2) instance operating system</a:t>
            </a:r>
          </a:p>
          <a:p>
            <a:pPr marL="342900" indent="-342900">
              <a:buFont typeface="Arial" panose="020B0604020202020204" pitchFamily="34" charset="0"/>
              <a:buChar char="•"/>
            </a:pPr>
            <a:r>
              <a:rPr lang="en-GB" sz="2000" dirty="0"/>
              <a:t>Including patching and maintenance</a:t>
            </a:r>
          </a:p>
          <a:p>
            <a:pPr marL="342900" indent="-342900">
              <a:buFont typeface="Arial" panose="020B0604020202020204" pitchFamily="34" charset="0"/>
              <a:buChar char="•"/>
            </a:pPr>
            <a:r>
              <a:rPr lang="en-GB" sz="2000" dirty="0"/>
              <a:t>Applications</a:t>
            </a:r>
          </a:p>
          <a:p>
            <a:pPr marL="342900" indent="-342900">
              <a:buFont typeface="Arial" panose="020B0604020202020204" pitchFamily="34" charset="0"/>
              <a:buChar char="•"/>
            </a:pPr>
            <a:r>
              <a:rPr lang="en-GB" sz="2000" dirty="0"/>
              <a:t>Passwords, role-based access, etc.</a:t>
            </a:r>
          </a:p>
          <a:p>
            <a:pPr marL="342900" indent="-342900">
              <a:buFont typeface="Arial" panose="020B0604020202020204" pitchFamily="34" charset="0"/>
              <a:buChar char="•"/>
            </a:pPr>
            <a:r>
              <a:rPr lang="en-GB" sz="2000" dirty="0"/>
              <a:t>Security group configuration</a:t>
            </a:r>
          </a:p>
          <a:p>
            <a:pPr marL="342900" indent="-342900">
              <a:buFont typeface="Arial" panose="020B0604020202020204" pitchFamily="34" charset="0"/>
              <a:buChar char="•"/>
            </a:pPr>
            <a:r>
              <a:rPr lang="en-GB" sz="2000" dirty="0"/>
              <a:t>Operating system– or host-based firewalls</a:t>
            </a:r>
          </a:p>
          <a:p>
            <a:pPr marL="800100" lvl="1" indent="-342900">
              <a:buFont typeface="Arial" panose="020B0604020202020204" pitchFamily="34" charset="0"/>
              <a:buChar char="•"/>
            </a:pPr>
            <a:r>
              <a:rPr lang="en-GB" sz="2000" dirty="0"/>
              <a:t>Including intrusion detection or prevention systems</a:t>
            </a:r>
          </a:p>
          <a:p>
            <a:pPr marL="342900" indent="-342900">
              <a:buFont typeface="Arial" panose="020B0604020202020204" pitchFamily="34" charset="0"/>
              <a:buChar char="•"/>
            </a:pPr>
            <a:r>
              <a:rPr lang="en-GB" sz="2000" dirty="0"/>
              <a:t>Network configurations</a:t>
            </a:r>
          </a:p>
          <a:p>
            <a:pPr marL="342900" indent="-342900">
              <a:buFont typeface="Arial" panose="020B0604020202020204" pitchFamily="34" charset="0"/>
              <a:buChar char="•"/>
            </a:pPr>
            <a:r>
              <a:rPr lang="en-GB" sz="2000" dirty="0"/>
              <a:t>Account management</a:t>
            </a:r>
          </a:p>
          <a:p>
            <a:pPr marL="342900" indent="-342900">
              <a:buFont typeface="Arial" panose="020B0604020202020204" pitchFamily="34" charset="0"/>
              <a:buChar char="•"/>
            </a:pPr>
            <a:r>
              <a:rPr lang="en-GB" sz="2000" dirty="0"/>
              <a:t>Login and permission settings for each user</a:t>
            </a:r>
          </a:p>
        </p:txBody>
      </p:sp>
      <p:sp>
        <p:nvSpPr>
          <p:cNvPr id="20" name="TextBox 19"/>
          <p:cNvSpPr txBox="1"/>
          <p:nvPr/>
        </p:nvSpPr>
        <p:spPr>
          <a:xfrm>
            <a:off x="1217774" y="5456345"/>
            <a:ext cx="3816415" cy="345451"/>
          </a:xfrm>
          <a:prstGeom prst="rect">
            <a:avLst/>
          </a:prstGeom>
          <a:noFill/>
        </p:spPr>
        <p:txBody>
          <a:bodyPr wrap="square" lIns="67744" tIns="33895" rIns="67744" bIns="33895" rtlCol="0">
            <a:spAutoFit/>
          </a:bodyPr>
          <a:lstStyle/>
          <a:p>
            <a:pPr algn="ctr" defTabSz="457200"/>
            <a:r>
              <a:rPr lang="en-US" kern="0">
                <a:solidFill>
                  <a:srgbClr val="504BAB"/>
                </a:solidFill>
                <a:latin typeface="Amazon Ember" panose="020B0603020204020204" pitchFamily="34" charset="0"/>
                <a:ea typeface="Amazon Ember" panose="020B0603020204020204" pitchFamily="34" charset="0"/>
                <a:cs typeface="Amazon Ember" panose="020B0603020204020204" pitchFamily="34" charset="0"/>
              </a:rPr>
              <a:t>Customer-configurable</a:t>
            </a:r>
          </a:p>
        </p:txBody>
      </p:sp>
      <p:sp>
        <p:nvSpPr>
          <p:cNvPr id="26" name="Rectangle 5" descr="Customer data."/>
          <p:cNvSpPr/>
          <p:nvPr/>
        </p:nvSpPr>
        <p:spPr bwMode="auto">
          <a:xfrm>
            <a:off x="431364" y="2210463"/>
            <a:ext cx="5389234" cy="562791"/>
          </a:xfrm>
          <a:prstGeom prst="roundRect">
            <a:avLst/>
          </a:prstGeom>
          <a:solidFill>
            <a:srgbClr val="D6F4F0"/>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lIns="90325" tIns="45193" rIns="90325" bIns="45193"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51926" fontAlgn="base">
              <a:spcBef>
                <a:spcPct val="0"/>
              </a:spcBef>
              <a:spcAft>
                <a:spcPct val="0"/>
              </a:spcAft>
              <a:defRPr/>
            </a:pPr>
            <a:r>
              <a:rPr lang="en-US" altLang="ja-JP" sz="16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Customer data</a:t>
            </a:r>
          </a:p>
        </p:txBody>
      </p:sp>
      <p:sp>
        <p:nvSpPr>
          <p:cNvPr id="24" name="Rectangle 5" descr="Applications, IAM."/>
          <p:cNvSpPr/>
          <p:nvPr/>
        </p:nvSpPr>
        <p:spPr bwMode="auto">
          <a:xfrm>
            <a:off x="431364" y="2849819"/>
            <a:ext cx="5389234" cy="562791"/>
          </a:xfrm>
          <a:prstGeom prst="roundRect">
            <a:avLst/>
          </a:prstGeom>
          <a:solidFill>
            <a:schemeClr val="accent5">
              <a:lumMod val="20000"/>
              <a:lumOff val="80000"/>
            </a:schemeClr>
          </a:solidFill>
          <a:ln>
            <a:noFill/>
            <a:headEnd type="none" w="med" len="med"/>
            <a:tailEnd type="none" w="med" len="med"/>
          </a:ln>
          <a:effectLst/>
        </p:spPr>
        <p:style>
          <a:lnRef idx="1">
            <a:schemeClr val="accent3"/>
          </a:lnRef>
          <a:fillRef idx="3">
            <a:schemeClr val="accent3"/>
          </a:fillRef>
          <a:effectRef idx="2">
            <a:schemeClr val="accent3"/>
          </a:effectRef>
          <a:fontRef idx="minor">
            <a:schemeClr val="lt1"/>
          </a:fontRef>
        </p:style>
        <p:txBody>
          <a:bodyPr lIns="90325" tIns="45193" rIns="90325" bIns="45193"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51926" fontAlgn="base">
              <a:spcBef>
                <a:spcPct val="0"/>
              </a:spcBef>
              <a:spcAft>
                <a:spcPct val="0"/>
              </a:spcAft>
              <a:defRPr/>
            </a:pPr>
            <a:r>
              <a:rPr lang="en-US" altLang="ja-JP" sz="16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Applications, IAM</a:t>
            </a:r>
          </a:p>
        </p:txBody>
      </p:sp>
      <p:sp>
        <p:nvSpPr>
          <p:cNvPr id="25" name="Rectangle 5" descr="Operating system, network, and firewall configuration."/>
          <p:cNvSpPr/>
          <p:nvPr/>
        </p:nvSpPr>
        <p:spPr bwMode="auto">
          <a:xfrm>
            <a:off x="445980" y="3481027"/>
            <a:ext cx="5384720" cy="517606"/>
          </a:xfrm>
          <a:prstGeom prst="roundRect">
            <a:avLst/>
          </a:prstGeom>
          <a:solidFill>
            <a:schemeClr val="accent4">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90325" tIns="45193" rIns="90325" bIns="45193"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451926" fontAlgn="base">
              <a:spcBef>
                <a:spcPct val="0"/>
              </a:spcBef>
              <a:spcAft>
                <a:spcPct val="0"/>
              </a:spcAft>
              <a:defRPr/>
            </a:pPr>
            <a:r>
              <a:rPr lang="en-US" altLang="ja-JP" sz="16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Operating system, network, and firewall configuration</a:t>
            </a:r>
          </a:p>
        </p:txBody>
      </p:sp>
      <p:sp>
        <p:nvSpPr>
          <p:cNvPr id="28" name="Rectangle 5" descr="Client-side data&#10;encryption and data integrity authentication."/>
          <p:cNvSpPr/>
          <p:nvPr/>
        </p:nvSpPr>
        <p:spPr bwMode="auto">
          <a:xfrm>
            <a:off x="442300" y="4069771"/>
            <a:ext cx="1766069" cy="1338479"/>
          </a:xfrm>
          <a:prstGeom prst="roundRect">
            <a:avLst/>
          </a:prstGeom>
          <a:solidFill>
            <a:schemeClr val="accent6">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90325" tIns="45193" rIns="90325" bIns="45193"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451926" fontAlgn="base">
              <a:spcBef>
                <a:spcPct val="0"/>
              </a:spcBef>
              <a:spcAft>
                <a:spcPct val="0"/>
              </a:spcAft>
              <a:defRPr/>
            </a:pPr>
            <a:r>
              <a:rPr lang="en-US" altLang="ja-JP" sz="16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Client-side data</a:t>
            </a:r>
          </a:p>
          <a:p>
            <a:pPr algn="ctr" defTabSz="451926" fontAlgn="base">
              <a:spcBef>
                <a:spcPct val="0"/>
              </a:spcBef>
              <a:spcAft>
                <a:spcPct val="0"/>
              </a:spcAft>
              <a:defRPr/>
            </a:pPr>
            <a:r>
              <a:rPr lang="en-US" altLang="ja-JP" sz="16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encryption and data integrity authentication</a:t>
            </a:r>
          </a:p>
        </p:txBody>
      </p:sp>
      <p:sp>
        <p:nvSpPr>
          <p:cNvPr id="29" name="Rectangle 5" descr="Server-side encryption (file system or data)."/>
          <p:cNvSpPr/>
          <p:nvPr/>
        </p:nvSpPr>
        <p:spPr bwMode="auto">
          <a:xfrm>
            <a:off x="2251627" y="4079277"/>
            <a:ext cx="1766069" cy="1324264"/>
          </a:xfrm>
          <a:prstGeom prst="roundRect">
            <a:avLst/>
          </a:prstGeom>
          <a:solidFill>
            <a:schemeClr val="accent6">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90325" tIns="45193" rIns="90325" bIns="45193"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451926" fontAlgn="base">
              <a:spcBef>
                <a:spcPct val="0"/>
              </a:spcBef>
              <a:spcAft>
                <a:spcPct val="0"/>
              </a:spcAft>
            </a:pPr>
            <a:r>
              <a:rPr lang="en-US" altLang="ja-JP" sz="16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Server-side encryption </a:t>
            </a:r>
          </a:p>
          <a:p>
            <a:pPr algn="ctr" defTabSz="451926" fontAlgn="base">
              <a:spcBef>
                <a:spcPct val="0"/>
              </a:spcBef>
              <a:spcAft>
                <a:spcPct val="0"/>
              </a:spcAft>
            </a:pPr>
            <a:r>
              <a:rPr lang="en-US" altLang="ja-JP" sz="16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(file system or data)</a:t>
            </a:r>
          </a:p>
        </p:txBody>
      </p:sp>
      <p:sp>
        <p:nvSpPr>
          <p:cNvPr id="27" name="Rectangle 5" descr="Network traffic protection (encryption, integrity, identity).&#10;"/>
          <p:cNvSpPr/>
          <p:nvPr/>
        </p:nvSpPr>
        <p:spPr bwMode="auto">
          <a:xfrm>
            <a:off x="4064629" y="4076559"/>
            <a:ext cx="1766069" cy="1338479"/>
          </a:xfrm>
          <a:prstGeom prst="roundRect">
            <a:avLst/>
          </a:prstGeom>
          <a:solidFill>
            <a:schemeClr val="accent6">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90325" tIns="45193" rIns="90325" bIns="45193"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451926" fontAlgn="base">
              <a:spcBef>
                <a:spcPct val="0"/>
              </a:spcBef>
              <a:spcAft>
                <a:spcPct val="0"/>
              </a:spcAft>
            </a:pPr>
            <a:r>
              <a:rPr lang="en-US" altLang="ja-JP" sz="16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Network traffic protection</a:t>
            </a:r>
          </a:p>
          <a:p>
            <a:pPr algn="ctr" defTabSz="451926" fontAlgn="base">
              <a:spcBef>
                <a:spcPct val="0"/>
              </a:spcBef>
              <a:spcAft>
                <a:spcPct val="0"/>
              </a:spcAft>
            </a:pPr>
            <a:r>
              <a:rPr lang="en-US" altLang="ja-JP" sz="16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(encryption, integrity, identity)</a:t>
            </a:r>
          </a:p>
        </p:txBody>
      </p:sp>
    </p:spTree>
    <p:custDataLst>
      <p:tags r:id="rId1"/>
    </p:custDataLst>
    <p:extLst>
      <p:ext uri="{BB962C8B-B14F-4D97-AF65-F5344CB8AC3E}">
        <p14:creationId xmlns:p14="http://schemas.microsoft.com/office/powerpoint/2010/main" val="37309274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a:extLst>
              <a:ext uri="{FF2B5EF4-FFF2-40B4-BE49-F238E27FC236}">
                <a16:creationId xmlns:a16="http://schemas.microsoft.com/office/drawing/2014/main" id="{FC4566DC-C2EA-FE46-B4A0-24B3DD03C35E}"/>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43</a:t>
            </a:fld>
            <a:endParaRPr lang="en-US"/>
          </a:p>
        </p:txBody>
      </p:sp>
      <p:sp>
        <p:nvSpPr>
          <p:cNvPr id="28" name="Title 1">
            <a:extLst>
              <a:ext uri="{FF2B5EF4-FFF2-40B4-BE49-F238E27FC236}">
                <a16:creationId xmlns:a16="http://schemas.microsoft.com/office/drawing/2014/main" id="{50E36C29-8FC1-9346-A380-6D0710444240}"/>
              </a:ext>
            </a:extLst>
          </p:cNvPr>
          <p:cNvSpPr>
            <a:spLocks noGrp="1"/>
          </p:cNvSpPr>
          <p:nvPr>
            <p:ph type="title"/>
          </p:nvPr>
        </p:nvSpPr>
        <p:spPr/>
        <p:txBody>
          <a:bodyPr>
            <a:noAutofit/>
          </a:bodyPr>
          <a:lstStyle/>
          <a:p>
            <a:r>
              <a:rPr lang="en-US" dirty="0">
                <a:latin typeface="+mj-lt"/>
              </a:rPr>
              <a:t>Service Characteristics and Responsibilities (1 of 2)</a:t>
            </a:r>
          </a:p>
        </p:txBody>
      </p:sp>
      <p:sp>
        <p:nvSpPr>
          <p:cNvPr id="15" name="Content Placeholder 14">
            <a:extLst>
              <a:ext uri="{FF2B5EF4-FFF2-40B4-BE49-F238E27FC236}">
                <a16:creationId xmlns:a16="http://schemas.microsoft.com/office/drawing/2014/main" id="{6FAB4940-2062-1E4B-B80C-5D09C0E649FA}"/>
              </a:ext>
            </a:extLst>
          </p:cNvPr>
          <p:cNvSpPr>
            <a:spLocks noGrp="1"/>
          </p:cNvSpPr>
          <p:nvPr>
            <p:ph sz="quarter" idx="21"/>
          </p:nvPr>
        </p:nvSpPr>
        <p:spPr>
          <a:xfrm>
            <a:off x="6075793" y="1755666"/>
            <a:ext cx="5504688" cy="4645152"/>
          </a:xfrm>
        </p:spPr>
        <p:txBody>
          <a:bodyPr>
            <a:normAutofit fontScale="92500" lnSpcReduction="10000"/>
          </a:bodyPr>
          <a:lstStyle/>
          <a:p>
            <a:r>
              <a:rPr lang="en-GB" sz="2400" dirty="0"/>
              <a:t>Infrastructure as a Service (IaaS)</a:t>
            </a:r>
          </a:p>
          <a:p>
            <a:pPr marL="342900" indent="-342900">
              <a:buFont typeface="Arial" panose="020B0604020202020204" pitchFamily="34" charset="0"/>
              <a:buChar char="•"/>
            </a:pPr>
            <a:r>
              <a:rPr lang="en-GB" sz="2400" dirty="0"/>
              <a:t>The customer has more flexibility in configuring network and storage settings.</a:t>
            </a:r>
          </a:p>
          <a:p>
            <a:pPr marL="342900" indent="-342900">
              <a:buFont typeface="Arial" panose="020B0604020202020204" pitchFamily="34" charset="0"/>
              <a:buChar char="•"/>
            </a:pPr>
            <a:r>
              <a:rPr lang="en-GB" sz="2400" dirty="0"/>
              <a:t>The customer is responsible for managing additional aspects of security.</a:t>
            </a:r>
          </a:p>
          <a:p>
            <a:pPr marL="342900" indent="-342900">
              <a:buFont typeface="Arial" panose="020B0604020202020204" pitchFamily="34" charset="0"/>
              <a:buChar char="•"/>
            </a:pPr>
            <a:r>
              <a:rPr lang="en-GB" sz="2400" dirty="0"/>
              <a:t>The customer configures access controls.</a:t>
            </a:r>
          </a:p>
          <a:p>
            <a:r>
              <a:rPr lang="en-GB" sz="2400" dirty="0"/>
              <a:t>Platform as a Service (PaaS)</a:t>
            </a:r>
          </a:p>
          <a:p>
            <a:pPr marL="342900" indent="-342900">
              <a:buFont typeface="Arial" panose="020B0604020202020204" pitchFamily="34" charset="0"/>
              <a:buChar char="•"/>
            </a:pPr>
            <a:r>
              <a:rPr lang="en-GB" sz="2400" dirty="0"/>
              <a:t>The customer does not need to manage the underlying infrastructure.</a:t>
            </a:r>
          </a:p>
          <a:p>
            <a:pPr marL="342900" indent="-342900">
              <a:buFont typeface="Arial" panose="020B0604020202020204" pitchFamily="34" charset="0"/>
              <a:buChar char="•"/>
            </a:pPr>
            <a:r>
              <a:rPr lang="en-GB" sz="2400" dirty="0"/>
              <a:t>AWS handles the operating system, database patching, firewall configuration, and disaster recovery.</a:t>
            </a:r>
          </a:p>
          <a:p>
            <a:pPr marL="342900" indent="-342900">
              <a:buFont typeface="Arial" panose="020B0604020202020204" pitchFamily="34" charset="0"/>
              <a:buChar char="•"/>
            </a:pPr>
            <a:r>
              <a:rPr lang="en-GB" sz="2400" dirty="0"/>
              <a:t>The customer can focus on managing code or data.</a:t>
            </a:r>
          </a:p>
        </p:txBody>
      </p:sp>
      <p:grpSp>
        <p:nvGrpSpPr>
          <p:cNvPr id="4" name="Group 3" descr="Example services managed by the customer, including three examples: EC2, Elastic Block Store, and Amazon VPC.">
            <a:extLst>
              <a:ext uri="{FF2B5EF4-FFF2-40B4-BE49-F238E27FC236}">
                <a16:creationId xmlns:a16="http://schemas.microsoft.com/office/drawing/2014/main" id="{41D77E78-FA29-5647-9B83-3D91593EF2DB}"/>
              </a:ext>
            </a:extLst>
          </p:cNvPr>
          <p:cNvGrpSpPr/>
          <p:nvPr/>
        </p:nvGrpSpPr>
        <p:grpSpPr>
          <a:xfrm>
            <a:off x="332933" y="1516114"/>
            <a:ext cx="4801867" cy="2239895"/>
            <a:chOff x="326582" y="1516113"/>
            <a:chExt cx="4801867" cy="2239895"/>
          </a:xfrm>
        </p:grpSpPr>
        <p:sp>
          <p:nvSpPr>
            <p:cNvPr id="45" name="Rectangle 44">
              <a:extLst>
                <a:ext uri="{FF2B5EF4-FFF2-40B4-BE49-F238E27FC236}">
                  <a16:creationId xmlns:a16="http://schemas.microsoft.com/office/drawing/2014/main" id="{C1453445-1B87-614D-93DA-9DBF2F452C47}"/>
                </a:ext>
              </a:extLst>
            </p:cNvPr>
            <p:cNvSpPr/>
            <p:nvPr/>
          </p:nvSpPr>
          <p:spPr>
            <a:xfrm>
              <a:off x="326582" y="1516113"/>
              <a:ext cx="4801867" cy="2239895"/>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r>
                <a:rPr lang="en-US" sz="1600" b="1">
                  <a:solidFill>
                    <a:schemeClr val="tx1"/>
                  </a:solidFill>
                </a:rPr>
                <a:t>Example services managed by the customer</a:t>
              </a:r>
            </a:p>
          </p:txBody>
        </p:sp>
        <p:sp>
          <p:nvSpPr>
            <p:cNvPr id="41" name="TextBox 40">
              <a:extLst>
                <a:ext uri="{FF2B5EF4-FFF2-40B4-BE49-F238E27FC236}">
                  <a16:creationId xmlns:a16="http://schemas.microsoft.com/office/drawing/2014/main" id="{F04AD06B-AE35-624A-9992-EEB39434A661}"/>
                </a:ext>
              </a:extLst>
            </p:cNvPr>
            <p:cNvSpPr txBox="1"/>
            <p:nvPr/>
          </p:nvSpPr>
          <p:spPr>
            <a:xfrm>
              <a:off x="344931" y="2835502"/>
              <a:ext cx="1278964" cy="584775"/>
            </a:xfrm>
            <a:prstGeom prst="rect">
              <a:avLst/>
            </a:prstGeom>
            <a:noFill/>
          </p:spPr>
          <p:txBody>
            <a:bodyPr wrap="square" rtlCol="0">
              <a:spAutoFit/>
            </a:bodyPr>
            <a:lstStyle/>
            <a:p>
              <a:pPr algn="ctr"/>
              <a:r>
                <a:rPr lang="en-US" sz="1600"/>
                <a:t>Amazon </a:t>
              </a:r>
              <a:br>
                <a:rPr lang="en-US" sz="1600"/>
              </a:br>
              <a:r>
                <a:rPr lang="en-US" sz="1600"/>
                <a:t>EC2</a:t>
              </a:r>
            </a:p>
          </p:txBody>
        </p:sp>
        <p:pic>
          <p:nvPicPr>
            <p:cNvPr id="42" name="Graphic 41">
              <a:extLst>
                <a:ext uri="{FF2B5EF4-FFF2-40B4-BE49-F238E27FC236}">
                  <a16:creationId xmlns:a16="http://schemas.microsoft.com/office/drawing/2014/main" id="{EA977331-F586-464D-8939-4A2DF1F2A49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7868" y="2093819"/>
              <a:ext cx="720047" cy="711200"/>
            </a:xfrm>
            <a:prstGeom prst="rect">
              <a:avLst/>
            </a:prstGeom>
          </p:spPr>
        </p:pic>
        <p:sp>
          <p:nvSpPr>
            <p:cNvPr id="43" name="TextBox 42">
              <a:extLst>
                <a:ext uri="{FF2B5EF4-FFF2-40B4-BE49-F238E27FC236}">
                  <a16:creationId xmlns:a16="http://schemas.microsoft.com/office/drawing/2014/main" id="{C17D701A-E912-D54C-9B19-2710EAF1C9BF}"/>
                </a:ext>
              </a:extLst>
            </p:cNvPr>
            <p:cNvSpPr txBox="1"/>
            <p:nvPr/>
          </p:nvSpPr>
          <p:spPr>
            <a:xfrm>
              <a:off x="1571163" y="2835502"/>
              <a:ext cx="1581951" cy="830997"/>
            </a:xfrm>
            <a:prstGeom prst="rect">
              <a:avLst/>
            </a:prstGeom>
            <a:noFill/>
          </p:spPr>
          <p:txBody>
            <a:bodyPr wrap="square" rtlCol="0">
              <a:spAutoFit/>
            </a:bodyPr>
            <a:lstStyle/>
            <a:p>
              <a:pPr algn="ctr"/>
              <a:r>
                <a:rPr lang="en-US" sz="1600"/>
                <a:t>Amazon Elastic Block Store (Amazon EBS)</a:t>
              </a:r>
            </a:p>
          </p:txBody>
        </p:sp>
        <p:pic>
          <p:nvPicPr>
            <p:cNvPr id="44" name="Graphic 43">
              <a:extLst>
                <a:ext uri="{FF2B5EF4-FFF2-40B4-BE49-F238E27FC236}">
                  <a16:creationId xmlns:a16="http://schemas.microsoft.com/office/drawing/2014/main" id="{D34B0274-6A22-F84E-88CE-8A06A7BF77A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21711" y="2093819"/>
              <a:ext cx="720047" cy="711200"/>
            </a:xfrm>
            <a:prstGeom prst="rect">
              <a:avLst/>
            </a:prstGeom>
          </p:spPr>
        </p:pic>
        <p:sp>
          <p:nvSpPr>
            <p:cNvPr id="46" name="TextBox 45">
              <a:extLst>
                <a:ext uri="{FF2B5EF4-FFF2-40B4-BE49-F238E27FC236}">
                  <a16:creationId xmlns:a16="http://schemas.microsoft.com/office/drawing/2014/main" id="{58921647-3DB1-A84C-91A7-83FC8D3A9AA7}"/>
                </a:ext>
              </a:extLst>
            </p:cNvPr>
            <p:cNvSpPr txBox="1"/>
            <p:nvPr/>
          </p:nvSpPr>
          <p:spPr>
            <a:xfrm>
              <a:off x="3020213" y="2789335"/>
              <a:ext cx="2095879" cy="830997"/>
            </a:xfrm>
            <a:prstGeom prst="rect">
              <a:avLst/>
            </a:prstGeom>
            <a:noFill/>
          </p:spPr>
          <p:txBody>
            <a:bodyPr wrap="square" rtlCol="0">
              <a:spAutoFit/>
            </a:bodyPr>
            <a:lstStyle/>
            <a:p>
              <a:pPr algn="ctr"/>
              <a:r>
                <a:rPr lang="en-US" sz="1600"/>
                <a:t>Amazon </a:t>
              </a:r>
              <a:br>
                <a:rPr lang="en-US" sz="1600"/>
              </a:br>
              <a:r>
                <a:rPr lang="en-US" sz="1600"/>
                <a:t>Virtual Private Cloud (Amazon VPC)</a:t>
              </a:r>
            </a:p>
          </p:txBody>
        </p:sp>
        <p:pic>
          <p:nvPicPr>
            <p:cNvPr id="47" name="Graphic 46">
              <a:extLst>
                <a:ext uri="{FF2B5EF4-FFF2-40B4-BE49-F238E27FC236}">
                  <a16:creationId xmlns:a16="http://schemas.microsoft.com/office/drawing/2014/main" id="{08B831A5-66C5-D24C-AFB4-83D181CB9F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797116" y="2093819"/>
              <a:ext cx="720047" cy="711200"/>
            </a:xfrm>
            <a:prstGeom prst="rect">
              <a:avLst/>
            </a:prstGeom>
          </p:spPr>
        </p:pic>
      </p:grpSp>
      <p:grpSp>
        <p:nvGrpSpPr>
          <p:cNvPr id="6" name="Group 5" descr="Example services managed by AWS, including three examples: Lambda, RDS, and Elastic Beanstalk.">
            <a:extLst>
              <a:ext uri="{FF2B5EF4-FFF2-40B4-BE49-F238E27FC236}">
                <a16:creationId xmlns:a16="http://schemas.microsoft.com/office/drawing/2014/main" id="{8CD6E908-7220-E54F-AECB-17FDDF36BB54}"/>
              </a:ext>
            </a:extLst>
          </p:cNvPr>
          <p:cNvGrpSpPr/>
          <p:nvPr/>
        </p:nvGrpSpPr>
        <p:grpSpPr>
          <a:xfrm>
            <a:off x="232519" y="4078242"/>
            <a:ext cx="4902280" cy="2453729"/>
            <a:chOff x="213812" y="4058398"/>
            <a:chExt cx="4902280" cy="2453729"/>
          </a:xfrm>
        </p:grpSpPr>
        <p:sp>
          <p:nvSpPr>
            <p:cNvPr id="31" name="Rectangle 30">
              <a:extLst>
                <a:ext uri="{FF2B5EF4-FFF2-40B4-BE49-F238E27FC236}">
                  <a16:creationId xmlns:a16="http://schemas.microsoft.com/office/drawing/2014/main" id="{27D6FBD0-8666-4B4C-926F-F2C768EE553D}"/>
                </a:ext>
              </a:extLst>
            </p:cNvPr>
            <p:cNvSpPr/>
            <p:nvPr/>
          </p:nvSpPr>
          <p:spPr>
            <a:xfrm>
              <a:off x="314225" y="4058398"/>
              <a:ext cx="4801867" cy="2297952"/>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r>
                <a:rPr lang="en-US" sz="1600" b="1">
                  <a:solidFill>
                    <a:schemeClr val="tx1"/>
                  </a:solidFill>
                </a:rPr>
                <a:t>Example services managed by AWS</a:t>
              </a:r>
            </a:p>
          </p:txBody>
        </p:sp>
        <p:sp>
          <p:nvSpPr>
            <p:cNvPr id="32" name="TextBox 31">
              <a:extLst>
                <a:ext uri="{FF2B5EF4-FFF2-40B4-BE49-F238E27FC236}">
                  <a16:creationId xmlns:a16="http://schemas.microsoft.com/office/drawing/2014/main" id="{7E15D212-99D7-724E-9B9B-83511FC32E6D}"/>
                </a:ext>
              </a:extLst>
            </p:cNvPr>
            <p:cNvSpPr txBox="1"/>
            <p:nvPr/>
          </p:nvSpPr>
          <p:spPr>
            <a:xfrm>
              <a:off x="1519429" y="5434909"/>
              <a:ext cx="2208917" cy="1077218"/>
            </a:xfrm>
            <a:prstGeom prst="rect">
              <a:avLst/>
            </a:prstGeom>
            <a:noFill/>
          </p:spPr>
          <p:txBody>
            <a:bodyPr wrap="square" rtlCol="0">
              <a:spAutoFit/>
            </a:bodyPr>
            <a:lstStyle/>
            <a:p>
              <a:pPr algn="ctr"/>
              <a:r>
                <a:rPr lang="en-US" sz="1600"/>
                <a:t>Amazon </a:t>
              </a:r>
              <a:br>
                <a:rPr lang="en-US" sz="1600"/>
              </a:br>
              <a:r>
                <a:rPr lang="en-US" sz="1600"/>
                <a:t>Relational Database Service (Amazon RDS)</a:t>
              </a:r>
            </a:p>
          </p:txBody>
        </p:sp>
        <p:pic>
          <p:nvPicPr>
            <p:cNvPr id="33" name="Graphic 32">
              <a:extLst>
                <a:ext uri="{FF2B5EF4-FFF2-40B4-BE49-F238E27FC236}">
                  <a16:creationId xmlns:a16="http://schemas.microsoft.com/office/drawing/2014/main" id="{FFB4EDBD-AC1E-2541-A1C9-4EFB1311B17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268288" y="4687410"/>
              <a:ext cx="711200" cy="711200"/>
            </a:xfrm>
            <a:prstGeom prst="rect">
              <a:avLst/>
            </a:prstGeom>
          </p:spPr>
        </p:pic>
        <p:sp>
          <p:nvSpPr>
            <p:cNvPr id="36" name="TextBox 35">
              <a:extLst>
                <a:ext uri="{FF2B5EF4-FFF2-40B4-BE49-F238E27FC236}">
                  <a16:creationId xmlns:a16="http://schemas.microsoft.com/office/drawing/2014/main" id="{E7086C61-CF0E-C341-AD93-F731FAEC2804}"/>
                </a:ext>
              </a:extLst>
            </p:cNvPr>
            <p:cNvSpPr txBox="1"/>
            <p:nvPr/>
          </p:nvSpPr>
          <p:spPr>
            <a:xfrm>
              <a:off x="3767936" y="5434909"/>
              <a:ext cx="1312064" cy="584775"/>
            </a:xfrm>
            <a:prstGeom prst="rect">
              <a:avLst/>
            </a:prstGeom>
            <a:noFill/>
          </p:spPr>
          <p:txBody>
            <a:bodyPr wrap="square" rtlCol="0">
              <a:spAutoFit/>
            </a:bodyPr>
            <a:lstStyle/>
            <a:p>
              <a:pPr algn="ctr"/>
              <a:r>
                <a:rPr lang="en-US" sz="1600"/>
                <a:t>AWS Elastic Beanstalk</a:t>
              </a:r>
            </a:p>
          </p:txBody>
        </p:sp>
        <p:pic>
          <p:nvPicPr>
            <p:cNvPr id="38" name="Graphic 37">
              <a:extLst>
                <a:ext uri="{FF2B5EF4-FFF2-40B4-BE49-F238E27FC236}">
                  <a16:creationId xmlns:a16="http://schemas.microsoft.com/office/drawing/2014/main" id="{53314BDA-95C1-5845-9235-0EBF5DABA19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4566" y="4731351"/>
              <a:ext cx="711200" cy="623318"/>
            </a:xfrm>
            <a:prstGeom prst="rect">
              <a:avLst/>
            </a:prstGeom>
          </p:spPr>
        </p:pic>
        <p:sp>
          <p:nvSpPr>
            <p:cNvPr id="39" name="TextBox 38">
              <a:extLst>
                <a:ext uri="{FF2B5EF4-FFF2-40B4-BE49-F238E27FC236}">
                  <a16:creationId xmlns:a16="http://schemas.microsoft.com/office/drawing/2014/main" id="{11C4E2EF-0A17-CB45-A120-E72F4A3FDDF0}"/>
                </a:ext>
              </a:extLst>
            </p:cNvPr>
            <p:cNvSpPr txBox="1"/>
            <p:nvPr/>
          </p:nvSpPr>
          <p:spPr>
            <a:xfrm>
              <a:off x="213812" y="5434909"/>
              <a:ext cx="1506552" cy="584775"/>
            </a:xfrm>
            <a:prstGeom prst="rect">
              <a:avLst/>
            </a:prstGeom>
            <a:noFill/>
          </p:spPr>
          <p:txBody>
            <a:bodyPr wrap="square" rtlCol="0">
              <a:spAutoFit/>
            </a:bodyPr>
            <a:lstStyle/>
            <a:p>
              <a:pPr algn="ctr"/>
              <a:r>
                <a:rPr lang="en-US" sz="1600"/>
                <a:t>AWS </a:t>
              </a:r>
              <a:br>
                <a:rPr lang="en-US" sz="1600"/>
              </a:br>
              <a:r>
                <a:rPr lang="en-US" sz="1600"/>
                <a:t>Lambda</a:t>
              </a:r>
            </a:p>
          </p:txBody>
        </p:sp>
        <p:pic>
          <p:nvPicPr>
            <p:cNvPr id="50" name="Graphic 49">
              <a:extLst>
                <a:ext uri="{FF2B5EF4-FFF2-40B4-BE49-F238E27FC236}">
                  <a16:creationId xmlns:a16="http://schemas.microsoft.com/office/drawing/2014/main" id="{38EF2782-C2B3-2B48-A3E5-DB3C54BEB12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033609" y="4687410"/>
              <a:ext cx="711200" cy="711200"/>
            </a:xfrm>
            <a:prstGeom prst="rect">
              <a:avLst/>
            </a:prstGeom>
          </p:spPr>
        </p:pic>
      </p:grpSp>
    </p:spTree>
    <p:custDataLst>
      <p:tags r:id="rId1"/>
    </p:custDataLst>
    <p:extLst>
      <p:ext uri="{BB962C8B-B14F-4D97-AF65-F5344CB8AC3E}">
        <p14:creationId xmlns:p14="http://schemas.microsoft.com/office/powerpoint/2010/main" val="20666215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a:extLst>
              <a:ext uri="{FF2B5EF4-FFF2-40B4-BE49-F238E27FC236}">
                <a16:creationId xmlns:a16="http://schemas.microsoft.com/office/drawing/2014/main" id="{FC4566DC-C2EA-FE46-B4A0-24B3DD03C35E}"/>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44</a:t>
            </a:fld>
            <a:endParaRPr lang="en-US"/>
          </a:p>
        </p:txBody>
      </p:sp>
      <p:sp>
        <p:nvSpPr>
          <p:cNvPr id="28" name="Title 1">
            <a:extLst>
              <a:ext uri="{FF2B5EF4-FFF2-40B4-BE49-F238E27FC236}">
                <a16:creationId xmlns:a16="http://schemas.microsoft.com/office/drawing/2014/main" id="{50E36C29-8FC1-9346-A380-6D0710444240}"/>
              </a:ext>
            </a:extLst>
          </p:cNvPr>
          <p:cNvSpPr>
            <a:spLocks noGrp="1"/>
          </p:cNvSpPr>
          <p:nvPr>
            <p:ph type="title"/>
          </p:nvPr>
        </p:nvSpPr>
        <p:spPr/>
        <p:txBody>
          <a:bodyPr>
            <a:noAutofit/>
          </a:bodyPr>
          <a:lstStyle/>
          <a:p>
            <a:r>
              <a:rPr lang="en-US" dirty="0"/>
              <a:t>Service Characteristics and Responsibilities </a:t>
            </a:r>
            <a:r>
              <a:rPr lang="en-US" dirty="0">
                <a:latin typeface="+mj-lt"/>
              </a:rPr>
              <a:t>(2 of 2)</a:t>
            </a:r>
          </a:p>
        </p:txBody>
      </p:sp>
      <p:sp>
        <p:nvSpPr>
          <p:cNvPr id="15" name="Content Placeholder 14">
            <a:extLst>
              <a:ext uri="{FF2B5EF4-FFF2-40B4-BE49-F238E27FC236}">
                <a16:creationId xmlns:a16="http://schemas.microsoft.com/office/drawing/2014/main" id="{6FAB4940-2062-1E4B-B80C-5D09C0E649FA}"/>
              </a:ext>
            </a:extLst>
          </p:cNvPr>
          <p:cNvSpPr>
            <a:spLocks noGrp="1"/>
          </p:cNvSpPr>
          <p:nvPr>
            <p:ph sz="quarter" idx="21"/>
          </p:nvPr>
        </p:nvSpPr>
        <p:spPr>
          <a:xfrm>
            <a:off x="6129380" y="2016905"/>
            <a:ext cx="5504688" cy="3693319"/>
          </a:xfrm>
        </p:spPr>
        <p:txBody>
          <a:bodyPr/>
          <a:lstStyle/>
          <a:p>
            <a:r>
              <a:rPr lang="en-GB" sz="2400" dirty="0"/>
              <a:t>Software as a Service (SaaS)</a:t>
            </a:r>
          </a:p>
          <a:p>
            <a:pPr marL="342900" indent="-342900">
              <a:buFont typeface="Arial" panose="020B0604020202020204" pitchFamily="34" charset="0"/>
              <a:buChar char="•"/>
            </a:pPr>
            <a:r>
              <a:rPr lang="en-GB" sz="2400" dirty="0"/>
              <a:t>Software is centrally hosted.</a:t>
            </a:r>
          </a:p>
          <a:p>
            <a:pPr marL="342900" indent="-342900">
              <a:buFont typeface="Arial" panose="020B0604020202020204" pitchFamily="34" charset="0"/>
              <a:buChar char="•"/>
            </a:pPr>
            <a:r>
              <a:rPr lang="en-GB" sz="2400" dirty="0"/>
              <a:t>Licensed on a subscription model or on a pay-as-you-go basis.</a:t>
            </a:r>
          </a:p>
          <a:p>
            <a:pPr marL="342900" indent="-342900">
              <a:buFont typeface="Arial" panose="020B0604020202020204" pitchFamily="34" charset="0"/>
              <a:buChar char="•"/>
            </a:pPr>
            <a:r>
              <a:rPr lang="en-GB" sz="2400" dirty="0"/>
              <a:t>Access to the services is typically provided via a web browser, a mobile app, or an application programming interface (API).</a:t>
            </a:r>
          </a:p>
          <a:p>
            <a:pPr marL="342900" indent="-342900">
              <a:buFont typeface="Arial" panose="020B0604020202020204" pitchFamily="34" charset="0"/>
              <a:buChar char="•"/>
            </a:pPr>
            <a:r>
              <a:rPr lang="en-GB" sz="2400" dirty="0"/>
              <a:t>Customers do not need to manage the infrastructure that supports the service.</a:t>
            </a:r>
          </a:p>
        </p:txBody>
      </p:sp>
      <p:sp>
        <p:nvSpPr>
          <p:cNvPr id="45" name="Rectangle 44" descr="SaaS examples.">
            <a:extLst>
              <a:ext uri="{FF2B5EF4-FFF2-40B4-BE49-F238E27FC236}">
                <a16:creationId xmlns:a16="http://schemas.microsoft.com/office/drawing/2014/main" id="{C1453445-1B87-614D-93DA-9DBF2F452C47}"/>
              </a:ext>
              <a:ext uri="{C183D7F6-B498-43B3-948B-1728B52AA6E4}">
                <adec:decorative xmlns:adec="http://schemas.microsoft.com/office/drawing/2017/decorative" val="0"/>
              </a:ext>
            </a:extLst>
          </p:cNvPr>
          <p:cNvSpPr/>
          <p:nvPr/>
        </p:nvSpPr>
        <p:spPr>
          <a:xfrm>
            <a:off x="332933" y="1516114"/>
            <a:ext cx="4801867" cy="2058053"/>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r>
              <a:rPr lang="en-US" sz="1600" b="1">
                <a:solidFill>
                  <a:schemeClr val="tx1"/>
                </a:solidFill>
              </a:rPr>
              <a:t>SaaS examples</a:t>
            </a:r>
          </a:p>
        </p:txBody>
      </p:sp>
      <p:sp>
        <p:nvSpPr>
          <p:cNvPr id="22" name="TextBox 21">
            <a:extLst>
              <a:ext uri="{FF2B5EF4-FFF2-40B4-BE49-F238E27FC236}">
                <a16:creationId xmlns:a16="http://schemas.microsoft.com/office/drawing/2014/main" id="{74CCDEB9-2A7D-E94C-AF20-4AD4238603BC}"/>
              </a:ext>
            </a:extLst>
          </p:cNvPr>
          <p:cNvSpPr txBox="1"/>
          <p:nvPr/>
        </p:nvSpPr>
        <p:spPr>
          <a:xfrm>
            <a:off x="499524" y="2920545"/>
            <a:ext cx="1506552" cy="584775"/>
          </a:xfrm>
          <a:prstGeom prst="rect">
            <a:avLst/>
          </a:prstGeom>
          <a:noFill/>
        </p:spPr>
        <p:txBody>
          <a:bodyPr wrap="squar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AWS Trusted </a:t>
            </a:r>
          </a:p>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Advisor</a:t>
            </a:r>
          </a:p>
        </p:txBody>
      </p:sp>
      <p:pic>
        <p:nvPicPr>
          <p:cNvPr id="23" name="Graphic 22">
            <a:extLst>
              <a:ext uri="{FF2B5EF4-FFF2-40B4-BE49-F238E27FC236}">
                <a16:creationId xmlns:a16="http://schemas.microsoft.com/office/drawing/2014/main" id="{E5AE8CFA-097F-B446-A17B-51F05497EA7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7032" y="2189539"/>
            <a:ext cx="711200" cy="711200"/>
          </a:xfrm>
          <a:prstGeom prst="rect">
            <a:avLst/>
          </a:prstGeom>
        </p:spPr>
      </p:pic>
      <p:sp>
        <p:nvSpPr>
          <p:cNvPr id="24" name="TextBox 23">
            <a:extLst>
              <a:ext uri="{FF2B5EF4-FFF2-40B4-BE49-F238E27FC236}">
                <a16:creationId xmlns:a16="http://schemas.microsoft.com/office/drawing/2014/main" id="{66124682-7940-5242-8038-EFABFA20C90B}"/>
              </a:ext>
            </a:extLst>
          </p:cNvPr>
          <p:cNvSpPr txBox="1"/>
          <p:nvPr/>
        </p:nvSpPr>
        <p:spPr>
          <a:xfrm>
            <a:off x="2006616" y="2937178"/>
            <a:ext cx="1266062" cy="338554"/>
          </a:xfrm>
          <a:prstGeom prst="rect">
            <a:avLst/>
          </a:prstGeom>
          <a:noFill/>
        </p:spPr>
        <p:txBody>
          <a:bodyPr wrap="squar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AWS Shield</a:t>
            </a:r>
          </a:p>
        </p:txBody>
      </p:sp>
      <p:pic>
        <p:nvPicPr>
          <p:cNvPr id="25" name="Graphic 24">
            <a:extLst>
              <a:ext uri="{FF2B5EF4-FFF2-40B4-BE49-F238E27FC236}">
                <a16:creationId xmlns:a16="http://schemas.microsoft.com/office/drawing/2014/main" id="{0E4066DC-F0F7-B543-8F11-3730DC59717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04715" y="2189539"/>
            <a:ext cx="711200" cy="711200"/>
          </a:xfrm>
          <a:prstGeom prst="rect">
            <a:avLst/>
          </a:prstGeom>
        </p:spPr>
      </p:pic>
      <p:sp>
        <p:nvSpPr>
          <p:cNvPr id="11" name="TextBox 10">
            <a:extLst>
              <a:ext uri="{FF2B5EF4-FFF2-40B4-BE49-F238E27FC236}">
                <a16:creationId xmlns:a16="http://schemas.microsoft.com/office/drawing/2014/main" id="{118DF70E-4CB9-3A4C-8269-8AA2ACE6CD9B}"/>
              </a:ext>
            </a:extLst>
          </p:cNvPr>
          <p:cNvSpPr txBox="1"/>
          <p:nvPr/>
        </p:nvSpPr>
        <p:spPr>
          <a:xfrm>
            <a:off x="2909664" y="2913407"/>
            <a:ext cx="2316668" cy="338554"/>
          </a:xfrm>
          <a:prstGeom prst="rect">
            <a:avLst/>
          </a:prstGeom>
          <a:noFill/>
        </p:spPr>
        <p:txBody>
          <a:bodyPr wrap="square" rtlCol="0">
            <a:spAutoFit/>
          </a:bodyPr>
          <a:lstStyle/>
          <a:p>
            <a:pPr algn="ctr"/>
            <a:r>
              <a:rPr lang="pt" sz="1600">
                <a:latin typeface="Amazon Ember Light" panose="020B0403020204020204" pitchFamily="34" charset="0"/>
                <a:ea typeface="Amazon Ember Light" panose="020B0403020204020204" pitchFamily="34" charset="0"/>
                <a:cs typeface="Amazon Ember Light" panose="020B0403020204020204" pitchFamily="34" charset="0"/>
              </a:rPr>
              <a:t>Amazon Chime</a:t>
            </a:r>
            <a:endParaRPr lang="en-US" sz="1600">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12" name="Graphic 11">
            <a:extLst>
              <a:ext uri="{FF2B5EF4-FFF2-40B4-BE49-F238E27FC236}">
                <a16:creationId xmlns:a16="http://schemas.microsoft.com/office/drawing/2014/main" id="{B4A0077D-CA8F-EF48-8DCC-AEC26A64658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712398" y="2175537"/>
            <a:ext cx="711200" cy="711200"/>
          </a:xfrm>
          <a:prstGeom prst="rect">
            <a:avLst/>
          </a:prstGeom>
        </p:spPr>
      </p:pic>
    </p:spTree>
    <p:custDataLst>
      <p:tags r:id="rId1"/>
    </p:custDataLst>
    <p:extLst>
      <p:ext uri="{BB962C8B-B14F-4D97-AF65-F5344CB8AC3E}">
        <p14:creationId xmlns:p14="http://schemas.microsoft.com/office/powerpoint/2010/main" val="25004401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BE793AA-6CEF-925F-8BF5-2B354B9B2AE7}"/>
              </a:ext>
            </a:extLst>
          </p:cNvPr>
          <p:cNvSpPr>
            <a:spLocks noGrp="1"/>
          </p:cNvSpPr>
          <p:nvPr>
            <p:ph type="sldNum" sz="quarter" idx="20"/>
          </p:nvPr>
        </p:nvSpPr>
        <p:spPr/>
        <p:txBody>
          <a:bodyPr/>
          <a:lstStyle/>
          <a:p>
            <a:fld id="{930176A1-BCF0-4712-97A6-6B495F55390B}" type="slidenum">
              <a:rPr lang="en-US" smtClean="0"/>
              <a:pPr/>
              <a:t>45</a:t>
            </a:fld>
            <a:endParaRPr lang="en-US" dirty="0"/>
          </a:p>
        </p:txBody>
      </p:sp>
      <p:sp>
        <p:nvSpPr>
          <p:cNvPr id="4" name="Title 3"/>
          <p:cNvSpPr>
            <a:spLocks noGrp="1"/>
          </p:cNvSpPr>
          <p:nvPr>
            <p:ph type="title"/>
          </p:nvPr>
        </p:nvSpPr>
        <p:spPr/>
        <p:txBody>
          <a:bodyPr/>
          <a:lstStyle/>
          <a:p>
            <a:r>
              <a:rPr lang="en-US" dirty="0">
                <a:latin typeface="+mj-lt"/>
              </a:rPr>
              <a:t>AWS Service Categories</a:t>
            </a:r>
          </a:p>
        </p:txBody>
      </p:sp>
      <p:sp>
        <p:nvSpPr>
          <p:cNvPr id="35" name="TextBox 34">
            <a:extLst>
              <a:ext uri="{FF2B5EF4-FFF2-40B4-BE49-F238E27FC236}">
                <a16:creationId xmlns:a16="http://schemas.microsoft.com/office/drawing/2014/main" id="{6CB940ED-E182-4845-AE19-8960602EE7FD}"/>
              </a:ext>
            </a:extLst>
          </p:cNvPr>
          <p:cNvSpPr txBox="1"/>
          <p:nvPr/>
        </p:nvSpPr>
        <p:spPr>
          <a:xfrm>
            <a:off x="6625346" y="3179421"/>
            <a:ext cx="1516376" cy="338554"/>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Developer Tools</a:t>
            </a:r>
          </a:p>
        </p:txBody>
      </p:sp>
      <p:sp>
        <p:nvSpPr>
          <p:cNvPr id="37" name="TextBox 36">
            <a:extLst>
              <a:ext uri="{FF2B5EF4-FFF2-40B4-BE49-F238E27FC236}">
                <a16:creationId xmlns:a16="http://schemas.microsoft.com/office/drawing/2014/main" id="{8A8AEC52-D7C1-4E29-990F-5CA8ED949072}"/>
              </a:ext>
            </a:extLst>
          </p:cNvPr>
          <p:cNvSpPr txBox="1"/>
          <p:nvPr/>
        </p:nvSpPr>
        <p:spPr>
          <a:xfrm>
            <a:off x="6397728" y="5915527"/>
            <a:ext cx="2095806" cy="584775"/>
          </a:xfrm>
          <a:prstGeom prst="rect">
            <a:avLst/>
          </a:prstGeom>
          <a:noFill/>
        </p:spPr>
        <p:txBody>
          <a:bodyPr wrap="square" lIns="0" rIns="0"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Security, Identity, and</a:t>
            </a:r>
          </a:p>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 Compliance</a:t>
            </a:r>
          </a:p>
        </p:txBody>
      </p:sp>
      <p:sp>
        <p:nvSpPr>
          <p:cNvPr id="60" name="TextBox 59">
            <a:extLst>
              <a:ext uri="{FF2B5EF4-FFF2-40B4-BE49-F238E27FC236}">
                <a16:creationId xmlns:a16="http://schemas.microsoft.com/office/drawing/2014/main" id="{25B36EFC-4DE3-884A-8A21-A73020518C07}"/>
              </a:ext>
            </a:extLst>
          </p:cNvPr>
          <p:cNvSpPr txBox="1"/>
          <p:nvPr/>
        </p:nvSpPr>
        <p:spPr>
          <a:xfrm>
            <a:off x="6847169" y="1907686"/>
            <a:ext cx="1072730" cy="338554"/>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Blockchain</a:t>
            </a:r>
          </a:p>
        </p:txBody>
      </p:sp>
      <p:sp>
        <p:nvSpPr>
          <p:cNvPr id="76" name="TextBox 75">
            <a:extLst>
              <a:ext uri="{FF2B5EF4-FFF2-40B4-BE49-F238E27FC236}">
                <a16:creationId xmlns:a16="http://schemas.microsoft.com/office/drawing/2014/main" id="{B37499C4-85AB-1643-B309-6C6C773B623F}"/>
              </a:ext>
            </a:extLst>
          </p:cNvPr>
          <p:cNvSpPr txBox="1"/>
          <p:nvPr/>
        </p:nvSpPr>
        <p:spPr>
          <a:xfrm>
            <a:off x="6663465" y="4567517"/>
            <a:ext cx="1440138" cy="338554"/>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Media Services</a:t>
            </a:r>
          </a:p>
        </p:txBody>
      </p:sp>
      <p:sp>
        <p:nvSpPr>
          <p:cNvPr id="25" name="TextBox 24">
            <a:extLst>
              <a:ext uri="{FF2B5EF4-FFF2-40B4-BE49-F238E27FC236}">
                <a16:creationId xmlns:a16="http://schemas.microsoft.com/office/drawing/2014/main" id="{F8897D01-9B02-4480-A482-C607893138B6}"/>
              </a:ext>
            </a:extLst>
          </p:cNvPr>
          <p:cNvSpPr txBox="1"/>
          <p:nvPr/>
        </p:nvSpPr>
        <p:spPr>
          <a:xfrm>
            <a:off x="9026662" y="5915526"/>
            <a:ext cx="817916" cy="338554"/>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Storage</a:t>
            </a:r>
          </a:p>
        </p:txBody>
      </p:sp>
      <p:sp>
        <p:nvSpPr>
          <p:cNvPr id="32" name="TextBox 31">
            <a:extLst>
              <a:ext uri="{FF2B5EF4-FFF2-40B4-BE49-F238E27FC236}">
                <a16:creationId xmlns:a16="http://schemas.microsoft.com/office/drawing/2014/main" id="{AE20C2D3-E886-4EB3-A672-17CF83D8C99F}"/>
              </a:ext>
            </a:extLst>
          </p:cNvPr>
          <p:cNvSpPr txBox="1"/>
          <p:nvPr/>
        </p:nvSpPr>
        <p:spPr>
          <a:xfrm>
            <a:off x="8833758" y="1907687"/>
            <a:ext cx="1203726" cy="584775"/>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Business </a:t>
            </a:r>
            <a:b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Applications</a:t>
            </a:r>
          </a:p>
        </p:txBody>
      </p:sp>
      <p:sp>
        <p:nvSpPr>
          <p:cNvPr id="72" name="TextBox 71">
            <a:extLst>
              <a:ext uri="{FF2B5EF4-FFF2-40B4-BE49-F238E27FC236}">
                <a16:creationId xmlns:a16="http://schemas.microsoft.com/office/drawing/2014/main" id="{3692D3A0-CABC-3440-84AD-881EF14C1585}"/>
              </a:ext>
            </a:extLst>
          </p:cNvPr>
          <p:cNvSpPr txBox="1"/>
          <p:nvPr/>
        </p:nvSpPr>
        <p:spPr>
          <a:xfrm>
            <a:off x="8885630" y="3179422"/>
            <a:ext cx="1099980" cy="584775"/>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End User </a:t>
            </a:r>
          </a:p>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Computing</a:t>
            </a:r>
          </a:p>
        </p:txBody>
      </p:sp>
      <p:sp>
        <p:nvSpPr>
          <p:cNvPr id="78" name="TextBox 77">
            <a:extLst>
              <a:ext uri="{FF2B5EF4-FFF2-40B4-BE49-F238E27FC236}">
                <a16:creationId xmlns:a16="http://schemas.microsoft.com/office/drawing/2014/main" id="{192EABF2-A4D4-2447-AC15-7BE6FFEB2316}"/>
              </a:ext>
            </a:extLst>
          </p:cNvPr>
          <p:cNvSpPr txBox="1"/>
          <p:nvPr/>
        </p:nvSpPr>
        <p:spPr>
          <a:xfrm>
            <a:off x="8734018" y="4567518"/>
            <a:ext cx="1403205" cy="584775"/>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Migration and </a:t>
            </a:r>
          </a:p>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Transfer</a:t>
            </a:r>
          </a:p>
        </p:txBody>
      </p:sp>
      <p:sp>
        <p:nvSpPr>
          <p:cNvPr id="33" name="TextBox 32">
            <a:extLst>
              <a:ext uri="{FF2B5EF4-FFF2-40B4-BE49-F238E27FC236}">
                <a16:creationId xmlns:a16="http://schemas.microsoft.com/office/drawing/2014/main" id="{DC1DF143-2940-4413-AF10-AFE41270FFD9}"/>
              </a:ext>
            </a:extLst>
          </p:cNvPr>
          <p:cNvSpPr txBox="1"/>
          <p:nvPr/>
        </p:nvSpPr>
        <p:spPr>
          <a:xfrm>
            <a:off x="10715102" y="4567517"/>
            <a:ext cx="771365" cy="338554"/>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Mobile</a:t>
            </a:r>
          </a:p>
        </p:txBody>
      </p:sp>
      <p:sp>
        <p:nvSpPr>
          <p:cNvPr id="23" name="TextBox 22">
            <a:extLst>
              <a:ext uri="{FF2B5EF4-FFF2-40B4-BE49-F238E27FC236}">
                <a16:creationId xmlns:a16="http://schemas.microsoft.com/office/drawing/2014/main" id="{970CF5FF-F040-48FF-A950-76231EAFDD24}"/>
              </a:ext>
            </a:extLst>
          </p:cNvPr>
          <p:cNvSpPr txBox="1"/>
          <p:nvPr/>
        </p:nvSpPr>
        <p:spPr>
          <a:xfrm>
            <a:off x="10625621" y="1907686"/>
            <a:ext cx="950324" cy="338554"/>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Compute</a:t>
            </a:r>
          </a:p>
        </p:txBody>
      </p:sp>
      <p:sp>
        <p:nvSpPr>
          <p:cNvPr id="81" name="TextBox 80">
            <a:extLst>
              <a:ext uri="{FF2B5EF4-FFF2-40B4-BE49-F238E27FC236}">
                <a16:creationId xmlns:a16="http://schemas.microsoft.com/office/drawing/2014/main" id="{FE2E7497-1FDC-0145-B2D7-2BB113820948}"/>
              </a:ext>
            </a:extLst>
          </p:cNvPr>
          <p:cNvSpPr txBox="1"/>
          <p:nvPr/>
        </p:nvSpPr>
        <p:spPr>
          <a:xfrm>
            <a:off x="10549478" y="3179421"/>
            <a:ext cx="1102610" cy="338554"/>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Game Tech</a:t>
            </a:r>
          </a:p>
        </p:txBody>
      </p:sp>
      <p:sp>
        <p:nvSpPr>
          <p:cNvPr id="36" name="TextBox 35">
            <a:extLst>
              <a:ext uri="{FF2B5EF4-FFF2-40B4-BE49-F238E27FC236}">
                <a16:creationId xmlns:a16="http://schemas.microsoft.com/office/drawing/2014/main" id="{DB1B3266-2555-43EB-AC7A-9550108148FA}"/>
              </a:ext>
            </a:extLst>
          </p:cNvPr>
          <p:cNvSpPr txBox="1"/>
          <p:nvPr/>
        </p:nvSpPr>
        <p:spPr>
          <a:xfrm>
            <a:off x="4311202" y="4567518"/>
            <a:ext cx="1705467" cy="584775"/>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Management and </a:t>
            </a:r>
            <a:b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Governance</a:t>
            </a:r>
          </a:p>
        </p:txBody>
      </p:sp>
      <p:sp>
        <p:nvSpPr>
          <p:cNvPr id="27" name="TextBox 26">
            <a:extLst>
              <a:ext uri="{FF2B5EF4-FFF2-40B4-BE49-F238E27FC236}">
                <a16:creationId xmlns:a16="http://schemas.microsoft.com/office/drawing/2014/main" id="{7FDD4960-C8B5-489C-82A0-9CA33CC5BBB5}"/>
              </a:ext>
            </a:extLst>
          </p:cNvPr>
          <p:cNvSpPr txBox="1"/>
          <p:nvPr/>
        </p:nvSpPr>
        <p:spPr>
          <a:xfrm>
            <a:off x="4684285" y="3179421"/>
            <a:ext cx="959301" cy="338554"/>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Database</a:t>
            </a:r>
          </a:p>
        </p:txBody>
      </p:sp>
      <p:sp>
        <p:nvSpPr>
          <p:cNvPr id="64" name="TextBox 63">
            <a:extLst>
              <a:ext uri="{FF2B5EF4-FFF2-40B4-BE49-F238E27FC236}">
                <a16:creationId xmlns:a16="http://schemas.microsoft.com/office/drawing/2014/main" id="{F2355A63-AF06-304C-AEA6-A7E601F2930E}"/>
              </a:ext>
            </a:extLst>
          </p:cNvPr>
          <p:cNvSpPr txBox="1"/>
          <p:nvPr/>
        </p:nvSpPr>
        <p:spPr>
          <a:xfrm>
            <a:off x="4638790" y="1907686"/>
            <a:ext cx="1050288" cy="338554"/>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AR and VR</a:t>
            </a:r>
          </a:p>
        </p:txBody>
      </p:sp>
      <p:sp>
        <p:nvSpPr>
          <p:cNvPr id="85" name="TextBox 84">
            <a:extLst>
              <a:ext uri="{FF2B5EF4-FFF2-40B4-BE49-F238E27FC236}">
                <a16:creationId xmlns:a16="http://schemas.microsoft.com/office/drawing/2014/main" id="{FC1AE6D1-1709-DB47-ACAF-728627BE89DC}"/>
              </a:ext>
            </a:extLst>
          </p:cNvPr>
          <p:cNvSpPr txBox="1"/>
          <p:nvPr/>
        </p:nvSpPr>
        <p:spPr>
          <a:xfrm>
            <a:off x="4737312" y="5915526"/>
            <a:ext cx="853247" cy="338554"/>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Satellite</a:t>
            </a:r>
          </a:p>
        </p:txBody>
      </p:sp>
      <p:sp>
        <p:nvSpPr>
          <p:cNvPr id="29" name="TextBox 28">
            <a:extLst>
              <a:ext uri="{FF2B5EF4-FFF2-40B4-BE49-F238E27FC236}">
                <a16:creationId xmlns:a16="http://schemas.microsoft.com/office/drawing/2014/main" id="{AE61170E-1A90-4B43-A277-51B2E3D6CBA5}"/>
              </a:ext>
            </a:extLst>
          </p:cNvPr>
          <p:cNvSpPr txBox="1"/>
          <p:nvPr/>
        </p:nvSpPr>
        <p:spPr>
          <a:xfrm>
            <a:off x="557423" y="5915527"/>
            <a:ext cx="1580304" cy="584775"/>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Networking and</a:t>
            </a:r>
          </a:p>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Content Delivery</a:t>
            </a:r>
          </a:p>
        </p:txBody>
      </p:sp>
      <p:sp>
        <p:nvSpPr>
          <p:cNvPr id="34" name="TextBox 33">
            <a:extLst>
              <a:ext uri="{FF2B5EF4-FFF2-40B4-BE49-F238E27FC236}">
                <a16:creationId xmlns:a16="http://schemas.microsoft.com/office/drawing/2014/main" id="{66C24973-FB36-4CB7-913E-55FE5E2EA952}"/>
              </a:ext>
            </a:extLst>
          </p:cNvPr>
          <p:cNvSpPr txBox="1"/>
          <p:nvPr/>
        </p:nvSpPr>
        <p:spPr>
          <a:xfrm>
            <a:off x="877736" y="4567518"/>
            <a:ext cx="939681" cy="584775"/>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Internet </a:t>
            </a:r>
            <a:b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of Things</a:t>
            </a:r>
          </a:p>
        </p:txBody>
      </p:sp>
      <p:sp>
        <p:nvSpPr>
          <p:cNvPr id="31" name="TextBox 30">
            <a:extLst>
              <a:ext uri="{FF2B5EF4-FFF2-40B4-BE49-F238E27FC236}">
                <a16:creationId xmlns:a16="http://schemas.microsoft.com/office/drawing/2014/main" id="{CD480D35-9445-4C6E-971C-0B6FF27446BE}"/>
              </a:ext>
            </a:extLst>
          </p:cNvPr>
          <p:cNvSpPr txBox="1"/>
          <p:nvPr/>
        </p:nvSpPr>
        <p:spPr>
          <a:xfrm>
            <a:off x="882031" y="1907686"/>
            <a:ext cx="931088" cy="338554"/>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Analytics</a:t>
            </a:r>
          </a:p>
        </p:txBody>
      </p:sp>
      <p:sp>
        <p:nvSpPr>
          <p:cNvPr id="92" name="TextBox 91">
            <a:extLst>
              <a:ext uri="{FF2B5EF4-FFF2-40B4-BE49-F238E27FC236}">
                <a16:creationId xmlns:a16="http://schemas.microsoft.com/office/drawing/2014/main" id="{9DBF4F11-9E41-514B-BC18-3125833A47B4}"/>
              </a:ext>
            </a:extLst>
          </p:cNvPr>
          <p:cNvSpPr txBox="1"/>
          <p:nvPr/>
        </p:nvSpPr>
        <p:spPr>
          <a:xfrm>
            <a:off x="697621" y="3179422"/>
            <a:ext cx="1299908" cy="584775"/>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Cost </a:t>
            </a:r>
            <a:b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Management</a:t>
            </a:r>
          </a:p>
        </p:txBody>
      </p:sp>
      <p:sp>
        <p:nvSpPr>
          <p:cNvPr id="59" name="TextBox 58">
            <a:extLst>
              <a:ext uri="{FF2B5EF4-FFF2-40B4-BE49-F238E27FC236}">
                <a16:creationId xmlns:a16="http://schemas.microsoft.com/office/drawing/2014/main" id="{D2E5BF37-DC18-4CB9-B30F-433B74CDAE9C}"/>
              </a:ext>
            </a:extLst>
          </p:cNvPr>
          <p:cNvSpPr txBox="1"/>
          <p:nvPr/>
        </p:nvSpPr>
        <p:spPr>
          <a:xfrm>
            <a:off x="2509234" y="4567518"/>
            <a:ext cx="1420906" cy="584775"/>
          </a:xfrm>
          <a:prstGeom prst="rect">
            <a:avLst/>
          </a:prstGeom>
          <a:noFill/>
        </p:spPr>
        <p:txBody>
          <a:bodyPr wrap="squar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Machine Learning</a:t>
            </a:r>
          </a:p>
        </p:txBody>
      </p:sp>
      <p:sp>
        <p:nvSpPr>
          <p:cNvPr id="62" name="TextBox 61">
            <a:extLst>
              <a:ext uri="{FF2B5EF4-FFF2-40B4-BE49-F238E27FC236}">
                <a16:creationId xmlns:a16="http://schemas.microsoft.com/office/drawing/2014/main" id="{404286D4-4E11-6544-9882-BCA37CD2F21C}"/>
              </a:ext>
            </a:extLst>
          </p:cNvPr>
          <p:cNvSpPr txBox="1"/>
          <p:nvPr/>
        </p:nvSpPr>
        <p:spPr>
          <a:xfrm>
            <a:off x="2657900" y="1907687"/>
            <a:ext cx="1123577" cy="584775"/>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Application</a:t>
            </a:r>
          </a:p>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Integration</a:t>
            </a:r>
          </a:p>
        </p:txBody>
      </p:sp>
      <p:sp>
        <p:nvSpPr>
          <p:cNvPr id="88" name="TextBox 87">
            <a:extLst>
              <a:ext uri="{FF2B5EF4-FFF2-40B4-BE49-F238E27FC236}">
                <a16:creationId xmlns:a16="http://schemas.microsoft.com/office/drawing/2014/main" id="{E236F9FE-3225-8A45-9D6B-F8A8FEDF5E43}"/>
              </a:ext>
            </a:extLst>
          </p:cNvPr>
          <p:cNvSpPr txBox="1"/>
          <p:nvPr/>
        </p:nvSpPr>
        <p:spPr>
          <a:xfrm>
            <a:off x="2609297" y="3179422"/>
            <a:ext cx="1220783" cy="584775"/>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Customer </a:t>
            </a:r>
            <a:b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Engagement</a:t>
            </a:r>
          </a:p>
        </p:txBody>
      </p:sp>
      <p:grpSp>
        <p:nvGrpSpPr>
          <p:cNvPr id="5" name="Group 4">
            <a:extLst>
              <a:ext uri="{FF2B5EF4-FFF2-40B4-BE49-F238E27FC236}">
                <a16:creationId xmlns:a16="http://schemas.microsoft.com/office/drawing/2014/main" id="{09F05DB3-05C2-086F-AEB8-76C5E5FEF3DB}"/>
              </a:ext>
              <a:ext uri="{C183D7F6-B498-43B3-948B-1728B52AA6E4}">
                <adec:decorative xmlns:adec="http://schemas.microsoft.com/office/drawing/2017/decorative" val="1"/>
              </a:ext>
            </a:extLst>
          </p:cNvPr>
          <p:cNvGrpSpPr/>
          <p:nvPr/>
        </p:nvGrpSpPr>
        <p:grpSpPr>
          <a:xfrm>
            <a:off x="981815" y="1226550"/>
            <a:ext cx="10484728" cy="4745426"/>
            <a:chOff x="975465" y="1226550"/>
            <a:chExt cx="10484728" cy="4745426"/>
          </a:xfrm>
        </p:grpSpPr>
        <p:pic>
          <p:nvPicPr>
            <p:cNvPr id="45" name="Graphic 44" descr="AWS developer tools icon.">
              <a:extLst>
                <a:ext uri="{FF2B5EF4-FFF2-40B4-BE49-F238E27FC236}">
                  <a16:creationId xmlns:a16="http://schemas.microsoft.com/office/drawing/2014/main" id="{693F8DC6-C582-4941-9AD2-3F30DCEEBBC6}"/>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11424" y="2490944"/>
              <a:ext cx="731520" cy="731520"/>
            </a:xfrm>
            <a:prstGeom prst="rect">
              <a:avLst/>
            </a:prstGeom>
          </p:spPr>
        </p:pic>
        <p:pic>
          <p:nvPicPr>
            <p:cNvPr id="47" name="Graphic 46" descr="AWs security and identity icon.">
              <a:extLst>
                <a:ext uri="{FF2B5EF4-FFF2-40B4-BE49-F238E27FC236}">
                  <a16:creationId xmlns:a16="http://schemas.microsoft.com/office/drawing/2014/main" id="{20219465-2930-4222-8CB2-BCCC8F2F380D}"/>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11424" y="5240456"/>
              <a:ext cx="731520" cy="731520"/>
            </a:xfrm>
            <a:prstGeom prst="rect">
              <a:avLst/>
            </a:prstGeom>
          </p:spPr>
        </p:pic>
        <p:pic>
          <p:nvPicPr>
            <p:cNvPr id="58" name="Graphic 57">
              <a:extLst>
                <a:ext uri="{FF2B5EF4-FFF2-40B4-BE49-F238E27FC236}">
                  <a16:creationId xmlns:a16="http://schemas.microsoft.com/office/drawing/2014/main" id="{E115ADA5-4FD3-634B-9CEB-C2ACD1B686F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11424" y="1226550"/>
              <a:ext cx="731520" cy="731520"/>
            </a:xfrm>
            <a:prstGeom prst="rect">
              <a:avLst/>
            </a:prstGeom>
          </p:spPr>
        </p:pic>
        <p:pic>
          <p:nvPicPr>
            <p:cNvPr id="74" name="Graphic 73">
              <a:extLst>
                <a:ext uri="{FF2B5EF4-FFF2-40B4-BE49-F238E27FC236}">
                  <a16:creationId xmlns:a16="http://schemas.microsoft.com/office/drawing/2014/main" id="{FDF3D634-D03D-164F-A9B6-811A7201F79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011424" y="3881466"/>
              <a:ext cx="731520" cy="731520"/>
            </a:xfrm>
            <a:prstGeom prst="rect">
              <a:avLst/>
            </a:prstGeom>
          </p:spPr>
        </p:pic>
        <p:pic>
          <p:nvPicPr>
            <p:cNvPr id="24" name="Graphic 23" descr="AWS storage icon.">
              <a:extLst>
                <a:ext uri="{FF2B5EF4-FFF2-40B4-BE49-F238E27FC236}">
                  <a16:creationId xmlns:a16="http://schemas.microsoft.com/office/drawing/2014/main" id="{E356DDF8-6319-4787-AA90-C7EEA0097514}"/>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063510" y="5240456"/>
              <a:ext cx="731520" cy="731520"/>
            </a:xfrm>
            <a:prstGeom prst="rect">
              <a:avLst/>
            </a:prstGeom>
          </p:spPr>
        </p:pic>
        <p:pic>
          <p:nvPicPr>
            <p:cNvPr id="39" name="Graphic 38" descr="AWS enterprise applications icon.">
              <a:extLst>
                <a:ext uri="{FF2B5EF4-FFF2-40B4-BE49-F238E27FC236}">
                  <a16:creationId xmlns:a16="http://schemas.microsoft.com/office/drawing/2014/main" id="{79E2A1C7-B65E-4107-BBA7-6CBFA140D29E}"/>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063510" y="1226550"/>
              <a:ext cx="731520" cy="731520"/>
            </a:xfrm>
            <a:prstGeom prst="rect">
              <a:avLst/>
            </a:prstGeom>
          </p:spPr>
        </p:pic>
        <p:pic>
          <p:nvPicPr>
            <p:cNvPr id="71" name="Graphic 70">
              <a:extLst>
                <a:ext uri="{FF2B5EF4-FFF2-40B4-BE49-F238E27FC236}">
                  <a16:creationId xmlns:a16="http://schemas.microsoft.com/office/drawing/2014/main" id="{93DAA41C-C974-AD47-A53C-1039F8E2DBC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063510" y="2490944"/>
              <a:ext cx="731520" cy="731520"/>
            </a:xfrm>
            <a:prstGeom prst="rect">
              <a:avLst/>
            </a:prstGeom>
          </p:spPr>
        </p:pic>
        <p:pic>
          <p:nvPicPr>
            <p:cNvPr id="77" name="Graphic 76">
              <a:extLst>
                <a:ext uri="{FF2B5EF4-FFF2-40B4-BE49-F238E27FC236}">
                  <a16:creationId xmlns:a16="http://schemas.microsoft.com/office/drawing/2014/main" id="{A9FD4A75-9442-7545-BE2D-9637B4E802E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063510" y="3881466"/>
              <a:ext cx="731520" cy="731520"/>
            </a:xfrm>
            <a:prstGeom prst="rect">
              <a:avLst/>
            </a:prstGeom>
          </p:spPr>
        </p:pic>
        <p:pic>
          <p:nvPicPr>
            <p:cNvPr id="40" name="Graphic 39" descr="AWS mobile icon.">
              <a:extLst>
                <a:ext uri="{FF2B5EF4-FFF2-40B4-BE49-F238E27FC236}">
                  <a16:creationId xmlns:a16="http://schemas.microsoft.com/office/drawing/2014/main" id="{8C0FABC2-4238-43BD-9506-86B5F95FA792}"/>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728673" y="3881466"/>
              <a:ext cx="731520" cy="731520"/>
            </a:xfrm>
            <a:prstGeom prst="rect">
              <a:avLst/>
            </a:prstGeom>
          </p:spPr>
        </p:pic>
        <p:pic>
          <p:nvPicPr>
            <p:cNvPr id="22" name="Graphic 21" descr="AWS compute icon.">
              <a:extLst>
                <a:ext uri="{FF2B5EF4-FFF2-40B4-BE49-F238E27FC236}">
                  <a16:creationId xmlns:a16="http://schemas.microsoft.com/office/drawing/2014/main" id="{5ACF59DB-8F9A-48FE-B180-E14F8F83A73B}"/>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728673" y="1226550"/>
              <a:ext cx="731520" cy="731520"/>
            </a:xfrm>
            <a:prstGeom prst="rect">
              <a:avLst/>
            </a:prstGeom>
          </p:spPr>
        </p:pic>
        <p:pic>
          <p:nvPicPr>
            <p:cNvPr id="80" name="Graphic 79">
              <a:extLst>
                <a:ext uri="{FF2B5EF4-FFF2-40B4-BE49-F238E27FC236}">
                  <a16:creationId xmlns:a16="http://schemas.microsoft.com/office/drawing/2014/main" id="{E2B8BEDD-83DC-7340-BEE5-007FB8658AB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728673" y="2490944"/>
              <a:ext cx="731520" cy="731520"/>
            </a:xfrm>
            <a:prstGeom prst="rect">
              <a:avLst/>
            </a:prstGeom>
          </p:spPr>
        </p:pic>
        <p:pic>
          <p:nvPicPr>
            <p:cNvPr id="46" name="Graphic 45" descr="AWS management tools icon.">
              <a:extLst>
                <a:ext uri="{FF2B5EF4-FFF2-40B4-BE49-F238E27FC236}">
                  <a16:creationId xmlns:a16="http://schemas.microsoft.com/office/drawing/2014/main" id="{B4E14D40-B48E-4CC2-8499-58B2477D85D8}"/>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791824" y="3881466"/>
              <a:ext cx="731520" cy="731520"/>
            </a:xfrm>
            <a:prstGeom prst="rect">
              <a:avLst/>
            </a:prstGeom>
          </p:spPr>
        </p:pic>
        <p:pic>
          <p:nvPicPr>
            <p:cNvPr id="26" name="Graphic 25" descr="AWS database icon.">
              <a:extLst>
                <a:ext uri="{FF2B5EF4-FFF2-40B4-BE49-F238E27FC236}">
                  <a16:creationId xmlns:a16="http://schemas.microsoft.com/office/drawing/2014/main" id="{CD490A6D-3B43-4E2E-8037-798CD75403A1}"/>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791824" y="2490944"/>
              <a:ext cx="731520" cy="731520"/>
            </a:xfrm>
            <a:prstGeom prst="rect">
              <a:avLst/>
            </a:prstGeom>
          </p:spPr>
        </p:pic>
        <p:pic>
          <p:nvPicPr>
            <p:cNvPr id="63" name="Graphic 62">
              <a:extLst>
                <a:ext uri="{FF2B5EF4-FFF2-40B4-BE49-F238E27FC236}">
                  <a16:creationId xmlns:a16="http://schemas.microsoft.com/office/drawing/2014/main" id="{C9962C28-472E-184B-8D92-C45F606D97E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4791824" y="1226550"/>
              <a:ext cx="731520" cy="731520"/>
            </a:xfrm>
            <a:prstGeom prst="rect">
              <a:avLst/>
            </a:prstGeom>
          </p:spPr>
        </p:pic>
        <p:pic>
          <p:nvPicPr>
            <p:cNvPr id="84" name="Graphic 83">
              <a:extLst>
                <a:ext uri="{FF2B5EF4-FFF2-40B4-BE49-F238E27FC236}">
                  <a16:creationId xmlns:a16="http://schemas.microsoft.com/office/drawing/2014/main" id="{76CC1574-4316-8745-88E7-3574F726783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4791824" y="5240456"/>
              <a:ext cx="731520" cy="731520"/>
            </a:xfrm>
            <a:prstGeom prst="rect">
              <a:avLst/>
            </a:prstGeom>
          </p:spPr>
        </p:pic>
        <p:pic>
          <p:nvPicPr>
            <p:cNvPr id="28" name="Graphic 27" descr="AWS networking and content delivery icon.">
              <a:extLst>
                <a:ext uri="{FF2B5EF4-FFF2-40B4-BE49-F238E27FC236}">
                  <a16:creationId xmlns:a16="http://schemas.microsoft.com/office/drawing/2014/main" id="{8A07F3F7-4AF9-495E-9351-928106FFF99D}"/>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75465" y="5240456"/>
              <a:ext cx="731520" cy="731520"/>
            </a:xfrm>
            <a:prstGeom prst="rect">
              <a:avLst/>
            </a:prstGeom>
          </p:spPr>
        </p:pic>
        <p:pic>
          <p:nvPicPr>
            <p:cNvPr id="41" name="Graphic 40" descr="AWS internet of things icon.">
              <a:extLst>
                <a:ext uri="{FF2B5EF4-FFF2-40B4-BE49-F238E27FC236}">
                  <a16:creationId xmlns:a16="http://schemas.microsoft.com/office/drawing/2014/main" id="{9CCE4B49-9479-4457-91A8-35E93ACA2973}"/>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975465" y="3881466"/>
              <a:ext cx="731520" cy="731520"/>
            </a:xfrm>
            <a:prstGeom prst="rect">
              <a:avLst/>
            </a:prstGeom>
          </p:spPr>
        </p:pic>
        <p:pic>
          <p:nvPicPr>
            <p:cNvPr id="30" name="Graphic 29" descr="AWS analytics icon.">
              <a:extLst>
                <a:ext uri="{FF2B5EF4-FFF2-40B4-BE49-F238E27FC236}">
                  <a16:creationId xmlns:a16="http://schemas.microsoft.com/office/drawing/2014/main" id="{BFF91D77-2C34-442A-9CCF-659E2B57C602}"/>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975465" y="1226550"/>
              <a:ext cx="731520" cy="731520"/>
            </a:xfrm>
            <a:prstGeom prst="rect">
              <a:avLst/>
            </a:prstGeom>
          </p:spPr>
        </p:pic>
        <p:pic>
          <p:nvPicPr>
            <p:cNvPr id="91" name="Graphic 90">
              <a:extLst>
                <a:ext uri="{FF2B5EF4-FFF2-40B4-BE49-F238E27FC236}">
                  <a16:creationId xmlns:a16="http://schemas.microsoft.com/office/drawing/2014/main" id="{5849C4D0-7B51-A14F-8E95-A7A74E09D33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975465" y="2490944"/>
              <a:ext cx="731520" cy="731520"/>
            </a:xfrm>
            <a:prstGeom prst="rect">
              <a:avLst/>
            </a:prstGeom>
          </p:spPr>
        </p:pic>
        <p:pic>
          <p:nvPicPr>
            <p:cNvPr id="57" name="Graphic 56" descr="AWS machine learning icon.">
              <a:extLst>
                <a:ext uri="{FF2B5EF4-FFF2-40B4-BE49-F238E27FC236}">
                  <a16:creationId xmlns:a16="http://schemas.microsoft.com/office/drawing/2014/main" id="{3CABFD0E-BB49-4FF3-AF90-7E596AB84EAF}"/>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2847577" y="3881466"/>
              <a:ext cx="731520" cy="731520"/>
            </a:xfrm>
            <a:prstGeom prst="rect">
              <a:avLst/>
            </a:prstGeom>
          </p:spPr>
        </p:pic>
        <p:pic>
          <p:nvPicPr>
            <p:cNvPr id="61" name="Graphic 60">
              <a:extLst>
                <a:ext uri="{FF2B5EF4-FFF2-40B4-BE49-F238E27FC236}">
                  <a16:creationId xmlns:a16="http://schemas.microsoft.com/office/drawing/2014/main" id="{D0BCA487-74F6-C448-9FDA-0F8E56EC7E3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2847577" y="1226550"/>
              <a:ext cx="731520" cy="731520"/>
            </a:xfrm>
            <a:prstGeom prst="rect">
              <a:avLst/>
            </a:prstGeom>
          </p:spPr>
        </p:pic>
        <p:pic>
          <p:nvPicPr>
            <p:cNvPr id="87" name="Graphic 86">
              <a:extLst>
                <a:ext uri="{FF2B5EF4-FFF2-40B4-BE49-F238E27FC236}">
                  <a16:creationId xmlns:a16="http://schemas.microsoft.com/office/drawing/2014/main" id="{2B0359D4-DCEE-9C46-85B9-EF49B7C5B03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2847577" y="2490944"/>
              <a:ext cx="731520" cy="731520"/>
            </a:xfrm>
            <a:prstGeom prst="rect">
              <a:avLst/>
            </a:prstGeom>
          </p:spPr>
        </p:pic>
        <p:pic>
          <p:nvPicPr>
            <p:cNvPr id="103" name="Graphic 102">
              <a:extLst>
                <a:ext uri="{FF2B5EF4-FFF2-40B4-BE49-F238E27FC236}">
                  <a16:creationId xmlns:a16="http://schemas.microsoft.com/office/drawing/2014/main" id="{5C507252-74D0-604D-9FAD-68677C42BA8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2847577" y="5240456"/>
              <a:ext cx="731520" cy="731520"/>
            </a:xfrm>
            <a:prstGeom prst="rect">
              <a:avLst/>
            </a:prstGeom>
          </p:spPr>
        </p:pic>
      </p:grpSp>
      <p:sp>
        <p:nvSpPr>
          <p:cNvPr id="104" name="TextBox 103">
            <a:extLst>
              <a:ext uri="{FF2B5EF4-FFF2-40B4-BE49-F238E27FC236}">
                <a16:creationId xmlns:a16="http://schemas.microsoft.com/office/drawing/2014/main" id="{5F651800-958E-7444-9606-DF8A840194B7}"/>
              </a:ext>
            </a:extLst>
          </p:cNvPr>
          <p:cNvSpPr txBox="1"/>
          <p:nvPr/>
        </p:nvSpPr>
        <p:spPr>
          <a:xfrm>
            <a:off x="2769597" y="5915526"/>
            <a:ext cx="900183" cy="338554"/>
          </a:xfrm>
          <a:prstGeom prst="rect">
            <a:avLst/>
          </a:prstGeom>
          <a:noFill/>
        </p:spPr>
        <p:txBody>
          <a:bodyPr wrap="none" rtlCol="0">
            <a:spAutoFit/>
          </a:bodyPr>
          <a:lstStyle/>
          <a:p>
            <a:pPr algn="ctr" rtl="0">
              <a:defRPr/>
            </a:pPr>
            <a:r>
              <a:rPr lang="en-US" sz="1600"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Robotics</a:t>
            </a:r>
          </a:p>
        </p:txBody>
      </p:sp>
    </p:spTree>
    <p:custDataLst>
      <p:tags r:id="rId1"/>
    </p:custDataLst>
    <p:extLst>
      <p:ext uri="{BB962C8B-B14F-4D97-AF65-F5344CB8AC3E}">
        <p14:creationId xmlns:p14="http://schemas.microsoft.com/office/powerpoint/2010/main" val="37134259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E468101-4BB4-5743-AB1E-51CE8F7559B9}"/>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latin typeface="+mn-lt"/>
              </a:rPr>
              <a:t>46</a:t>
            </a:fld>
            <a:endParaRPr lang="en-US" dirty="0">
              <a:latin typeface="+mn-lt"/>
            </a:endParaRPr>
          </a:p>
        </p:txBody>
      </p:sp>
      <p:sp>
        <p:nvSpPr>
          <p:cNvPr id="2" name="Title 1"/>
          <p:cNvSpPr>
            <a:spLocks noGrp="1"/>
          </p:cNvSpPr>
          <p:nvPr>
            <p:ph type="title"/>
          </p:nvPr>
        </p:nvSpPr>
        <p:spPr/>
        <p:txBody>
          <a:bodyPr>
            <a:noAutofit/>
          </a:bodyPr>
          <a:lstStyle/>
          <a:p>
            <a:r>
              <a:rPr lang="en-US" dirty="0">
                <a:latin typeface="+mj-lt"/>
              </a:rPr>
              <a:t>AWS Foundational Services</a:t>
            </a:r>
          </a:p>
        </p:txBody>
      </p:sp>
      <p:grpSp>
        <p:nvGrpSpPr>
          <p:cNvPr id="5" name="Group 4" descr="Diagram. See description in slide notes.">
            <a:extLst>
              <a:ext uri="{FF2B5EF4-FFF2-40B4-BE49-F238E27FC236}">
                <a16:creationId xmlns:a16="http://schemas.microsoft.com/office/drawing/2014/main" id="{6D68CF7D-D920-1A78-5B25-CB3BAA7F0B4B}"/>
              </a:ext>
            </a:extLst>
          </p:cNvPr>
          <p:cNvGrpSpPr/>
          <p:nvPr/>
        </p:nvGrpSpPr>
        <p:grpSpPr>
          <a:xfrm>
            <a:off x="209550" y="1357306"/>
            <a:ext cx="11750450" cy="5076995"/>
            <a:chOff x="203200" y="1357305"/>
            <a:chExt cx="11750450" cy="5076995"/>
          </a:xfrm>
        </p:grpSpPr>
        <p:sp>
          <p:nvSpPr>
            <p:cNvPr id="72" name="Rounded Rectangle 71">
              <a:extLst>
                <a:ext uri="{C183D7F6-B498-43B3-948B-1728B52AA6E4}">
                  <adec:decorative xmlns:adec="http://schemas.microsoft.com/office/drawing/2017/decorative" val="1"/>
                </a:ext>
              </a:extLst>
            </p:cNvPr>
            <p:cNvSpPr/>
            <p:nvPr>
              <p:custDataLst>
                <p:tags r:id="rId2"/>
              </p:custDataLst>
            </p:nvPr>
          </p:nvSpPr>
          <p:spPr>
            <a:xfrm>
              <a:off x="203200" y="1357305"/>
              <a:ext cx="11750450" cy="5076995"/>
            </a:xfrm>
            <a:prstGeom prst="roundRect">
              <a:avLst>
                <a:gd name="adj" fmla="val 510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 </a:t>
              </a:r>
            </a:p>
          </p:txBody>
        </p:sp>
        <p:sp>
          <p:nvSpPr>
            <p:cNvPr id="74" name="TextBox 73">
              <a:extLst>
                <a:ext uri="{C183D7F6-B498-43B3-948B-1728B52AA6E4}">
                  <adec:decorative xmlns:adec="http://schemas.microsoft.com/office/drawing/2017/decorative" val="1"/>
                </a:ext>
              </a:extLst>
            </p:cNvPr>
            <p:cNvSpPr txBox="1"/>
            <p:nvPr/>
          </p:nvSpPr>
          <p:spPr>
            <a:xfrm>
              <a:off x="933766" y="5882050"/>
              <a:ext cx="1688212" cy="369332"/>
            </a:xfrm>
            <a:prstGeom prst="rect">
              <a:avLst/>
            </a:prstGeom>
            <a:noFill/>
          </p:spPr>
          <p:txBody>
            <a:bodyPr wrap="square" rtlCol="0">
              <a:spAutoFit/>
            </a:bodyPr>
            <a:lstStyle/>
            <a:p>
              <a:pPr algn="r" defTabSz="609585" fontAlgn="base">
                <a:spcBef>
                  <a:spcPct val="0"/>
                </a:spcBef>
                <a:spcAft>
                  <a:spcPct val="0"/>
                </a:spcAft>
              </a:pPr>
              <a:r>
                <a:rPr lang="en-US" b="1" dirty="0">
                  <a:solidFill>
                    <a:srgbClr val="88A57F"/>
                  </a:solidFill>
                  <a:cs typeface="Arial"/>
                </a:rPr>
                <a:t>Infrastructure</a:t>
              </a:r>
            </a:p>
          </p:txBody>
        </p:sp>
        <p:sp>
          <p:nvSpPr>
            <p:cNvPr id="75" name="Rectangle 74">
              <a:extLst>
                <a:ext uri="{C183D7F6-B498-43B3-948B-1728B52AA6E4}">
                  <adec:decorative xmlns:adec="http://schemas.microsoft.com/office/drawing/2017/decorative" val="1"/>
                </a:ext>
              </a:extLst>
            </p:cNvPr>
            <p:cNvSpPr/>
            <p:nvPr/>
          </p:nvSpPr>
          <p:spPr>
            <a:xfrm>
              <a:off x="2622715" y="5745362"/>
              <a:ext cx="8651725" cy="602914"/>
            </a:xfrm>
            <a:prstGeom prst="rect">
              <a:avLst/>
            </a:prstGeom>
            <a:solidFill>
              <a:schemeClr val="bg1"/>
            </a:solidFill>
            <a:ln>
              <a:solidFill>
                <a:srgbClr val="B1B3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fontAlgn="base">
                <a:spcBef>
                  <a:spcPct val="0"/>
                </a:spcBef>
                <a:spcAft>
                  <a:spcPct val="0"/>
                </a:spcAft>
              </a:pPr>
              <a:endParaRPr lang="en-US" sz="2400" dirty="0">
                <a:solidFill>
                  <a:srgbClr val="FFFFFF"/>
                </a:solidFill>
              </a:endParaRPr>
            </a:p>
          </p:txBody>
        </p:sp>
        <p:grpSp>
          <p:nvGrpSpPr>
            <p:cNvPr id="76" name="Group 75">
              <a:extLst>
                <a:ext uri="{C183D7F6-B498-43B3-948B-1728B52AA6E4}">
                  <adec:decorative xmlns:adec="http://schemas.microsoft.com/office/drawing/2017/decorative" val="1"/>
                </a:ext>
              </a:extLst>
            </p:cNvPr>
            <p:cNvGrpSpPr/>
            <p:nvPr/>
          </p:nvGrpSpPr>
          <p:grpSpPr>
            <a:xfrm>
              <a:off x="3390602" y="5880148"/>
              <a:ext cx="2038159" cy="343206"/>
              <a:chOff x="1993984" y="4281830"/>
              <a:chExt cx="1701831" cy="300618"/>
            </a:xfrm>
            <a:solidFill>
              <a:schemeClr val="bg1"/>
            </a:solidFill>
          </p:grpSpPr>
          <p:sp>
            <p:nvSpPr>
              <p:cNvPr id="116" name="TextBox 115"/>
              <p:cNvSpPr txBox="1"/>
              <p:nvPr/>
            </p:nvSpPr>
            <p:spPr>
              <a:xfrm>
                <a:off x="2784433" y="4285905"/>
                <a:ext cx="911382" cy="296543"/>
              </a:xfrm>
              <a:prstGeom prst="rect">
                <a:avLst/>
              </a:prstGeom>
              <a:grpFill/>
            </p:spPr>
            <p:txBody>
              <a:bodyPr wrap="square" rtlCol="0">
                <a:spAutoFit/>
              </a:bodyPr>
              <a:lstStyle/>
              <a:p>
                <a:pPr defTabSz="609585" fontAlgn="base">
                  <a:spcBef>
                    <a:spcPct val="0"/>
                  </a:spcBef>
                  <a:spcAft>
                    <a:spcPct val="0"/>
                  </a:spcAft>
                </a:pPr>
                <a:r>
                  <a:rPr lang="en-US" sz="1600" dirty="0">
                    <a:solidFill>
                      <a:srgbClr val="636466"/>
                    </a:solidFill>
                    <a:cs typeface="Arial"/>
                  </a:rPr>
                  <a:t>Regions</a:t>
                </a:r>
              </a:p>
            </p:txBody>
          </p:sp>
          <p:grpSp>
            <p:nvGrpSpPr>
              <p:cNvPr id="117" name="Group 937"/>
              <p:cNvGrpSpPr/>
              <p:nvPr/>
            </p:nvGrpSpPr>
            <p:grpSpPr>
              <a:xfrm>
                <a:off x="1993984" y="4281830"/>
                <a:ext cx="269760" cy="269760"/>
                <a:chOff x="0" y="0"/>
                <a:chExt cx="723900" cy="723900"/>
              </a:xfrm>
              <a:grpFill/>
            </p:grpSpPr>
            <p:sp>
              <p:nvSpPr>
                <p:cNvPr id="118" name="Shape 919"/>
                <p:cNvSpPr/>
                <p:nvPr/>
              </p:nvSpPr>
              <p:spPr>
                <a:xfrm>
                  <a:off x="0" y="0"/>
                  <a:ext cx="723901" cy="723901"/>
                </a:xfrm>
                <a:custGeom>
                  <a:avLst/>
                  <a:gdLst/>
                  <a:ahLst/>
                  <a:cxnLst>
                    <a:cxn ang="0">
                      <a:pos x="wd2" y="hd2"/>
                    </a:cxn>
                    <a:cxn ang="5400000">
                      <a:pos x="wd2" y="hd2"/>
                    </a:cxn>
                    <a:cxn ang="10800000">
                      <a:pos x="wd2" y="hd2"/>
                    </a:cxn>
                    <a:cxn ang="16200000">
                      <a:pos x="wd2" y="hd2"/>
                    </a:cxn>
                  </a:cxnLst>
                  <a:rect l="0" t="0" r="r" b="b"/>
                  <a:pathLst>
                    <a:path w="21600" h="21600" extrusionOk="0">
                      <a:moveTo>
                        <a:pt x="20048" y="0"/>
                      </a:moveTo>
                      <a:cubicBezTo>
                        <a:pt x="1552" y="0"/>
                        <a:pt x="1552" y="0"/>
                        <a:pt x="1552" y="0"/>
                      </a:cubicBezTo>
                      <a:cubicBezTo>
                        <a:pt x="696" y="0"/>
                        <a:pt x="0" y="696"/>
                        <a:pt x="0" y="1552"/>
                      </a:cubicBezTo>
                      <a:cubicBezTo>
                        <a:pt x="0" y="20048"/>
                        <a:pt x="0" y="20048"/>
                        <a:pt x="0" y="20048"/>
                      </a:cubicBezTo>
                      <a:cubicBezTo>
                        <a:pt x="0" y="20904"/>
                        <a:pt x="696" y="21600"/>
                        <a:pt x="1552" y="21600"/>
                      </a:cubicBezTo>
                      <a:cubicBezTo>
                        <a:pt x="5300" y="21600"/>
                        <a:pt x="5300" y="21600"/>
                        <a:pt x="5300" y="21600"/>
                      </a:cubicBezTo>
                      <a:cubicBezTo>
                        <a:pt x="6049" y="21600"/>
                        <a:pt x="6049" y="21600"/>
                        <a:pt x="6049" y="21600"/>
                      </a:cubicBezTo>
                      <a:cubicBezTo>
                        <a:pt x="6745" y="21600"/>
                        <a:pt x="6745" y="21600"/>
                        <a:pt x="6745" y="21600"/>
                      </a:cubicBezTo>
                      <a:cubicBezTo>
                        <a:pt x="8859" y="21600"/>
                        <a:pt x="8859" y="21600"/>
                        <a:pt x="8859" y="21600"/>
                      </a:cubicBezTo>
                      <a:cubicBezTo>
                        <a:pt x="10171" y="21600"/>
                        <a:pt x="10171" y="21600"/>
                        <a:pt x="10171" y="21600"/>
                      </a:cubicBezTo>
                      <a:cubicBezTo>
                        <a:pt x="20048" y="21600"/>
                        <a:pt x="20048" y="21600"/>
                        <a:pt x="20048" y="21600"/>
                      </a:cubicBezTo>
                      <a:cubicBezTo>
                        <a:pt x="20904" y="21600"/>
                        <a:pt x="21600" y="20904"/>
                        <a:pt x="21600" y="20048"/>
                      </a:cubicBezTo>
                      <a:cubicBezTo>
                        <a:pt x="21600" y="18683"/>
                        <a:pt x="21600" y="18683"/>
                        <a:pt x="21600" y="18683"/>
                      </a:cubicBezTo>
                      <a:cubicBezTo>
                        <a:pt x="21600" y="10760"/>
                        <a:pt x="21600" y="10760"/>
                        <a:pt x="21600" y="10760"/>
                      </a:cubicBezTo>
                      <a:cubicBezTo>
                        <a:pt x="21600" y="9877"/>
                        <a:pt x="21600" y="9877"/>
                        <a:pt x="21600" y="9877"/>
                      </a:cubicBezTo>
                      <a:cubicBezTo>
                        <a:pt x="21600" y="7414"/>
                        <a:pt x="21600" y="7414"/>
                        <a:pt x="21600" y="7414"/>
                      </a:cubicBezTo>
                      <a:cubicBezTo>
                        <a:pt x="21600" y="6397"/>
                        <a:pt x="21600" y="6397"/>
                        <a:pt x="21600" y="6397"/>
                      </a:cubicBezTo>
                      <a:cubicBezTo>
                        <a:pt x="21600" y="1552"/>
                        <a:pt x="21600" y="1552"/>
                        <a:pt x="21600" y="1552"/>
                      </a:cubicBezTo>
                      <a:cubicBezTo>
                        <a:pt x="21600" y="696"/>
                        <a:pt x="20904" y="0"/>
                        <a:pt x="20048" y="0"/>
                      </a:cubicBezTo>
                      <a:close/>
                      <a:moveTo>
                        <a:pt x="4336" y="15765"/>
                      </a:moveTo>
                      <a:cubicBezTo>
                        <a:pt x="4336" y="15765"/>
                        <a:pt x="4336" y="15765"/>
                        <a:pt x="4336" y="15765"/>
                      </a:cubicBezTo>
                      <a:cubicBezTo>
                        <a:pt x="4256" y="15685"/>
                        <a:pt x="4256" y="15685"/>
                        <a:pt x="4256" y="15685"/>
                      </a:cubicBezTo>
                      <a:lnTo>
                        <a:pt x="4336" y="15765"/>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19" name="Shape 920"/>
                <p:cNvSpPr/>
                <p:nvPr/>
              </p:nvSpPr>
              <p:spPr>
                <a:xfrm>
                  <a:off x="120877" y="89965"/>
                  <a:ext cx="166627" cy="134380"/>
                </a:xfrm>
                <a:custGeom>
                  <a:avLst/>
                  <a:gdLst/>
                  <a:ahLst/>
                  <a:cxnLst>
                    <a:cxn ang="0">
                      <a:pos x="wd2" y="hd2"/>
                    </a:cxn>
                    <a:cxn ang="5400000">
                      <a:pos x="wd2" y="hd2"/>
                    </a:cxn>
                    <a:cxn ang="10800000">
                      <a:pos x="wd2" y="hd2"/>
                    </a:cxn>
                    <a:cxn ang="16200000">
                      <a:pos x="wd2" y="hd2"/>
                    </a:cxn>
                  </a:cxnLst>
                  <a:rect l="0" t="0" r="r" b="b"/>
                  <a:pathLst>
                    <a:path w="21354" h="21600" extrusionOk="0">
                      <a:moveTo>
                        <a:pt x="1883" y="21600"/>
                      </a:moveTo>
                      <a:cubicBezTo>
                        <a:pt x="11075" y="21600"/>
                        <a:pt x="11075" y="21600"/>
                        <a:pt x="11075" y="21600"/>
                      </a:cubicBezTo>
                      <a:cubicBezTo>
                        <a:pt x="11879" y="21600"/>
                        <a:pt x="12568" y="21024"/>
                        <a:pt x="12798" y="20160"/>
                      </a:cubicBezTo>
                      <a:cubicBezTo>
                        <a:pt x="14751" y="13680"/>
                        <a:pt x="17394" y="8208"/>
                        <a:pt x="20841" y="3888"/>
                      </a:cubicBezTo>
                      <a:cubicBezTo>
                        <a:pt x="21415" y="3168"/>
                        <a:pt x="21530" y="2016"/>
                        <a:pt x="21070" y="1008"/>
                      </a:cubicBezTo>
                      <a:cubicBezTo>
                        <a:pt x="20726" y="432"/>
                        <a:pt x="20036" y="0"/>
                        <a:pt x="19462" y="0"/>
                      </a:cubicBezTo>
                      <a:cubicBezTo>
                        <a:pt x="19232" y="0"/>
                        <a:pt x="19117" y="0"/>
                        <a:pt x="18887" y="144"/>
                      </a:cubicBezTo>
                      <a:cubicBezTo>
                        <a:pt x="13602" y="2304"/>
                        <a:pt x="8777" y="6192"/>
                        <a:pt x="4870" y="11088"/>
                      </a:cubicBezTo>
                      <a:cubicBezTo>
                        <a:pt x="3147" y="13248"/>
                        <a:pt x="1653" y="15552"/>
                        <a:pt x="275" y="18144"/>
                      </a:cubicBezTo>
                      <a:cubicBezTo>
                        <a:pt x="-70" y="18720"/>
                        <a:pt x="-70" y="19728"/>
                        <a:pt x="160" y="20448"/>
                      </a:cubicBezTo>
                      <a:cubicBezTo>
                        <a:pt x="504" y="21168"/>
                        <a:pt x="1194" y="21600"/>
                        <a:pt x="1883" y="216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20" name="Shape 921"/>
                <p:cNvSpPr/>
                <p:nvPr/>
              </p:nvSpPr>
              <p:spPr>
                <a:xfrm>
                  <a:off x="74781" y="236871"/>
                  <a:ext cx="132482" cy="119196"/>
                </a:xfrm>
                <a:custGeom>
                  <a:avLst/>
                  <a:gdLst/>
                  <a:ahLst/>
                  <a:cxnLst>
                    <a:cxn ang="0">
                      <a:pos x="wd2" y="hd2"/>
                    </a:cxn>
                    <a:cxn ang="5400000">
                      <a:pos x="wd2" y="hd2"/>
                    </a:cxn>
                    <a:cxn ang="10800000">
                      <a:pos x="wd2" y="hd2"/>
                    </a:cxn>
                    <a:cxn ang="16200000">
                      <a:pos x="wd2" y="hd2"/>
                    </a:cxn>
                  </a:cxnLst>
                  <a:rect l="0" t="0" r="r" b="b"/>
                  <a:pathLst>
                    <a:path w="21600" h="21600" extrusionOk="0">
                      <a:moveTo>
                        <a:pt x="2335" y="21600"/>
                      </a:moveTo>
                      <a:cubicBezTo>
                        <a:pt x="17076" y="21600"/>
                        <a:pt x="17076" y="21600"/>
                        <a:pt x="17076" y="21600"/>
                      </a:cubicBezTo>
                      <a:cubicBezTo>
                        <a:pt x="18243" y="21600"/>
                        <a:pt x="19265" y="20463"/>
                        <a:pt x="19411" y="19164"/>
                      </a:cubicBezTo>
                      <a:cubicBezTo>
                        <a:pt x="19703" y="13642"/>
                        <a:pt x="20286" y="8445"/>
                        <a:pt x="21600" y="3411"/>
                      </a:cubicBezTo>
                      <a:cubicBezTo>
                        <a:pt x="21600" y="3086"/>
                        <a:pt x="21600" y="2923"/>
                        <a:pt x="21600" y="2598"/>
                      </a:cubicBezTo>
                      <a:cubicBezTo>
                        <a:pt x="21600" y="1137"/>
                        <a:pt x="20578" y="0"/>
                        <a:pt x="19265" y="0"/>
                      </a:cubicBezTo>
                      <a:cubicBezTo>
                        <a:pt x="5984" y="0"/>
                        <a:pt x="5984" y="0"/>
                        <a:pt x="5984" y="0"/>
                      </a:cubicBezTo>
                      <a:cubicBezTo>
                        <a:pt x="5108" y="0"/>
                        <a:pt x="4232" y="650"/>
                        <a:pt x="3941" y="1624"/>
                      </a:cubicBezTo>
                      <a:cubicBezTo>
                        <a:pt x="1751" y="6983"/>
                        <a:pt x="438" y="12830"/>
                        <a:pt x="0" y="18839"/>
                      </a:cubicBezTo>
                      <a:cubicBezTo>
                        <a:pt x="0" y="19489"/>
                        <a:pt x="146" y="20138"/>
                        <a:pt x="584" y="20788"/>
                      </a:cubicBezTo>
                      <a:cubicBezTo>
                        <a:pt x="1022" y="21275"/>
                        <a:pt x="1605" y="21600"/>
                        <a:pt x="2335" y="216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21" name="Shape 922"/>
                <p:cNvSpPr/>
                <p:nvPr/>
              </p:nvSpPr>
              <p:spPr>
                <a:xfrm>
                  <a:off x="75540" y="367074"/>
                  <a:ext cx="131163" cy="119196"/>
                </a:xfrm>
                <a:custGeom>
                  <a:avLst/>
                  <a:gdLst/>
                  <a:ahLst/>
                  <a:cxnLst>
                    <a:cxn ang="0">
                      <a:pos x="wd2" y="hd2"/>
                    </a:cxn>
                    <a:cxn ang="5400000">
                      <a:pos x="wd2" y="hd2"/>
                    </a:cxn>
                    <a:cxn ang="10800000">
                      <a:pos x="wd2" y="hd2"/>
                    </a:cxn>
                    <a:cxn ang="16200000">
                      <a:pos x="wd2" y="hd2"/>
                    </a:cxn>
                  </a:cxnLst>
                  <a:rect l="0" t="0" r="r" b="b"/>
                  <a:pathLst>
                    <a:path w="21508" h="21600" extrusionOk="0">
                      <a:moveTo>
                        <a:pt x="21012" y="20626"/>
                      </a:moveTo>
                      <a:cubicBezTo>
                        <a:pt x="21453" y="19976"/>
                        <a:pt x="21600" y="19164"/>
                        <a:pt x="21453" y="18352"/>
                      </a:cubicBezTo>
                      <a:cubicBezTo>
                        <a:pt x="20278" y="13317"/>
                        <a:pt x="19690" y="7958"/>
                        <a:pt x="19543" y="2598"/>
                      </a:cubicBezTo>
                      <a:cubicBezTo>
                        <a:pt x="19396" y="1137"/>
                        <a:pt x="18367" y="0"/>
                        <a:pt x="17192" y="0"/>
                      </a:cubicBezTo>
                      <a:cubicBezTo>
                        <a:pt x="2351" y="0"/>
                        <a:pt x="2351" y="0"/>
                        <a:pt x="2351" y="0"/>
                      </a:cubicBezTo>
                      <a:cubicBezTo>
                        <a:pt x="1763" y="0"/>
                        <a:pt x="1176" y="325"/>
                        <a:pt x="588" y="812"/>
                      </a:cubicBezTo>
                      <a:cubicBezTo>
                        <a:pt x="147" y="1462"/>
                        <a:pt x="0" y="2111"/>
                        <a:pt x="0" y="2923"/>
                      </a:cubicBezTo>
                      <a:cubicBezTo>
                        <a:pt x="441" y="8770"/>
                        <a:pt x="1763" y="14617"/>
                        <a:pt x="3967" y="20138"/>
                      </a:cubicBezTo>
                      <a:cubicBezTo>
                        <a:pt x="4408" y="20950"/>
                        <a:pt x="5143" y="21600"/>
                        <a:pt x="6171" y="21600"/>
                      </a:cubicBezTo>
                      <a:cubicBezTo>
                        <a:pt x="19102" y="21600"/>
                        <a:pt x="19102" y="21600"/>
                        <a:pt x="19102" y="21600"/>
                      </a:cubicBezTo>
                      <a:cubicBezTo>
                        <a:pt x="19837" y="21600"/>
                        <a:pt x="20424" y="21275"/>
                        <a:pt x="21012" y="20626"/>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22" name="Shape 923"/>
                <p:cNvSpPr/>
                <p:nvPr/>
              </p:nvSpPr>
              <p:spPr>
                <a:xfrm>
                  <a:off x="120877" y="500314"/>
                  <a:ext cx="159029" cy="132103"/>
                </a:xfrm>
                <a:custGeom>
                  <a:avLst/>
                  <a:gdLst/>
                  <a:ahLst/>
                  <a:cxnLst>
                    <a:cxn ang="0">
                      <a:pos x="wd2" y="hd2"/>
                    </a:cxn>
                    <a:cxn ang="5400000">
                      <a:pos x="wd2" y="hd2"/>
                    </a:cxn>
                    <a:cxn ang="10800000">
                      <a:pos x="wd2" y="hd2"/>
                    </a:cxn>
                    <a:cxn ang="16200000">
                      <a:pos x="wd2" y="hd2"/>
                    </a:cxn>
                  </a:cxnLst>
                  <a:rect l="0" t="0" r="r" b="b"/>
                  <a:pathLst>
                    <a:path w="21392" h="21600" extrusionOk="0">
                      <a:moveTo>
                        <a:pt x="13201" y="2351"/>
                      </a:moveTo>
                      <a:cubicBezTo>
                        <a:pt x="13201" y="2057"/>
                        <a:pt x="13080" y="1763"/>
                        <a:pt x="12959" y="1469"/>
                      </a:cubicBezTo>
                      <a:cubicBezTo>
                        <a:pt x="12718" y="588"/>
                        <a:pt x="11994" y="0"/>
                        <a:pt x="11149" y="0"/>
                      </a:cubicBezTo>
                      <a:cubicBezTo>
                        <a:pt x="1978" y="0"/>
                        <a:pt x="1978" y="0"/>
                        <a:pt x="1978" y="0"/>
                      </a:cubicBezTo>
                      <a:cubicBezTo>
                        <a:pt x="1254" y="0"/>
                        <a:pt x="530" y="441"/>
                        <a:pt x="168" y="1176"/>
                      </a:cubicBezTo>
                      <a:cubicBezTo>
                        <a:pt x="-73" y="1910"/>
                        <a:pt x="-73" y="2939"/>
                        <a:pt x="289" y="3673"/>
                      </a:cubicBezTo>
                      <a:cubicBezTo>
                        <a:pt x="1737" y="6171"/>
                        <a:pt x="3306" y="8522"/>
                        <a:pt x="5116" y="10727"/>
                      </a:cubicBezTo>
                      <a:cubicBezTo>
                        <a:pt x="8977" y="15429"/>
                        <a:pt x="13683" y="19102"/>
                        <a:pt x="18752" y="21453"/>
                      </a:cubicBezTo>
                      <a:cubicBezTo>
                        <a:pt x="18993" y="21600"/>
                        <a:pt x="19234" y="21600"/>
                        <a:pt x="19476" y="21600"/>
                      </a:cubicBezTo>
                      <a:cubicBezTo>
                        <a:pt x="20079" y="21600"/>
                        <a:pt x="20682" y="21306"/>
                        <a:pt x="21044" y="20571"/>
                      </a:cubicBezTo>
                      <a:cubicBezTo>
                        <a:pt x="21527" y="19690"/>
                        <a:pt x="21527" y="18514"/>
                        <a:pt x="20924" y="17633"/>
                      </a:cubicBezTo>
                      <a:cubicBezTo>
                        <a:pt x="17666" y="13665"/>
                        <a:pt x="15131" y="8376"/>
                        <a:pt x="13201" y="2351"/>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23" name="Shape 924"/>
                <p:cNvSpPr/>
                <p:nvPr/>
              </p:nvSpPr>
              <p:spPr>
                <a:xfrm>
                  <a:off x="232860" y="500314"/>
                  <a:ext cx="122447" cy="140074"/>
                </a:xfrm>
                <a:custGeom>
                  <a:avLst/>
                  <a:gdLst/>
                  <a:ahLst/>
                  <a:cxnLst>
                    <a:cxn ang="0">
                      <a:pos x="wd2" y="hd2"/>
                    </a:cxn>
                    <a:cxn ang="5400000">
                      <a:pos x="wd2" y="hd2"/>
                    </a:cxn>
                    <a:cxn ang="10800000">
                      <a:pos x="wd2" y="hd2"/>
                    </a:cxn>
                    <a:cxn ang="16200000">
                      <a:pos x="wd2" y="hd2"/>
                    </a:cxn>
                  </a:cxnLst>
                  <a:rect l="0" t="0" r="r" b="b"/>
                  <a:pathLst>
                    <a:path w="21504" h="21600" extrusionOk="0">
                      <a:moveTo>
                        <a:pt x="18981" y="0"/>
                      </a:moveTo>
                      <a:cubicBezTo>
                        <a:pt x="2584" y="0"/>
                        <a:pt x="2584" y="0"/>
                        <a:pt x="2584" y="0"/>
                      </a:cubicBezTo>
                      <a:cubicBezTo>
                        <a:pt x="1638" y="0"/>
                        <a:pt x="850" y="277"/>
                        <a:pt x="377" y="969"/>
                      </a:cubicBezTo>
                      <a:cubicBezTo>
                        <a:pt x="-96" y="1523"/>
                        <a:pt x="-96" y="2354"/>
                        <a:pt x="219" y="3046"/>
                      </a:cubicBezTo>
                      <a:cubicBezTo>
                        <a:pt x="4161" y="11492"/>
                        <a:pt x="10310" y="17862"/>
                        <a:pt x="17878" y="21323"/>
                      </a:cubicBezTo>
                      <a:cubicBezTo>
                        <a:pt x="18193" y="21462"/>
                        <a:pt x="18666" y="21600"/>
                        <a:pt x="18981" y="21600"/>
                      </a:cubicBezTo>
                      <a:cubicBezTo>
                        <a:pt x="19454" y="21600"/>
                        <a:pt x="19927" y="21462"/>
                        <a:pt x="20400" y="21185"/>
                      </a:cubicBezTo>
                      <a:cubicBezTo>
                        <a:pt x="21031" y="20908"/>
                        <a:pt x="21504" y="20077"/>
                        <a:pt x="21504" y="19385"/>
                      </a:cubicBezTo>
                      <a:cubicBezTo>
                        <a:pt x="21504" y="2215"/>
                        <a:pt x="21504" y="2215"/>
                        <a:pt x="21504" y="2215"/>
                      </a:cubicBezTo>
                      <a:cubicBezTo>
                        <a:pt x="21504" y="969"/>
                        <a:pt x="20400" y="0"/>
                        <a:pt x="18981"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24" name="Shape 925"/>
                <p:cNvSpPr/>
                <p:nvPr/>
              </p:nvSpPr>
              <p:spPr>
                <a:xfrm>
                  <a:off x="206503" y="367074"/>
                  <a:ext cx="148804" cy="119196"/>
                </a:xfrm>
                <a:custGeom>
                  <a:avLst/>
                  <a:gdLst/>
                  <a:ahLst/>
                  <a:cxnLst>
                    <a:cxn ang="0">
                      <a:pos x="wd2" y="hd2"/>
                    </a:cxn>
                    <a:cxn ang="5400000">
                      <a:pos x="wd2" y="hd2"/>
                    </a:cxn>
                    <a:cxn ang="10800000">
                      <a:pos x="wd2" y="hd2"/>
                    </a:cxn>
                    <a:cxn ang="16200000">
                      <a:pos x="wd2" y="hd2"/>
                    </a:cxn>
                  </a:cxnLst>
                  <a:rect l="0" t="0" r="r" b="b"/>
                  <a:pathLst>
                    <a:path w="21600" h="21600" extrusionOk="0">
                      <a:moveTo>
                        <a:pt x="19518" y="0"/>
                      </a:moveTo>
                      <a:cubicBezTo>
                        <a:pt x="2082" y="0"/>
                        <a:pt x="2082" y="0"/>
                        <a:pt x="2082" y="0"/>
                      </a:cubicBezTo>
                      <a:cubicBezTo>
                        <a:pt x="1431" y="0"/>
                        <a:pt x="911" y="325"/>
                        <a:pt x="520" y="812"/>
                      </a:cubicBezTo>
                      <a:cubicBezTo>
                        <a:pt x="130" y="1299"/>
                        <a:pt x="0" y="2111"/>
                        <a:pt x="0" y="2761"/>
                      </a:cubicBezTo>
                      <a:cubicBezTo>
                        <a:pt x="130" y="8608"/>
                        <a:pt x="781" y="14292"/>
                        <a:pt x="1952" y="19651"/>
                      </a:cubicBezTo>
                      <a:cubicBezTo>
                        <a:pt x="2212" y="20788"/>
                        <a:pt x="2993" y="21600"/>
                        <a:pt x="3904" y="21600"/>
                      </a:cubicBezTo>
                      <a:cubicBezTo>
                        <a:pt x="19518" y="21600"/>
                        <a:pt x="19518" y="21600"/>
                        <a:pt x="19518" y="21600"/>
                      </a:cubicBezTo>
                      <a:cubicBezTo>
                        <a:pt x="20689" y="21600"/>
                        <a:pt x="21600" y="20463"/>
                        <a:pt x="21600" y="19002"/>
                      </a:cubicBezTo>
                      <a:cubicBezTo>
                        <a:pt x="21600" y="2598"/>
                        <a:pt x="21600" y="2598"/>
                        <a:pt x="21600" y="2598"/>
                      </a:cubicBezTo>
                      <a:cubicBezTo>
                        <a:pt x="21600" y="1299"/>
                        <a:pt x="20689" y="0"/>
                        <a:pt x="19518"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25" name="Shape 926"/>
                <p:cNvSpPr/>
                <p:nvPr/>
              </p:nvSpPr>
              <p:spPr>
                <a:xfrm>
                  <a:off x="206503" y="236871"/>
                  <a:ext cx="148804" cy="119196"/>
                </a:xfrm>
                <a:custGeom>
                  <a:avLst/>
                  <a:gdLst/>
                  <a:ahLst/>
                  <a:cxnLst>
                    <a:cxn ang="0">
                      <a:pos x="wd2" y="hd2"/>
                    </a:cxn>
                    <a:cxn ang="5400000">
                      <a:pos x="wd2" y="hd2"/>
                    </a:cxn>
                    <a:cxn ang="10800000">
                      <a:pos x="wd2" y="hd2"/>
                    </a:cxn>
                    <a:cxn ang="16200000">
                      <a:pos x="wd2" y="hd2"/>
                    </a:cxn>
                  </a:cxnLst>
                  <a:rect l="0" t="0" r="r" b="b"/>
                  <a:pathLst>
                    <a:path w="21600" h="21600" extrusionOk="0">
                      <a:moveTo>
                        <a:pt x="19518" y="0"/>
                      </a:moveTo>
                      <a:cubicBezTo>
                        <a:pt x="4294" y="0"/>
                        <a:pt x="4294" y="0"/>
                        <a:pt x="4294" y="0"/>
                      </a:cubicBezTo>
                      <a:cubicBezTo>
                        <a:pt x="3383" y="0"/>
                        <a:pt x="2602" y="812"/>
                        <a:pt x="2342" y="1949"/>
                      </a:cubicBezTo>
                      <a:cubicBezTo>
                        <a:pt x="1041" y="7308"/>
                        <a:pt x="260" y="12992"/>
                        <a:pt x="0" y="18839"/>
                      </a:cubicBezTo>
                      <a:cubicBezTo>
                        <a:pt x="0" y="19489"/>
                        <a:pt x="260" y="20301"/>
                        <a:pt x="651" y="20788"/>
                      </a:cubicBezTo>
                      <a:cubicBezTo>
                        <a:pt x="1041" y="21275"/>
                        <a:pt x="1561" y="21600"/>
                        <a:pt x="2082" y="21600"/>
                      </a:cubicBezTo>
                      <a:cubicBezTo>
                        <a:pt x="19518" y="21600"/>
                        <a:pt x="19518" y="21600"/>
                        <a:pt x="19518" y="21600"/>
                      </a:cubicBezTo>
                      <a:cubicBezTo>
                        <a:pt x="20689" y="21600"/>
                        <a:pt x="21600" y="20463"/>
                        <a:pt x="21600" y="19002"/>
                      </a:cubicBezTo>
                      <a:cubicBezTo>
                        <a:pt x="21600" y="2598"/>
                        <a:pt x="21600" y="2598"/>
                        <a:pt x="21600" y="2598"/>
                      </a:cubicBezTo>
                      <a:cubicBezTo>
                        <a:pt x="21600" y="1137"/>
                        <a:pt x="20689" y="0"/>
                        <a:pt x="19518"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26" name="Shape 927"/>
                <p:cNvSpPr/>
                <p:nvPr/>
              </p:nvSpPr>
              <p:spPr>
                <a:xfrm>
                  <a:off x="236655" y="87308"/>
                  <a:ext cx="118652" cy="137037"/>
                </a:xfrm>
                <a:custGeom>
                  <a:avLst/>
                  <a:gdLst/>
                  <a:ahLst/>
                  <a:cxnLst>
                    <a:cxn ang="0">
                      <a:pos x="wd2" y="hd2"/>
                    </a:cxn>
                    <a:cxn ang="5400000">
                      <a:pos x="wd2" y="hd2"/>
                    </a:cxn>
                    <a:cxn ang="10800000">
                      <a:pos x="wd2" y="hd2"/>
                    </a:cxn>
                    <a:cxn ang="16200000">
                      <a:pos x="wd2" y="hd2"/>
                    </a:cxn>
                  </a:cxnLst>
                  <a:rect l="0" t="0" r="r" b="b"/>
                  <a:pathLst>
                    <a:path w="21502" h="21600" extrusionOk="0">
                      <a:moveTo>
                        <a:pt x="20203" y="282"/>
                      </a:moveTo>
                      <a:cubicBezTo>
                        <a:pt x="19878" y="0"/>
                        <a:pt x="19391" y="0"/>
                        <a:pt x="18904" y="0"/>
                      </a:cubicBezTo>
                      <a:cubicBezTo>
                        <a:pt x="18579" y="0"/>
                        <a:pt x="18091" y="0"/>
                        <a:pt x="17604" y="282"/>
                      </a:cubicBezTo>
                      <a:cubicBezTo>
                        <a:pt x="10296" y="4094"/>
                        <a:pt x="4287" y="10306"/>
                        <a:pt x="227" y="18494"/>
                      </a:cubicBezTo>
                      <a:cubicBezTo>
                        <a:pt x="-98" y="19200"/>
                        <a:pt x="-98" y="20047"/>
                        <a:pt x="389" y="20612"/>
                      </a:cubicBezTo>
                      <a:cubicBezTo>
                        <a:pt x="876" y="21318"/>
                        <a:pt x="1688" y="21600"/>
                        <a:pt x="2663" y="21600"/>
                      </a:cubicBezTo>
                      <a:cubicBezTo>
                        <a:pt x="18904" y="21600"/>
                        <a:pt x="18904" y="21600"/>
                        <a:pt x="18904" y="21600"/>
                      </a:cubicBezTo>
                      <a:cubicBezTo>
                        <a:pt x="20365" y="21600"/>
                        <a:pt x="21502" y="20612"/>
                        <a:pt x="21502" y="19341"/>
                      </a:cubicBezTo>
                      <a:cubicBezTo>
                        <a:pt x="21502" y="2259"/>
                        <a:pt x="21502" y="2259"/>
                        <a:pt x="21502" y="2259"/>
                      </a:cubicBezTo>
                      <a:cubicBezTo>
                        <a:pt x="21502" y="1412"/>
                        <a:pt x="21015" y="706"/>
                        <a:pt x="20203" y="282"/>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27" name="Shape 928"/>
                <p:cNvSpPr/>
                <p:nvPr/>
              </p:nvSpPr>
              <p:spPr>
                <a:xfrm>
                  <a:off x="438294" y="500314"/>
                  <a:ext cx="166398" cy="134760"/>
                </a:xfrm>
                <a:custGeom>
                  <a:avLst/>
                  <a:gdLst/>
                  <a:ahLst/>
                  <a:cxnLst>
                    <a:cxn ang="0">
                      <a:pos x="wd2" y="hd2"/>
                    </a:cxn>
                    <a:cxn ang="5400000">
                      <a:pos x="wd2" y="hd2"/>
                    </a:cxn>
                    <a:cxn ang="10800000">
                      <a:pos x="wd2" y="hd2"/>
                    </a:cxn>
                    <a:cxn ang="16200000">
                      <a:pos x="wd2" y="hd2"/>
                    </a:cxn>
                  </a:cxnLst>
                  <a:rect l="0" t="0" r="r" b="b"/>
                  <a:pathLst>
                    <a:path w="21325" h="21600" extrusionOk="0">
                      <a:moveTo>
                        <a:pt x="19471" y="0"/>
                      </a:moveTo>
                      <a:cubicBezTo>
                        <a:pt x="10279" y="0"/>
                        <a:pt x="10279" y="0"/>
                        <a:pt x="10279" y="0"/>
                      </a:cubicBezTo>
                      <a:cubicBezTo>
                        <a:pt x="9475" y="0"/>
                        <a:pt x="8786" y="576"/>
                        <a:pt x="8556" y="1440"/>
                      </a:cubicBezTo>
                      <a:cubicBezTo>
                        <a:pt x="6603" y="7920"/>
                        <a:pt x="3845" y="13392"/>
                        <a:pt x="513" y="17712"/>
                      </a:cubicBezTo>
                      <a:cubicBezTo>
                        <a:pt x="-61" y="18432"/>
                        <a:pt x="-176" y="19728"/>
                        <a:pt x="284" y="20592"/>
                      </a:cubicBezTo>
                      <a:cubicBezTo>
                        <a:pt x="628" y="21312"/>
                        <a:pt x="1203" y="21600"/>
                        <a:pt x="1892" y="21600"/>
                      </a:cubicBezTo>
                      <a:cubicBezTo>
                        <a:pt x="2007" y="21600"/>
                        <a:pt x="2237" y="21600"/>
                        <a:pt x="2467" y="21456"/>
                      </a:cubicBezTo>
                      <a:cubicBezTo>
                        <a:pt x="7637" y="19296"/>
                        <a:pt x="12462" y="15408"/>
                        <a:pt x="16484" y="10512"/>
                      </a:cubicBezTo>
                      <a:cubicBezTo>
                        <a:pt x="18092" y="8352"/>
                        <a:pt x="19701" y="6048"/>
                        <a:pt x="20964" y="3600"/>
                      </a:cubicBezTo>
                      <a:cubicBezTo>
                        <a:pt x="21424" y="2880"/>
                        <a:pt x="21424" y="1872"/>
                        <a:pt x="21079" y="1152"/>
                      </a:cubicBezTo>
                      <a:cubicBezTo>
                        <a:pt x="20735" y="432"/>
                        <a:pt x="20160" y="0"/>
                        <a:pt x="19471"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28" name="Shape 929"/>
                <p:cNvSpPr/>
                <p:nvPr/>
              </p:nvSpPr>
              <p:spPr>
                <a:xfrm>
                  <a:off x="515300" y="367074"/>
                  <a:ext cx="133060" cy="119196"/>
                </a:xfrm>
                <a:custGeom>
                  <a:avLst/>
                  <a:gdLst/>
                  <a:ahLst/>
                  <a:cxnLst>
                    <a:cxn ang="0">
                      <a:pos x="wd2" y="hd2"/>
                    </a:cxn>
                    <a:cxn ang="5400000">
                      <a:pos x="wd2" y="hd2"/>
                    </a:cxn>
                    <a:cxn ang="10800000">
                      <a:pos x="wd2" y="hd2"/>
                    </a:cxn>
                    <a:cxn ang="16200000">
                      <a:pos x="wd2" y="hd2"/>
                    </a:cxn>
                  </a:cxnLst>
                  <a:rect l="0" t="0" r="r" b="b"/>
                  <a:pathLst>
                    <a:path w="21509" h="21600" extrusionOk="0">
                      <a:moveTo>
                        <a:pt x="19190" y="0"/>
                      </a:moveTo>
                      <a:cubicBezTo>
                        <a:pt x="4548" y="0"/>
                        <a:pt x="4548" y="0"/>
                        <a:pt x="4548" y="0"/>
                      </a:cubicBezTo>
                      <a:cubicBezTo>
                        <a:pt x="3388" y="0"/>
                        <a:pt x="2373" y="1137"/>
                        <a:pt x="2228" y="2598"/>
                      </a:cubicBezTo>
                      <a:cubicBezTo>
                        <a:pt x="1939" y="7958"/>
                        <a:pt x="1214" y="13317"/>
                        <a:pt x="54" y="18352"/>
                      </a:cubicBezTo>
                      <a:cubicBezTo>
                        <a:pt x="-91" y="19164"/>
                        <a:pt x="54" y="19976"/>
                        <a:pt x="489" y="20626"/>
                      </a:cubicBezTo>
                      <a:cubicBezTo>
                        <a:pt x="924" y="21275"/>
                        <a:pt x="1649" y="21600"/>
                        <a:pt x="2373" y="21600"/>
                      </a:cubicBezTo>
                      <a:cubicBezTo>
                        <a:pt x="15565" y="21600"/>
                        <a:pt x="15565" y="21600"/>
                        <a:pt x="15565" y="21600"/>
                      </a:cubicBezTo>
                      <a:cubicBezTo>
                        <a:pt x="16435" y="21600"/>
                        <a:pt x="17305" y="20950"/>
                        <a:pt x="17595" y="20138"/>
                      </a:cubicBezTo>
                      <a:cubicBezTo>
                        <a:pt x="19769" y="14617"/>
                        <a:pt x="21074" y="8932"/>
                        <a:pt x="21509" y="2923"/>
                      </a:cubicBezTo>
                      <a:cubicBezTo>
                        <a:pt x="21509" y="2923"/>
                        <a:pt x="21509" y="2761"/>
                        <a:pt x="21509" y="2598"/>
                      </a:cubicBezTo>
                      <a:cubicBezTo>
                        <a:pt x="21509" y="1299"/>
                        <a:pt x="20494" y="0"/>
                        <a:pt x="19190"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29" name="Shape 930"/>
                <p:cNvSpPr/>
                <p:nvPr/>
              </p:nvSpPr>
              <p:spPr>
                <a:xfrm>
                  <a:off x="516438" y="236871"/>
                  <a:ext cx="131163" cy="119196"/>
                </a:xfrm>
                <a:custGeom>
                  <a:avLst/>
                  <a:gdLst/>
                  <a:ahLst/>
                  <a:cxnLst>
                    <a:cxn ang="0">
                      <a:pos x="wd2" y="hd2"/>
                    </a:cxn>
                    <a:cxn ang="5400000">
                      <a:pos x="wd2" y="hd2"/>
                    </a:cxn>
                    <a:cxn ang="10800000">
                      <a:pos x="wd2" y="hd2"/>
                    </a:cxn>
                    <a:cxn ang="16200000">
                      <a:pos x="wd2" y="hd2"/>
                    </a:cxn>
                  </a:cxnLst>
                  <a:rect l="0" t="0" r="r" b="b"/>
                  <a:pathLst>
                    <a:path w="21508" h="21600" extrusionOk="0">
                      <a:moveTo>
                        <a:pt x="496" y="974"/>
                      </a:moveTo>
                      <a:cubicBezTo>
                        <a:pt x="55" y="1624"/>
                        <a:pt x="-92" y="2436"/>
                        <a:pt x="55" y="3248"/>
                      </a:cubicBezTo>
                      <a:cubicBezTo>
                        <a:pt x="1230" y="8283"/>
                        <a:pt x="1818" y="13642"/>
                        <a:pt x="1965" y="19002"/>
                      </a:cubicBezTo>
                      <a:cubicBezTo>
                        <a:pt x="2112" y="20463"/>
                        <a:pt x="3141" y="21600"/>
                        <a:pt x="4316" y="21600"/>
                      </a:cubicBezTo>
                      <a:cubicBezTo>
                        <a:pt x="19157" y="21600"/>
                        <a:pt x="19157" y="21600"/>
                        <a:pt x="19157" y="21600"/>
                      </a:cubicBezTo>
                      <a:cubicBezTo>
                        <a:pt x="19745" y="21600"/>
                        <a:pt x="20332" y="21275"/>
                        <a:pt x="20773" y="20788"/>
                      </a:cubicBezTo>
                      <a:cubicBezTo>
                        <a:pt x="21214" y="20138"/>
                        <a:pt x="21508" y="19489"/>
                        <a:pt x="21508" y="18839"/>
                      </a:cubicBezTo>
                      <a:cubicBezTo>
                        <a:pt x="21067" y="12830"/>
                        <a:pt x="19745" y="6983"/>
                        <a:pt x="17541" y="1624"/>
                      </a:cubicBezTo>
                      <a:cubicBezTo>
                        <a:pt x="17100" y="650"/>
                        <a:pt x="16365" y="0"/>
                        <a:pt x="15337" y="0"/>
                      </a:cubicBezTo>
                      <a:cubicBezTo>
                        <a:pt x="2406" y="0"/>
                        <a:pt x="2406" y="0"/>
                        <a:pt x="2406" y="0"/>
                      </a:cubicBezTo>
                      <a:cubicBezTo>
                        <a:pt x="1671" y="0"/>
                        <a:pt x="937" y="325"/>
                        <a:pt x="496" y="974"/>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30" name="Shape 931"/>
                <p:cNvSpPr/>
                <p:nvPr/>
              </p:nvSpPr>
              <p:spPr>
                <a:xfrm>
                  <a:off x="440951" y="92622"/>
                  <a:ext cx="158893" cy="131723"/>
                </a:xfrm>
                <a:custGeom>
                  <a:avLst/>
                  <a:gdLst/>
                  <a:ahLst/>
                  <a:cxnLst>
                    <a:cxn ang="0">
                      <a:pos x="wd2" y="hd2"/>
                    </a:cxn>
                    <a:cxn ang="5400000">
                      <a:pos x="wd2" y="hd2"/>
                    </a:cxn>
                    <a:cxn ang="10800000">
                      <a:pos x="wd2" y="hd2"/>
                    </a:cxn>
                    <a:cxn ang="16200000">
                      <a:pos x="wd2" y="hd2"/>
                    </a:cxn>
                  </a:cxnLst>
                  <a:rect l="0" t="0" r="r" b="b"/>
                  <a:pathLst>
                    <a:path w="21274" h="21600" extrusionOk="0">
                      <a:moveTo>
                        <a:pt x="8096" y="19249"/>
                      </a:moveTo>
                      <a:cubicBezTo>
                        <a:pt x="8096" y="19543"/>
                        <a:pt x="8216" y="19837"/>
                        <a:pt x="8336" y="20131"/>
                      </a:cubicBezTo>
                      <a:cubicBezTo>
                        <a:pt x="8576" y="21012"/>
                        <a:pt x="9296" y="21600"/>
                        <a:pt x="10136" y="21600"/>
                      </a:cubicBezTo>
                      <a:cubicBezTo>
                        <a:pt x="19376" y="21600"/>
                        <a:pt x="19376" y="21600"/>
                        <a:pt x="19376" y="21600"/>
                      </a:cubicBezTo>
                      <a:cubicBezTo>
                        <a:pt x="20096" y="21600"/>
                        <a:pt x="20696" y="21159"/>
                        <a:pt x="21056" y="20424"/>
                      </a:cubicBezTo>
                      <a:cubicBezTo>
                        <a:pt x="21416" y="19690"/>
                        <a:pt x="21296" y="18661"/>
                        <a:pt x="20936" y="18073"/>
                      </a:cubicBezTo>
                      <a:cubicBezTo>
                        <a:pt x="19496" y="15429"/>
                        <a:pt x="17936" y="13078"/>
                        <a:pt x="16136" y="10873"/>
                      </a:cubicBezTo>
                      <a:cubicBezTo>
                        <a:pt x="12296" y="6171"/>
                        <a:pt x="7616" y="2498"/>
                        <a:pt x="2576" y="147"/>
                      </a:cubicBezTo>
                      <a:cubicBezTo>
                        <a:pt x="2336" y="0"/>
                        <a:pt x="2096" y="0"/>
                        <a:pt x="1856" y="0"/>
                      </a:cubicBezTo>
                      <a:cubicBezTo>
                        <a:pt x="1256" y="0"/>
                        <a:pt x="656" y="294"/>
                        <a:pt x="296" y="1029"/>
                      </a:cubicBezTo>
                      <a:cubicBezTo>
                        <a:pt x="-184" y="1910"/>
                        <a:pt x="-64" y="3086"/>
                        <a:pt x="536" y="3967"/>
                      </a:cubicBezTo>
                      <a:cubicBezTo>
                        <a:pt x="3656" y="8082"/>
                        <a:pt x="6176" y="13224"/>
                        <a:pt x="8096" y="19249"/>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31" name="Shape 932"/>
                <p:cNvSpPr/>
                <p:nvPr/>
              </p:nvSpPr>
              <p:spPr>
                <a:xfrm>
                  <a:off x="367833" y="84651"/>
                  <a:ext cx="122070" cy="139694"/>
                </a:xfrm>
                <a:custGeom>
                  <a:avLst/>
                  <a:gdLst/>
                  <a:ahLst/>
                  <a:cxnLst>
                    <a:cxn ang="0">
                      <a:pos x="wd2" y="hd2"/>
                    </a:cxn>
                    <a:cxn ang="5400000">
                      <a:pos x="wd2" y="hd2"/>
                    </a:cxn>
                    <a:cxn ang="10800000">
                      <a:pos x="wd2" y="hd2"/>
                    </a:cxn>
                    <a:cxn ang="16200000">
                      <a:pos x="wd2" y="hd2"/>
                    </a:cxn>
                  </a:cxnLst>
                  <a:rect l="0" t="0" r="r" b="b"/>
                  <a:pathLst>
                    <a:path w="21504" h="21600" extrusionOk="0">
                      <a:moveTo>
                        <a:pt x="2523" y="21600"/>
                      </a:moveTo>
                      <a:cubicBezTo>
                        <a:pt x="18920" y="21600"/>
                        <a:pt x="18920" y="21600"/>
                        <a:pt x="18920" y="21600"/>
                      </a:cubicBezTo>
                      <a:cubicBezTo>
                        <a:pt x="19866" y="21600"/>
                        <a:pt x="20654" y="21323"/>
                        <a:pt x="21127" y="20631"/>
                      </a:cubicBezTo>
                      <a:cubicBezTo>
                        <a:pt x="21600" y="20077"/>
                        <a:pt x="21600" y="19246"/>
                        <a:pt x="21285" y="18554"/>
                      </a:cubicBezTo>
                      <a:cubicBezTo>
                        <a:pt x="17343" y="10108"/>
                        <a:pt x="11194" y="3738"/>
                        <a:pt x="3626" y="277"/>
                      </a:cubicBezTo>
                      <a:cubicBezTo>
                        <a:pt x="3311" y="138"/>
                        <a:pt x="2838" y="0"/>
                        <a:pt x="2523" y="0"/>
                      </a:cubicBezTo>
                      <a:cubicBezTo>
                        <a:pt x="2050" y="0"/>
                        <a:pt x="1577" y="138"/>
                        <a:pt x="1104" y="415"/>
                      </a:cubicBezTo>
                      <a:cubicBezTo>
                        <a:pt x="315" y="831"/>
                        <a:pt x="0" y="1523"/>
                        <a:pt x="0" y="2215"/>
                      </a:cubicBezTo>
                      <a:cubicBezTo>
                        <a:pt x="0" y="19385"/>
                        <a:pt x="0" y="19385"/>
                        <a:pt x="0" y="19385"/>
                      </a:cubicBezTo>
                      <a:cubicBezTo>
                        <a:pt x="0" y="20631"/>
                        <a:pt x="1104" y="21600"/>
                        <a:pt x="2523" y="216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32" name="Shape 933"/>
                <p:cNvSpPr/>
                <p:nvPr/>
              </p:nvSpPr>
              <p:spPr>
                <a:xfrm>
                  <a:off x="367833" y="236871"/>
                  <a:ext cx="148805" cy="119196"/>
                </a:xfrm>
                <a:custGeom>
                  <a:avLst/>
                  <a:gdLst/>
                  <a:ahLst/>
                  <a:cxnLst>
                    <a:cxn ang="0">
                      <a:pos x="wd2" y="hd2"/>
                    </a:cxn>
                    <a:cxn ang="5400000">
                      <a:pos x="wd2" y="hd2"/>
                    </a:cxn>
                    <a:cxn ang="10800000">
                      <a:pos x="wd2" y="hd2"/>
                    </a:cxn>
                    <a:cxn ang="16200000">
                      <a:pos x="wd2" y="hd2"/>
                    </a:cxn>
                  </a:cxnLst>
                  <a:rect l="0" t="0" r="r" b="b"/>
                  <a:pathLst>
                    <a:path w="21600" h="21600" extrusionOk="0">
                      <a:moveTo>
                        <a:pt x="2082" y="21600"/>
                      </a:moveTo>
                      <a:cubicBezTo>
                        <a:pt x="19518" y="21600"/>
                        <a:pt x="19518" y="21600"/>
                        <a:pt x="19518" y="21600"/>
                      </a:cubicBezTo>
                      <a:cubicBezTo>
                        <a:pt x="20169" y="21600"/>
                        <a:pt x="20689" y="21275"/>
                        <a:pt x="21080" y="20788"/>
                      </a:cubicBezTo>
                      <a:cubicBezTo>
                        <a:pt x="21470" y="20301"/>
                        <a:pt x="21600" y="19651"/>
                        <a:pt x="21600" y="18839"/>
                      </a:cubicBezTo>
                      <a:cubicBezTo>
                        <a:pt x="21470" y="12992"/>
                        <a:pt x="20819" y="7308"/>
                        <a:pt x="19648" y="1949"/>
                      </a:cubicBezTo>
                      <a:cubicBezTo>
                        <a:pt x="19388" y="812"/>
                        <a:pt x="18607" y="0"/>
                        <a:pt x="17696" y="0"/>
                      </a:cubicBezTo>
                      <a:cubicBezTo>
                        <a:pt x="2082" y="0"/>
                        <a:pt x="2082" y="0"/>
                        <a:pt x="2082" y="0"/>
                      </a:cubicBezTo>
                      <a:cubicBezTo>
                        <a:pt x="911" y="0"/>
                        <a:pt x="0" y="1137"/>
                        <a:pt x="0" y="2598"/>
                      </a:cubicBezTo>
                      <a:cubicBezTo>
                        <a:pt x="0" y="19002"/>
                        <a:pt x="0" y="19002"/>
                        <a:pt x="0" y="19002"/>
                      </a:cubicBezTo>
                      <a:cubicBezTo>
                        <a:pt x="0" y="20463"/>
                        <a:pt x="911" y="21600"/>
                        <a:pt x="2082" y="216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33" name="Shape 934"/>
                <p:cNvSpPr/>
                <p:nvPr/>
              </p:nvSpPr>
              <p:spPr>
                <a:xfrm>
                  <a:off x="367833" y="367074"/>
                  <a:ext cx="148805" cy="119196"/>
                </a:xfrm>
                <a:custGeom>
                  <a:avLst/>
                  <a:gdLst/>
                  <a:ahLst/>
                  <a:cxnLst>
                    <a:cxn ang="0">
                      <a:pos x="wd2" y="hd2"/>
                    </a:cxn>
                    <a:cxn ang="5400000">
                      <a:pos x="wd2" y="hd2"/>
                    </a:cxn>
                    <a:cxn ang="10800000">
                      <a:pos x="wd2" y="hd2"/>
                    </a:cxn>
                    <a:cxn ang="16200000">
                      <a:pos x="wd2" y="hd2"/>
                    </a:cxn>
                  </a:cxnLst>
                  <a:rect l="0" t="0" r="r" b="b"/>
                  <a:pathLst>
                    <a:path w="21600" h="21600" extrusionOk="0">
                      <a:moveTo>
                        <a:pt x="2082" y="21600"/>
                      </a:moveTo>
                      <a:cubicBezTo>
                        <a:pt x="17306" y="21600"/>
                        <a:pt x="17306" y="21600"/>
                        <a:pt x="17306" y="21600"/>
                      </a:cubicBezTo>
                      <a:cubicBezTo>
                        <a:pt x="18217" y="21600"/>
                        <a:pt x="18998" y="20788"/>
                        <a:pt x="19258" y="19814"/>
                      </a:cubicBezTo>
                      <a:cubicBezTo>
                        <a:pt x="20559" y="14454"/>
                        <a:pt x="21340" y="8770"/>
                        <a:pt x="21600" y="2923"/>
                      </a:cubicBezTo>
                      <a:cubicBezTo>
                        <a:pt x="21600" y="2761"/>
                        <a:pt x="21600" y="2761"/>
                        <a:pt x="21600" y="2598"/>
                      </a:cubicBezTo>
                      <a:cubicBezTo>
                        <a:pt x="21600" y="1299"/>
                        <a:pt x="20689" y="0"/>
                        <a:pt x="19518" y="0"/>
                      </a:cubicBezTo>
                      <a:cubicBezTo>
                        <a:pt x="2082" y="0"/>
                        <a:pt x="2082" y="0"/>
                        <a:pt x="2082" y="0"/>
                      </a:cubicBezTo>
                      <a:cubicBezTo>
                        <a:pt x="911" y="0"/>
                        <a:pt x="0" y="1299"/>
                        <a:pt x="0" y="2598"/>
                      </a:cubicBezTo>
                      <a:cubicBezTo>
                        <a:pt x="0" y="19002"/>
                        <a:pt x="0" y="19002"/>
                        <a:pt x="0" y="19002"/>
                      </a:cubicBezTo>
                      <a:cubicBezTo>
                        <a:pt x="0" y="20463"/>
                        <a:pt x="911" y="21600"/>
                        <a:pt x="2082" y="216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34" name="Shape 935"/>
                <p:cNvSpPr/>
                <p:nvPr/>
              </p:nvSpPr>
              <p:spPr>
                <a:xfrm>
                  <a:off x="367833" y="500314"/>
                  <a:ext cx="118437" cy="138176"/>
                </a:xfrm>
                <a:custGeom>
                  <a:avLst/>
                  <a:gdLst/>
                  <a:ahLst/>
                  <a:cxnLst>
                    <a:cxn ang="0">
                      <a:pos x="wd2" y="hd2"/>
                    </a:cxn>
                    <a:cxn ang="5400000">
                      <a:pos x="wd2" y="hd2"/>
                    </a:cxn>
                    <a:cxn ang="10800000">
                      <a:pos x="wd2" y="hd2"/>
                    </a:cxn>
                    <a:cxn ang="16200000">
                      <a:pos x="wd2" y="hd2"/>
                    </a:cxn>
                  </a:cxnLst>
                  <a:rect l="0" t="0" r="r" b="b"/>
                  <a:pathLst>
                    <a:path w="21600" h="21600" extrusionOk="0">
                      <a:moveTo>
                        <a:pt x="21600" y="2244"/>
                      </a:moveTo>
                      <a:cubicBezTo>
                        <a:pt x="21600" y="982"/>
                        <a:pt x="20455" y="0"/>
                        <a:pt x="18982" y="0"/>
                      </a:cubicBezTo>
                      <a:cubicBezTo>
                        <a:pt x="2618" y="0"/>
                        <a:pt x="2618" y="0"/>
                        <a:pt x="2618" y="0"/>
                      </a:cubicBezTo>
                      <a:cubicBezTo>
                        <a:pt x="1145" y="0"/>
                        <a:pt x="0" y="982"/>
                        <a:pt x="0" y="2244"/>
                      </a:cubicBezTo>
                      <a:cubicBezTo>
                        <a:pt x="0" y="19356"/>
                        <a:pt x="0" y="19356"/>
                        <a:pt x="0" y="19356"/>
                      </a:cubicBezTo>
                      <a:cubicBezTo>
                        <a:pt x="0" y="20057"/>
                        <a:pt x="491" y="20899"/>
                        <a:pt x="1309" y="21179"/>
                      </a:cubicBezTo>
                      <a:cubicBezTo>
                        <a:pt x="1636" y="21460"/>
                        <a:pt x="2127" y="21600"/>
                        <a:pt x="2618" y="21600"/>
                      </a:cubicBezTo>
                      <a:cubicBezTo>
                        <a:pt x="2945" y="21600"/>
                        <a:pt x="3436" y="21460"/>
                        <a:pt x="3927" y="21179"/>
                      </a:cubicBezTo>
                      <a:cubicBezTo>
                        <a:pt x="11291" y="17532"/>
                        <a:pt x="17345" y="11221"/>
                        <a:pt x="21436" y="3226"/>
                      </a:cubicBezTo>
                      <a:cubicBezTo>
                        <a:pt x="21600" y="2945"/>
                        <a:pt x="21600" y="2525"/>
                        <a:pt x="21600" y="2244"/>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35" name="Shape 936"/>
                <p:cNvSpPr/>
                <p:nvPr/>
              </p:nvSpPr>
              <p:spPr>
                <a:xfrm>
                  <a:off x="31506" y="31506"/>
                  <a:ext cx="660128" cy="660128"/>
                </a:xfrm>
                <a:custGeom>
                  <a:avLst/>
                  <a:gdLst/>
                  <a:ahLst/>
                  <a:cxnLst>
                    <a:cxn ang="0">
                      <a:pos x="wd2" y="hd2"/>
                    </a:cxn>
                    <a:cxn ang="5400000">
                      <a:pos x="wd2" y="hd2"/>
                    </a:cxn>
                    <a:cxn ang="10800000">
                      <a:pos x="wd2" y="hd2"/>
                    </a:cxn>
                    <a:cxn ang="16200000">
                      <a:pos x="wd2" y="hd2"/>
                    </a:cxn>
                  </a:cxnLst>
                  <a:rect l="0" t="0" r="r" b="b"/>
                  <a:pathLst>
                    <a:path w="21600" h="21600" extrusionOk="0">
                      <a:moveTo>
                        <a:pt x="10800" y="704"/>
                      </a:moveTo>
                      <a:cubicBezTo>
                        <a:pt x="16376" y="704"/>
                        <a:pt x="20896" y="5224"/>
                        <a:pt x="20896" y="10800"/>
                      </a:cubicBezTo>
                      <a:cubicBezTo>
                        <a:pt x="20896" y="16376"/>
                        <a:pt x="16376" y="20896"/>
                        <a:pt x="10800" y="20896"/>
                      </a:cubicBezTo>
                      <a:cubicBezTo>
                        <a:pt x="5224" y="20896"/>
                        <a:pt x="704" y="16376"/>
                        <a:pt x="704" y="10800"/>
                      </a:cubicBezTo>
                      <a:cubicBezTo>
                        <a:pt x="704" y="5224"/>
                        <a:pt x="5224" y="704"/>
                        <a:pt x="10800" y="704"/>
                      </a:cubicBezTo>
                      <a:moveTo>
                        <a:pt x="10800" y="0"/>
                      </a:moveTo>
                      <a:cubicBezTo>
                        <a:pt x="4842" y="0"/>
                        <a:pt x="0" y="4842"/>
                        <a:pt x="0" y="10800"/>
                      </a:cubicBezTo>
                      <a:cubicBezTo>
                        <a:pt x="0" y="16758"/>
                        <a:pt x="4842" y="21600"/>
                        <a:pt x="10800" y="21600"/>
                      </a:cubicBezTo>
                      <a:cubicBezTo>
                        <a:pt x="16758" y="21600"/>
                        <a:pt x="21600" y="16758"/>
                        <a:pt x="21600" y="10800"/>
                      </a:cubicBezTo>
                      <a:cubicBezTo>
                        <a:pt x="21600" y="4842"/>
                        <a:pt x="16758" y="0"/>
                        <a:pt x="10800"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grpSp>
        </p:grpSp>
        <p:grpSp>
          <p:nvGrpSpPr>
            <p:cNvPr id="77" name="Group 76">
              <a:extLst>
                <a:ext uri="{C183D7F6-B498-43B3-948B-1728B52AA6E4}">
                  <adec:decorative xmlns:adec="http://schemas.microsoft.com/office/drawing/2017/decorative" val="1"/>
                </a:ext>
              </a:extLst>
            </p:cNvPr>
            <p:cNvGrpSpPr/>
            <p:nvPr/>
          </p:nvGrpSpPr>
          <p:grpSpPr>
            <a:xfrm>
              <a:off x="8083691" y="5880147"/>
              <a:ext cx="2616177" cy="343205"/>
              <a:chOff x="5912642" y="4281830"/>
              <a:chExt cx="2184468" cy="300618"/>
            </a:xfrm>
            <a:solidFill>
              <a:schemeClr val="bg1"/>
            </a:solidFill>
          </p:grpSpPr>
          <p:sp>
            <p:nvSpPr>
              <p:cNvPr id="92" name="TextBox 91"/>
              <p:cNvSpPr txBox="1"/>
              <p:nvPr/>
            </p:nvSpPr>
            <p:spPr>
              <a:xfrm>
                <a:off x="6762605" y="4285904"/>
                <a:ext cx="1334505" cy="296544"/>
              </a:xfrm>
              <a:prstGeom prst="rect">
                <a:avLst/>
              </a:prstGeom>
              <a:grpFill/>
            </p:spPr>
            <p:txBody>
              <a:bodyPr wrap="square" rtlCol="0">
                <a:spAutoFit/>
              </a:bodyPr>
              <a:lstStyle/>
              <a:p>
                <a:pPr defTabSz="609585" fontAlgn="base">
                  <a:spcBef>
                    <a:spcPct val="0"/>
                  </a:spcBef>
                  <a:spcAft>
                    <a:spcPct val="0"/>
                  </a:spcAft>
                </a:pPr>
                <a:r>
                  <a:rPr lang="en-US" sz="1600" dirty="0">
                    <a:solidFill>
                      <a:srgbClr val="636466"/>
                    </a:solidFill>
                    <a:cs typeface="Arial"/>
                  </a:rPr>
                  <a:t>Edge locations</a:t>
                </a:r>
              </a:p>
            </p:txBody>
          </p:sp>
          <p:grpSp>
            <p:nvGrpSpPr>
              <p:cNvPr id="93" name="Group 1239"/>
              <p:cNvGrpSpPr/>
              <p:nvPr/>
            </p:nvGrpSpPr>
            <p:grpSpPr>
              <a:xfrm>
                <a:off x="5912642" y="4281830"/>
                <a:ext cx="269760" cy="269760"/>
                <a:chOff x="0" y="0"/>
                <a:chExt cx="723901" cy="723901"/>
              </a:xfrm>
              <a:grpFill/>
            </p:grpSpPr>
            <p:sp>
              <p:nvSpPr>
                <p:cNvPr id="94" name="Shape 1215"/>
                <p:cNvSpPr/>
                <p:nvPr/>
              </p:nvSpPr>
              <p:spPr>
                <a:xfrm>
                  <a:off x="0" y="0"/>
                  <a:ext cx="723901" cy="723901"/>
                </a:xfrm>
                <a:custGeom>
                  <a:avLst/>
                  <a:gdLst/>
                  <a:ahLst/>
                  <a:cxnLst>
                    <a:cxn ang="0">
                      <a:pos x="wd2" y="hd2"/>
                    </a:cxn>
                    <a:cxn ang="5400000">
                      <a:pos x="wd2" y="hd2"/>
                    </a:cxn>
                    <a:cxn ang="10800000">
                      <a:pos x="wd2" y="hd2"/>
                    </a:cxn>
                    <a:cxn ang="16200000">
                      <a:pos x="wd2" y="hd2"/>
                    </a:cxn>
                  </a:cxnLst>
                  <a:rect l="0" t="0" r="r" b="b"/>
                  <a:pathLst>
                    <a:path w="21600" h="21600" extrusionOk="0">
                      <a:moveTo>
                        <a:pt x="20048" y="0"/>
                      </a:moveTo>
                      <a:cubicBezTo>
                        <a:pt x="1552" y="0"/>
                        <a:pt x="1552" y="0"/>
                        <a:pt x="1552" y="0"/>
                      </a:cubicBezTo>
                      <a:cubicBezTo>
                        <a:pt x="696" y="0"/>
                        <a:pt x="0" y="696"/>
                        <a:pt x="0" y="1552"/>
                      </a:cubicBezTo>
                      <a:cubicBezTo>
                        <a:pt x="0" y="20048"/>
                        <a:pt x="0" y="20048"/>
                        <a:pt x="0" y="20048"/>
                      </a:cubicBezTo>
                      <a:cubicBezTo>
                        <a:pt x="0" y="20904"/>
                        <a:pt x="696" y="21600"/>
                        <a:pt x="1552" y="21600"/>
                      </a:cubicBezTo>
                      <a:cubicBezTo>
                        <a:pt x="5300" y="21600"/>
                        <a:pt x="5300" y="21600"/>
                        <a:pt x="5300" y="21600"/>
                      </a:cubicBezTo>
                      <a:cubicBezTo>
                        <a:pt x="6049" y="21600"/>
                        <a:pt x="6049" y="21600"/>
                        <a:pt x="6049" y="21600"/>
                      </a:cubicBezTo>
                      <a:cubicBezTo>
                        <a:pt x="6745" y="21600"/>
                        <a:pt x="6745" y="21600"/>
                        <a:pt x="6745" y="21600"/>
                      </a:cubicBezTo>
                      <a:cubicBezTo>
                        <a:pt x="8859" y="21600"/>
                        <a:pt x="8859" y="21600"/>
                        <a:pt x="8859" y="21600"/>
                      </a:cubicBezTo>
                      <a:cubicBezTo>
                        <a:pt x="10171" y="21600"/>
                        <a:pt x="10171" y="21600"/>
                        <a:pt x="10171" y="21600"/>
                      </a:cubicBezTo>
                      <a:cubicBezTo>
                        <a:pt x="20048" y="21600"/>
                        <a:pt x="20048" y="21600"/>
                        <a:pt x="20048" y="21600"/>
                      </a:cubicBezTo>
                      <a:cubicBezTo>
                        <a:pt x="20904" y="21600"/>
                        <a:pt x="21600" y="20904"/>
                        <a:pt x="21600" y="20048"/>
                      </a:cubicBezTo>
                      <a:cubicBezTo>
                        <a:pt x="21600" y="18683"/>
                        <a:pt x="21600" y="18683"/>
                        <a:pt x="21600" y="18683"/>
                      </a:cubicBezTo>
                      <a:cubicBezTo>
                        <a:pt x="21600" y="10760"/>
                        <a:pt x="21600" y="10760"/>
                        <a:pt x="21600" y="10760"/>
                      </a:cubicBezTo>
                      <a:cubicBezTo>
                        <a:pt x="21600" y="9877"/>
                        <a:pt x="21600" y="9877"/>
                        <a:pt x="21600" y="9877"/>
                      </a:cubicBezTo>
                      <a:cubicBezTo>
                        <a:pt x="21600" y="7414"/>
                        <a:pt x="21600" y="7414"/>
                        <a:pt x="21600" y="7414"/>
                      </a:cubicBezTo>
                      <a:cubicBezTo>
                        <a:pt x="21600" y="6397"/>
                        <a:pt x="21600" y="6397"/>
                        <a:pt x="21600" y="6397"/>
                      </a:cubicBezTo>
                      <a:cubicBezTo>
                        <a:pt x="21600" y="1552"/>
                        <a:pt x="21600" y="1552"/>
                        <a:pt x="21600" y="1552"/>
                      </a:cubicBezTo>
                      <a:cubicBezTo>
                        <a:pt x="21600" y="696"/>
                        <a:pt x="20904" y="0"/>
                        <a:pt x="20048" y="0"/>
                      </a:cubicBezTo>
                      <a:close/>
                      <a:moveTo>
                        <a:pt x="4336" y="15765"/>
                      </a:moveTo>
                      <a:cubicBezTo>
                        <a:pt x="4336" y="15765"/>
                        <a:pt x="4336" y="15765"/>
                        <a:pt x="4336" y="15765"/>
                      </a:cubicBezTo>
                      <a:cubicBezTo>
                        <a:pt x="4256" y="15685"/>
                        <a:pt x="4256" y="15685"/>
                        <a:pt x="4256" y="15685"/>
                      </a:cubicBezTo>
                      <a:lnTo>
                        <a:pt x="4336" y="15765"/>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95" name="Shape 1216"/>
                <p:cNvSpPr/>
                <p:nvPr/>
              </p:nvSpPr>
              <p:spPr>
                <a:xfrm>
                  <a:off x="120877" y="89965"/>
                  <a:ext cx="166627" cy="134380"/>
                </a:xfrm>
                <a:custGeom>
                  <a:avLst/>
                  <a:gdLst/>
                  <a:ahLst/>
                  <a:cxnLst>
                    <a:cxn ang="0">
                      <a:pos x="wd2" y="hd2"/>
                    </a:cxn>
                    <a:cxn ang="5400000">
                      <a:pos x="wd2" y="hd2"/>
                    </a:cxn>
                    <a:cxn ang="10800000">
                      <a:pos x="wd2" y="hd2"/>
                    </a:cxn>
                    <a:cxn ang="16200000">
                      <a:pos x="wd2" y="hd2"/>
                    </a:cxn>
                  </a:cxnLst>
                  <a:rect l="0" t="0" r="r" b="b"/>
                  <a:pathLst>
                    <a:path w="21354" h="21600" extrusionOk="0">
                      <a:moveTo>
                        <a:pt x="1883" y="21600"/>
                      </a:moveTo>
                      <a:cubicBezTo>
                        <a:pt x="11075" y="21600"/>
                        <a:pt x="11075" y="21600"/>
                        <a:pt x="11075" y="21600"/>
                      </a:cubicBezTo>
                      <a:cubicBezTo>
                        <a:pt x="11879" y="21600"/>
                        <a:pt x="12568" y="21024"/>
                        <a:pt x="12798" y="20160"/>
                      </a:cubicBezTo>
                      <a:cubicBezTo>
                        <a:pt x="14751" y="13680"/>
                        <a:pt x="17394" y="8208"/>
                        <a:pt x="20841" y="3888"/>
                      </a:cubicBezTo>
                      <a:cubicBezTo>
                        <a:pt x="21415" y="3168"/>
                        <a:pt x="21530" y="2016"/>
                        <a:pt x="21070" y="1008"/>
                      </a:cubicBezTo>
                      <a:cubicBezTo>
                        <a:pt x="20726" y="432"/>
                        <a:pt x="20036" y="0"/>
                        <a:pt x="19462" y="0"/>
                      </a:cubicBezTo>
                      <a:cubicBezTo>
                        <a:pt x="19232" y="0"/>
                        <a:pt x="19117" y="0"/>
                        <a:pt x="18887" y="144"/>
                      </a:cubicBezTo>
                      <a:cubicBezTo>
                        <a:pt x="13602" y="2304"/>
                        <a:pt x="8777" y="6192"/>
                        <a:pt x="4870" y="11088"/>
                      </a:cubicBezTo>
                      <a:cubicBezTo>
                        <a:pt x="3147" y="13248"/>
                        <a:pt x="1653" y="15552"/>
                        <a:pt x="275" y="18144"/>
                      </a:cubicBezTo>
                      <a:cubicBezTo>
                        <a:pt x="-70" y="18720"/>
                        <a:pt x="-70" y="19728"/>
                        <a:pt x="160" y="20448"/>
                      </a:cubicBezTo>
                      <a:cubicBezTo>
                        <a:pt x="504" y="21168"/>
                        <a:pt x="1194" y="21600"/>
                        <a:pt x="1883" y="216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96" name="Shape 1217"/>
                <p:cNvSpPr/>
                <p:nvPr/>
              </p:nvSpPr>
              <p:spPr>
                <a:xfrm>
                  <a:off x="74781" y="236871"/>
                  <a:ext cx="132482" cy="119196"/>
                </a:xfrm>
                <a:custGeom>
                  <a:avLst/>
                  <a:gdLst/>
                  <a:ahLst/>
                  <a:cxnLst>
                    <a:cxn ang="0">
                      <a:pos x="wd2" y="hd2"/>
                    </a:cxn>
                    <a:cxn ang="5400000">
                      <a:pos x="wd2" y="hd2"/>
                    </a:cxn>
                    <a:cxn ang="10800000">
                      <a:pos x="wd2" y="hd2"/>
                    </a:cxn>
                    <a:cxn ang="16200000">
                      <a:pos x="wd2" y="hd2"/>
                    </a:cxn>
                  </a:cxnLst>
                  <a:rect l="0" t="0" r="r" b="b"/>
                  <a:pathLst>
                    <a:path w="21600" h="21600" extrusionOk="0">
                      <a:moveTo>
                        <a:pt x="2335" y="21600"/>
                      </a:moveTo>
                      <a:cubicBezTo>
                        <a:pt x="17076" y="21600"/>
                        <a:pt x="17076" y="21600"/>
                        <a:pt x="17076" y="21600"/>
                      </a:cubicBezTo>
                      <a:cubicBezTo>
                        <a:pt x="18243" y="21600"/>
                        <a:pt x="19265" y="20463"/>
                        <a:pt x="19411" y="19164"/>
                      </a:cubicBezTo>
                      <a:cubicBezTo>
                        <a:pt x="19703" y="13642"/>
                        <a:pt x="20286" y="8445"/>
                        <a:pt x="21600" y="3411"/>
                      </a:cubicBezTo>
                      <a:cubicBezTo>
                        <a:pt x="21600" y="3086"/>
                        <a:pt x="21600" y="2923"/>
                        <a:pt x="21600" y="2598"/>
                      </a:cubicBezTo>
                      <a:cubicBezTo>
                        <a:pt x="21600" y="1137"/>
                        <a:pt x="20578" y="0"/>
                        <a:pt x="19265" y="0"/>
                      </a:cubicBezTo>
                      <a:cubicBezTo>
                        <a:pt x="5984" y="0"/>
                        <a:pt x="5984" y="0"/>
                        <a:pt x="5984" y="0"/>
                      </a:cubicBezTo>
                      <a:cubicBezTo>
                        <a:pt x="5108" y="0"/>
                        <a:pt x="4232" y="650"/>
                        <a:pt x="3941" y="1624"/>
                      </a:cubicBezTo>
                      <a:cubicBezTo>
                        <a:pt x="1751" y="6983"/>
                        <a:pt x="438" y="12830"/>
                        <a:pt x="0" y="18839"/>
                      </a:cubicBezTo>
                      <a:cubicBezTo>
                        <a:pt x="0" y="19489"/>
                        <a:pt x="146" y="20138"/>
                        <a:pt x="584" y="20788"/>
                      </a:cubicBezTo>
                      <a:cubicBezTo>
                        <a:pt x="1022" y="21275"/>
                        <a:pt x="1605" y="21600"/>
                        <a:pt x="2335" y="216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97" name="Shape 1218"/>
                <p:cNvSpPr/>
                <p:nvPr/>
              </p:nvSpPr>
              <p:spPr>
                <a:xfrm>
                  <a:off x="75540" y="367074"/>
                  <a:ext cx="131163" cy="119196"/>
                </a:xfrm>
                <a:custGeom>
                  <a:avLst/>
                  <a:gdLst/>
                  <a:ahLst/>
                  <a:cxnLst>
                    <a:cxn ang="0">
                      <a:pos x="wd2" y="hd2"/>
                    </a:cxn>
                    <a:cxn ang="5400000">
                      <a:pos x="wd2" y="hd2"/>
                    </a:cxn>
                    <a:cxn ang="10800000">
                      <a:pos x="wd2" y="hd2"/>
                    </a:cxn>
                    <a:cxn ang="16200000">
                      <a:pos x="wd2" y="hd2"/>
                    </a:cxn>
                  </a:cxnLst>
                  <a:rect l="0" t="0" r="r" b="b"/>
                  <a:pathLst>
                    <a:path w="21508" h="21600" extrusionOk="0">
                      <a:moveTo>
                        <a:pt x="21012" y="20626"/>
                      </a:moveTo>
                      <a:cubicBezTo>
                        <a:pt x="21453" y="19976"/>
                        <a:pt x="21600" y="19164"/>
                        <a:pt x="21453" y="18352"/>
                      </a:cubicBezTo>
                      <a:cubicBezTo>
                        <a:pt x="20278" y="13317"/>
                        <a:pt x="19690" y="7958"/>
                        <a:pt x="19543" y="2598"/>
                      </a:cubicBezTo>
                      <a:cubicBezTo>
                        <a:pt x="19396" y="1137"/>
                        <a:pt x="18367" y="0"/>
                        <a:pt x="17192" y="0"/>
                      </a:cubicBezTo>
                      <a:cubicBezTo>
                        <a:pt x="2351" y="0"/>
                        <a:pt x="2351" y="0"/>
                        <a:pt x="2351" y="0"/>
                      </a:cubicBezTo>
                      <a:cubicBezTo>
                        <a:pt x="1763" y="0"/>
                        <a:pt x="1176" y="325"/>
                        <a:pt x="588" y="812"/>
                      </a:cubicBezTo>
                      <a:cubicBezTo>
                        <a:pt x="147" y="1462"/>
                        <a:pt x="0" y="2111"/>
                        <a:pt x="0" y="2923"/>
                      </a:cubicBezTo>
                      <a:cubicBezTo>
                        <a:pt x="441" y="8770"/>
                        <a:pt x="1763" y="14617"/>
                        <a:pt x="3967" y="20138"/>
                      </a:cubicBezTo>
                      <a:cubicBezTo>
                        <a:pt x="4408" y="20950"/>
                        <a:pt x="5143" y="21600"/>
                        <a:pt x="6171" y="21600"/>
                      </a:cubicBezTo>
                      <a:cubicBezTo>
                        <a:pt x="19102" y="21600"/>
                        <a:pt x="19102" y="21600"/>
                        <a:pt x="19102" y="21600"/>
                      </a:cubicBezTo>
                      <a:cubicBezTo>
                        <a:pt x="19837" y="21600"/>
                        <a:pt x="20424" y="21275"/>
                        <a:pt x="21012" y="20626"/>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98" name="Shape 1219"/>
                <p:cNvSpPr/>
                <p:nvPr/>
              </p:nvSpPr>
              <p:spPr>
                <a:xfrm>
                  <a:off x="120877" y="500314"/>
                  <a:ext cx="159029" cy="132103"/>
                </a:xfrm>
                <a:custGeom>
                  <a:avLst/>
                  <a:gdLst/>
                  <a:ahLst/>
                  <a:cxnLst>
                    <a:cxn ang="0">
                      <a:pos x="wd2" y="hd2"/>
                    </a:cxn>
                    <a:cxn ang="5400000">
                      <a:pos x="wd2" y="hd2"/>
                    </a:cxn>
                    <a:cxn ang="10800000">
                      <a:pos x="wd2" y="hd2"/>
                    </a:cxn>
                    <a:cxn ang="16200000">
                      <a:pos x="wd2" y="hd2"/>
                    </a:cxn>
                  </a:cxnLst>
                  <a:rect l="0" t="0" r="r" b="b"/>
                  <a:pathLst>
                    <a:path w="21392" h="21600" extrusionOk="0">
                      <a:moveTo>
                        <a:pt x="13201" y="2351"/>
                      </a:moveTo>
                      <a:cubicBezTo>
                        <a:pt x="13201" y="2057"/>
                        <a:pt x="13080" y="1763"/>
                        <a:pt x="12959" y="1469"/>
                      </a:cubicBezTo>
                      <a:cubicBezTo>
                        <a:pt x="12718" y="588"/>
                        <a:pt x="11994" y="0"/>
                        <a:pt x="11149" y="0"/>
                      </a:cubicBezTo>
                      <a:cubicBezTo>
                        <a:pt x="1978" y="0"/>
                        <a:pt x="1978" y="0"/>
                        <a:pt x="1978" y="0"/>
                      </a:cubicBezTo>
                      <a:cubicBezTo>
                        <a:pt x="1254" y="0"/>
                        <a:pt x="530" y="441"/>
                        <a:pt x="168" y="1176"/>
                      </a:cubicBezTo>
                      <a:cubicBezTo>
                        <a:pt x="-73" y="1910"/>
                        <a:pt x="-73" y="2939"/>
                        <a:pt x="289" y="3673"/>
                      </a:cubicBezTo>
                      <a:cubicBezTo>
                        <a:pt x="1737" y="6171"/>
                        <a:pt x="3306" y="8522"/>
                        <a:pt x="5116" y="10727"/>
                      </a:cubicBezTo>
                      <a:cubicBezTo>
                        <a:pt x="8977" y="15429"/>
                        <a:pt x="13683" y="19102"/>
                        <a:pt x="18752" y="21453"/>
                      </a:cubicBezTo>
                      <a:cubicBezTo>
                        <a:pt x="18993" y="21600"/>
                        <a:pt x="19234" y="21600"/>
                        <a:pt x="19476" y="21600"/>
                      </a:cubicBezTo>
                      <a:cubicBezTo>
                        <a:pt x="20079" y="21600"/>
                        <a:pt x="20682" y="21306"/>
                        <a:pt x="21044" y="20571"/>
                      </a:cubicBezTo>
                      <a:cubicBezTo>
                        <a:pt x="21527" y="19690"/>
                        <a:pt x="21527" y="18514"/>
                        <a:pt x="20924" y="17633"/>
                      </a:cubicBezTo>
                      <a:cubicBezTo>
                        <a:pt x="17666" y="13665"/>
                        <a:pt x="15131" y="8376"/>
                        <a:pt x="13201" y="2351"/>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99" name="Shape 1220"/>
                <p:cNvSpPr/>
                <p:nvPr/>
              </p:nvSpPr>
              <p:spPr>
                <a:xfrm>
                  <a:off x="232860" y="500314"/>
                  <a:ext cx="122447" cy="140074"/>
                </a:xfrm>
                <a:custGeom>
                  <a:avLst/>
                  <a:gdLst/>
                  <a:ahLst/>
                  <a:cxnLst>
                    <a:cxn ang="0">
                      <a:pos x="wd2" y="hd2"/>
                    </a:cxn>
                    <a:cxn ang="5400000">
                      <a:pos x="wd2" y="hd2"/>
                    </a:cxn>
                    <a:cxn ang="10800000">
                      <a:pos x="wd2" y="hd2"/>
                    </a:cxn>
                    <a:cxn ang="16200000">
                      <a:pos x="wd2" y="hd2"/>
                    </a:cxn>
                  </a:cxnLst>
                  <a:rect l="0" t="0" r="r" b="b"/>
                  <a:pathLst>
                    <a:path w="21504" h="21600" extrusionOk="0">
                      <a:moveTo>
                        <a:pt x="18981" y="0"/>
                      </a:moveTo>
                      <a:cubicBezTo>
                        <a:pt x="2584" y="0"/>
                        <a:pt x="2584" y="0"/>
                        <a:pt x="2584" y="0"/>
                      </a:cubicBezTo>
                      <a:cubicBezTo>
                        <a:pt x="1638" y="0"/>
                        <a:pt x="850" y="277"/>
                        <a:pt x="377" y="969"/>
                      </a:cubicBezTo>
                      <a:cubicBezTo>
                        <a:pt x="-96" y="1523"/>
                        <a:pt x="-96" y="2354"/>
                        <a:pt x="219" y="3046"/>
                      </a:cubicBezTo>
                      <a:cubicBezTo>
                        <a:pt x="4161" y="11492"/>
                        <a:pt x="10310" y="17862"/>
                        <a:pt x="17878" y="21323"/>
                      </a:cubicBezTo>
                      <a:cubicBezTo>
                        <a:pt x="18193" y="21462"/>
                        <a:pt x="18666" y="21600"/>
                        <a:pt x="18981" y="21600"/>
                      </a:cubicBezTo>
                      <a:cubicBezTo>
                        <a:pt x="19454" y="21600"/>
                        <a:pt x="19927" y="21462"/>
                        <a:pt x="20400" y="21185"/>
                      </a:cubicBezTo>
                      <a:cubicBezTo>
                        <a:pt x="21031" y="20908"/>
                        <a:pt x="21504" y="20077"/>
                        <a:pt x="21504" y="19385"/>
                      </a:cubicBezTo>
                      <a:cubicBezTo>
                        <a:pt x="21504" y="2215"/>
                        <a:pt x="21504" y="2215"/>
                        <a:pt x="21504" y="2215"/>
                      </a:cubicBezTo>
                      <a:cubicBezTo>
                        <a:pt x="21504" y="969"/>
                        <a:pt x="20400" y="0"/>
                        <a:pt x="18981"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00" name="Shape 1221"/>
                <p:cNvSpPr/>
                <p:nvPr/>
              </p:nvSpPr>
              <p:spPr>
                <a:xfrm>
                  <a:off x="206503" y="367074"/>
                  <a:ext cx="148804" cy="119196"/>
                </a:xfrm>
                <a:custGeom>
                  <a:avLst/>
                  <a:gdLst/>
                  <a:ahLst/>
                  <a:cxnLst>
                    <a:cxn ang="0">
                      <a:pos x="wd2" y="hd2"/>
                    </a:cxn>
                    <a:cxn ang="5400000">
                      <a:pos x="wd2" y="hd2"/>
                    </a:cxn>
                    <a:cxn ang="10800000">
                      <a:pos x="wd2" y="hd2"/>
                    </a:cxn>
                    <a:cxn ang="16200000">
                      <a:pos x="wd2" y="hd2"/>
                    </a:cxn>
                  </a:cxnLst>
                  <a:rect l="0" t="0" r="r" b="b"/>
                  <a:pathLst>
                    <a:path w="21600" h="21600" extrusionOk="0">
                      <a:moveTo>
                        <a:pt x="19518" y="0"/>
                      </a:moveTo>
                      <a:cubicBezTo>
                        <a:pt x="2082" y="0"/>
                        <a:pt x="2082" y="0"/>
                        <a:pt x="2082" y="0"/>
                      </a:cubicBezTo>
                      <a:cubicBezTo>
                        <a:pt x="1431" y="0"/>
                        <a:pt x="911" y="325"/>
                        <a:pt x="520" y="812"/>
                      </a:cubicBezTo>
                      <a:cubicBezTo>
                        <a:pt x="130" y="1299"/>
                        <a:pt x="0" y="2111"/>
                        <a:pt x="0" y="2761"/>
                      </a:cubicBezTo>
                      <a:cubicBezTo>
                        <a:pt x="130" y="8608"/>
                        <a:pt x="781" y="14292"/>
                        <a:pt x="1952" y="19651"/>
                      </a:cubicBezTo>
                      <a:cubicBezTo>
                        <a:pt x="2212" y="20788"/>
                        <a:pt x="2993" y="21600"/>
                        <a:pt x="3904" y="21600"/>
                      </a:cubicBezTo>
                      <a:cubicBezTo>
                        <a:pt x="19518" y="21600"/>
                        <a:pt x="19518" y="21600"/>
                        <a:pt x="19518" y="21600"/>
                      </a:cubicBezTo>
                      <a:cubicBezTo>
                        <a:pt x="20689" y="21600"/>
                        <a:pt x="21600" y="20463"/>
                        <a:pt x="21600" y="19002"/>
                      </a:cubicBezTo>
                      <a:cubicBezTo>
                        <a:pt x="21600" y="2598"/>
                        <a:pt x="21600" y="2598"/>
                        <a:pt x="21600" y="2598"/>
                      </a:cubicBezTo>
                      <a:cubicBezTo>
                        <a:pt x="21600" y="1299"/>
                        <a:pt x="20689" y="0"/>
                        <a:pt x="19518"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01" name="Shape 1222"/>
                <p:cNvSpPr/>
                <p:nvPr/>
              </p:nvSpPr>
              <p:spPr>
                <a:xfrm>
                  <a:off x="206503" y="236871"/>
                  <a:ext cx="148804" cy="119196"/>
                </a:xfrm>
                <a:custGeom>
                  <a:avLst/>
                  <a:gdLst/>
                  <a:ahLst/>
                  <a:cxnLst>
                    <a:cxn ang="0">
                      <a:pos x="wd2" y="hd2"/>
                    </a:cxn>
                    <a:cxn ang="5400000">
                      <a:pos x="wd2" y="hd2"/>
                    </a:cxn>
                    <a:cxn ang="10800000">
                      <a:pos x="wd2" y="hd2"/>
                    </a:cxn>
                    <a:cxn ang="16200000">
                      <a:pos x="wd2" y="hd2"/>
                    </a:cxn>
                  </a:cxnLst>
                  <a:rect l="0" t="0" r="r" b="b"/>
                  <a:pathLst>
                    <a:path w="21600" h="21600" extrusionOk="0">
                      <a:moveTo>
                        <a:pt x="19518" y="0"/>
                      </a:moveTo>
                      <a:cubicBezTo>
                        <a:pt x="4294" y="0"/>
                        <a:pt x="4294" y="0"/>
                        <a:pt x="4294" y="0"/>
                      </a:cubicBezTo>
                      <a:cubicBezTo>
                        <a:pt x="3383" y="0"/>
                        <a:pt x="2602" y="812"/>
                        <a:pt x="2342" y="1949"/>
                      </a:cubicBezTo>
                      <a:cubicBezTo>
                        <a:pt x="1041" y="7308"/>
                        <a:pt x="260" y="12992"/>
                        <a:pt x="0" y="18839"/>
                      </a:cubicBezTo>
                      <a:cubicBezTo>
                        <a:pt x="0" y="19489"/>
                        <a:pt x="260" y="20301"/>
                        <a:pt x="651" y="20788"/>
                      </a:cubicBezTo>
                      <a:cubicBezTo>
                        <a:pt x="1041" y="21275"/>
                        <a:pt x="1561" y="21600"/>
                        <a:pt x="2082" y="21600"/>
                      </a:cubicBezTo>
                      <a:cubicBezTo>
                        <a:pt x="19518" y="21600"/>
                        <a:pt x="19518" y="21600"/>
                        <a:pt x="19518" y="21600"/>
                      </a:cubicBezTo>
                      <a:cubicBezTo>
                        <a:pt x="20689" y="21600"/>
                        <a:pt x="21600" y="20463"/>
                        <a:pt x="21600" y="19002"/>
                      </a:cubicBezTo>
                      <a:cubicBezTo>
                        <a:pt x="21600" y="2598"/>
                        <a:pt x="21600" y="2598"/>
                        <a:pt x="21600" y="2598"/>
                      </a:cubicBezTo>
                      <a:cubicBezTo>
                        <a:pt x="21600" y="1137"/>
                        <a:pt x="20689" y="0"/>
                        <a:pt x="19518"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02" name="Shape 1223"/>
                <p:cNvSpPr/>
                <p:nvPr/>
              </p:nvSpPr>
              <p:spPr>
                <a:xfrm>
                  <a:off x="236655" y="87308"/>
                  <a:ext cx="118652" cy="137037"/>
                </a:xfrm>
                <a:custGeom>
                  <a:avLst/>
                  <a:gdLst/>
                  <a:ahLst/>
                  <a:cxnLst>
                    <a:cxn ang="0">
                      <a:pos x="wd2" y="hd2"/>
                    </a:cxn>
                    <a:cxn ang="5400000">
                      <a:pos x="wd2" y="hd2"/>
                    </a:cxn>
                    <a:cxn ang="10800000">
                      <a:pos x="wd2" y="hd2"/>
                    </a:cxn>
                    <a:cxn ang="16200000">
                      <a:pos x="wd2" y="hd2"/>
                    </a:cxn>
                  </a:cxnLst>
                  <a:rect l="0" t="0" r="r" b="b"/>
                  <a:pathLst>
                    <a:path w="21502" h="21600" extrusionOk="0">
                      <a:moveTo>
                        <a:pt x="20203" y="282"/>
                      </a:moveTo>
                      <a:cubicBezTo>
                        <a:pt x="19878" y="0"/>
                        <a:pt x="19391" y="0"/>
                        <a:pt x="18904" y="0"/>
                      </a:cubicBezTo>
                      <a:cubicBezTo>
                        <a:pt x="18579" y="0"/>
                        <a:pt x="18091" y="0"/>
                        <a:pt x="17604" y="282"/>
                      </a:cubicBezTo>
                      <a:cubicBezTo>
                        <a:pt x="10296" y="4094"/>
                        <a:pt x="4287" y="10306"/>
                        <a:pt x="227" y="18494"/>
                      </a:cubicBezTo>
                      <a:cubicBezTo>
                        <a:pt x="-98" y="19200"/>
                        <a:pt x="-98" y="20047"/>
                        <a:pt x="389" y="20612"/>
                      </a:cubicBezTo>
                      <a:cubicBezTo>
                        <a:pt x="876" y="21318"/>
                        <a:pt x="1688" y="21600"/>
                        <a:pt x="2663" y="21600"/>
                      </a:cubicBezTo>
                      <a:cubicBezTo>
                        <a:pt x="18904" y="21600"/>
                        <a:pt x="18904" y="21600"/>
                        <a:pt x="18904" y="21600"/>
                      </a:cubicBezTo>
                      <a:cubicBezTo>
                        <a:pt x="20365" y="21600"/>
                        <a:pt x="21502" y="20612"/>
                        <a:pt x="21502" y="19341"/>
                      </a:cubicBezTo>
                      <a:cubicBezTo>
                        <a:pt x="21502" y="2259"/>
                        <a:pt x="21502" y="2259"/>
                        <a:pt x="21502" y="2259"/>
                      </a:cubicBezTo>
                      <a:cubicBezTo>
                        <a:pt x="21502" y="1412"/>
                        <a:pt x="21015" y="706"/>
                        <a:pt x="20203" y="282"/>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03" name="Shape 1224"/>
                <p:cNvSpPr/>
                <p:nvPr/>
              </p:nvSpPr>
              <p:spPr>
                <a:xfrm>
                  <a:off x="438294" y="500314"/>
                  <a:ext cx="166398" cy="134760"/>
                </a:xfrm>
                <a:custGeom>
                  <a:avLst/>
                  <a:gdLst/>
                  <a:ahLst/>
                  <a:cxnLst>
                    <a:cxn ang="0">
                      <a:pos x="wd2" y="hd2"/>
                    </a:cxn>
                    <a:cxn ang="5400000">
                      <a:pos x="wd2" y="hd2"/>
                    </a:cxn>
                    <a:cxn ang="10800000">
                      <a:pos x="wd2" y="hd2"/>
                    </a:cxn>
                    <a:cxn ang="16200000">
                      <a:pos x="wd2" y="hd2"/>
                    </a:cxn>
                  </a:cxnLst>
                  <a:rect l="0" t="0" r="r" b="b"/>
                  <a:pathLst>
                    <a:path w="21325" h="21600" extrusionOk="0">
                      <a:moveTo>
                        <a:pt x="19471" y="0"/>
                      </a:moveTo>
                      <a:cubicBezTo>
                        <a:pt x="10279" y="0"/>
                        <a:pt x="10279" y="0"/>
                        <a:pt x="10279" y="0"/>
                      </a:cubicBezTo>
                      <a:cubicBezTo>
                        <a:pt x="9475" y="0"/>
                        <a:pt x="8786" y="576"/>
                        <a:pt x="8556" y="1440"/>
                      </a:cubicBezTo>
                      <a:cubicBezTo>
                        <a:pt x="6603" y="7920"/>
                        <a:pt x="3845" y="13392"/>
                        <a:pt x="513" y="17712"/>
                      </a:cubicBezTo>
                      <a:cubicBezTo>
                        <a:pt x="-61" y="18432"/>
                        <a:pt x="-176" y="19728"/>
                        <a:pt x="284" y="20592"/>
                      </a:cubicBezTo>
                      <a:cubicBezTo>
                        <a:pt x="628" y="21312"/>
                        <a:pt x="1203" y="21600"/>
                        <a:pt x="1892" y="21600"/>
                      </a:cubicBezTo>
                      <a:cubicBezTo>
                        <a:pt x="2007" y="21600"/>
                        <a:pt x="2237" y="21600"/>
                        <a:pt x="2467" y="21456"/>
                      </a:cubicBezTo>
                      <a:cubicBezTo>
                        <a:pt x="7637" y="19296"/>
                        <a:pt x="12462" y="15408"/>
                        <a:pt x="16484" y="10512"/>
                      </a:cubicBezTo>
                      <a:cubicBezTo>
                        <a:pt x="18092" y="8352"/>
                        <a:pt x="19701" y="6048"/>
                        <a:pt x="20964" y="3600"/>
                      </a:cubicBezTo>
                      <a:cubicBezTo>
                        <a:pt x="21424" y="2880"/>
                        <a:pt x="21424" y="1872"/>
                        <a:pt x="21079" y="1152"/>
                      </a:cubicBezTo>
                      <a:cubicBezTo>
                        <a:pt x="20735" y="432"/>
                        <a:pt x="20160" y="0"/>
                        <a:pt x="19471"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04" name="Shape 1225"/>
                <p:cNvSpPr/>
                <p:nvPr/>
              </p:nvSpPr>
              <p:spPr>
                <a:xfrm>
                  <a:off x="515300" y="367074"/>
                  <a:ext cx="133060" cy="119196"/>
                </a:xfrm>
                <a:custGeom>
                  <a:avLst/>
                  <a:gdLst/>
                  <a:ahLst/>
                  <a:cxnLst>
                    <a:cxn ang="0">
                      <a:pos x="wd2" y="hd2"/>
                    </a:cxn>
                    <a:cxn ang="5400000">
                      <a:pos x="wd2" y="hd2"/>
                    </a:cxn>
                    <a:cxn ang="10800000">
                      <a:pos x="wd2" y="hd2"/>
                    </a:cxn>
                    <a:cxn ang="16200000">
                      <a:pos x="wd2" y="hd2"/>
                    </a:cxn>
                  </a:cxnLst>
                  <a:rect l="0" t="0" r="r" b="b"/>
                  <a:pathLst>
                    <a:path w="21509" h="21600" extrusionOk="0">
                      <a:moveTo>
                        <a:pt x="19190" y="0"/>
                      </a:moveTo>
                      <a:cubicBezTo>
                        <a:pt x="4548" y="0"/>
                        <a:pt x="4548" y="0"/>
                        <a:pt x="4548" y="0"/>
                      </a:cubicBezTo>
                      <a:cubicBezTo>
                        <a:pt x="3388" y="0"/>
                        <a:pt x="2373" y="1137"/>
                        <a:pt x="2228" y="2598"/>
                      </a:cubicBezTo>
                      <a:cubicBezTo>
                        <a:pt x="1939" y="7958"/>
                        <a:pt x="1214" y="13317"/>
                        <a:pt x="54" y="18352"/>
                      </a:cubicBezTo>
                      <a:cubicBezTo>
                        <a:pt x="-91" y="19164"/>
                        <a:pt x="54" y="19976"/>
                        <a:pt x="489" y="20626"/>
                      </a:cubicBezTo>
                      <a:cubicBezTo>
                        <a:pt x="924" y="21275"/>
                        <a:pt x="1649" y="21600"/>
                        <a:pt x="2373" y="21600"/>
                      </a:cubicBezTo>
                      <a:cubicBezTo>
                        <a:pt x="15565" y="21600"/>
                        <a:pt x="15565" y="21600"/>
                        <a:pt x="15565" y="21600"/>
                      </a:cubicBezTo>
                      <a:cubicBezTo>
                        <a:pt x="16435" y="21600"/>
                        <a:pt x="17305" y="20950"/>
                        <a:pt x="17595" y="20138"/>
                      </a:cubicBezTo>
                      <a:cubicBezTo>
                        <a:pt x="19769" y="14617"/>
                        <a:pt x="21074" y="8932"/>
                        <a:pt x="21509" y="2923"/>
                      </a:cubicBezTo>
                      <a:cubicBezTo>
                        <a:pt x="21509" y="2923"/>
                        <a:pt x="21509" y="2761"/>
                        <a:pt x="21509" y="2598"/>
                      </a:cubicBezTo>
                      <a:cubicBezTo>
                        <a:pt x="21509" y="1299"/>
                        <a:pt x="20494" y="0"/>
                        <a:pt x="19190"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05" name="Shape 1226"/>
                <p:cNvSpPr/>
                <p:nvPr/>
              </p:nvSpPr>
              <p:spPr>
                <a:xfrm>
                  <a:off x="516438" y="236871"/>
                  <a:ext cx="131163" cy="119196"/>
                </a:xfrm>
                <a:custGeom>
                  <a:avLst/>
                  <a:gdLst/>
                  <a:ahLst/>
                  <a:cxnLst>
                    <a:cxn ang="0">
                      <a:pos x="wd2" y="hd2"/>
                    </a:cxn>
                    <a:cxn ang="5400000">
                      <a:pos x="wd2" y="hd2"/>
                    </a:cxn>
                    <a:cxn ang="10800000">
                      <a:pos x="wd2" y="hd2"/>
                    </a:cxn>
                    <a:cxn ang="16200000">
                      <a:pos x="wd2" y="hd2"/>
                    </a:cxn>
                  </a:cxnLst>
                  <a:rect l="0" t="0" r="r" b="b"/>
                  <a:pathLst>
                    <a:path w="21508" h="21600" extrusionOk="0">
                      <a:moveTo>
                        <a:pt x="496" y="974"/>
                      </a:moveTo>
                      <a:cubicBezTo>
                        <a:pt x="55" y="1624"/>
                        <a:pt x="-92" y="2436"/>
                        <a:pt x="55" y="3248"/>
                      </a:cubicBezTo>
                      <a:cubicBezTo>
                        <a:pt x="1230" y="8283"/>
                        <a:pt x="1818" y="13642"/>
                        <a:pt x="1965" y="19002"/>
                      </a:cubicBezTo>
                      <a:cubicBezTo>
                        <a:pt x="2112" y="20463"/>
                        <a:pt x="3141" y="21600"/>
                        <a:pt x="4316" y="21600"/>
                      </a:cubicBezTo>
                      <a:cubicBezTo>
                        <a:pt x="19157" y="21600"/>
                        <a:pt x="19157" y="21600"/>
                        <a:pt x="19157" y="21600"/>
                      </a:cubicBezTo>
                      <a:cubicBezTo>
                        <a:pt x="19745" y="21600"/>
                        <a:pt x="20332" y="21275"/>
                        <a:pt x="20773" y="20788"/>
                      </a:cubicBezTo>
                      <a:cubicBezTo>
                        <a:pt x="21214" y="20138"/>
                        <a:pt x="21508" y="19489"/>
                        <a:pt x="21508" y="18839"/>
                      </a:cubicBezTo>
                      <a:cubicBezTo>
                        <a:pt x="21067" y="12830"/>
                        <a:pt x="19745" y="6983"/>
                        <a:pt x="17541" y="1624"/>
                      </a:cubicBezTo>
                      <a:cubicBezTo>
                        <a:pt x="17100" y="650"/>
                        <a:pt x="16365" y="0"/>
                        <a:pt x="15337" y="0"/>
                      </a:cubicBezTo>
                      <a:cubicBezTo>
                        <a:pt x="2406" y="0"/>
                        <a:pt x="2406" y="0"/>
                        <a:pt x="2406" y="0"/>
                      </a:cubicBezTo>
                      <a:cubicBezTo>
                        <a:pt x="1671" y="0"/>
                        <a:pt x="937" y="325"/>
                        <a:pt x="496" y="974"/>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06" name="Shape 1227"/>
                <p:cNvSpPr/>
                <p:nvPr/>
              </p:nvSpPr>
              <p:spPr>
                <a:xfrm>
                  <a:off x="440951" y="92622"/>
                  <a:ext cx="158893" cy="131723"/>
                </a:xfrm>
                <a:custGeom>
                  <a:avLst/>
                  <a:gdLst/>
                  <a:ahLst/>
                  <a:cxnLst>
                    <a:cxn ang="0">
                      <a:pos x="wd2" y="hd2"/>
                    </a:cxn>
                    <a:cxn ang="5400000">
                      <a:pos x="wd2" y="hd2"/>
                    </a:cxn>
                    <a:cxn ang="10800000">
                      <a:pos x="wd2" y="hd2"/>
                    </a:cxn>
                    <a:cxn ang="16200000">
                      <a:pos x="wd2" y="hd2"/>
                    </a:cxn>
                  </a:cxnLst>
                  <a:rect l="0" t="0" r="r" b="b"/>
                  <a:pathLst>
                    <a:path w="21274" h="21600" extrusionOk="0">
                      <a:moveTo>
                        <a:pt x="8096" y="19249"/>
                      </a:moveTo>
                      <a:cubicBezTo>
                        <a:pt x="8096" y="19543"/>
                        <a:pt x="8216" y="19837"/>
                        <a:pt x="8336" y="20131"/>
                      </a:cubicBezTo>
                      <a:cubicBezTo>
                        <a:pt x="8576" y="21012"/>
                        <a:pt x="9296" y="21600"/>
                        <a:pt x="10136" y="21600"/>
                      </a:cubicBezTo>
                      <a:cubicBezTo>
                        <a:pt x="19376" y="21600"/>
                        <a:pt x="19376" y="21600"/>
                        <a:pt x="19376" y="21600"/>
                      </a:cubicBezTo>
                      <a:cubicBezTo>
                        <a:pt x="20096" y="21600"/>
                        <a:pt x="20696" y="21159"/>
                        <a:pt x="21056" y="20424"/>
                      </a:cubicBezTo>
                      <a:cubicBezTo>
                        <a:pt x="21416" y="19690"/>
                        <a:pt x="21296" y="18661"/>
                        <a:pt x="20936" y="18073"/>
                      </a:cubicBezTo>
                      <a:cubicBezTo>
                        <a:pt x="19496" y="15429"/>
                        <a:pt x="17936" y="13078"/>
                        <a:pt x="16136" y="10873"/>
                      </a:cubicBezTo>
                      <a:cubicBezTo>
                        <a:pt x="12296" y="6171"/>
                        <a:pt x="7616" y="2498"/>
                        <a:pt x="2576" y="147"/>
                      </a:cubicBezTo>
                      <a:cubicBezTo>
                        <a:pt x="2336" y="0"/>
                        <a:pt x="2096" y="0"/>
                        <a:pt x="1856" y="0"/>
                      </a:cubicBezTo>
                      <a:cubicBezTo>
                        <a:pt x="1256" y="0"/>
                        <a:pt x="656" y="294"/>
                        <a:pt x="296" y="1029"/>
                      </a:cubicBezTo>
                      <a:cubicBezTo>
                        <a:pt x="-184" y="1910"/>
                        <a:pt x="-64" y="3086"/>
                        <a:pt x="536" y="3967"/>
                      </a:cubicBezTo>
                      <a:cubicBezTo>
                        <a:pt x="3656" y="8082"/>
                        <a:pt x="6176" y="13224"/>
                        <a:pt x="8096" y="19249"/>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07" name="Shape 1228"/>
                <p:cNvSpPr/>
                <p:nvPr/>
              </p:nvSpPr>
              <p:spPr>
                <a:xfrm>
                  <a:off x="367833" y="84651"/>
                  <a:ext cx="122070" cy="139694"/>
                </a:xfrm>
                <a:custGeom>
                  <a:avLst/>
                  <a:gdLst/>
                  <a:ahLst/>
                  <a:cxnLst>
                    <a:cxn ang="0">
                      <a:pos x="wd2" y="hd2"/>
                    </a:cxn>
                    <a:cxn ang="5400000">
                      <a:pos x="wd2" y="hd2"/>
                    </a:cxn>
                    <a:cxn ang="10800000">
                      <a:pos x="wd2" y="hd2"/>
                    </a:cxn>
                    <a:cxn ang="16200000">
                      <a:pos x="wd2" y="hd2"/>
                    </a:cxn>
                  </a:cxnLst>
                  <a:rect l="0" t="0" r="r" b="b"/>
                  <a:pathLst>
                    <a:path w="21504" h="21600" extrusionOk="0">
                      <a:moveTo>
                        <a:pt x="2523" y="21600"/>
                      </a:moveTo>
                      <a:cubicBezTo>
                        <a:pt x="18920" y="21600"/>
                        <a:pt x="18920" y="21600"/>
                        <a:pt x="18920" y="21600"/>
                      </a:cubicBezTo>
                      <a:cubicBezTo>
                        <a:pt x="19866" y="21600"/>
                        <a:pt x="20654" y="21323"/>
                        <a:pt x="21127" y="20631"/>
                      </a:cubicBezTo>
                      <a:cubicBezTo>
                        <a:pt x="21600" y="20077"/>
                        <a:pt x="21600" y="19246"/>
                        <a:pt x="21285" y="18554"/>
                      </a:cubicBezTo>
                      <a:cubicBezTo>
                        <a:pt x="17343" y="10108"/>
                        <a:pt x="11194" y="3738"/>
                        <a:pt x="3626" y="277"/>
                      </a:cubicBezTo>
                      <a:cubicBezTo>
                        <a:pt x="3311" y="138"/>
                        <a:pt x="2838" y="0"/>
                        <a:pt x="2523" y="0"/>
                      </a:cubicBezTo>
                      <a:cubicBezTo>
                        <a:pt x="2050" y="0"/>
                        <a:pt x="1577" y="138"/>
                        <a:pt x="1104" y="415"/>
                      </a:cubicBezTo>
                      <a:cubicBezTo>
                        <a:pt x="315" y="831"/>
                        <a:pt x="0" y="1523"/>
                        <a:pt x="0" y="2215"/>
                      </a:cubicBezTo>
                      <a:cubicBezTo>
                        <a:pt x="0" y="19385"/>
                        <a:pt x="0" y="19385"/>
                        <a:pt x="0" y="19385"/>
                      </a:cubicBezTo>
                      <a:cubicBezTo>
                        <a:pt x="0" y="20631"/>
                        <a:pt x="1104" y="21600"/>
                        <a:pt x="2523" y="216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08" name="Shape 1229"/>
                <p:cNvSpPr/>
                <p:nvPr/>
              </p:nvSpPr>
              <p:spPr>
                <a:xfrm>
                  <a:off x="367833" y="236871"/>
                  <a:ext cx="148805" cy="119196"/>
                </a:xfrm>
                <a:custGeom>
                  <a:avLst/>
                  <a:gdLst/>
                  <a:ahLst/>
                  <a:cxnLst>
                    <a:cxn ang="0">
                      <a:pos x="wd2" y="hd2"/>
                    </a:cxn>
                    <a:cxn ang="5400000">
                      <a:pos x="wd2" y="hd2"/>
                    </a:cxn>
                    <a:cxn ang="10800000">
                      <a:pos x="wd2" y="hd2"/>
                    </a:cxn>
                    <a:cxn ang="16200000">
                      <a:pos x="wd2" y="hd2"/>
                    </a:cxn>
                  </a:cxnLst>
                  <a:rect l="0" t="0" r="r" b="b"/>
                  <a:pathLst>
                    <a:path w="21600" h="21600" extrusionOk="0">
                      <a:moveTo>
                        <a:pt x="2082" y="21600"/>
                      </a:moveTo>
                      <a:cubicBezTo>
                        <a:pt x="19518" y="21600"/>
                        <a:pt x="19518" y="21600"/>
                        <a:pt x="19518" y="21600"/>
                      </a:cubicBezTo>
                      <a:cubicBezTo>
                        <a:pt x="20169" y="21600"/>
                        <a:pt x="20689" y="21275"/>
                        <a:pt x="21080" y="20788"/>
                      </a:cubicBezTo>
                      <a:cubicBezTo>
                        <a:pt x="21470" y="20301"/>
                        <a:pt x="21600" y="19651"/>
                        <a:pt x="21600" y="18839"/>
                      </a:cubicBezTo>
                      <a:cubicBezTo>
                        <a:pt x="21470" y="12992"/>
                        <a:pt x="20819" y="7308"/>
                        <a:pt x="19648" y="1949"/>
                      </a:cubicBezTo>
                      <a:cubicBezTo>
                        <a:pt x="19388" y="812"/>
                        <a:pt x="18607" y="0"/>
                        <a:pt x="17696" y="0"/>
                      </a:cubicBezTo>
                      <a:cubicBezTo>
                        <a:pt x="2082" y="0"/>
                        <a:pt x="2082" y="0"/>
                        <a:pt x="2082" y="0"/>
                      </a:cubicBezTo>
                      <a:cubicBezTo>
                        <a:pt x="911" y="0"/>
                        <a:pt x="0" y="1137"/>
                        <a:pt x="0" y="2598"/>
                      </a:cubicBezTo>
                      <a:cubicBezTo>
                        <a:pt x="0" y="19002"/>
                        <a:pt x="0" y="19002"/>
                        <a:pt x="0" y="19002"/>
                      </a:cubicBezTo>
                      <a:cubicBezTo>
                        <a:pt x="0" y="20463"/>
                        <a:pt x="911" y="21600"/>
                        <a:pt x="2082" y="216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09" name="Shape 1230"/>
                <p:cNvSpPr/>
                <p:nvPr/>
              </p:nvSpPr>
              <p:spPr>
                <a:xfrm>
                  <a:off x="367833" y="367074"/>
                  <a:ext cx="148805" cy="119196"/>
                </a:xfrm>
                <a:custGeom>
                  <a:avLst/>
                  <a:gdLst/>
                  <a:ahLst/>
                  <a:cxnLst>
                    <a:cxn ang="0">
                      <a:pos x="wd2" y="hd2"/>
                    </a:cxn>
                    <a:cxn ang="5400000">
                      <a:pos x="wd2" y="hd2"/>
                    </a:cxn>
                    <a:cxn ang="10800000">
                      <a:pos x="wd2" y="hd2"/>
                    </a:cxn>
                    <a:cxn ang="16200000">
                      <a:pos x="wd2" y="hd2"/>
                    </a:cxn>
                  </a:cxnLst>
                  <a:rect l="0" t="0" r="r" b="b"/>
                  <a:pathLst>
                    <a:path w="21600" h="21600" extrusionOk="0">
                      <a:moveTo>
                        <a:pt x="2082" y="21600"/>
                      </a:moveTo>
                      <a:cubicBezTo>
                        <a:pt x="17306" y="21600"/>
                        <a:pt x="17306" y="21600"/>
                        <a:pt x="17306" y="21600"/>
                      </a:cubicBezTo>
                      <a:cubicBezTo>
                        <a:pt x="18217" y="21600"/>
                        <a:pt x="18998" y="20788"/>
                        <a:pt x="19258" y="19814"/>
                      </a:cubicBezTo>
                      <a:cubicBezTo>
                        <a:pt x="20559" y="14454"/>
                        <a:pt x="21340" y="8770"/>
                        <a:pt x="21600" y="2923"/>
                      </a:cubicBezTo>
                      <a:cubicBezTo>
                        <a:pt x="21600" y="2761"/>
                        <a:pt x="21600" y="2761"/>
                        <a:pt x="21600" y="2598"/>
                      </a:cubicBezTo>
                      <a:cubicBezTo>
                        <a:pt x="21600" y="1299"/>
                        <a:pt x="20689" y="0"/>
                        <a:pt x="19518" y="0"/>
                      </a:cubicBezTo>
                      <a:cubicBezTo>
                        <a:pt x="2082" y="0"/>
                        <a:pt x="2082" y="0"/>
                        <a:pt x="2082" y="0"/>
                      </a:cubicBezTo>
                      <a:cubicBezTo>
                        <a:pt x="911" y="0"/>
                        <a:pt x="0" y="1299"/>
                        <a:pt x="0" y="2598"/>
                      </a:cubicBezTo>
                      <a:cubicBezTo>
                        <a:pt x="0" y="19002"/>
                        <a:pt x="0" y="19002"/>
                        <a:pt x="0" y="19002"/>
                      </a:cubicBezTo>
                      <a:cubicBezTo>
                        <a:pt x="0" y="20463"/>
                        <a:pt x="911" y="21600"/>
                        <a:pt x="2082" y="216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10" name="Shape 1231"/>
                <p:cNvSpPr/>
                <p:nvPr/>
              </p:nvSpPr>
              <p:spPr>
                <a:xfrm>
                  <a:off x="367833" y="500314"/>
                  <a:ext cx="118437" cy="138176"/>
                </a:xfrm>
                <a:custGeom>
                  <a:avLst/>
                  <a:gdLst/>
                  <a:ahLst/>
                  <a:cxnLst>
                    <a:cxn ang="0">
                      <a:pos x="wd2" y="hd2"/>
                    </a:cxn>
                    <a:cxn ang="5400000">
                      <a:pos x="wd2" y="hd2"/>
                    </a:cxn>
                    <a:cxn ang="10800000">
                      <a:pos x="wd2" y="hd2"/>
                    </a:cxn>
                    <a:cxn ang="16200000">
                      <a:pos x="wd2" y="hd2"/>
                    </a:cxn>
                  </a:cxnLst>
                  <a:rect l="0" t="0" r="r" b="b"/>
                  <a:pathLst>
                    <a:path w="21600" h="21600" extrusionOk="0">
                      <a:moveTo>
                        <a:pt x="21600" y="2244"/>
                      </a:moveTo>
                      <a:cubicBezTo>
                        <a:pt x="21600" y="982"/>
                        <a:pt x="20455" y="0"/>
                        <a:pt x="18982" y="0"/>
                      </a:cubicBezTo>
                      <a:cubicBezTo>
                        <a:pt x="2618" y="0"/>
                        <a:pt x="2618" y="0"/>
                        <a:pt x="2618" y="0"/>
                      </a:cubicBezTo>
                      <a:cubicBezTo>
                        <a:pt x="1145" y="0"/>
                        <a:pt x="0" y="982"/>
                        <a:pt x="0" y="2244"/>
                      </a:cubicBezTo>
                      <a:cubicBezTo>
                        <a:pt x="0" y="19356"/>
                        <a:pt x="0" y="19356"/>
                        <a:pt x="0" y="19356"/>
                      </a:cubicBezTo>
                      <a:cubicBezTo>
                        <a:pt x="0" y="20057"/>
                        <a:pt x="491" y="20899"/>
                        <a:pt x="1309" y="21179"/>
                      </a:cubicBezTo>
                      <a:cubicBezTo>
                        <a:pt x="1636" y="21460"/>
                        <a:pt x="2127" y="21600"/>
                        <a:pt x="2618" y="21600"/>
                      </a:cubicBezTo>
                      <a:cubicBezTo>
                        <a:pt x="2945" y="21600"/>
                        <a:pt x="3436" y="21460"/>
                        <a:pt x="3927" y="21179"/>
                      </a:cubicBezTo>
                      <a:cubicBezTo>
                        <a:pt x="11291" y="17532"/>
                        <a:pt x="17345" y="11221"/>
                        <a:pt x="21436" y="3226"/>
                      </a:cubicBezTo>
                      <a:cubicBezTo>
                        <a:pt x="21600" y="2945"/>
                        <a:pt x="21600" y="2525"/>
                        <a:pt x="21600" y="2244"/>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11" name="Shape 1232"/>
                <p:cNvSpPr/>
                <p:nvPr/>
              </p:nvSpPr>
              <p:spPr>
                <a:xfrm>
                  <a:off x="31506" y="31506"/>
                  <a:ext cx="660128" cy="660128"/>
                </a:xfrm>
                <a:custGeom>
                  <a:avLst/>
                  <a:gdLst/>
                  <a:ahLst/>
                  <a:cxnLst>
                    <a:cxn ang="0">
                      <a:pos x="wd2" y="hd2"/>
                    </a:cxn>
                    <a:cxn ang="5400000">
                      <a:pos x="wd2" y="hd2"/>
                    </a:cxn>
                    <a:cxn ang="10800000">
                      <a:pos x="wd2" y="hd2"/>
                    </a:cxn>
                    <a:cxn ang="16200000">
                      <a:pos x="wd2" y="hd2"/>
                    </a:cxn>
                  </a:cxnLst>
                  <a:rect l="0" t="0" r="r" b="b"/>
                  <a:pathLst>
                    <a:path w="21600" h="21600" extrusionOk="0">
                      <a:moveTo>
                        <a:pt x="10800" y="704"/>
                      </a:moveTo>
                      <a:cubicBezTo>
                        <a:pt x="16376" y="704"/>
                        <a:pt x="20896" y="5224"/>
                        <a:pt x="20896" y="10800"/>
                      </a:cubicBezTo>
                      <a:cubicBezTo>
                        <a:pt x="20896" y="16376"/>
                        <a:pt x="16376" y="20896"/>
                        <a:pt x="10800" y="20896"/>
                      </a:cubicBezTo>
                      <a:cubicBezTo>
                        <a:pt x="5224" y="20896"/>
                        <a:pt x="704" y="16376"/>
                        <a:pt x="704" y="10800"/>
                      </a:cubicBezTo>
                      <a:cubicBezTo>
                        <a:pt x="704" y="5224"/>
                        <a:pt x="5224" y="704"/>
                        <a:pt x="10800" y="704"/>
                      </a:cubicBezTo>
                      <a:moveTo>
                        <a:pt x="10800" y="0"/>
                      </a:moveTo>
                      <a:cubicBezTo>
                        <a:pt x="4842" y="0"/>
                        <a:pt x="0" y="4842"/>
                        <a:pt x="0" y="10800"/>
                      </a:cubicBezTo>
                      <a:cubicBezTo>
                        <a:pt x="0" y="16758"/>
                        <a:pt x="4842" y="21600"/>
                        <a:pt x="10800" y="21600"/>
                      </a:cubicBezTo>
                      <a:cubicBezTo>
                        <a:pt x="16758" y="21600"/>
                        <a:pt x="21600" y="16758"/>
                        <a:pt x="21600" y="10800"/>
                      </a:cubicBezTo>
                      <a:cubicBezTo>
                        <a:pt x="21600" y="4842"/>
                        <a:pt x="16758" y="0"/>
                        <a:pt x="10800"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12" name="Shape 1233"/>
                <p:cNvSpPr/>
                <p:nvPr/>
              </p:nvSpPr>
              <p:spPr>
                <a:xfrm>
                  <a:off x="82686" y="23535"/>
                  <a:ext cx="234728" cy="223966"/>
                </a:xfrm>
                <a:custGeom>
                  <a:avLst/>
                  <a:gdLst/>
                  <a:ahLst/>
                  <a:cxnLst>
                    <a:cxn ang="0">
                      <a:pos x="wd2" y="hd2"/>
                    </a:cxn>
                    <a:cxn ang="5400000">
                      <a:pos x="wd2" y="hd2"/>
                    </a:cxn>
                    <a:cxn ang="10800000">
                      <a:pos x="wd2" y="hd2"/>
                    </a:cxn>
                    <a:cxn ang="16200000">
                      <a:pos x="wd2" y="hd2"/>
                    </a:cxn>
                  </a:cxnLst>
                  <a:rect l="0" t="0" r="r" b="b"/>
                  <a:pathLst>
                    <a:path w="21404" h="21600" extrusionOk="0">
                      <a:moveTo>
                        <a:pt x="16675" y="21600"/>
                      </a:moveTo>
                      <a:cubicBezTo>
                        <a:pt x="16511" y="21600"/>
                        <a:pt x="16429" y="21600"/>
                        <a:pt x="16266" y="21514"/>
                      </a:cubicBezTo>
                      <a:cubicBezTo>
                        <a:pt x="10702" y="18403"/>
                        <a:pt x="10702" y="18403"/>
                        <a:pt x="10702" y="18403"/>
                      </a:cubicBezTo>
                      <a:cubicBezTo>
                        <a:pt x="5138" y="21514"/>
                        <a:pt x="5138" y="21514"/>
                        <a:pt x="5138" y="21514"/>
                      </a:cubicBezTo>
                      <a:cubicBezTo>
                        <a:pt x="4975" y="21600"/>
                        <a:pt x="4893" y="21600"/>
                        <a:pt x="4729" y="21600"/>
                      </a:cubicBezTo>
                      <a:cubicBezTo>
                        <a:pt x="4484" y="21600"/>
                        <a:pt x="4320" y="21514"/>
                        <a:pt x="4157" y="21427"/>
                      </a:cubicBezTo>
                      <a:cubicBezTo>
                        <a:pt x="3829" y="21168"/>
                        <a:pt x="3666" y="20736"/>
                        <a:pt x="3747" y="20390"/>
                      </a:cubicBezTo>
                      <a:cubicBezTo>
                        <a:pt x="4811" y="13824"/>
                        <a:pt x="4811" y="13824"/>
                        <a:pt x="4811" y="13824"/>
                      </a:cubicBezTo>
                      <a:cubicBezTo>
                        <a:pt x="311" y="9245"/>
                        <a:pt x="311" y="9245"/>
                        <a:pt x="311" y="9245"/>
                      </a:cubicBezTo>
                      <a:cubicBezTo>
                        <a:pt x="66" y="8986"/>
                        <a:pt x="-98" y="8554"/>
                        <a:pt x="66" y="8208"/>
                      </a:cubicBezTo>
                      <a:cubicBezTo>
                        <a:pt x="147" y="7776"/>
                        <a:pt x="475" y="7517"/>
                        <a:pt x="884" y="7517"/>
                      </a:cubicBezTo>
                      <a:cubicBezTo>
                        <a:pt x="7020" y="6566"/>
                        <a:pt x="7020" y="6566"/>
                        <a:pt x="7020" y="6566"/>
                      </a:cubicBezTo>
                      <a:cubicBezTo>
                        <a:pt x="9802" y="605"/>
                        <a:pt x="9802" y="605"/>
                        <a:pt x="9802" y="605"/>
                      </a:cubicBezTo>
                      <a:cubicBezTo>
                        <a:pt x="9966" y="259"/>
                        <a:pt x="10293" y="0"/>
                        <a:pt x="10702" y="0"/>
                      </a:cubicBezTo>
                      <a:cubicBezTo>
                        <a:pt x="11111" y="0"/>
                        <a:pt x="11438" y="259"/>
                        <a:pt x="11602" y="605"/>
                      </a:cubicBezTo>
                      <a:cubicBezTo>
                        <a:pt x="14384" y="6566"/>
                        <a:pt x="14384" y="6566"/>
                        <a:pt x="14384" y="6566"/>
                      </a:cubicBezTo>
                      <a:cubicBezTo>
                        <a:pt x="20520" y="7517"/>
                        <a:pt x="20520" y="7517"/>
                        <a:pt x="20520" y="7517"/>
                      </a:cubicBezTo>
                      <a:cubicBezTo>
                        <a:pt x="20929" y="7517"/>
                        <a:pt x="21257" y="7776"/>
                        <a:pt x="21338" y="8208"/>
                      </a:cubicBezTo>
                      <a:cubicBezTo>
                        <a:pt x="21502" y="8554"/>
                        <a:pt x="21338" y="8986"/>
                        <a:pt x="21093" y="9245"/>
                      </a:cubicBezTo>
                      <a:cubicBezTo>
                        <a:pt x="16593" y="13824"/>
                        <a:pt x="16593" y="13824"/>
                        <a:pt x="16593" y="13824"/>
                      </a:cubicBezTo>
                      <a:cubicBezTo>
                        <a:pt x="17657" y="20390"/>
                        <a:pt x="17657" y="20390"/>
                        <a:pt x="17657" y="20390"/>
                      </a:cubicBezTo>
                      <a:cubicBezTo>
                        <a:pt x="17738" y="20736"/>
                        <a:pt x="17575" y="21168"/>
                        <a:pt x="17247" y="21427"/>
                      </a:cubicBezTo>
                      <a:cubicBezTo>
                        <a:pt x="17084" y="21514"/>
                        <a:pt x="16920" y="21600"/>
                        <a:pt x="16675" y="216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13" name="Shape 1234"/>
                <p:cNvSpPr/>
                <p:nvPr/>
              </p:nvSpPr>
              <p:spPr>
                <a:xfrm>
                  <a:off x="72119" y="12906"/>
                  <a:ext cx="255862" cy="245603"/>
                </a:xfrm>
                <a:custGeom>
                  <a:avLst/>
                  <a:gdLst/>
                  <a:ahLst/>
                  <a:cxnLst>
                    <a:cxn ang="0">
                      <a:pos x="wd2" y="hd2"/>
                    </a:cxn>
                    <a:cxn ang="5400000">
                      <a:pos x="wd2" y="hd2"/>
                    </a:cxn>
                    <a:cxn ang="10800000">
                      <a:pos x="wd2" y="hd2"/>
                    </a:cxn>
                    <a:cxn ang="16200000">
                      <a:pos x="wd2" y="hd2"/>
                    </a:cxn>
                  </a:cxnLst>
                  <a:rect l="0" t="0" r="r" b="b"/>
                  <a:pathLst>
                    <a:path w="21410" h="21600" extrusionOk="0">
                      <a:moveTo>
                        <a:pt x="10705" y="1892"/>
                      </a:moveTo>
                      <a:cubicBezTo>
                        <a:pt x="13480" y="7726"/>
                        <a:pt x="13480" y="7726"/>
                        <a:pt x="13480" y="7726"/>
                      </a:cubicBezTo>
                      <a:cubicBezTo>
                        <a:pt x="19630" y="8672"/>
                        <a:pt x="19630" y="8672"/>
                        <a:pt x="19630" y="8672"/>
                      </a:cubicBezTo>
                      <a:cubicBezTo>
                        <a:pt x="15130" y="13244"/>
                        <a:pt x="15130" y="13244"/>
                        <a:pt x="15130" y="13244"/>
                      </a:cubicBezTo>
                      <a:cubicBezTo>
                        <a:pt x="16180" y="19708"/>
                        <a:pt x="16180" y="19708"/>
                        <a:pt x="16180" y="19708"/>
                      </a:cubicBezTo>
                      <a:cubicBezTo>
                        <a:pt x="10705" y="16634"/>
                        <a:pt x="10705" y="16634"/>
                        <a:pt x="10705" y="16634"/>
                      </a:cubicBezTo>
                      <a:cubicBezTo>
                        <a:pt x="5230" y="19708"/>
                        <a:pt x="5230" y="19708"/>
                        <a:pt x="5230" y="19708"/>
                      </a:cubicBezTo>
                      <a:cubicBezTo>
                        <a:pt x="6280" y="13244"/>
                        <a:pt x="6280" y="13244"/>
                        <a:pt x="6280" y="13244"/>
                      </a:cubicBezTo>
                      <a:cubicBezTo>
                        <a:pt x="1780" y="8672"/>
                        <a:pt x="1780" y="8672"/>
                        <a:pt x="1780" y="8672"/>
                      </a:cubicBezTo>
                      <a:cubicBezTo>
                        <a:pt x="7930" y="7726"/>
                        <a:pt x="7930" y="7726"/>
                        <a:pt x="7930" y="7726"/>
                      </a:cubicBezTo>
                      <a:cubicBezTo>
                        <a:pt x="10705" y="1892"/>
                        <a:pt x="10705" y="1892"/>
                        <a:pt x="10705" y="1892"/>
                      </a:cubicBezTo>
                      <a:moveTo>
                        <a:pt x="10705" y="0"/>
                      </a:moveTo>
                      <a:cubicBezTo>
                        <a:pt x="10030" y="0"/>
                        <a:pt x="9430" y="394"/>
                        <a:pt x="9055" y="1104"/>
                      </a:cubicBezTo>
                      <a:cubicBezTo>
                        <a:pt x="6730" y="6070"/>
                        <a:pt x="6730" y="6070"/>
                        <a:pt x="6730" y="6070"/>
                      </a:cubicBezTo>
                      <a:cubicBezTo>
                        <a:pt x="1555" y="6858"/>
                        <a:pt x="1555" y="6858"/>
                        <a:pt x="1555" y="6858"/>
                      </a:cubicBezTo>
                      <a:cubicBezTo>
                        <a:pt x="880" y="6937"/>
                        <a:pt x="280" y="7410"/>
                        <a:pt x="55" y="8120"/>
                      </a:cubicBezTo>
                      <a:cubicBezTo>
                        <a:pt x="-95" y="8829"/>
                        <a:pt x="55" y="9539"/>
                        <a:pt x="580" y="10091"/>
                      </a:cubicBezTo>
                      <a:cubicBezTo>
                        <a:pt x="4330" y="13953"/>
                        <a:pt x="4330" y="13953"/>
                        <a:pt x="4330" y="13953"/>
                      </a:cubicBezTo>
                      <a:cubicBezTo>
                        <a:pt x="3430" y="19393"/>
                        <a:pt x="3430" y="19393"/>
                        <a:pt x="3430" y="19393"/>
                      </a:cubicBezTo>
                      <a:cubicBezTo>
                        <a:pt x="3280" y="20102"/>
                        <a:pt x="3580" y="20812"/>
                        <a:pt x="4180" y="21206"/>
                      </a:cubicBezTo>
                      <a:cubicBezTo>
                        <a:pt x="4480" y="21442"/>
                        <a:pt x="4855" y="21600"/>
                        <a:pt x="5230" y="21600"/>
                      </a:cubicBezTo>
                      <a:cubicBezTo>
                        <a:pt x="5455" y="21600"/>
                        <a:pt x="5755" y="21521"/>
                        <a:pt x="6055" y="21364"/>
                      </a:cubicBezTo>
                      <a:cubicBezTo>
                        <a:pt x="10705" y="18841"/>
                        <a:pt x="10705" y="18841"/>
                        <a:pt x="10705" y="18841"/>
                      </a:cubicBezTo>
                      <a:cubicBezTo>
                        <a:pt x="15355" y="21364"/>
                        <a:pt x="15355" y="21364"/>
                        <a:pt x="15355" y="21364"/>
                      </a:cubicBezTo>
                      <a:cubicBezTo>
                        <a:pt x="15655" y="21521"/>
                        <a:pt x="15955" y="21600"/>
                        <a:pt x="16180" y="21600"/>
                      </a:cubicBezTo>
                      <a:cubicBezTo>
                        <a:pt x="16555" y="21600"/>
                        <a:pt x="16930" y="21442"/>
                        <a:pt x="17230" y="21206"/>
                      </a:cubicBezTo>
                      <a:cubicBezTo>
                        <a:pt x="17830" y="20812"/>
                        <a:pt x="18130" y="20102"/>
                        <a:pt x="17980" y="19393"/>
                      </a:cubicBezTo>
                      <a:cubicBezTo>
                        <a:pt x="17080" y="13953"/>
                        <a:pt x="17080" y="13953"/>
                        <a:pt x="17080" y="13953"/>
                      </a:cubicBezTo>
                      <a:cubicBezTo>
                        <a:pt x="20830" y="10091"/>
                        <a:pt x="20830" y="10091"/>
                        <a:pt x="20830" y="10091"/>
                      </a:cubicBezTo>
                      <a:cubicBezTo>
                        <a:pt x="21355" y="9539"/>
                        <a:pt x="21505" y="8829"/>
                        <a:pt x="21355" y="8120"/>
                      </a:cubicBezTo>
                      <a:cubicBezTo>
                        <a:pt x="21130" y="7410"/>
                        <a:pt x="20530" y="6937"/>
                        <a:pt x="19855" y="6858"/>
                      </a:cubicBezTo>
                      <a:cubicBezTo>
                        <a:pt x="14680" y="6070"/>
                        <a:pt x="14680" y="6070"/>
                        <a:pt x="14680" y="6070"/>
                      </a:cubicBezTo>
                      <a:cubicBezTo>
                        <a:pt x="12355" y="1104"/>
                        <a:pt x="12355" y="1104"/>
                        <a:pt x="12355" y="1104"/>
                      </a:cubicBezTo>
                      <a:cubicBezTo>
                        <a:pt x="11980" y="394"/>
                        <a:pt x="11380" y="0"/>
                        <a:pt x="10705"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14" name="Shape 1235"/>
                <p:cNvSpPr/>
                <p:nvPr/>
              </p:nvSpPr>
              <p:spPr>
                <a:xfrm>
                  <a:off x="407245" y="161710"/>
                  <a:ext cx="234728" cy="223966"/>
                </a:xfrm>
                <a:custGeom>
                  <a:avLst/>
                  <a:gdLst/>
                  <a:ahLst/>
                  <a:cxnLst>
                    <a:cxn ang="0">
                      <a:pos x="wd2" y="hd2"/>
                    </a:cxn>
                    <a:cxn ang="5400000">
                      <a:pos x="wd2" y="hd2"/>
                    </a:cxn>
                    <a:cxn ang="10800000">
                      <a:pos x="wd2" y="hd2"/>
                    </a:cxn>
                    <a:cxn ang="16200000">
                      <a:pos x="wd2" y="hd2"/>
                    </a:cxn>
                  </a:cxnLst>
                  <a:rect l="0" t="0" r="r" b="b"/>
                  <a:pathLst>
                    <a:path w="21404" h="21600" extrusionOk="0">
                      <a:moveTo>
                        <a:pt x="16675" y="21600"/>
                      </a:moveTo>
                      <a:cubicBezTo>
                        <a:pt x="16511" y="21600"/>
                        <a:pt x="16429" y="21600"/>
                        <a:pt x="16266" y="21514"/>
                      </a:cubicBezTo>
                      <a:cubicBezTo>
                        <a:pt x="10702" y="18403"/>
                        <a:pt x="10702" y="18403"/>
                        <a:pt x="10702" y="18403"/>
                      </a:cubicBezTo>
                      <a:cubicBezTo>
                        <a:pt x="5138" y="21514"/>
                        <a:pt x="5138" y="21514"/>
                        <a:pt x="5138" y="21514"/>
                      </a:cubicBezTo>
                      <a:cubicBezTo>
                        <a:pt x="4975" y="21600"/>
                        <a:pt x="4893" y="21600"/>
                        <a:pt x="4729" y="21600"/>
                      </a:cubicBezTo>
                      <a:cubicBezTo>
                        <a:pt x="4484" y="21600"/>
                        <a:pt x="4320" y="21514"/>
                        <a:pt x="4157" y="21427"/>
                      </a:cubicBezTo>
                      <a:cubicBezTo>
                        <a:pt x="3829" y="21168"/>
                        <a:pt x="3666" y="20736"/>
                        <a:pt x="3747" y="20390"/>
                      </a:cubicBezTo>
                      <a:cubicBezTo>
                        <a:pt x="4811" y="13824"/>
                        <a:pt x="4811" y="13824"/>
                        <a:pt x="4811" y="13824"/>
                      </a:cubicBezTo>
                      <a:cubicBezTo>
                        <a:pt x="311" y="9245"/>
                        <a:pt x="311" y="9245"/>
                        <a:pt x="311" y="9245"/>
                      </a:cubicBezTo>
                      <a:cubicBezTo>
                        <a:pt x="66" y="8986"/>
                        <a:pt x="-98" y="8554"/>
                        <a:pt x="66" y="8208"/>
                      </a:cubicBezTo>
                      <a:cubicBezTo>
                        <a:pt x="147" y="7776"/>
                        <a:pt x="475" y="7517"/>
                        <a:pt x="884" y="7517"/>
                      </a:cubicBezTo>
                      <a:cubicBezTo>
                        <a:pt x="7020" y="6566"/>
                        <a:pt x="7020" y="6566"/>
                        <a:pt x="7020" y="6566"/>
                      </a:cubicBezTo>
                      <a:cubicBezTo>
                        <a:pt x="9802" y="605"/>
                        <a:pt x="9802" y="605"/>
                        <a:pt x="9802" y="605"/>
                      </a:cubicBezTo>
                      <a:cubicBezTo>
                        <a:pt x="9966" y="259"/>
                        <a:pt x="10293" y="0"/>
                        <a:pt x="10702" y="0"/>
                      </a:cubicBezTo>
                      <a:cubicBezTo>
                        <a:pt x="11111" y="0"/>
                        <a:pt x="11438" y="259"/>
                        <a:pt x="11602" y="605"/>
                      </a:cubicBezTo>
                      <a:cubicBezTo>
                        <a:pt x="14384" y="6566"/>
                        <a:pt x="14384" y="6566"/>
                        <a:pt x="14384" y="6566"/>
                      </a:cubicBezTo>
                      <a:cubicBezTo>
                        <a:pt x="20520" y="7517"/>
                        <a:pt x="20520" y="7517"/>
                        <a:pt x="20520" y="7517"/>
                      </a:cubicBezTo>
                      <a:cubicBezTo>
                        <a:pt x="20929" y="7517"/>
                        <a:pt x="21257" y="7776"/>
                        <a:pt x="21338" y="8208"/>
                      </a:cubicBezTo>
                      <a:cubicBezTo>
                        <a:pt x="21502" y="8554"/>
                        <a:pt x="21338" y="8986"/>
                        <a:pt x="21093" y="9245"/>
                      </a:cubicBezTo>
                      <a:cubicBezTo>
                        <a:pt x="16593" y="13824"/>
                        <a:pt x="16593" y="13824"/>
                        <a:pt x="16593" y="13824"/>
                      </a:cubicBezTo>
                      <a:cubicBezTo>
                        <a:pt x="17657" y="20390"/>
                        <a:pt x="17657" y="20390"/>
                        <a:pt x="17657" y="20390"/>
                      </a:cubicBezTo>
                      <a:cubicBezTo>
                        <a:pt x="17738" y="20736"/>
                        <a:pt x="17575" y="21168"/>
                        <a:pt x="17247" y="21427"/>
                      </a:cubicBezTo>
                      <a:cubicBezTo>
                        <a:pt x="17084" y="21514"/>
                        <a:pt x="16920" y="21600"/>
                        <a:pt x="16675" y="216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115" name="Shape 1236"/>
                <p:cNvSpPr/>
                <p:nvPr/>
              </p:nvSpPr>
              <p:spPr>
                <a:xfrm>
                  <a:off x="396678" y="150701"/>
                  <a:ext cx="255862" cy="245603"/>
                </a:xfrm>
                <a:custGeom>
                  <a:avLst/>
                  <a:gdLst/>
                  <a:ahLst/>
                  <a:cxnLst>
                    <a:cxn ang="0">
                      <a:pos x="wd2" y="hd2"/>
                    </a:cxn>
                    <a:cxn ang="5400000">
                      <a:pos x="wd2" y="hd2"/>
                    </a:cxn>
                    <a:cxn ang="10800000">
                      <a:pos x="wd2" y="hd2"/>
                    </a:cxn>
                    <a:cxn ang="16200000">
                      <a:pos x="wd2" y="hd2"/>
                    </a:cxn>
                  </a:cxnLst>
                  <a:rect l="0" t="0" r="r" b="b"/>
                  <a:pathLst>
                    <a:path w="21410" h="21600" extrusionOk="0">
                      <a:moveTo>
                        <a:pt x="10705" y="1892"/>
                      </a:moveTo>
                      <a:cubicBezTo>
                        <a:pt x="13480" y="7726"/>
                        <a:pt x="13480" y="7726"/>
                        <a:pt x="13480" y="7726"/>
                      </a:cubicBezTo>
                      <a:cubicBezTo>
                        <a:pt x="19630" y="8672"/>
                        <a:pt x="19630" y="8672"/>
                        <a:pt x="19630" y="8672"/>
                      </a:cubicBezTo>
                      <a:cubicBezTo>
                        <a:pt x="15130" y="13244"/>
                        <a:pt x="15130" y="13244"/>
                        <a:pt x="15130" y="13244"/>
                      </a:cubicBezTo>
                      <a:cubicBezTo>
                        <a:pt x="16180" y="19708"/>
                        <a:pt x="16180" y="19708"/>
                        <a:pt x="16180" y="19708"/>
                      </a:cubicBezTo>
                      <a:cubicBezTo>
                        <a:pt x="10705" y="16634"/>
                        <a:pt x="10705" y="16634"/>
                        <a:pt x="10705" y="16634"/>
                      </a:cubicBezTo>
                      <a:cubicBezTo>
                        <a:pt x="5230" y="19708"/>
                        <a:pt x="5230" y="19708"/>
                        <a:pt x="5230" y="19708"/>
                      </a:cubicBezTo>
                      <a:cubicBezTo>
                        <a:pt x="6280" y="13244"/>
                        <a:pt x="6280" y="13244"/>
                        <a:pt x="6280" y="13244"/>
                      </a:cubicBezTo>
                      <a:cubicBezTo>
                        <a:pt x="1780" y="8672"/>
                        <a:pt x="1780" y="8672"/>
                        <a:pt x="1780" y="8672"/>
                      </a:cubicBezTo>
                      <a:cubicBezTo>
                        <a:pt x="7930" y="7726"/>
                        <a:pt x="7930" y="7726"/>
                        <a:pt x="7930" y="7726"/>
                      </a:cubicBezTo>
                      <a:cubicBezTo>
                        <a:pt x="10705" y="1892"/>
                        <a:pt x="10705" y="1892"/>
                        <a:pt x="10705" y="1892"/>
                      </a:cubicBezTo>
                      <a:moveTo>
                        <a:pt x="10705" y="0"/>
                      </a:moveTo>
                      <a:cubicBezTo>
                        <a:pt x="10030" y="0"/>
                        <a:pt x="9430" y="394"/>
                        <a:pt x="9055" y="1104"/>
                      </a:cubicBezTo>
                      <a:cubicBezTo>
                        <a:pt x="6730" y="6070"/>
                        <a:pt x="6730" y="6070"/>
                        <a:pt x="6730" y="6070"/>
                      </a:cubicBezTo>
                      <a:cubicBezTo>
                        <a:pt x="1555" y="6858"/>
                        <a:pt x="1555" y="6858"/>
                        <a:pt x="1555" y="6858"/>
                      </a:cubicBezTo>
                      <a:cubicBezTo>
                        <a:pt x="880" y="6937"/>
                        <a:pt x="280" y="7410"/>
                        <a:pt x="55" y="8120"/>
                      </a:cubicBezTo>
                      <a:cubicBezTo>
                        <a:pt x="-95" y="8829"/>
                        <a:pt x="55" y="9539"/>
                        <a:pt x="580" y="10091"/>
                      </a:cubicBezTo>
                      <a:cubicBezTo>
                        <a:pt x="4330" y="13953"/>
                        <a:pt x="4330" y="13953"/>
                        <a:pt x="4330" y="13953"/>
                      </a:cubicBezTo>
                      <a:cubicBezTo>
                        <a:pt x="3430" y="19393"/>
                        <a:pt x="3430" y="19393"/>
                        <a:pt x="3430" y="19393"/>
                      </a:cubicBezTo>
                      <a:cubicBezTo>
                        <a:pt x="3280" y="20102"/>
                        <a:pt x="3580" y="20812"/>
                        <a:pt x="4180" y="21206"/>
                      </a:cubicBezTo>
                      <a:cubicBezTo>
                        <a:pt x="4480" y="21442"/>
                        <a:pt x="4855" y="21600"/>
                        <a:pt x="5230" y="21600"/>
                      </a:cubicBezTo>
                      <a:cubicBezTo>
                        <a:pt x="5455" y="21600"/>
                        <a:pt x="5755" y="21521"/>
                        <a:pt x="6055" y="21364"/>
                      </a:cubicBezTo>
                      <a:cubicBezTo>
                        <a:pt x="10705" y="18841"/>
                        <a:pt x="10705" y="18841"/>
                        <a:pt x="10705" y="18841"/>
                      </a:cubicBezTo>
                      <a:cubicBezTo>
                        <a:pt x="15355" y="21364"/>
                        <a:pt x="15355" y="21364"/>
                        <a:pt x="15355" y="21364"/>
                      </a:cubicBezTo>
                      <a:cubicBezTo>
                        <a:pt x="15655" y="21521"/>
                        <a:pt x="15955" y="21600"/>
                        <a:pt x="16180" y="21600"/>
                      </a:cubicBezTo>
                      <a:cubicBezTo>
                        <a:pt x="16555" y="21600"/>
                        <a:pt x="16930" y="21442"/>
                        <a:pt x="17230" y="21206"/>
                      </a:cubicBezTo>
                      <a:cubicBezTo>
                        <a:pt x="17830" y="20812"/>
                        <a:pt x="18130" y="20102"/>
                        <a:pt x="17980" y="19393"/>
                      </a:cubicBezTo>
                      <a:cubicBezTo>
                        <a:pt x="17080" y="13953"/>
                        <a:pt x="17080" y="13953"/>
                        <a:pt x="17080" y="13953"/>
                      </a:cubicBezTo>
                      <a:cubicBezTo>
                        <a:pt x="20830" y="10091"/>
                        <a:pt x="20830" y="10091"/>
                        <a:pt x="20830" y="10091"/>
                      </a:cubicBezTo>
                      <a:cubicBezTo>
                        <a:pt x="21355" y="9539"/>
                        <a:pt x="21505" y="8829"/>
                        <a:pt x="21355" y="8120"/>
                      </a:cubicBezTo>
                      <a:cubicBezTo>
                        <a:pt x="21130" y="7410"/>
                        <a:pt x="20530" y="6937"/>
                        <a:pt x="19855" y="6858"/>
                      </a:cubicBezTo>
                      <a:cubicBezTo>
                        <a:pt x="14680" y="6070"/>
                        <a:pt x="14680" y="6070"/>
                        <a:pt x="14680" y="6070"/>
                      </a:cubicBezTo>
                      <a:cubicBezTo>
                        <a:pt x="12355" y="1104"/>
                        <a:pt x="12355" y="1104"/>
                        <a:pt x="12355" y="1104"/>
                      </a:cubicBezTo>
                      <a:cubicBezTo>
                        <a:pt x="11980" y="394"/>
                        <a:pt x="11380" y="0"/>
                        <a:pt x="10705"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grpSp>
        </p:grpSp>
        <p:sp>
          <p:nvSpPr>
            <p:cNvPr id="79" name="TextBox 78">
              <a:extLst>
                <a:ext uri="{C183D7F6-B498-43B3-948B-1728B52AA6E4}">
                  <adec:decorative xmlns:adec="http://schemas.microsoft.com/office/drawing/2017/decorative" val="1"/>
                </a:ext>
              </a:extLst>
            </p:cNvPr>
            <p:cNvSpPr txBox="1"/>
            <p:nvPr/>
          </p:nvSpPr>
          <p:spPr>
            <a:xfrm>
              <a:off x="6273518" y="5884800"/>
              <a:ext cx="1852312" cy="338554"/>
            </a:xfrm>
            <a:prstGeom prst="rect">
              <a:avLst/>
            </a:prstGeom>
            <a:solidFill>
              <a:schemeClr val="bg1"/>
            </a:solidFill>
          </p:spPr>
          <p:txBody>
            <a:bodyPr wrap="square" rtlCol="0">
              <a:spAutoFit/>
            </a:bodyPr>
            <a:lstStyle/>
            <a:p>
              <a:pPr defTabSz="609585" fontAlgn="base">
                <a:spcBef>
                  <a:spcPct val="0"/>
                </a:spcBef>
                <a:spcAft>
                  <a:spcPct val="0"/>
                </a:spcAft>
              </a:pPr>
              <a:r>
                <a:rPr lang="en-US" sz="1600" dirty="0">
                  <a:solidFill>
                    <a:srgbClr val="636466"/>
                  </a:solidFill>
                  <a:cs typeface="Arial"/>
                </a:rPr>
                <a:t>Availability Zones</a:t>
              </a:r>
            </a:p>
          </p:txBody>
        </p:sp>
        <p:sp>
          <p:nvSpPr>
            <p:cNvPr id="137" name="TextBox 136">
              <a:extLst>
                <a:ext uri="{C183D7F6-B498-43B3-948B-1728B52AA6E4}">
                  <adec:decorative xmlns:adec="http://schemas.microsoft.com/office/drawing/2017/decorative" val="1"/>
                </a:ext>
              </a:extLst>
            </p:cNvPr>
            <p:cNvSpPr txBox="1"/>
            <p:nvPr/>
          </p:nvSpPr>
          <p:spPr>
            <a:xfrm>
              <a:off x="901875" y="4984378"/>
              <a:ext cx="1735162" cy="584775"/>
            </a:xfrm>
            <a:prstGeom prst="rect">
              <a:avLst/>
            </a:prstGeom>
            <a:noFill/>
          </p:spPr>
          <p:txBody>
            <a:bodyPr wrap="square" rtlCol="0">
              <a:spAutoFit/>
            </a:bodyPr>
            <a:lstStyle/>
            <a:p>
              <a:pPr algn="r" defTabSz="609585" fontAlgn="base">
                <a:spcBef>
                  <a:spcPct val="0"/>
                </a:spcBef>
                <a:spcAft>
                  <a:spcPct val="0"/>
                </a:spcAft>
              </a:pPr>
              <a:r>
                <a:rPr lang="en-US" sz="1600" b="1" dirty="0">
                  <a:solidFill>
                    <a:srgbClr val="7B9AC8"/>
                  </a:solidFill>
                  <a:cs typeface="Arial"/>
                </a:rPr>
                <a:t>Foundation</a:t>
              </a:r>
            </a:p>
            <a:p>
              <a:pPr algn="r" defTabSz="609585" fontAlgn="base">
                <a:spcBef>
                  <a:spcPct val="0"/>
                </a:spcBef>
                <a:spcAft>
                  <a:spcPct val="0"/>
                </a:spcAft>
              </a:pPr>
              <a:r>
                <a:rPr lang="en-US" sz="1600" b="1" dirty="0">
                  <a:solidFill>
                    <a:srgbClr val="7B9AC8"/>
                  </a:solidFill>
                  <a:cs typeface="Arial"/>
                </a:rPr>
                <a:t>Services</a:t>
              </a:r>
            </a:p>
          </p:txBody>
        </p:sp>
        <p:sp>
          <p:nvSpPr>
            <p:cNvPr id="139" name="Rectangle 138">
              <a:extLst>
                <a:ext uri="{C183D7F6-B498-43B3-948B-1728B52AA6E4}">
                  <adec:decorative xmlns:adec="http://schemas.microsoft.com/office/drawing/2017/decorative" val="1"/>
                </a:ext>
              </a:extLst>
            </p:cNvPr>
            <p:cNvSpPr/>
            <p:nvPr/>
          </p:nvSpPr>
          <p:spPr>
            <a:xfrm>
              <a:off x="2699666" y="4845424"/>
              <a:ext cx="8651724" cy="778327"/>
            </a:xfrm>
            <a:prstGeom prst="rect">
              <a:avLst/>
            </a:prstGeom>
            <a:solidFill>
              <a:schemeClr val="bg1"/>
            </a:solidFill>
            <a:ln>
              <a:solidFill>
                <a:srgbClr val="B1B3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fontAlgn="base">
                <a:spcBef>
                  <a:spcPct val="0"/>
                </a:spcBef>
                <a:spcAft>
                  <a:spcPct val="0"/>
                </a:spcAft>
              </a:pPr>
              <a:endParaRPr lang="en-US" sz="1600" dirty="0">
                <a:solidFill>
                  <a:srgbClr val="FFFFFF"/>
                </a:solidFill>
              </a:endParaRPr>
            </a:p>
          </p:txBody>
        </p:sp>
        <p:grpSp>
          <p:nvGrpSpPr>
            <p:cNvPr id="140" name="Group 139">
              <a:extLst>
                <a:ext uri="{C183D7F6-B498-43B3-948B-1728B52AA6E4}">
                  <adec:decorative xmlns:adec="http://schemas.microsoft.com/office/drawing/2017/decorative" val="1"/>
                </a:ext>
              </a:extLst>
            </p:cNvPr>
            <p:cNvGrpSpPr/>
            <p:nvPr/>
          </p:nvGrpSpPr>
          <p:grpSpPr>
            <a:xfrm>
              <a:off x="2978793" y="4811329"/>
              <a:ext cx="3171004" cy="830997"/>
              <a:chOff x="1655700" y="3196853"/>
              <a:chExt cx="2647741" cy="727881"/>
            </a:xfrm>
            <a:solidFill>
              <a:schemeClr val="bg1"/>
            </a:solidFill>
          </p:grpSpPr>
          <p:sp>
            <p:nvSpPr>
              <p:cNvPr id="242" name="TextBox 241"/>
              <p:cNvSpPr txBox="1"/>
              <p:nvPr/>
            </p:nvSpPr>
            <p:spPr>
              <a:xfrm>
                <a:off x="2501873" y="3196853"/>
                <a:ext cx="1801568" cy="727881"/>
              </a:xfrm>
              <a:prstGeom prst="rect">
                <a:avLst/>
              </a:prstGeom>
              <a:grpFill/>
            </p:spPr>
            <p:txBody>
              <a:bodyPr wrap="square" rtlCol="0">
                <a:spAutoFit/>
              </a:bodyPr>
              <a:lstStyle/>
              <a:p>
                <a:pPr defTabSz="609585" fontAlgn="base">
                  <a:spcBef>
                    <a:spcPct val="0"/>
                  </a:spcBef>
                  <a:spcAft>
                    <a:spcPct val="0"/>
                  </a:spcAft>
                </a:pPr>
                <a:r>
                  <a:rPr lang="en-US" sz="1600" dirty="0">
                    <a:solidFill>
                      <a:srgbClr val="636466"/>
                    </a:solidFill>
                    <a:cs typeface="Arial"/>
                  </a:rPr>
                  <a:t>Compute (virtual, automatic scaling, and load balancing)</a:t>
                </a:r>
              </a:p>
            </p:txBody>
          </p:sp>
          <p:grpSp>
            <p:nvGrpSpPr>
              <p:cNvPr id="243" name="Group 876"/>
              <p:cNvGrpSpPr/>
              <p:nvPr/>
            </p:nvGrpSpPr>
            <p:grpSpPr>
              <a:xfrm>
                <a:off x="1655700" y="3422868"/>
                <a:ext cx="261748" cy="261748"/>
                <a:chOff x="0" y="0"/>
                <a:chExt cx="723900" cy="723900"/>
              </a:xfrm>
              <a:grpFill/>
            </p:grpSpPr>
            <p:sp>
              <p:nvSpPr>
                <p:cNvPr id="244" name="Shape 872"/>
                <p:cNvSpPr/>
                <p:nvPr/>
              </p:nvSpPr>
              <p:spPr>
                <a:xfrm>
                  <a:off x="0" y="0"/>
                  <a:ext cx="723901" cy="723901"/>
                </a:xfrm>
                <a:custGeom>
                  <a:avLst/>
                  <a:gdLst/>
                  <a:ahLst/>
                  <a:cxnLst>
                    <a:cxn ang="0">
                      <a:pos x="wd2" y="hd2"/>
                    </a:cxn>
                    <a:cxn ang="5400000">
                      <a:pos x="wd2" y="hd2"/>
                    </a:cxn>
                    <a:cxn ang="10800000">
                      <a:pos x="wd2" y="hd2"/>
                    </a:cxn>
                    <a:cxn ang="16200000">
                      <a:pos x="wd2" y="hd2"/>
                    </a:cxn>
                  </a:cxnLst>
                  <a:rect l="0" t="0" r="r" b="b"/>
                  <a:pathLst>
                    <a:path w="21600" h="21600" extrusionOk="0">
                      <a:moveTo>
                        <a:pt x="20048" y="0"/>
                      </a:moveTo>
                      <a:cubicBezTo>
                        <a:pt x="1552" y="0"/>
                        <a:pt x="1552" y="0"/>
                        <a:pt x="1552" y="0"/>
                      </a:cubicBezTo>
                      <a:cubicBezTo>
                        <a:pt x="696" y="0"/>
                        <a:pt x="0" y="696"/>
                        <a:pt x="0" y="1552"/>
                      </a:cubicBezTo>
                      <a:cubicBezTo>
                        <a:pt x="0" y="20048"/>
                        <a:pt x="0" y="20048"/>
                        <a:pt x="0" y="20048"/>
                      </a:cubicBezTo>
                      <a:cubicBezTo>
                        <a:pt x="0" y="20904"/>
                        <a:pt x="696" y="21600"/>
                        <a:pt x="1552" y="21600"/>
                      </a:cubicBezTo>
                      <a:cubicBezTo>
                        <a:pt x="5300" y="21600"/>
                        <a:pt x="5300" y="21600"/>
                        <a:pt x="5300" y="21600"/>
                      </a:cubicBezTo>
                      <a:cubicBezTo>
                        <a:pt x="6745" y="21600"/>
                        <a:pt x="6745" y="21600"/>
                        <a:pt x="6745" y="21600"/>
                      </a:cubicBezTo>
                      <a:cubicBezTo>
                        <a:pt x="20048" y="21600"/>
                        <a:pt x="20048" y="21600"/>
                        <a:pt x="20048" y="21600"/>
                      </a:cubicBezTo>
                      <a:cubicBezTo>
                        <a:pt x="20904" y="21600"/>
                        <a:pt x="21600" y="20904"/>
                        <a:pt x="21600" y="20048"/>
                      </a:cubicBezTo>
                      <a:cubicBezTo>
                        <a:pt x="21600" y="9877"/>
                        <a:pt x="21600" y="9877"/>
                        <a:pt x="21600" y="9877"/>
                      </a:cubicBezTo>
                      <a:cubicBezTo>
                        <a:pt x="21600" y="6397"/>
                        <a:pt x="21600" y="6397"/>
                        <a:pt x="21600" y="6397"/>
                      </a:cubicBezTo>
                      <a:cubicBezTo>
                        <a:pt x="21600" y="1552"/>
                        <a:pt x="21600" y="1552"/>
                        <a:pt x="21600" y="1552"/>
                      </a:cubicBezTo>
                      <a:cubicBezTo>
                        <a:pt x="21600" y="696"/>
                        <a:pt x="20904" y="0"/>
                        <a:pt x="20048"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245" name="Shape 873"/>
                <p:cNvSpPr/>
                <p:nvPr/>
              </p:nvSpPr>
              <p:spPr>
                <a:xfrm>
                  <a:off x="51246" y="34164"/>
                  <a:ext cx="321144" cy="321143"/>
                </a:xfrm>
                <a:custGeom>
                  <a:avLst/>
                  <a:gdLst/>
                  <a:ahLst/>
                  <a:cxnLst>
                    <a:cxn ang="0">
                      <a:pos x="wd2" y="hd2"/>
                    </a:cxn>
                    <a:cxn ang="5400000">
                      <a:pos x="wd2" y="hd2"/>
                    </a:cxn>
                    <a:cxn ang="10800000">
                      <a:pos x="wd2" y="hd2"/>
                    </a:cxn>
                    <a:cxn ang="16200000">
                      <a:pos x="wd2" y="hd2"/>
                    </a:cxn>
                  </a:cxnLst>
                  <a:rect l="0" t="0" r="r" b="b"/>
                  <a:pathLst>
                    <a:path w="21600" h="21600" extrusionOk="0">
                      <a:moveTo>
                        <a:pt x="20514" y="8628"/>
                      </a:moveTo>
                      <a:cubicBezTo>
                        <a:pt x="18583" y="8628"/>
                        <a:pt x="18583" y="8628"/>
                        <a:pt x="18583" y="8628"/>
                      </a:cubicBezTo>
                      <a:cubicBezTo>
                        <a:pt x="18402" y="7964"/>
                        <a:pt x="18161" y="7361"/>
                        <a:pt x="17799" y="6818"/>
                      </a:cubicBezTo>
                      <a:cubicBezTo>
                        <a:pt x="19187" y="5430"/>
                        <a:pt x="19187" y="5430"/>
                        <a:pt x="19187" y="5430"/>
                      </a:cubicBezTo>
                      <a:cubicBezTo>
                        <a:pt x="19609" y="5008"/>
                        <a:pt x="19609" y="4344"/>
                        <a:pt x="19187" y="3922"/>
                      </a:cubicBezTo>
                      <a:cubicBezTo>
                        <a:pt x="17618" y="2413"/>
                        <a:pt x="17618" y="2413"/>
                        <a:pt x="17618" y="2413"/>
                      </a:cubicBezTo>
                      <a:cubicBezTo>
                        <a:pt x="17196" y="1991"/>
                        <a:pt x="16532" y="1991"/>
                        <a:pt x="16109" y="2413"/>
                      </a:cubicBezTo>
                      <a:cubicBezTo>
                        <a:pt x="14782" y="3741"/>
                        <a:pt x="14782" y="3741"/>
                        <a:pt x="14782" y="3741"/>
                      </a:cubicBezTo>
                      <a:cubicBezTo>
                        <a:pt x="14179" y="3439"/>
                        <a:pt x="13575" y="3198"/>
                        <a:pt x="12912" y="3017"/>
                      </a:cubicBezTo>
                      <a:cubicBezTo>
                        <a:pt x="12912" y="1086"/>
                        <a:pt x="12912" y="1086"/>
                        <a:pt x="12912" y="1086"/>
                      </a:cubicBezTo>
                      <a:cubicBezTo>
                        <a:pt x="12912" y="483"/>
                        <a:pt x="12429" y="0"/>
                        <a:pt x="11826" y="0"/>
                      </a:cubicBezTo>
                      <a:cubicBezTo>
                        <a:pt x="10800" y="0"/>
                        <a:pt x="10800" y="0"/>
                        <a:pt x="10800" y="0"/>
                      </a:cubicBezTo>
                      <a:cubicBezTo>
                        <a:pt x="9714" y="0"/>
                        <a:pt x="9714" y="0"/>
                        <a:pt x="9714" y="0"/>
                      </a:cubicBezTo>
                      <a:cubicBezTo>
                        <a:pt x="9111" y="0"/>
                        <a:pt x="8628" y="483"/>
                        <a:pt x="8628" y="1086"/>
                      </a:cubicBezTo>
                      <a:cubicBezTo>
                        <a:pt x="8628" y="3017"/>
                        <a:pt x="8628" y="3017"/>
                        <a:pt x="8628" y="3017"/>
                      </a:cubicBezTo>
                      <a:cubicBezTo>
                        <a:pt x="7964" y="3198"/>
                        <a:pt x="7361" y="3439"/>
                        <a:pt x="6758" y="3741"/>
                      </a:cubicBezTo>
                      <a:cubicBezTo>
                        <a:pt x="5430" y="2413"/>
                        <a:pt x="5430" y="2413"/>
                        <a:pt x="5430" y="2413"/>
                      </a:cubicBezTo>
                      <a:cubicBezTo>
                        <a:pt x="5008" y="1991"/>
                        <a:pt x="4344" y="1991"/>
                        <a:pt x="3922" y="2413"/>
                      </a:cubicBezTo>
                      <a:cubicBezTo>
                        <a:pt x="2353" y="3922"/>
                        <a:pt x="2353" y="3922"/>
                        <a:pt x="2353" y="3922"/>
                      </a:cubicBezTo>
                      <a:cubicBezTo>
                        <a:pt x="1931" y="4344"/>
                        <a:pt x="1931" y="5008"/>
                        <a:pt x="2353" y="5430"/>
                      </a:cubicBezTo>
                      <a:cubicBezTo>
                        <a:pt x="3741" y="6818"/>
                        <a:pt x="3741" y="6818"/>
                        <a:pt x="3741" y="6818"/>
                      </a:cubicBezTo>
                      <a:cubicBezTo>
                        <a:pt x="3379" y="7361"/>
                        <a:pt x="3137" y="7964"/>
                        <a:pt x="2956" y="8628"/>
                      </a:cubicBezTo>
                      <a:cubicBezTo>
                        <a:pt x="1026" y="8628"/>
                        <a:pt x="1026" y="8628"/>
                        <a:pt x="1026" y="8628"/>
                      </a:cubicBezTo>
                      <a:cubicBezTo>
                        <a:pt x="483" y="8628"/>
                        <a:pt x="0" y="9111"/>
                        <a:pt x="0" y="9714"/>
                      </a:cubicBezTo>
                      <a:cubicBezTo>
                        <a:pt x="0" y="10800"/>
                        <a:pt x="0" y="10800"/>
                        <a:pt x="0" y="10800"/>
                      </a:cubicBezTo>
                      <a:cubicBezTo>
                        <a:pt x="0" y="11886"/>
                        <a:pt x="0" y="11886"/>
                        <a:pt x="0" y="11886"/>
                      </a:cubicBezTo>
                      <a:cubicBezTo>
                        <a:pt x="0" y="12489"/>
                        <a:pt x="483" y="12972"/>
                        <a:pt x="1026" y="12972"/>
                      </a:cubicBezTo>
                      <a:cubicBezTo>
                        <a:pt x="2956" y="12972"/>
                        <a:pt x="2956" y="12972"/>
                        <a:pt x="2956" y="12972"/>
                      </a:cubicBezTo>
                      <a:cubicBezTo>
                        <a:pt x="3137" y="13636"/>
                        <a:pt x="3379" y="14239"/>
                        <a:pt x="3741" y="14782"/>
                      </a:cubicBezTo>
                      <a:cubicBezTo>
                        <a:pt x="2353" y="16170"/>
                        <a:pt x="2353" y="16170"/>
                        <a:pt x="2353" y="16170"/>
                      </a:cubicBezTo>
                      <a:cubicBezTo>
                        <a:pt x="1931" y="16592"/>
                        <a:pt x="1931" y="17256"/>
                        <a:pt x="2353" y="17678"/>
                      </a:cubicBezTo>
                      <a:cubicBezTo>
                        <a:pt x="3922" y="19187"/>
                        <a:pt x="3922" y="19187"/>
                        <a:pt x="3922" y="19187"/>
                      </a:cubicBezTo>
                      <a:cubicBezTo>
                        <a:pt x="4344" y="19609"/>
                        <a:pt x="5008" y="19609"/>
                        <a:pt x="5430" y="19187"/>
                      </a:cubicBezTo>
                      <a:cubicBezTo>
                        <a:pt x="6758" y="17859"/>
                        <a:pt x="6758" y="17859"/>
                        <a:pt x="6758" y="17859"/>
                      </a:cubicBezTo>
                      <a:cubicBezTo>
                        <a:pt x="7361" y="18161"/>
                        <a:pt x="7964" y="18402"/>
                        <a:pt x="8628" y="18583"/>
                      </a:cubicBezTo>
                      <a:cubicBezTo>
                        <a:pt x="8628" y="20514"/>
                        <a:pt x="8628" y="20514"/>
                        <a:pt x="8628" y="20514"/>
                      </a:cubicBezTo>
                      <a:cubicBezTo>
                        <a:pt x="8628" y="21117"/>
                        <a:pt x="9111" y="21600"/>
                        <a:pt x="9714" y="21600"/>
                      </a:cubicBezTo>
                      <a:cubicBezTo>
                        <a:pt x="10800" y="21600"/>
                        <a:pt x="10800" y="21600"/>
                        <a:pt x="10800" y="21600"/>
                      </a:cubicBezTo>
                      <a:cubicBezTo>
                        <a:pt x="11826" y="21600"/>
                        <a:pt x="11826" y="21600"/>
                        <a:pt x="11826" y="21600"/>
                      </a:cubicBezTo>
                      <a:cubicBezTo>
                        <a:pt x="12429" y="21600"/>
                        <a:pt x="12912" y="21117"/>
                        <a:pt x="12912" y="20514"/>
                      </a:cubicBezTo>
                      <a:cubicBezTo>
                        <a:pt x="12912" y="18583"/>
                        <a:pt x="12912" y="18583"/>
                        <a:pt x="12912" y="18583"/>
                      </a:cubicBezTo>
                      <a:cubicBezTo>
                        <a:pt x="13575" y="18402"/>
                        <a:pt x="14179" y="18161"/>
                        <a:pt x="14782" y="17859"/>
                      </a:cubicBezTo>
                      <a:cubicBezTo>
                        <a:pt x="16109" y="19187"/>
                        <a:pt x="16109" y="19187"/>
                        <a:pt x="16109" y="19187"/>
                      </a:cubicBezTo>
                      <a:cubicBezTo>
                        <a:pt x="16532" y="19609"/>
                        <a:pt x="17196" y="19609"/>
                        <a:pt x="17618" y="19187"/>
                      </a:cubicBezTo>
                      <a:cubicBezTo>
                        <a:pt x="19187" y="17678"/>
                        <a:pt x="19187" y="17678"/>
                        <a:pt x="19187" y="17678"/>
                      </a:cubicBezTo>
                      <a:cubicBezTo>
                        <a:pt x="19609" y="17256"/>
                        <a:pt x="19609" y="16592"/>
                        <a:pt x="19187" y="16170"/>
                      </a:cubicBezTo>
                      <a:cubicBezTo>
                        <a:pt x="17799" y="14782"/>
                        <a:pt x="17799" y="14782"/>
                        <a:pt x="17799" y="14782"/>
                      </a:cubicBezTo>
                      <a:cubicBezTo>
                        <a:pt x="18161" y="14239"/>
                        <a:pt x="18402" y="13636"/>
                        <a:pt x="18583" y="12972"/>
                      </a:cubicBezTo>
                      <a:cubicBezTo>
                        <a:pt x="20514" y="12972"/>
                        <a:pt x="20514" y="12972"/>
                        <a:pt x="20514" y="12972"/>
                      </a:cubicBezTo>
                      <a:cubicBezTo>
                        <a:pt x="21057" y="12972"/>
                        <a:pt x="21600" y="12489"/>
                        <a:pt x="21600" y="11886"/>
                      </a:cubicBezTo>
                      <a:cubicBezTo>
                        <a:pt x="21600" y="10800"/>
                        <a:pt x="21600" y="10800"/>
                        <a:pt x="21600" y="10800"/>
                      </a:cubicBezTo>
                      <a:cubicBezTo>
                        <a:pt x="21600" y="9714"/>
                        <a:pt x="21600" y="9714"/>
                        <a:pt x="21600" y="9714"/>
                      </a:cubicBezTo>
                      <a:cubicBezTo>
                        <a:pt x="21600" y="9111"/>
                        <a:pt x="21057" y="8628"/>
                        <a:pt x="20514" y="8628"/>
                      </a:cubicBezTo>
                      <a:close/>
                      <a:moveTo>
                        <a:pt x="4223" y="10800"/>
                      </a:moveTo>
                      <a:cubicBezTo>
                        <a:pt x="4223" y="7180"/>
                        <a:pt x="7180" y="4284"/>
                        <a:pt x="10800" y="4284"/>
                      </a:cubicBezTo>
                      <a:cubicBezTo>
                        <a:pt x="14360" y="4284"/>
                        <a:pt x="17316" y="7180"/>
                        <a:pt x="17316" y="10800"/>
                      </a:cubicBezTo>
                      <a:cubicBezTo>
                        <a:pt x="17316" y="14420"/>
                        <a:pt x="14360" y="17316"/>
                        <a:pt x="10800" y="17316"/>
                      </a:cubicBezTo>
                      <a:cubicBezTo>
                        <a:pt x="7180" y="17316"/>
                        <a:pt x="4223" y="14420"/>
                        <a:pt x="4223" y="108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246" name="Shape 874"/>
                <p:cNvSpPr/>
                <p:nvPr/>
              </p:nvSpPr>
              <p:spPr>
                <a:xfrm>
                  <a:off x="351510" y="105908"/>
                  <a:ext cx="321144" cy="321144"/>
                </a:xfrm>
                <a:custGeom>
                  <a:avLst/>
                  <a:gdLst/>
                  <a:ahLst/>
                  <a:cxnLst>
                    <a:cxn ang="0">
                      <a:pos x="wd2" y="hd2"/>
                    </a:cxn>
                    <a:cxn ang="5400000">
                      <a:pos x="wd2" y="hd2"/>
                    </a:cxn>
                    <a:cxn ang="10800000">
                      <a:pos x="wd2" y="hd2"/>
                    </a:cxn>
                    <a:cxn ang="16200000">
                      <a:pos x="wd2" y="hd2"/>
                    </a:cxn>
                  </a:cxnLst>
                  <a:rect l="0" t="0" r="r" b="b"/>
                  <a:pathLst>
                    <a:path w="21600" h="21600" extrusionOk="0">
                      <a:moveTo>
                        <a:pt x="20514" y="8628"/>
                      </a:moveTo>
                      <a:cubicBezTo>
                        <a:pt x="18583" y="8628"/>
                        <a:pt x="18583" y="8628"/>
                        <a:pt x="18583" y="8628"/>
                      </a:cubicBezTo>
                      <a:cubicBezTo>
                        <a:pt x="18402" y="7964"/>
                        <a:pt x="18161" y="7361"/>
                        <a:pt x="17799" y="6818"/>
                      </a:cubicBezTo>
                      <a:cubicBezTo>
                        <a:pt x="19187" y="5430"/>
                        <a:pt x="19187" y="5430"/>
                        <a:pt x="19187" y="5430"/>
                      </a:cubicBezTo>
                      <a:cubicBezTo>
                        <a:pt x="19609" y="5008"/>
                        <a:pt x="19609" y="4344"/>
                        <a:pt x="19187" y="3922"/>
                      </a:cubicBezTo>
                      <a:cubicBezTo>
                        <a:pt x="17618" y="2413"/>
                        <a:pt x="17618" y="2413"/>
                        <a:pt x="17618" y="2413"/>
                      </a:cubicBezTo>
                      <a:cubicBezTo>
                        <a:pt x="17196" y="1991"/>
                        <a:pt x="16532" y="1991"/>
                        <a:pt x="16109" y="2413"/>
                      </a:cubicBezTo>
                      <a:cubicBezTo>
                        <a:pt x="14782" y="3741"/>
                        <a:pt x="14782" y="3741"/>
                        <a:pt x="14782" y="3741"/>
                      </a:cubicBezTo>
                      <a:cubicBezTo>
                        <a:pt x="14179" y="3439"/>
                        <a:pt x="13575" y="3198"/>
                        <a:pt x="12912" y="3017"/>
                      </a:cubicBezTo>
                      <a:cubicBezTo>
                        <a:pt x="12912" y="1086"/>
                        <a:pt x="12912" y="1086"/>
                        <a:pt x="12912" y="1086"/>
                      </a:cubicBezTo>
                      <a:cubicBezTo>
                        <a:pt x="12912" y="483"/>
                        <a:pt x="12429" y="0"/>
                        <a:pt x="11826" y="0"/>
                      </a:cubicBezTo>
                      <a:cubicBezTo>
                        <a:pt x="10800" y="0"/>
                        <a:pt x="10800" y="0"/>
                        <a:pt x="10800" y="0"/>
                      </a:cubicBezTo>
                      <a:cubicBezTo>
                        <a:pt x="9714" y="0"/>
                        <a:pt x="9714" y="0"/>
                        <a:pt x="9714" y="0"/>
                      </a:cubicBezTo>
                      <a:cubicBezTo>
                        <a:pt x="9111" y="0"/>
                        <a:pt x="8628" y="483"/>
                        <a:pt x="8628" y="1086"/>
                      </a:cubicBezTo>
                      <a:cubicBezTo>
                        <a:pt x="8628" y="3017"/>
                        <a:pt x="8628" y="3017"/>
                        <a:pt x="8628" y="3017"/>
                      </a:cubicBezTo>
                      <a:cubicBezTo>
                        <a:pt x="7964" y="3198"/>
                        <a:pt x="7361" y="3439"/>
                        <a:pt x="6758" y="3741"/>
                      </a:cubicBezTo>
                      <a:cubicBezTo>
                        <a:pt x="5430" y="2413"/>
                        <a:pt x="5430" y="2413"/>
                        <a:pt x="5430" y="2413"/>
                      </a:cubicBezTo>
                      <a:cubicBezTo>
                        <a:pt x="5008" y="1991"/>
                        <a:pt x="4344" y="1991"/>
                        <a:pt x="3922" y="2413"/>
                      </a:cubicBezTo>
                      <a:cubicBezTo>
                        <a:pt x="2353" y="3922"/>
                        <a:pt x="2353" y="3922"/>
                        <a:pt x="2353" y="3922"/>
                      </a:cubicBezTo>
                      <a:cubicBezTo>
                        <a:pt x="1931" y="4344"/>
                        <a:pt x="1931" y="5008"/>
                        <a:pt x="2353" y="5430"/>
                      </a:cubicBezTo>
                      <a:cubicBezTo>
                        <a:pt x="3741" y="6818"/>
                        <a:pt x="3741" y="6818"/>
                        <a:pt x="3741" y="6818"/>
                      </a:cubicBezTo>
                      <a:cubicBezTo>
                        <a:pt x="3379" y="7361"/>
                        <a:pt x="3137" y="7964"/>
                        <a:pt x="2956" y="8628"/>
                      </a:cubicBezTo>
                      <a:cubicBezTo>
                        <a:pt x="1026" y="8628"/>
                        <a:pt x="1026" y="8628"/>
                        <a:pt x="1026" y="8628"/>
                      </a:cubicBezTo>
                      <a:cubicBezTo>
                        <a:pt x="483" y="8628"/>
                        <a:pt x="0" y="9111"/>
                        <a:pt x="0" y="9714"/>
                      </a:cubicBezTo>
                      <a:cubicBezTo>
                        <a:pt x="0" y="10800"/>
                        <a:pt x="0" y="10800"/>
                        <a:pt x="0" y="10800"/>
                      </a:cubicBezTo>
                      <a:cubicBezTo>
                        <a:pt x="0" y="11886"/>
                        <a:pt x="0" y="11886"/>
                        <a:pt x="0" y="11886"/>
                      </a:cubicBezTo>
                      <a:cubicBezTo>
                        <a:pt x="0" y="12489"/>
                        <a:pt x="483" y="12972"/>
                        <a:pt x="1026" y="12972"/>
                      </a:cubicBezTo>
                      <a:cubicBezTo>
                        <a:pt x="2956" y="12972"/>
                        <a:pt x="2956" y="12972"/>
                        <a:pt x="2956" y="12972"/>
                      </a:cubicBezTo>
                      <a:cubicBezTo>
                        <a:pt x="3137" y="13636"/>
                        <a:pt x="3379" y="14239"/>
                        <a:pt x="3741" y="14782"/>
                      </a:cubicBezTo>
                      <a:cubicBezTo>
                        <a:pt x="2353" y="16170"/>
                        <a:pt x="2353" y="16170"/>
                        <a:pt x="2353" y="16170"/>
                      </a:cubicBezTo>
                      <a:cubicBezTo>
                        <a:pt x="1931" y="16592"/>
                        <a:pt x="1931" y="17256"/>
                        <a:pt x="2353" y="17678"/>
                      </a:cubicBezTo>
                      <a:cubicBezTo>
                        <a:pt x="3922" y="19187"/>
                        <a:pt x="3922" y="19187"/>
                        <a:pt x="3922" y="19187"/>
                      </a:cubicBezTo>
                      <a:cubicBezTo>
                        <a:pt x="4344" y="19609"/>
                        <a:pt x="5008" y="19609"/>
                        <a:pt x="5430" y="19187"/>
                      </a:cubicBezTo>
                      <a:cubicBezTo>
                        <a:pt x="6758" y="17859"/>
                        <a:pt x="6758" y="17859"/>
                        <a:pt x="6758" y="17859"/>
                      </a:cubicBezTo>
                      <a:cubicBezTo>
                        <a:pt x="7361" y="18161"/>
                        <a:pt x="7964" y="18402"/>
                        <a:pt x="8628" y="18583"/>
                      </a:cubicBezTo>
                      <a:cubicBezTo>
                        <a:pt x="8628" y="20514"/>
                        <a:pt x="8628" y="20514"/>
                        <a:pt x="8628" y="20514"/>
                      </a:cubicBezTo>
                      <a:cubicBezTo>
                        <a:pt x="8628" y="21117"/>
                        <a:pt x="9111" y="21600"/>
                        <a:pt x="9714" y="21600"/>
                      </a:cubicBezTo>
                      <a:cubicBezTo>
                        <a:pt x="10800" y="21600"/>
                        <a:pt x="10800" y="21600"/>
                        <a:pt x="10800" y="21600"/>
                      </a:cubicBezTo>
                      <a:cubicBezTo>
                        <a:pt x="11826" y="21600"/>
                        <a:pt x="11826" y="21600"/>
                        <a:pt x="11826" y="21600"/>
                      </a:cubicBezTo>
                      <a:cubicBezTo>
                        <a:pt x="12429" y="21600"/>
                        <a:pt x="12912" y="21117"/>
                        <a:pt x="12912" y="20514"/>
                      </a:cubicBezTo>
                      <a:cubicBezTo>
                        <a:pt x="12912" y="18583"/>
                        <a:pt x="12912" y="18583"/>
                        <a:pt x="12912" y="18583"/>
                      </a:cubicBezTo>
                      <a:cubicBezTo>
                        <a:pt x="13575" y="18402"/>
                        <a:pt x="14179" y="18161"/>
                        <a:pt x="14782" y="17859"/>
                      </a:cubicBezTo>
                      <a:cubicBezTo>
                        <a:pt x="16109" y="19187"/>
                        <a:pt x="16109" y="19187"/>
                        <a:pt x="16109" y="19187"/>
                      </a:cubicBezTo>
                      <a:cubicBezTo>
                        <a:pt x="16532" y="19609"/>
                        <a:pt x="17196" y="19609"/>
                        <a:pt x="17618" y="19187"/>
                      </a:cubicBezTo>
                      <a:cubicBezTo>
                        <a:pt x="19187" y="17678"/>
                        <a:pt x="19187" y="17678"/>
                        <a:pt x="19187" y="17678"/>
                      </a:cubicBezTo>
                      <a:cubicBezTo>
                        <a:pt x="19609" y="17256"/>
                        <a:pt x="19609" y="16592"/>
                        <a:pt x="19187" y="16170"/>
                      </a:cubicBezTo>
                      <a:cubicBezTo>
                        <a:pt x="17799" y="14782"/>
                        <a:pt x="17799" y="14782"/>
                        <a:pt x="17799" y="14782"/>
                      </a:cubicBezTo>
                      <a:cubicBezTo>
                        <a:pt x="18161" y="14239"/>
                        <a:pt x="18402" y="13636"/>
                        <a:pt x="18583" y="12972"/>
                      </a:cubicBezTo>
                      <a:cubicBezTo>
                        <a:pt x="20514" y="12972"/>
                        <a:pt x="20514" y="12972"/>
                        <a:pt x="20514" y="12972"/>
                      </a:cubicBezTo>
                      <a:cubicBezTo>
                        <a:pt x="21057" y="12972"/>
                        <a:pt x="21600" y="12489"/>
                        <a:pt x="21600" y="11886"/>
                      </a:cubicBezTo>
                      <a:cubicBezTo>
                        <a:pt x="21600" y="10800"/>
                        <a:pt x="21600" y="10800"/>
                        <a:pt x="21600" y="10800"/>
                      </a:cubicBezTo>
                      <a:cubicBezTo>
                        <a:pt x="21600" y="9714"/>
                        <a:pt x="21600" y="9714"/>
                        <a:pt x="21600" y="9714"/>
                      </a:cubicBezTo>
                      <a:cubicBezTo>
                        <a:pt x="21600" y="9111"/>
                        <a:pt x="21057" y="8628"/>
                        <a:pt x="20514" y="8628"/>
                      </a:cubicBezTo>
                      <a:close/>
                      <a:moveTo>
                        <a:pt x="4223" y="10800"/>
                      </a:moveTo>
                      <a:cubicBezTo>
                        <a:pt x="4223" y="7180"/>
                        <a:pt x="7180" y="4284"/>
                        <a:pt x="10800" y="4284"/>
                      </a:cubicBezTo>
                      <a:cubicBezTo>
                        <a:pt x="14360" y="4284"/>
                        <a:pt x="17316" y="7180"/>
                        <a:pt x="17316" y="10800"/>
                      </a:cubicBezTo>
                      <a:cubicBezTo>
                        <a:pt x="17316" y="14420"/>
                        <a:pt x="14360" y="17316"/>
                        <a:pt x="10800" y="17316"/>
                      </a:cubicBezTo>
                      <a:cubicBezTo>
                        <a:pt x="7180" y="17316"/>
                        <a:pt x="4223" y="14420"/>
                        <a:pt x="4223" y="108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247" name="Shape 875"/>
                <p:cNvSpPr/>
                <p:nvPr/>
              </p:nvSpPr>
              <p:spPr>
                <a:xfrm>
                  <a:off x="192837" y="367833"/>
                  <a:ext cx="321144" cy="320765"/>
                </a:xfrm>
                <a:custGeom>
                  <a:avLst/>
                  <a:gdLst/>
                  <a:ahLst/>
                  <a:cxnLst>
                    <a:cxn ang="0">
                      <a:pos x="wd2" y="hd2"/>
                    </a:cxn>
                    <a:cxn ang="5400000">
                      <a:pos x="wd2" y="hd2"/>
                    </a:cxn>
                    <a:cxn ang="10800000">
                      <a:pos x="wd2" y="hd2"/>
                    </a:cxn>
                    <a:cxn ang="16200000">
                      <a:pos x="wd2" y="hd2"/>
                    </a:cxn>
                  </a:cxnLst>
                  <a:rect l="0" t="0" r="r" b="b"/>
                  <a:pathLst>
                    <a:path w="21600" h="21600" extrusionOk="0">
                      <a:moveTo>
                        <a:pt x="20514" y="8628"/>
                      </a:moveTo>
                      <a:cubicBezTo>
                        <a:pt x="18583" y="8628"/>
                        <a:pt x="18583" y="8628"/>
                        <a:pt x="18583" y="8628"/>
                      </a:cubicBezTo>
                      <a:cubicBezTo>
                        <a:pt x="18402" y="7964"/>
                        <a:pt x="18161" y="7361"/>
                        <a:pt x="17799" y="6818"/>
                      </a:cubicBezTo>
                      <a:cubicBezTo>
                        <a:pt x="19187" y="5430"/>
                        <a:pt x="19187" y="5430"/>
                        <a:pt x="19187" y="5430"/>
                      </a:cubicBezTo>
                      <a:cubicBezTo>
                        <a:pt x="19609" y="5008"/>
                        <a:pt x="19609" y="4344"/>
                        <a:pt x="19187" y="3922"/>
                      </a:cubicBezTo>
                      <a:cubicBezTo>
                        <a:pt x="17618" y="2413"/>
                        <a:pt x="17618" y="2413"/>
                        <a:pt x="17618" y="2413"/>
                      </a:cubicBezTo>
                      <a:cubicBezTo>
                        <a:pt x="17196" y="1991"/>
                        <a:pt x="16532" y="1991"/>
                        <a:pt x="16109" y="2413"/>
                      </a:cubicBezTo>
                      <a:cubicBezTo>
                        <a:pt x="14782" y="3741"/>
                        <a:pt x="14782" y="3741"/>
                        <a:pt x="14782" y="3741"/>
                      </a:cubicBezTo>
                      <a:cubicBezTo>
                        <a:pt x="14179" y="3439"/>
                        <a:pt x="13575" y="3198"/>
                        <a:pt x="12912" y="3017"/>
                      </a:cubicBezTo>
                      <a:cubicBezTo>
                        <a:pt x="12912" y="1086"/>
                        <a:pt x="12912" y="1086"/>
                        <a:pt x="12912" y="1086"/>
                      </a:cubicBezTo>
                      <a:cubicBezTo>
                        <a:pt x="12912" y="483"/>
                        <a:pt x="12429" y="0"/>
                        <a:pt x="11826" y="0"/>
                      </a:cubicBezTo>
                      <a:cubicBezTo>
                        <a:pt x="10800" y="0"/>
                        <a:pt x="10800" y="0"/>
                        <a:pt x="10800" y="0"/>
                      </a:cubicBezTo>
                      <a:cubicBezTo>
                        <a:pt x="9714" y="0"/>
                        <a:pt x="9714" y="0"/>
                        <a:pt x="9714" y="0"/>
                      </a:cubicBezTo>
                      <a:cubicBezTo>
                        <a:pt x="9111" y="0"/>
                        <a:pt x="8628" y="483"/>
                        <a:pt x="8628" y="1086"/>
                      </a:cubicBezTo>
                      <a:cubicBezTo>
                        <a:pt x="8628" y="3017"/>
                        <a:pt x="8628" y="3017"/>
                        <a:pt x="8628" y="3017"/>
                      </a:cubicBezTo>
                      <a:cubicBezTo>
                        <a:pt x="7964" y="3198"/>
                        <a:pt x="7361" y="3439"/>
                        <a:pt x="6758" y="3741"/>
                      </a:cubicBezTo>
                      <a:cubicBezTo>
                        <a:pt x="5430" y="2413"/>
                        <a:pt x="5430" y="2413"/>
                        <a:pt x="5430" y="2413"/>
                      </a:cubicBezTo>
                      <a:cubicBezTo>
                        <a:pt x="5008" y="1991"/>
                        <a:pt x="4344" y="1991"/>
                        <a:pt x="3922" y="2413"/>
                      </a:cubicBezTo>
                      <a:cubicBezTo>
                        <a:pt x="2353" y="3922"/>
                        <a:pt x="2353" y="3922"/>
                        <a:pt x="2353" y="3922"/>
                      </a:cubicBezTo>
                      <a:cubicBezTo>
                        <a:pt x="1931" y="4344"/>
                        <a:pt x="1931" y="5008"/>
                        <a:pt x="2353" y="5430"/>
                      </a:cubicBezTo>
                      <a:cubicBezTo>
                        <a:pt x="3741" y="6818"/>
                        <a:pt x="3741" y="6818"/>
                        <a:pt x="3741" y="6818"/>
                      </a:cubicBezTo>
                      <a:cubicBezTo>
                        <a:pt x="3379" y="7361"/>
                        <a:pt x="3137" y="7964"/>
                        <a:pt x="2956" y="8628"/>
                      </a:cubicBezTo>
                      <a:cubicBezTo>
                        <a:pt x="1026" y="8628"/>
                        <a:pt x="1026" y="8628"/>
                        <a:pt x="1026" y="8628"/>
                      </a:cubicBezTo>
                      <a:cubicBezTo>
                        <a:pt x="483" y="8628"/>
                        <a:pt x="0" y="9111"/>
                        <a:pt x="0" y="9714"/>
                      </a:cubicBezTo>
                      <a:cubicBezTo>
                        <a:pt x="0" y="10800"/>
                        <a:pt x="0" y="10800"/>
                        <a:pt x="0" y="10800"/>
                      </a:cubicBezTo>
                      <a:cubicBezTo>
                        <a:pt x="0" y="11886"/>
                        <a:pt x="0" y="11886"/>
                        <a:pt x="0" y="11886"/>
                      </a:cubicBezTo>
                      <a:cubicBezTo>
                        <a:pt x="0" y="12489"/>
                        <a:pt x="483" y="12972"/>
                        <a:pt x="1026" y="12972"/>
                      </a:cubicBezTo>
                      <a:cubicBezTo>
                        <a:pt x="2956" y="12972"/>
                        <a:pt x="2956" y="12972"/>
                        <a:pt x="2956" y="12972"/>
                      </a:cubicBezTo>
                      <a:cubicBezTo>
                        <a:pt x="3137" y="13636"/>
                        <a:pt x="3379" y="14239"/>
                        <a:pt x="3741" y="14782"/>
                      </a:cubicBezTo>
                      <a:cubicBezTo>
                        <a:pt x="2353" y="16170"/>
                        <a:pt x="2353" y="16170"/>
                        <a:pt x="2353" y="16170"/>
                      </a:cubicBezTo>
                      <a:cubicBezTo>
                        <a:pt x="1931" y="16592"/>
                        <a:pt x="1931" y="17256"/>
                        <a:pt x="2353" y="17678"/>
                      </a:cubicBezTo>
                      <a:cubicBezTo>
                        <a:pt x="3922" y="19187"/>
                        <a:pt x="3922" y="19187"/>
                        <a:pt x="3922" y="19187"/>
                      </a:cubicBezTo>
                      <a:cubicBezTo>
                        <a:pt x="4344" y="19609"/>
                        <a:pt x="5008" y="19609"/>
                        <a:pt x="5430" y="19187"/>
                      </a:cubicBezTo>
                      <a:cubicBezTo>
                        <a:pt x="6758" y="17859"/>
                        <a:pt x="6758" y="17859"/>
                        <a:pt x="6758" y="17859"/>
                      </a:cubicBezTo>
                      <a:cubicBezTo>
                        <a:pt x="7361" y="18161"/>
                        <a:pt x="7964" y="18402"/>
                        <a:pt x="8628" y="18583"/>
                      </a:cubicBezTo>
                      <a:cubicBezTo>
                        <a:pt x="8628" y="20514"/>
                        <a:pt x="8628" y="20514"/>
                        <a:pt x="8628" y="20514"/>
                      </a:cubicBezTo>
                      <a:cubicBezTo>
                        <a:pt x="8628" y="21117"/>
                        <a:pt x="9111" y="21600"/>
                        <a:pt x="9714" y="21600"/>
                      </a:cubicBezTo>
                      <a:cubicBezTo>
                        <a:pt x="10800" y="21600"/>
                        <a:pt x="10800" y="21600"/>
                        <a:pt x="10800" y="21600"/>
                      </a:cubicBezTo>
                      <a:cubicBezTo>
                        <a:pt x="11826" y="21600"/>
                        <a:pt x="11826" y="21600"/>
                        <a:pt x="11826" y="21600"/>
                      </a:cubicBezTo>
                      <a:cubicBezTo>
                        <a:pt x="12429" y="21600"/>
                        <a:pt x="12912" y="21117"/>
                        <a:pt x="12912" y="20514"/>
                      </a:cubicBezTo>
                      <a:cubicBezTo>
                        <a:pt x="12912" y="18583"/>
                        <a:pt x="12912" y="18583"/>
                        <a:pt x="12912" y="18583"/>
                      </a:cubicBezTo>
                      <a:cubicBezTo>
                        <a:pt x="13575" y="18402"/>
                        <a:pt x="14179" y="18161"/>
                        <a:pt x="14782" y="17859"/>
                      </a:cubicBezTo>
                      <a:cubicBezTo>
                        <a:pt x="16109" y="19187"/>
                        <a:pt x="16109" y="19187"/>
                        <a:pt x="16109" y="19187"/>
                      </a:cubicBezTo>
                      <a:cubicBezTo>
                        <a:pt x="16532" y="19609"/>
                        <a:pt x="17196" y="19609"/>
                        <a:pt x="17618" y="19187"/>
                      </a:cubicBezTo>
                      <a:cubicBezTo>
                        <a:pt x="19187" y="17678"/>
                        <a:pt x="19187" y="17678"/>
                        <a:pt x="19187" y="17678"/>
                      </a:cubicBezTo>
                      <a:cubicBezTo>
                        <a:pt x="19609" y="17256"/>
                        <a:pt x="19609" y="16592"/>
                        <a:pt x="19187" y="16170"/>
                      </a:cubicBezTo>
                      <a:cubicBezTo>
                        <a:pt x="17799" y="14782"/>
                        <a:pt x="17799" y="14782"/>
                        <a:pt x="17799" y="14782"/>
                      </a:cubicBezTo>
                      <a:cubicBezTo>
                        <a:pt x="18161" y="14239"/>
                        <a:pt x="18402" y="13636"/>
                        <a:pt x="18583" y="12972"/>
                      </a:cubicBezTo>
                      <a:cubicBezTo>
                        <a:pt x="20514" y="12972"/>
                        <a:pt x="20514" y="12972"/>
                        <a:pt x="20514" y="12972"/>
                      </a:cubicBezTo>
                      <a:cubicBezTo>
                        <a:pt x="21057" y="12972"/>
                        <a:pt x="21600" y="12489"/>
                        <a:pt x="21600" y="11886"/>
                      </a:cubicBezTo>
                      <a:cubicBezTo>
                        <a:pt x="21600" y="10800"/>
                        <a:pt x="21600" y="10800"/>
                        <a:pt x="21600" y="10800"/>
                      </a:cubicBezTo>
                      <a:cubicBezTo>
                        <a:pt x="21600" y="9714"/>
                        <a:pt x="21600" y="9714"/>
                        <a:pt x="21600" y="9714"/>
                      </a:cubicBezTo>
                      <a:cubicBezTo>
                        <a:pt x="21600" y="9111"/>
                        <a:pt x="21057" y="8628"/>
                        <a:pt x="20514" y="8628"/>
                      </a:cubicBezTo>
                      <a:close/>
                      <a:moveTo>
                        <a:pt x="4223" y="10800"/>
                      </a:moveTo>
                      <a:cubicBezTo>
                        <a:pt x="4223" y="7180"/>
                        <a:pt x="7180" y="4284"/>
                        <a:pt x="10800" y="4284"/>
                      </a:cubicBezTo>
                      <a:cubicBezTo>
                        <a:pt x="14360" y="4284"/>
                        <a:pt x="17316" y="7180"/>
                        <a:pt x="17316" y="10800"/>
                      </a:cubicBezTo>
                      <a:cubicBezTo>
                        <a:pt x="17316" y="14420"/>
                        <a:pt x="14360" y="17316"/>
                        <a:pt x="10800" y="17316"/>
                      </a:cubicBezTo>
                      <a:cubicBezTo>
                        <a:pt x="7180" y="17316"/>
                        <a:pt x="4223" y="14420"/>
                        <a:pt x="4223" y="108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grpSp>
        </p:grpSp>
        <p:grpSp>
          <p:nvGrpSpPr>
            <p:cNvPr id="142" name="Group 891">
              <a:extLst>
                <a:ext uri="{C183D7F6-B498-43B3-948B-1728B52AA6E4}">
                  <adec:decorative xmlns:adec="http://schemas.microsoft.com/office/drawing/2017/decorative" val="1"/>
                </a:ext>
              </a:extLst>
            </p:cNvPr>
            <p:cNvGrpSpPr/>
            <p:nvPr/>
          </p:nvGrpSpPr>
          <p:grpSpPr>
            <a:xfrm>
              <a:off x="7440069" y="5069363"/>
              <a:ext cx="313475" cy="298829"/>
              <a:chOff x="0" y="0"/>
              <a:chExt cx="723900" cy="723900"/>
            </a:xfrm>
            <a:solidFill>
              <a:schemeClr val="bg1"/>
            </a:solidFill>
          </p:grpSpPr>
          <p:sp>
            <p:nvSpPr>
              <p:cNvPr id="232" name="Shape 886"/>
              <p:cNvSpPr/>
              <p:nvPr/>
            </p:nvSpPr>
            <p:spPr>
              <a:xfrm>
                <a:off x="0" y="0"/>
                <a:ext cx="723901" cy="723901"/>
              </a:xfrm>
              <a:custGeom>
                <a:avLst/>
                <a:gdLst/>
                <a:ahLst/>
                <a:cxnLst>
                  <a:cxn ang="0">
                    <a:pos x="wd2" y="hd2"/>
                  </a:cxn>
                  <a:cxn ang="5400000">
                    <a:pos x="wd2" y="hd2"/>
                  </a:cxn>
                  <a:cxn ang="10800000">
                    <a:pos x="wd2" y="hd2"/>
                  </a:cxn>
                  <a:cxn ang="16200000">
                    <a:pos x="wd2" y="hd2"/>
                  </a:cxn>
                </a:cxnLst>
                <a:rect l="0" t="0" r="r" b="b"/>
                <a:pathLst>
                  <a:path w="21600" h="21600" extrusionOk="0">
                    <a:moveTo>
                      <a:pt x="20048" y="0"/>
                    </a:moveTo>
                    <a:cubicBezTo>
                      <a:pt x="1552" y="0"/>
                      <a:pt x="1552" y="0"/>
                      <a:pt x="1552" y="0"/>
                    </a:cubicBezTo>
                    <a:cubicBezTo>
                      <a:pt x="696" y="0"/>
                      <a:pt x="0" y="696"/>
                      <a:pt x="0" y="1552"/>
                    </a:cubicBezTo>
                    <a:cubicBezTo>
                      <a:pt x="0" y="20048"/>
                      <a:pt x="0" y="20048"/>
                      <a:pt x="0" y="20048"/>
                    </a:cubicBezTo>
                    <a:cubicBezTo>
                      <a:pt x="0" y="20904"/>
                      <a:pt x="696" y="21600"/>
                      <a:pt x="1552" y="21600"/>
                    </a:cubicBezTo>
                    <a:cubicBezTo>
                      <a:pt x="5300" y="21600"/>
                      <a:pt x="5300" y="21600"/>
                      <a:pt x="5300" y="21600"/>
                    </a:cubicBezTo>
                    <a:cubicBezTo>
                      <a:pt x="6745" y="21600"/>
                      <a:pt x="6745" y="21600"/>
                      <a:pt x="6745" y="21600"/>
                    </a:cubicBezTo>
                    <a:cubicBezTo>
                      <a:pt x="8859" y="21600"/>
                      <a:pt x="8859" y="21600"/>
                      <a:pt x="8859" y="21600"/>
                    </a:cubicBezTo>
                    <a:cubicBezTo>
                      <a:pt x="10171" y="21600"/>
                      <a:pt x="10171" y="21600"/>
                      <a:pt x="10171" y="21600"/>
                    </a:cubicBezTo>
                    <a:cubicBezTo>
                      <a:pt x="20048" y="21600"/>
                      <a:pt x="20048" y="21600"/>
                      <a:pt x="20048" y="21600"/>
                    </a:cubicBezTo>
                    <a:cubicBezTo>
                      <a:pt x="20904" y="21600"/>
                      <a:pt x="21600" y="20904"/>
                      <a:pt x="21600" y="20048"/>
                    </a:cubicBezTo>
                    <a:cubicBezTo>
                      <a:pt x="21600" y="18683"/>
                      <a:pt x="21600" y="18683"/>
                      <a:pt x="21600" y="18683"/>
                    </a:cubicBezTo>
                    <a:cubicBezTo>
                      <a:pt x="21600" y="9877"/>
                      <a:pt x="21600" y="9877"/>
                      <a:pt x="21600" y="9877"/>
                    </a:cubicBezTo>
                    <a:cubicBezTo>
                      <a:pt x="21600" y="7414"/>
                      <a:pt x="21600" y="7414"/>
                      <a:pt x="21600" y="7414"/>
                    </a:cubicBezTo>
                    <a:cubicBezTo>
                      <a:pt x="21600" y="6397"/>
                      <a:pt x="21600" y="6397"/>
                      <a:pt x="21600" y="6397"/>
                    </a:cubicBezTo>
                    <a:cubicBezTo>
                      <a:pt x="21600" y="1552"/>
                      <a:pt x="21600" y="1552"/>
                      <a:pt x="21600" y="1552"/>
                    </a:cubicBezTo>
                    <a:cubicBezTo>
                      <a:pt x="21600" y="696"/>
                      <a:pt x="20904" y="0"/>
                      <a:pt x="20048" y="0"/>
                    </a:cubicBezTo>
                    <a:close/>
                    <a:moveTo>
                      <a:pt x="4256" y="15685"/>
                    </a:moveTo>
                    <a:cubicBezTo>
                      <a:pt x="4336" y="15765"/>
                      <a:pt x="4336" y="15765"/>
                      <a:pt x="4336" y="15765"/>
                    </a:cubicBezTo>
                    <a:cubicBezTo>
                      <a:pt x="4336" y="15765"/>
                      <a:pt x="4336" y="15765"/>
                      <a:pt x="4336" y="15765"/>
                    </a:cubicBezTo>
                    <a:lnTo>
                      <a:pt x="4256" y="15685"/>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233" name="Shape 887"/>
              <p:cNvSpPr/>
              <p:nvPr/>
            </p:nvSpPr>
            <p:spPr>
              <a:xfrm>
                <a:off x="44033" y="149942"/>
                <a:ext cx="634695" cy="423257"/>
              </a:xfrm>
              <a:custGeom>
                <a:avLst/>
                <a:gdLst/>
                <a:ahLst/>
                <a:cxnLst>
                  <a:cxn ang="0">
                    <a:pos x="wd2" y="hd2"/>
                  </a:cxn>
                  <a:cxn ang="5400000">
                    <a:pos x="wd2" y="hd2"/>
                  </a:cxn>
                  <a:cxn ang="10800000">
                    <a:pos x="wd2" y="hd2"/>
                  </a:cxn>
                  <a:cxn ang="16200000">
                    <a:pos x="wd2" y="hd2"/>
                  </a:cxn>
                </a:cxnLst>
                <a:rect l="0" t="0" r="r" b="b"/>
                <a:pathLst>
                  <a:path w="21600" h="21600" extrusionOk="0">
                    <a:moveTo>
                      <a:pt x="17481" y="9747"/>
                    </a:moveTo>
                    <a:cubicBezTo>
                      <a:pt x="17512" y="9336"/>
                      <a:pt x="17542" y="8924"/>
                      <a:pt x="17542" y="8512"/>
                    </a:cubicBezTo>
                    <a:cubicBezTo>
                      <a:pt x="17542" y="3844"/>
                      <a:pt x="14980" y="0"/>
                      <a:pt x="11868" y="0"/>
                    </a:cubicBezTo>
                    <a:cubicBezTo>
                      <a:pt x="10617" y="0"/>
                      <a:pt x="9427" y="595"/>
                      <a:pt x="8420" y="1739"/>
                    </a:cubicBezTo>
                    <a:cubicBezTo>
                      <a:pt x="7505" y="2792"/>
                      <a:pt x="6834" y="4210"/>
                      <a:pt x="6468" y="5858"/>
                    </a:cubicBezTo>
                    <a:cubicBezTo>
                      <a:pt x="6163" y="5675"/>
                      <a:pt x="5827" y="5629"/>
                      <a:pt x="5522" y="5629"/>
                    </a:cubicBezTo>
                    <a:cubicBezTo>
                      <a:pt x="3905" y="5629"/>
                      <a:pt x="2593" y="7551"/>
                      <a:pt x="2593" y="9931"/>
                    </a:cubicBezTo>
                    <a:cubicBezTo>
                      <a:pt x="2593" y="9976"/>
                      <a:pt x="2593" y="10022"/>
                      <a:pt x="2593" y="10068"/>
                    </a:cubicBezTo>
                    <a:cubicBezTo>
                      <a:pt x="1007" y="11075"/>
                      <a:pt x="0" y="13408"/>
                      <a:pt x="0" y="16017"/>
                    </a:cubicBezTo>
                    <a:cubicBezTo>
                      <a:pt x="0" y="18259"/>
                      <a:pt x="763" y="20319"/>
                      <a:pt x="2044" y="21554"/>
                    </a:cubicBezTo>
                    <a:cubicBezTo>
                      <a:pt x="2075" y="21600"/>
                      <a:pt x="2075" y="21600"/>
                      <a:pt x="2075" y="21600"/>
                    </a:cubicBezTo>
                    <a:cubicBezTo>
                      <a:pt x="19373" y="21600"/>
                      <a:pt x="19373" y="21600"/>
                      <a:pt x="19373" y="21600"/>
                    </a:cubicBezTo>
                    <a:cubicBezTo>
                      <a:pt x="19586" y="21371"/>
                      <a:pt x="19586" y="21371"/>
                      <a:pt x="19586" y="21371"/>
                    </a:cubicBezTo>
                    <a:cubicBezTo>
                      <a:pt x="20868" y="20227"/>
                      <a:pt x="21600" y="18214"/>
                      <a:pt x="21600" y="16017"/>
                    </a:cubicBezTo>
                    <a:cubicBezTo>
                      <a:pt x="21600" y="12585"/>
                      <a:pt x="19769" y="9793"/>
                      <a:pt x="17481" y="9747"/>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234" name="Shape 888"/>
              <p:cNvSpPr/>
              <p:nvPr/>
            </p:nvSpPr>
            <p:spPr>
              <a:xfrm>
                <a:off x="302162" y="215234"/>
                <a:ext cx="184108" cy="94142"/>
              </a:xfrm>
              <a:custGeom>
                <a:avLst/>
                <a:gdLst/>
                <a:ahLst/>
                <a:cxnLst>
                  <a:cxn ang="0">
                    <a:pos x="wd2" y="hd2"/>
                  </a:cxn>
                  <a:cxn ang="5400000">
                    <a:pos x="wd2" y="hd2"/>
                  </a:cxn>
                  <a:cxn ang="10800000">
                    <a:pos x="wd2" y="hd2"/>
                  </a:cxn>
                  <a:cxn ang="16200000">
                    <a:pos x="wd2" y="hd2"/>
                  </a:cxn>
                </a:cxnLst>
                <a:rect l="0" t="0" r="r" b="b"/>
                <a:pathLst>
                  <a:path w="21600" h="21600" extrusionOk="0">
                    <a:moveTo>
                      <a:pt x="3899" y="21600"/>
                    </a:moveTo>
                    <a:cubicBezTo>
                      <a:pt x="3899" y="21394"/>
                      <a:pt x="3899" y="21394"/>
                      <a:pt x="3899" y="21189"/>
                    </a:cubicBezTo>
                    <a:cubicBezTo>
                      <a:pt x="3899" y="13783"/>
                      <a:pt x="6954" y="7611"/>
                      <a:pt x="10747" y="7611"/>
                    </a:cubicBezTo>
                    <a:cubicBezTo>
                      <a:pt x="14646" y="7611"/>
                      <a:pt x="17701" y="13783"/>
                      <a:pt x="17701" y="21189"/>
                    </a:cubicBezTo>
                    <a:cubicBezTo>
                      <a:pt x="17701" y="21394"/>
                      <a:pt x="17701" y="21394"/>
                      <a:pt x="17701" y="21600"/>
                    </a:cubicBezTo>
                    <a:cubicBezTo>
                      <a:pt x="21284" y="21600"/>
                      <a:pt x="21284" y="21600"/>
                      <a:pt x="21284" y="21600"/>
                    </a:cubicBezTo>
                    <a:cubicBezTo>
                      <a:pt x="21389" y="21600"/>
                      <a:pt x="21495" y="21600"/>
                      <a:pt x="21600" y="21600"/>
                    </a:cubicBezTo>
                    <a:cubicBezTo>
                      <a:pt x="21600" y="21394"/>
                      <a:pt x="21600" y="21394"/>
                      <a:pt x="21600" y="21189"/>
                    </a:cubicBezTo>
                    <a:cubicBezTo>
                      <a:pt x="21600" y="9463"/>
                      <a:pt x="16753" y="0"/>
                      <a:pt x="10747" y="0"/>
                    </a:cubicBezTo>
                    <a:cubicBezTo>
                      <a:pt x="4847" y="0"/>
                      <a:pt x="0" y="9463"/>
                      <a:pt x="0" y="21189"/>
                    </a:cubicBezTo>
                    <a:cubicBezTo>
                      <a:pt x="0" y="21394"/>
                      <a:pt x="0" y="21394"/>
                      <a:pt x="0" y="21600"/>
                    </a:cubicBezTo>
                    <a:cubicBezTo>
                      <a:pt x="105" y="21600"/>
                      <a:pt x="211" y="21600"/>
                      <a:pt x="211" y="21600"/>
                    </a:cubicBezTo>
                    <a:lnTo>
                      <a:pt x="3899" y="2160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235" name="Shape 889"/>
              <p:cNvSpPr/>
              <p:nvPr/>
            </p:nvSpPr>
            <p:spPr>
              <a:xfrm>
                <a:off x="279007" y="321902"/>
                <a:ext cx="230419" cy="75541"/>
              </a:xfrm>
              <a:custGeom>
                <a:avLst/>
                <a:gdLst/>
                <a:ahLst/>
                <a:cxnLst>
                  <a:cxn ang="0">
                    <a:pos x="wd2" y="hd2"/>
                  </a:cxn>
                  <a:cxn ang="5400000">
                    <a:pos x="wd2" y="hd2"/>
                  </a:cxn>
                  <a:cxn ang="10800000">
                    <a:pos x="wd2" y="hd2"/>
                  </a:cxn>
                  <a:cxn ang="16200000">
                    <a:pos x="wd2" y="hd2"/>
                  </a:cxn>
                </a:cxnLst>
                <a:rect l="0" t="0" r="r" b="b"/>
                <a:pathLst>
                  <a:path w="21600" h="21600" extrusionOk="0">
                    <a:moveTo>
                      <a:pt x="21600" y="7971"/>
                    </a:moveTo>
                    <a:cubicBezTo>
                      <a:pt x="21600" y="3600"/>
                      <a:pt x="20423" y="0"/>
                      <a:pt x="18995" y="0"/>
                    </a:cubicBezTo>
                    <a:cubicBezTo>
                      <a:pt x="2605" y="0"/>
                      <a:pt x="2605" y="0"/>
                      <a:pt x="2605" y="0"/>
                    </a:cubicBezTo>
                    <a:cubicBezTo>
                      <a:pt x="1177" y="0"/>
                      <a:pt x="0" y="3600"/>
                      <a:pt x="0" y="7971"/>
                    </a:cubicBezTo>
                    <a:cubicBezTo>
                      <a:pt x="0" y="21600"/>
                      <a:pt x="0" y="21600"/>
                      <a:pt x="0" y="21600"/>
                    </a:cubicBezTo>
                    <a:cubicBezTo>
                      <a:pt x="21600" y="21600"/>
                      <a:pt x="21600" y="21600"/>
                      <a:pt x="21600" y="21600"/>
                    </a:cubicBezTo>
                    <a:lnTo>
                      <a:pt x="21600" y="7971"/>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236" name="Shape 890"/>
              <p:cNvSpPr/>
              <p:nvPr/>
            </p:nvSpPr>
            <p:spPr>
              <a:xfrm>
                <a:off x="279007" y="429708"/>
                <a:ext cx="230419" cy="80477"/>
              </a:xfrm>
              <a:custGeom>
                <a:avLst/>
                <a:gdLst/>
                <a:ahLst/>
                <a:cxnLst>
                  <a:cxn ang="0">
                    <a:pos x="wd2" y="hd2"/>
                  </a:cxn>
                  <a:cxn ang="5400000">
                    <a:pos x="wd2" y="hd2"/>
                  </a:cxn>
                  <a:cxn ang="10800000">
                    <a:pos x="wd2" y="hd2"/>
                  </a:cxn>
                  <a:cxn ang="16200000">
                    <a:pos x="wd2" y="hd2"/>
                  </a:cxn>
                </a:cxnLst>
                <a:rect l="0" t="0" r="r" b="b"/>
                <a:pathLst>
                  <a:path w="21600" h="21600" extrusionOk="0">
                    <a:moveTo>
                      <a:pt x="0" y="14160"/>
                    </a:moveTo>
                    <a:cubicBezTo>
                      <a:pt x="0" y="18240"/>
                      <a:pt x="1177" y="21600"/>
                      <a:pt x="2605" y="21600"/>
                    </a:cubicBezTo>
                    <a:cubicBezTo>
                      <a:pt x="18995" y="21600"/>
                      <a:pt x="18995" y="21600"/>
                      <a:pt x="18995" y="21600"/>
                    </a:cubicBezTo>
                    <a:cubicBezTo>
                      <a:pt x="20423" y="21600"/>
                      <a:pt x="21600" y="18240"/>
                      <a:pt x="21600" y="14160"/>
                    </a:cubicBezTo>
                    <a:cubicBezTo>
                      <a:pt x="21600" y="0"/>
                      <a:pt x="21600" y="0"/>
                      <a:pt x="21600" y="0"/>
                    </a:cubicBezTo>
                    <a:cubicBezTo>
                      <a:pt x="0" y="0"/>
                      <a:pt x="0" y="0"/>
                      <a:pt x="0" y="0"/>
                    </a:cubicBezTo>
                    <a:lnTo>
                      <a:pt x="0" y="1416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grpSp>
        <p:grpSp>
          <p:nvGrpSpPr>
            <p:cNvPr id="143" name="Group 142">
              <a:extLst>
                <a:ext uri="{C183D7F6-B498-43B3-948B-1728B52AA6E4}">
                  <adec:decorative xmlns:adec="http://schemas.microsoft.com/office/drawing/2017/decorative" val="1"/>
                </a:ext>
              </a:extLst>
            </p:cNvPr>
            <p:cNvGrpSpPr/>
            <p:nvPr/>
          </p:nvGrpSpPr>
          <p:grpSpPr>
            <a:xfrm>
              <a:off x="6823976" y="4934574"/>
              <a:ext cx="3197380" cy="408190"/>
              <a:chOff x="4839156" y="3304805"/>
              <a:chExt cx="2669764" cy="357539"/>
            </a:xfrm>
            <a:solidFill>
              <a:schemeClr val="bg1"/>
            </a:solidFill>
          </p:grpSpPr>
          <p:sp>
            <p:nvSpPr>
              <p:cNvPr id="144" name="TextBox 143"/>
              <p:cNvSpPr txBox="1"/>
              <p:nvPr/>
            </p:nvSpPr>
            <p:spPr>
              <a:xfrm>
                <a:off x="4839156" y="3304805"/>
                <a:ext cx="1138618" cy="296544"/>
              </a:xfrm>
              <a:prstGeom prst="rect">
                <a:avLst/>
              </a:prstGeom>
              <a:grpFill/>
            </p:spPr>
            <p:txBody>
              <a:bodyPr wrap="square" rtlCol="0">
                <a:spAutoFit/>
              </a:bodyPr>
              <a:lstStyle/>
              <a:p>
                <a:pPr defTabSz="609585" fontAlgn="base">
                  <a:spcBef>
                    <a:spcPct val="0"/>
                  </a:spcBef>
                  <a:spcAft>
                    <a:spcPct val="0"/>
                  </a:spcAft>
                </a:pPr>
                <a:r>
                  <a:rPr lang="en-US" sz="1600" dirty="0">
                    <a:solidFill>
                      <a:srgbClr val="636466"/>
                    </a:solidFill>
                    <a:cs typeface="Arial"/>
                  </a:rPr>
                  <a:t>Networking</a:t>
                </a:r>
              </a:p>
            </p:txBody>
          </p:sp>
          <p:grpSp>
            <p:nvGrpSpPr>
              <p:cNvPr id="145" name="Group 918"/>
              <p:cNvGrpSpPr/>
              <p:nvPr/>
            </p:nvGrpSpPr>
            <p:grpSpPr>
              <a:xfrm>
                <a:off x="7291580" y="3440220"/>
                <a:ext cx="217340" cy="222124"/>
                <a:chOff x="102960" y="55789"/>
                <a:chExt cx="721180" cy="737054"/>
              </a:xfrm>
              <a:grpFill/>
            </p:grpSpPr>
            <p:sp>
              <p:nvSpPr>
                <p:cNvPr id="146" name="Shape 893"/>
                <p:cNvSpPr/>
                <p:nvPr/>
              </p:nvSpPr>
              <p:spPr>
                <a:xfrm>
                  <a:off x="678542" y="526142"/>
                  <a:ext cx="145598" cy="266701"/>
                </a:xfrm>
                <a:custGeom>
                  <a:avLst/>
                  <a:gdLst/>
                  <a:ahLst/>
                  <a:cxnLst>
                    <a:cxn ang="0">
                      <a:pos x="wd2" y="hd2"/>
                    </a:cxn>
                    <a:cxn ang="5400000">
                      <a:pos x="wd2" y="hd2"/>
                    </a:cxn>
                    <a:cxn ang="10800000">
                      <a:pos x="wd2" y="hd2"/>
                    </a:cxn>
                    <a:cxn ang="16200000">
                      <a:pos x="wd2" y="hd2"/>
                    </a:cxn>
                  </a:cxnLst>
                  <a:rect l="0" t="0" r="r" b="b"/>
                  <a:pathLst>
                    <a:path w="21600" h="21600" extrusionOk="0">
                      <a:moveTo>
                        <a:pt x="20647" y="87"/>
                      </a:moveTo>
                      <a:cubicBezTo>
                        <a:pt x="20488" y="0"/>
                        <a:pt x="20171" y="0"/>
                        <a:pt x="20012" y="0"/>
                      </a:cubicBezTo>
                      <a:cubicBezTo>
                        <a:pt x="19694" y="0"/>
                        <a:pt x="19376" y="0"/>
                        <a:pt x="19059" y="173"/>
                      </a:cubicBezTo>
                      <a:cubicBezTo>
                        <a:pt x="794" y="7027"/>
                        <a:pt x="794" y="7027"/>
                        <a:pt x="794" y="7027"/>
                      </a:cubicBezTo>
                      <a:cubicBezTo>
                        <a:pt x="318" y="7200"/>
                        <a:pt x="0" y="7460"/>
                        <a:pt x="0" y="7720"/>
                      </a:cubicBezTo>
                      <a:cubicBezTo>
                        <a:pt x="0" y="20733"/>
                        <a:pt x="0" y="20733"/>
                        <a:pt x="0" y="20733"/>
                      </a:cubicBezTo>
                      <a:cubicBezTo>
                        <a:pt x="0" y="21080"/>
                        <a:pt x="476" y="21340"/>
                        <a:pt x="953" y="21513"/>
                      </a:cubicBezTo>
                      <a:cubicBezTo>
                        <a:pt x="1112" y="21600"/>
                        <a:pt x="1429" y="21600"/>
                        <a:pt x="1747" y="21600"/>
                      </a:cubicBezTo>
                      <a:cubicBezTo>
                        <a:pt x="2065" y="21600"/>
                        <a:pt x="2224" y="21513"/>
                        <a:pt x="2541" y="21427"/>
                      </a:cubicBezTo>
                      <a:cubicBezTo>
                        <a:pt x="20806" y="14660"/>
                        <a:pt x="20806" y="14660"/>
                        <a:pt x="20806" y="14660"/>
                      </a:cubicBezTo>
                      <a:cubicBezTo>
                        <a:pt x="21282" y="14487"/>
                        <a:pt x="21600" y="14227"/>
                        <a:pt x="21600" y="13880"/>
                      </a:cubicBezTo>
                      <a:cubicBezTo>
                        <a:pt x="21600" y="867"/>
                        <a:pt x="21600" y="867"/>
                        <a:pt x="21600" y="867"/>
                      </a:cubicBezTo>
                      <a:cubicBezTo>
                        <a:pt x="21600" y="520"/>
                        <a:pt x="21282" y="260"/>
                        <a:pt x="20647" y="87"/>
                      </a:cubicBezTo>
                      <a:close/>
                      <a:moveTo>
                        <a:pt x="20012" y="13880"/>
                      </a:moveTo>
                      <a:cubicBezTo>
                        <a:pt x="1747" y="20733"/>
                        <a:pt x="1747" y="20733"/>
                        <a:pt x="1747" y="20733"/>
                      </a:cubicBezTo>
                      <a:cubicBezTo>
                        <a:pt x="1747" y="7720"/>
                        <a:pt x="1747" y="7720"/>
                        <a:pt x="1747" y="7720"/>
                      </a:cubicBezTo>
                      <a:cubicBezTo>
                        <a:pt x="20012" y="867"/>
                        <a:pt x="20012" y="867"/>
                        <a:pt x="20012" y="867"/>
                      </a:cubicBezTo>
                      <a:lnTo>
                        <a:pt x="20012" y="1388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147" name="Shape 900"/>
                <p:cNvSpPr/>
                <p:nvPr/>
              </p:nvSpPr>
              <p:spPr>
                <a:xfrm>
                  <a:off x="268967" y="137432"/>
                  <a:ext cx="128816" cy="235404"/>
                </a:xfrm>
                <a:custGeom>
                  <a:avLst/>
                  <a:gdLst/>
                  <a:ahLst/>
                  <a:cxnLst>
                    <a:cxn ang="0">
                      <a:pos x="wd2" y="hd2"/>
                    </a:cxn>
                    <a:cxn ang="5400000">
                      <a:pos x="wd2" y="hd2"/>
                    </a:cxn>
                    <a:cxn ang="10800000">
                      <a:pos x="wd2" y="hd2"/>
                    </a:cxn>
                    <a:cxn ang="16200000">
                      <a:pos x="wd2" y="hd2"/>
                    </a:cxn>
                  </a:cxnLst>
                  <a:rect l="0" t="0" r="r" b="b"/>
                  <a:pathLst>
                    <a:path w="21600" h="21600" extrusionOk="0">
                      <a:moveTo>
                        <a:pt x="20700" y="98"/>
                      </a:moveTo>
                      <a:cubicBezTo>
                        <a:pt x="20520" y="0"/>
                        <a:pt x="20160" y="0"/>
                        <a:pt x="19980" y="0"/>
                      </a:cubicBezTo>
                      <a:cubicBezTo>
                        <a:pt x="19620" y="0"/>
                        <a:pt x="19260" y="0"/>
                        <a:pt x="19080" y="98"/>
                      </a:cubicBezTo>
                      <a:cubicBezTo>
                        <a:pt x="720" y="6971"/>
                        <a:pt x="720" y="6971"/>
                        <a:pt x="720" y="6971"/>
                      </a:cubicBezTo>
                      <a:cubicBezTo>
                        <a:pt x="360" y="7167"/>
                        <a:pt x="0" y="7462"/>
                        <a:pt x="0" y="7658"/>
                      </a:cubicBezTo>
                      <a:cubicBezTo>
                        <a:pt x="0" y="20716"/>
                        <a:pt x="0" y="20716"/>
                        <a:pt x="0" y="20716"/>
                      </a:cubicBezTo>
                      <a:cubicBezTo>
                        <a:pt x="0" y="21011"/>
                        <a:pt x="360" y="21305"/>
                        <a:pt x="900" y="21502"/>
                      </a:cubicBezTo>
                      <a:cubicBezTo>
                        <a:pt x="1080" y="21502"/>
                        <a:pt x="1440" y="21600"/>
                        <a:pt x="1620" y="21600"/>
                      </a:cubicBezTo>
                      <a:cubicBezTo>
                        <a:pt x="1980" y="21600"/>
                        <a:pt x="2340" y="21502"/>
                        <a:pt x="2520" y="21404"/>
                      </a:cubicBezTo>
                      <a:cubicBezTo>
                        <a:pt x="20880" y="14629"/>
                        <a:pt x="20880" y="14629"/>
                        <a:pt x="20880" y="14629"/>
                      </a:cubicBezTo>
                      <a:cubicBezTo>
                        <a:pt x="21240" y="14433"/>
                        <a:pt x="21600" y="14138"/>
                        <a:pt x="21600" y="13844"/>
                      </a:cubicBezTo>
                      <a:cubicBezTo>
                        <a:pt x="21600" y="785"/>
                        <a:pt x="21600" y="785"/>
                        <a:pt x="21600" y="785"/>
                      </a:cubicBezTo>
                      <a:cubicBezTo>
                        <a:pt x="21600" y="491"/>
                        <a:pt x="21240" y="196"/>
                        <a:pt x="20700" y="98"/>
                      </a:cubicBezTo>
                      <a:close/>
                      <a:moveTo>
                        <a:pt x="19980" y="13844"/>
                      </a:moveTo>
                      <a:cubicBezTo>
                        <a:pt x="1620" y="20716"/>
                        <a:pt x="1620" y="20716"/>
                        <a:pt x="1620" y="20716"/>
                      </a:cubicBezTo>
                      <a:cubicBezTo>
                        <a:pt x="1620" y="7658"/>
                        <a:pt x="1620" y="7658"/>
                        <a:pt x="1620" y="7658"/>
                      </a:cubicBezTo>
                      <a:cubicBezTo>
                        <a:pt x="19980" y="785"/>
                        <a:pt x="19980" y="785"/>
                        <a:pt x="19980" y="785"/>
                      </a:cubicBezTo>
                      <a:lnTo>
                        <a:pt x="19980" y="13844"/>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148" name="Shape 901"/>
                <p:cNvSpPr/>
                <p:nvPr/>
              </p:nvSpPr>
              <p:spPr>
                <a:xfrm>
                  <a:off x="276678" y="142875"/>
                  <a:ext cx="113394" cy="22361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14152"/>
                      </a:lnTo>
                      <a:lnTo>
                        <a:pt x="21600" y="0"/>
                      </a:lnTo>
                      <a:lnTo>
                        <a:pt x="0" y="7448"/>
                      </a:lnTo>
                      <a:lnTo>
                        <a:pt x="0" y="2160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149" name="Shape 902"/>
                <p:cNvSpPr/>
                <p:nvPr/>
              </p:nvSpPr>
              <p:spPr>
                <a:xfrm>
                  <a:off x="109310" y="55789"/>
                  <a:ext cx="270444" cy="146958"/>
                </a:xfrm>
                <a:custGeom>
                  <a:avLst/>
                  <a:gdLst/>
                  <a:ahLst/>
                  <a:cxnLst>
                    <a:cxn ang="0">
                      <a:pos x="wd2" y="hd2"/>
                    </a:cxn>
                    <a:cxn ang="5400000">
                      <a:pos x="wd2" y="hd2"/>
                    </a:cxn>
                    <a:cxn ang="10800000">
                      <a:pos x="wd2" y="hd2"/>
                    </a:cxn>
                    <a:cxn ang="16200000">
                      <a:pos x="wd2" y="hd2"/>
                    </a:cxn>
                  </a:cxnLst>
                  <a:rect l="0" t="0" r="r" b="b"/>
                  <a:pathLst>
                    <a:path w="21537" h="21600" extrusionOk="0">
                      <a:moveTo>
                        <a:pt x="21515" y="8987"/>
                      </a:moveTo>
                      <a:cubicBezTo>
                        <a:pt x="21515" y="8514"/>
                        <a:pt x="21344" y="8041"/>
                        <a:pt x="21088" y="7883"/>
                      </a:cubicBezTo>
                      <a:cubicBezTo>
                        <a:pt x="10245" y="158"/>
                        <a:pt x="10245" y="158"/>
                        <a:pt x="10245" y="158"/>
                      </a:cubicBezTo>
                      <a:cubicBezTo>
                        <a:pt x="10160" y="0"/>
                        <a:pt x="9989" y="0"/>
                        <a:pt x="9904" y="0"/>
                      </a:cubicBezTo>
                      <a:cubicBezTo>
                        <a:pt x="9818" y="0"/>
                        <a:pt x="9647" y="0"/>
                        <a:pt x="9562" y="158"/>
                      </a:cubicBezTo>
                      <a:cubicBezTo>
                        <a:pt x="342" y="11036"/>
                        <a:pt x="342" y="11036"/>
                        <a:pt x="342" y="11036"/>
                      </a:cubicBezTo>
                      <a:cubicBezTo>
                        <a:pt x="85" y="11352"/>
                        <a:pt x="0" y="11825"/>
                        <a:pt x="0" y="12298"/>
                      </a:cubicBezTo>
                      <a:cubicBezTo>
                        <a:pt x="85" y="12928"/>
                        <a:pt x="256" y="13244"/>
                        <a:pt x="512" y="13559"/>
                      </a:cubicBezTo>
                      <a:cubicBezTo>
                        <a:pt x="11782" y="21600"/>
                        <a:pt x="11782" y="21600"/>
                        <a:pt x="11782" y="21600"/>
                      </a:cubicBezTo>
                      <a:cubicBezTo>
                        <a:pt x="11867" y="21600"/>
                        <a:pt x="11953" y="21600"/>
                        <a:pt x="12123" y="21600"/>
                      </a:cubicBezTo>
                      <a:cubicBezTo>
                        <a:pt x="12209" y="21600"/>
                        <a:pt x="12379" y="21600"/>
                        <a:pt x="12550" y="21442"/>
                      </a:cubicBezTo>
                      <a:cubicBezTo>
                        <a:pt x="21173" y="10406"/>
                        <a:pt x="21173" y="10406"/>
                        <a:pt x="21173" y="10406"/>
                      </a:cubicBezTo>
                      <a:cubicBezTo>
                        <a:pt x="21429" y="10091"/>
                        <a:pt x="21600" y="9618"/>
                        <a:pt x="21515" y="8987"/>
                      </a:cubicBezTo>
                      <a:close/>
                      <a:moveTo>
                        <a:pt x="12123" y="20181"/>
                      </a:moveTo>
                      <a:cubicBezTo>
                        <a:pt x="768" y="12140"/>
                        <a:pt x="768" y="12140"/>
                        <a:pt x="768" y="12140"/>
                      </a:cubicBezTo>
                      <a:cubicBezTo>
                        <a:pt x="9904" y="1419"/>
                        <a:pt x="9904" y="1419"/>
                        <a:pt x="9904" y="1419"/>
                      </a:cubicBezTo>
                      <a:cubicBezTo>
                        <a:pt x="20746" y="9145"/>
                        <a:pt x="20746" y="9145"/>
                        <a:pt x="20746" y="9145"/>
                      </a:cubicBezTo>
                      <a:lnTo>
                        <a:pt x="12123" y="20181"/>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150" name="Shape 903"/>
                <p:cNvSpPr/>
                <p:nvPr/>
              </p:nvSpPr>
              <p:spPr>
                <a:xfrm>
                  <a:off x="117021" y="64407"/>
                  <a:ext cx="255815" cy="130629"/>
                </a:xfrm>
                <a:custGeom>
                  <a:avLst/>
                  <a:gdLst/>
                  <a:ahLst/>
                  <a:cxnLst>
                    <a:cxn ang="0">
                      <a:pos x="wd2" y="hd2"/>
                    </a:cxn>
                    <a:cxn ang="5400000">
                      <a:pos x="wd2" y="hd2"/>
                    </a:cxn>
                    <a:cxn ang="10800000">
                      <a:pos x="wd2" y="hd2"/>
                    </a:cxn>
                    <a:cxn ang="16200000">
                      <a:pos x="wd2" y="hd2"/>
                    </a:cxn>
                  </a:cxnLst>
                  <a:rect l="0" t="0" r="r" b="b"/>
                  <a:pathLst>
                    <a:path w="21600" h="21600" extrusionOk="0">
                      <a:moveTo>
                        <a:pt x="0" y="12450"/>
                      </a:moveTo>
                      <a:lnTo>
                        <a:pt x="12217" y="21600"/>
                      </a:lnTo>
                      <a:lnTo>
                        <a:pt x="21600" y="8850"/>
                      </a:lnTo>
                      <a:lnTo>
                        <a:pt x="9843" y="0"/>
                      </a:lnTo>
                      <a:lnTo>
                        <a:pt x="0" y="1245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151" name="Shape 904"/>
                <p:cNvSpPr/>
                <p:nvPr/>
              </p:nvSpPr>
              <p:spPr>
                <a:xfrm>
                  <a:off x="102960" y="158750"/>
                  <a:ext cx="154216" cy="217715"/>
                </a:xfrm>
                <a:custGeom>
                  <a:avLst/>
                  <a:gdLst/>
                  <a:ahLst/>
                  <a:cxnLst>
                    <a:cxn ang="0">
                      <a:pos x="wd2" y="hd2"/>
                    </a:cxn>
                    <a:cxn ang="5400000">
                      <a:pos x="wd2" y="hd2"/>
                    </a:cxn>
                    <a:cxn ang="10800000">
                      <a:pos x="wd2" y="hd2"/>
                    </a:cxn>
                    <a:cxn ang="16200000">
                      <a:pos x="wd2" y="hd2"/>
                    </a:cxn>
                  </a:cxnLst>
                  <a:rect l="0" t="0" r="r" b="b"/>
                  <a:pathLst>
                    <a:path w="21600" h="21600" extrusionOk="0">
                      <a:moveTo>
                        <a:pt x="20700" y="5320"/>
                      </a:moveTo>
                      <a:cubicBezTo>
                        <a:pt x="1800" y="106"/>
                        <a:pt x="1800" y="106"/>
                        <a:pt x="1800" y="106"/>
                      </a:cubicBezTo>
                      <a:cubicBezTo>
                        <a:pt x="1650" y="0"/>
                        <a:pt x="1500" y="0"/>
                        <a:pt x="1350" y="0"/>
                      </a:cubicBezTo>
                      <a:cubicBezTo>
                        <a:pt x="1050" y="0"/>
                        <a:pt x="750" y="106"/>
                        <a:pt x="600" y="213"/>
                      </a:cubicBezTo>
                      <a:cubicBezTo>
                        <a:pt x="150" y="319"/>
                        <a:pt x="0" y="638"/>
                        <a:pt x="0" y="958"/>
                      </a:cubicBezTo>
                      <a:cubicBezTo>
                        <a:pt x="0" y="15535"/>
                        <a:pt x="0" y="15535"/>
                        <a:pt x="0" y="15535"/>
                      </a:cubicBezTo>
                      <a:cubicBezTo>
                        <a:pt x="0" y="15854"/>
                        <a:pt x="300" y="16280"/>
                        <a:pt x="750" y="16386"/>
                      </a:cubicBezTo>
                      <a:cubicBezTo>
                        <a:pt x="19800" y="21600"/>
                        <a:pt x="19800" y="21600"/>
                        <a:pt x="19800" y="21600"/>
                      </a:cubicBezTo>
                      <a:cubicBezTo>
                        <a:pt x="19950" y="21600"/>
                        <a:pt x="20100" y="21600"/>
                        <a:pt x="20250" y="21600"/>
                      </a:cubicBezTo>
                      <a:cubicBezTo>
                        <a:pt x="20550" y="21600"/>
                        <a:pt x="20700" y="21600"/>
                        <a:pt x="21000" y="21494"/>
                      </a:cubicBezTo>
                      <a:cubicBezTo>
                        <a:pt x="21300" y="21281"/>
                        <a:pt x="21600" y="21068"/>
                        <a:pt x="21600" y="20749"/>
                      </a:cubicBezTo>
                      <a:cubicBezTo>
                        <a:pt x="21600" y="6278"/>
                        <a:pt x="21600" y="6278"/>
                        <a:pt x="21600" y="6278"/>
                      </a:cubicBezTo>
                      <a:cubicBezTo>
                        <a:pt x="21600" y="5852"/>
                        <a:pt x="21300" y="5533"/>
                        <a:pt x="20700" y="5320"/>
                      </a:cubicBezTo>
                      <a:close/>
                      <a:moveTo>
                        <a:pt x="20250" y="20749"/>
                      </a:moveTo>
                      <a:cubicBezTo>
                        <a:pt x="1350" y="15535"/>
                        <a:pt x="1350" y="15535"/>
                        <a:pt x="1350" y="15535"/>
                      </a:cubicBezTo>
                      <a:cubicBezTo>
                        <a:pt x="1350" y="958"/>
                        <a:pt x="1350" y="958"/>
                        <a:pt x="1350" y="958"/>
                      </a:cubicBezTo>
                      <a:cubicBezTo>
                        <a:pt x="20250" y="6278"/>
                        <a:pt x="20250" y="6278"/>
                        <a:pt x="20250" y="6278"/>
                      </a:cubicBezTo>
                      <a:lnTo>
                        <a:pt x="20250" y="20749"/>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152" name="Shape 906"/>
                <p:cNvSpPr/>
                <p:nvPr/>
              </p:nvSpPr>
              <p:spPr>
                <a:xfrm>
                  <a:off x="112485" y="60324"/>
                  <a:ext cx="121105" cy="128362"/>
                </a:xfrm>
                <a:custGeom>
                  <a:avLst/>
                  <a:gdLst/>
                  <a:ahLst/>
                  <a:cxnLst>
                    <a:cxn ang="0">
                      <a:pos x="wd2" y="hd2"/>
                    </a:cxn>
                    <a:cxn ang="5400000">
                      <a:pos x="wd2" y="hd2"/>
                    </a:cxn>
                    <a:cxn ang="10800000">
                      <a:pos x="wd2" y="hd2"/>
                    </a:cxn>
                    <a:cxn ang="16200000">
                      <a:pos x="wd2" y="hd2"/>
                    </a:cxn>
                  </a:cxnLst>
                  <a:rect l="0" t="0" r="r" b="b"/>
                  <a:pathLst>
                    <a:path w="21600" h="21600" extrusionOk="0">
                      <a:moveTo>
                        <a:pt x="21600" y="153"/>
                      </a:moveTo>
                      <a:lnTo>
                        <a:pt x="21600" y="21600"/>
                      </a:lnTo>
                      <a:lnTo>
                        <a:pt x="809" y="14044"/>
                      </a:lnTo>
                      <a:lnTo>
                        <a:pt x="0" y="12975"/>
                      </a:lnTo>
                      <a:lnTo>
                        <a:pt x="21438" y="0"/>
                      </a:lnTo>
                      <a:lnTo>
                        <a:pt x="21600" y="153"/>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222" name="Shape 907"/>
                <p:cNvSpPr/>
                <p:nvPr/>
              </p:nvSpPr>
              <p:spPr>
                <a:xfrm>
                  <a:off x="342900" y="643164"/>
                  <a:ext cx="99786" cy="71665"/>
                </a:xfrm>
                <a:custGeom>
                  <a:avLst/>
                  <a:gdLst/>
                  <a:ahLst/>
                  <a:cxnLst>
                    <a:cxn ang="0">
                      <a:pos x="wd2" y="hd2"/>
                    </a:cxn>
                    <a:cxn ang="5400000">
                      <a:pos x="wd2" y="hd2"/>
                    </a:cxn>
                    <a:cxn ang="10800000">
                      <a:pos x="wd2" y="hd2"/>
                    </a:cxn>
                    <a:cxn ang="16200000">
                      <a:pos x="wd2" y="hd2"/>
                    </a:cxn>
                  </a:cxnLst>
                  <a:rect l="0" t="0" r="r" b="b"/>
                  <a:pathLst>
                    <a:path w="21600" h="21600" extrusionOk="0">
                      <a:moveTo>
                        <a:pt x="10452" y="15797"/>
                      </a:moveTo>
                      <a:cubicBezTo>
                        <a:pt x="8361" y="15797"/>
                        <a:pt x="6735" y="13540"/>
                        <a:pt x="6735" y="10961"/>
                      </a:cubicBezTo>
                      <a:cubicBezTo>
                        <a:pt x="6735" y="8060"/>
                        <a:pt x="8361" y="5803"/>
                        <a:pt x="10452" y="5803"/>
                      </a:cubicBezTo>
                      <a:cubicBezTo>
                        <a:pt x="21600" y="5803"/>
                        <a:pt x="21600" y="5803"/>
                        <a:pt x="21600" y="5803"/>
                      </a:cubicBezTo>
                      <a:cubicBezTo>
                        <a:pt x="21600" y="0"/>
                        <a:pt x="21600" y="0"/>
                        <a:pt x="21600" y="0"/>
                      </a:cubicBezTo>
                      <a:cubicBezTo>
                        <a:pt x="3716" y="0"/>
                        <a:pt x="3716" y="0"/>
                        <a:pt x="3716" y="0"/>
                      </a:cubicBezTo>
                      <a:cubicBezTo>
                        <a:pt x="1626" y="0"/>
                        <a:pt x="0" y="2257"/>
                        <a:pt x="0" y="5158"/>
                      </a:cubicBezTo>
                      <a:cubicBezTo>
                        <a:pt x="0" y="16442"/>
                        <a:pt x="0" y="16442"/>
                        <a:pt x="0" y="16442"/>
                      </a:cubicBezTo>
                      <a:cubicBezTo>
                        <a:pt x="0" y="19343"/>
                        <a:pt x="1626" y="21600"/>
                        <a:pt x="3716" y="21600"/>
                      </a:cubicBezTo>
                      <a:cubicBezTo>
                        <a:pt x="21600" y="21600"/>
                        <a:pt x="21600" y="21600"/>
                        <a:pt x="21600" y="21600"/>
                      </a:cubicBezTo>
                      <a:cubicBezTo>
                        <a:pt x="21600" y="15797"/>
                        <a:pt x="21600" y="15797"/>
                        <a:pt x="21600" y="15797"/>
                      </a:cubicBezTo>
                      <a:lnTo>
                        <a:pt x="10452" y="15797"/>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223" name="Shape 908"/>
                <p:cNvSpPr/>
                <p:nvPr/>
              </p:nvSpPr>
              <p:spPr>
                <a:xfrm>
                  <a:off x="382814" y="669925"/>
                  <a:ext cx="59872" cy="18143"/>
                </a:xfrm>
                <a:custGeom>
                  <a:avLst/>
                  <a:gdLst/>
                  <a:ahLst/>
                  <a:cxnLst>
                    <a:cxn ang="0">
                      <a:pos x="wd2" y="hd2"/>
                    </a:cxn>
                    <a:cxn ang="5400000">
                      <a:pos x="wd2" y="hd2"/>
                    </a:cxn>
                    <a:cxn ang="10800000">
                      <a:pos x="wd2" y="hd2"/>
                    </a:cxn>
                    <a:cxn ang="16200000">
                      <a:pos x="wd2" y="hd2"/>
                    </a:cxn>
                  </a:cxnLst>
                  <a:rect l="0" t="0" r="r" b="b"/>
                  <a:pathLst>
                    <a:path w="21600" h="21600" extrusionOk="0">
                      <a:moveTo>
                        <a:pt x="0" y="11435"/>
                      </a:moveTo>
                      <a:cubicBezTo>
                        <a:pt x="0" y="16518"/>
                        <a:pt x="1157" y="21600"/>
                        <a:pt x="3086" y="21600"/>
                      </a:cubicBezTo>
                      <a:cubicBezTo>
                        <a:pt x="21600" y="21600"/>
                        <a:pt x="21600" y="21600"/>
                        <a:pt x="21600" y="21600"/>
                      </a:cubicBezTo>
                      <a:cubicBezTo>
                        <a:pt x="21600" y="0"/>
                        <a:pt x="21600" y="0"/>
                        <a:pt x="21600" y="0"/>
                      </a:cubicBezTo>
                      <a:cubicBezTo>
                        <a:pt x="3086" y="0"/>
                        <a:pt x="3086" y="0"/>
                        <a:pt x="3086" y="0"/>
                      </a:cubicBezTo>
                      <a:cubicBezTo>
                        <a:pt x="1157" y="0"/>
                        <a:pt x="0" y="5082"/>
                        <a:pt x="0" y="11435"/>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224" name="Shape 909"/>
                <p:cNvSpPr/>
                <p:nvPr/>
              </p:nvSpPr>
              <p:spPr>
                <a:xfrm>
                  <a:off x="446767" y="653596"/>
                  <a:ext cx="14062" cy="50347"/>
                </a:xfrm>
                <a:prstGeom prst="rect">
                  <a:avLst/>
                </a:pr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225" name="Shape 910"/>
                <p:cNvSpPr/>
                <p:nvPr/>
              </p:nvSpPr>
              <p:spPr>
                <a:xfrm>
                  <a:off x="324757" y="664482"/>
                  <a:ext cx="12701" cy="29029"/>
                </a:xfrm>
                <a:prstGeom prst="rect">
                  <a:avLst/>
                </a:pr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226" name="Shape 911"/>
                <p:cNvSpPr/>
                <p:nvPr/>
              </p:nvSpPr>
              <p:spPr>
                <a:xfrm>
                  <a:off x="306614" y="664482"/>
                  <a:ext cx="14061" cy="29029"/>
                </a:xfrm>
                <a:prstGeom prst="rect">
                  <a:avLst/>
                </a:pr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227" name="Shape 912"/>
                <p:cNvSpPr/>
                <p:nvPr/>
              </p:nvSpPr>
              <p:spPr>
                <a:xfrm>
                  <a:off x="449035" y="194128"/>
                  <a:ext cx="98426" cy="70758"/>
                </a:xfrm>
                <a:custGeom>
                  <a:avLst/>
                  <a:gdLst/>
                  <a:ahLst/>
                  <a:cxnLst>
                    <a:cxn ang="0">
                      <a:pos x="wd2" y="hd2"/>
                    </a:cxn>
                    <a:cxn ang="5400000">
                      <a:pos x="wd2" y="hd2"/>
                    </a:cxn>
                    <a:cxn ang="10800000">
                      <a:pos x="wd2" y="hd2"/>
                    </a:cxn>
                    <a:cxn ang="16200000">
                      <a:pos x="wd2" y="hd2"/>
                    </a:cxn>
                  </a:cxnLst>
                  <a:rect l="0" t="0" r="r" b="b"/>
                  <a:pathLst>
                    <a:path w="21600" h="21600" extrusionOk="0">
                      <a:moveTo>
                        <a:pt x="11270" y="5891"/>
                      </a:moveTo>
                      <a:cubicBezTo>
                        <a:pt x="13148" y="5891"/>
                        <a:pt x="14791" y="8182"/>
                        <a:pt x="14791" y="10800"/>
                      </a:cubicBezTo>
                      <a:cubicBezTo>
                        <a:pt x="14791" y="13418"/>
                        <a:pt x="13148" y="15709"/>
                        <a:pt x="11270" y="15709"/>
                      </a:cubicBezTo>
                      <a:cubicBezTo>
                        <a:pt x="0" y="15709"/>
                        <a:pt x="0" y="15709"/>
                        <a:pt x="0" y="15709"/>
                      </a:cubicBezTo>
                      <a:cubicBezTo>
                        <a:pt x="0" y="21600"/>
                        <a:pt x="0" y="21600"/>
                        <a:pt x="0" y="21600"/>
                      </a:cubicBezTo>
                      <a:cubicBezTo>
                        <a:pt x="17843" y="21600"/>
                        <a:pt x="17843" y="21600"/>
                        <a:pt x="17843" y="21600"/>
                      </a:cubicBezTo>
                      <a:cubicBezTo>
                        <a:pt x="19957" y="21600"/>
                        <a:pt x="21600" y="19309"/>
                        <a:pt x="21600" y="16691"/>
                      </a:cubicBezTo>
                      <a:cubicBezTo>
                        <a:pt x="21600" y="4909"/>
                        <a:pt x="21600" y="4909"/>
                        <a:pt x="21600" y="4909"/>
                      </a:cubicBezTo>
                      <a:cubicBezTo>
                        <a:pt x="21600" y="2291"/>
                        <a:pt x="19957" y="0"/>
                        <a:pt x="17843" y="0"/>
                      </a:cubicBezTo>
                      <a:cubicBezTo>
                        <a:pt x="0" y="0"/>
                        <a:pt x="0" y="0"/>
                        <a:pt x="0" y="0"/>
                      </a:cubicBezTo>
                      <a:cubicBezTo>
                        <a:pt x="0" y="5891"/>
                        <a:pt x="0" y="5891"/>
                        <a:pt x="0" y="5891"/>
                      </a:cubicBezTo>
                      <a:lnTo>
                        <a:pt x="11270" y="5891"/>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228" name="Shape 913"/>
                <p:cNvSpPr/>
                <p:nvPr/>
              </p:nvSpPr>
              <p:spPr>
                <a:xfrm>
                  <a:off x="449035" y="220889"/>
                  <a:ext cx="59873" cy="17236"/>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5400"/>
                        <a:pt x="20057" y="0"/>
                        <a:pt x="18514" y="0"/>
                      </a:cubicBezTo>
                      <a:cubicBezTo>
                        <a:pt x="0" y="0"/>
                        <a:pt x="0" y="0"/>
                        <a:pt x="0" y="0"/>
                      </a:cubicBezTo>
                      <a:cubicBezTo>
                        <a:pt x="0" y="21600"/>
                        <a:pt x="0" y="21600"/>
                        <a:pt x="0" y="21600"/>
                      </a:cubicBezTo>
                      <a:cubicBezTo>
                        <a:pt x="18514" y="21600"/>
                        <a:pt x="18514" y="21600"/>
                        <a:pt x="18514" y="21600"/>
                      </a:cubicBezTo>
                      <a:cubicBezTo>
                        <a:pt x="20057" y="21600"/>
                        <a:pt x="21600" y="16200"/>
                        <a:pt x="21600" y="108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229" name="Shape 914"/>
                <p:cNvSpPr/>
                <p:nvPr/>
              </p:nvSpPr>
              <p:spPr>
                <a:xfrm>
                  <a:off x="430892" y="203653"/>
                  <a:ext cx="12701" cy="51708"/>
                </a:xfrm>
                <a:prstGeom prst="rect">
                  <a:avLst/>
                </a:pr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230" name="Shape 915"/>
                <p:cNvSpPr/>
                <p:nvPr/>
              </p:nvSpPr>
              <p:spPr>
                <a:xfrm>
                  <a:off x="552903" y="215446"/>
                  <a:ext cx="13155" cy="28122"/>
                </a:xfrm>
                <a:prstGeom prst="rect">
                  <a:avLst/>
                </a:pr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sp>
              <p:nvSpPr>
                <p:cNvPr id="231" name="Shape 916"/>
                <p:cNvSpPr/>
                <p:nvPr/>
              </p:nvSpPr>
              <p:spPr>
                <a:xfrm>
                  <a:off x="570139" y="215446"/>
                  <a:ext cx="14061" cy="28122"/>
                </a:xfrm>
                <a:prstGeom prst="rect">
                  <a:avLst/>
                </a:pr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600" dirty="0">
                    <a:solidFill>
                      <a:srgbClr val="000000"/>
                    </a:solidFill>
                    <a:ea typeface="Calibri"/>
                    <a:cs typeface="Calibri"/>
                    <a:sym typeface="Calibri"/>
                  </a:endParaRPr>
                </a:p>
              </p:txBody>
            </p:sp>
          </p:grpSp>
        </p:grpSp>
        <p:sp>
          <p:nvSpPr>
            <p:cNvPr id="249" name="Rectangle 248">
              <a:extLst>
                <a:ext uri="{C183D7F6-B498-43B3-948B-1728B52AA6E4}">
                  <adec:decorative xmlns:adec="http://schemas.microsoft.com/office/drawing/2017/decorative" val="1"/>
                </a:ext>
              </a:extLst>
            </p:cNvPr>
            <p:cNvSpPr/>
            <p:nvPr/>
          </p:nvSpPr>
          <p:spPr>
            <a:xfrm>
              <a:off x="2684607" y="1451468"/>
              <a:ext cx="8651725" cy="628638"/>
            </a:xfrm>
            <a:prstGeom prst="rect">
              <a:avLst/>
            </a:prstGeom>
            <a:solidFill>
              <a:schemeClr val="bg1"/>
            </a:solidFill>
            <a:ln>
              <a:solidFill>
                <a:srgbClr val="B1B3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fontAlgn="base">
                <a:spcBef>
                  <a:spcPct val="0"/>
                </a:spcBef>
                <a:spcAft>
                  <a:spcPct val="0"/>
                </a:spcAft>
              </a:pPr>
              <a:endParaRPr lang="en-US" sz="2800" dirty="0">
                <a:solidFill>
                  <a:srgbClr val="FFFFFF"/>
                </a:solidFill>
              </a:endParaRPr>
            </a:p>
          </p:txBody>
        </p:sp>
        <p:sp>
          <p:nvSpPr>
            <p:cNvPr id="250" name="TextBox 249">
              <a:extLst>
                <a:ext uri="{C183D7F6-B498-43B3-948B-1728B52AA6E4}">
                  <adec:decorative xmlns:adec="http://schemas.microsoft.com/office/drawing/2017/decorative" val="1"/>
                </a:ext>
              </a:extLst>
            </p:cNvPr>
            <p:cNvSpPr txBox="1"/>
            <p:nvPr/>
          </p:nvSpPr>
          <p:spPr>
            <a:xfrm>
              <a:off x="933768" y="1600838"/>
              <a:ext cx="1688212" cy="369332"/>
            </a:xfrm>
            <a:prstGeom prst="rect">
              <a:avLst/>
            </a:prstGeom>
            <a:noFill/>
          </p:spPr>
          <p:txBody>
            <a:bodyPr wrap="square" rtlCol="0">
              <a:spAutoFit/>
            </a:bodyPr>
            <a:lstStyle/>
            <a:p>
              <a:pPr algn="r" defTabSz="609585" fontAlgn="base">
                <a:spcBef>
                  <a:spcPct val="0"/>
                </a:spcBef>
                <a:spcAft>
                  <a:spcPct val="0"/>
                </a:spcAft>
              </a:pPr>
              <a:r>
                <a:rPr lang="en-US" b="1" dirty="0">
                  <a:solidFill>
                    <a:srgbClr val="636466"/>
                  </a:solidFill>
                  <a:cs typeface="Arial"/>
                </a:rPr>
                <a:t>Applications</a:t>
              </a:r>
            </a:p>
          </p:txBody>
        </p:sp>
        <p:grpSp>
          <p:nvGrpSpPr>
            <p:cNvPr id="251" name="Group 250">
              <a:extLst>
                <a:ext uri="{C183D7F6-B498-43B3-948B-1728B52AA6E4}">
                  <adec:decorative xmlns:adec="http://schemas.microsoft.com/office/drawing/2017/decorative" val="1"/>
                </a:ext>
              </a:extLst>
            </p:cNvPr>
            <p:cNvGrpSpPr/>
            <p:nvPr/>
          </p:nvGrpSpPr>
          <p:grpSpPr>
            <a:xfrm>
              <a:off x="4008484" y="1595130"/>
              <a:ext cx="2699916" cy="338554"/>
              <a:chOff x="2509907" y="558411"/>
              <a:chExt cx="2254388" cy="296544"/>
            </a:xfrm>
            <a:solidFill>
              <a:schemeClr val="bg1"/>
            </a:solidFill>
          </p:grpSpPr>
          <p:sp>
            <p:nvSpPr>
              <p:cNvPr id="271" name="TextBox 270"/>
              <p:cNvSpPr txBox="1"/>
              <p:nvPr/>
            </p:nvSpPr>
            <p:spPr>
              <a:xfrm>
                <a:off x="2751946" y="558411"/>
                <a:ext cx="2012349" cy="296544"/>
              </a:xfrm>
              <a:prstGeom prst="rect">
                <a:avLst/>
              </a:prstGeom>
              <a:grpFill/>
            </p:spPr>
            <p:txBody>
              <a:bodyPr wrap="square" rtlCol="0">
                <a:spAutoFit/>
              </a:bodyPr>
              <a:lstStyle/>
              <a:p>
                <a:pPr defTabSz="609585" fontAlgn="base">
                  <a:spcBef>
                    <a:spcPct val="0"/>
                  </a:spcBef>
                  <a:spcAft>
                    <a:spcPct val="0"/>
                  </a:spcAft>
                </a:pPr>
                <a:r>
                  <a:rPr lang="en-US" sz="1600" dirty="0">
                    <a:solidFill>
                      <a:srgbClr val="636466"/>
                    </a:solidFill>
                    <a:cs typeface="Arial"/>
                  </a:rPr>
                  <a:t>Virtual desktops</a:t>
                </a:r>
              </a:p>
            </p:txBody>
          </p:sp>
          <p:grpSp>
            <p:nvGrpSpPr>
              <p:cNvPr id="272" name="Group 1164"/>
              <p:cNvGrpSpPr/>
              <p:nvPr/>
            </p:nvGrpSpPr>
            <p:grpSpPr>
              <a:xfrm>
                <a:off x="2509907" y="569937"/>
                <a:ext cx="258330" cy="258466"/>
                <a:chOff x="17794" y="0"/>
                <a:chExt cx="723900" cy="724280"/>
              </a:xfrm>
              <a:grpFill/>
            </p:grpSpPr>
            <p:sp>
              <p:nvSpPr>
                <p:cNvPr id="273" name="Shape 1146"/>
                <p:cNvSpPr/>
                <p:nvPr/>
              </p:nvSpPr>
              <p:spPr>
                <a:xfrm>
                  <a:off x="17794" y="0"/>
                  <a:ext cx="723900" cy="724280"/>
                </a:xfrm>
                <a:custGeom>
                  <a:avLst/>
                  <a:gdLst/>
                  <a:ahLst/>
                  <a:cxnLst>
                    <a:cxn ang="0">
                      <a:pos x="wd2" y="hd2"/>
                    </a:cxn>
                    <a:cxn ang="5400000">
                      <a:pos x="wd2" y="hd2"/>
                    </a:cxn>
                    <a:cxn ang="10800000">
                      <a:pos x="wd2" y="hd2"/>
                    </a:cxn>
                    <a:cxn ang="16200000">
                      <a:pos x="wd2" y="hd2"/>
                    </a:cxn>
                  </a:cxnLst>
                  <a:rect l="0" t="0" r="r" b="b"/>
                  <a:pathLst>
                    <a:path w="21600" h="21600" extrusionOk="0">
                      <a:moveTo>
                        <a:pt x="20048" y="0"/>
                      </a:moveTo>
                      <a:cubicBezTo>
                        <a:pt x="1552" y="0"/>
                        <a:pt x="1552" y="0"/>
                        <a:pt x="1552" y="0"/>
                      </a:cubicBezTo>
                      <a:cubicBezTo>
                        <a:pt x="696" y="0"/>
                        <a:pt x="0" y="696"/>
                        <a:pt x="0" y="1552"/>
                      </a:cubicBezTo>
                      <a:cubicBezTo>
                        <a:pt x="0" y="20048"/>
                        <a:pt x="0" y="20048"/>
                        <a:pt x="0" y="20048"/>
                      </a:cubicBezTo>
                      <a:cubicBezTo>
                        <a:pt x="0" y="20904"/>
                        <a:pt x="696" y="21600"/>
                        <a:pt x="1552" y="21600"/>
                      </a:cubicBezTo>
                      <a:cubicBezTo>
                        <a:pt x="4309" y="21600"/>
                        <a:pt x="4309" y="21600"/>
                        <a:pt x="4309" y="21600"/>
                      </a:cubicBezTo>
                      <a:cubicBezTo>
                        <a:pt x="6531" y="21600"/>
                        <a:pt x="6531" y="21600"/>
                        <a:pt x="6531" y="21600"/>
                      </a:cubicBezTo>
                      <a:cubicBezTo>
                        <a:pt x="16541" y="21600"/>
                        <a:pt x="16541" y="21600"/>
                        <a:pt x="16541" y="21600"/>
                      </a:cubicBezTo>
                      <a:cubicBezTo>
                        <a:pt x="17398" y="21600"/>
                        <a:pt x="17398" y="21600"/>
                        <a:pt x="17398" y="21600"/>
                      </a:cubicBezTo>
                      <a:cubicBezTo>
                        <a:pt x="20048" y="21600"/>
                        <a:pt x="20048" y="21600"/>
                        <a:pt x="20048" y="21600"/>
                      </a:cubicBezTo>
                      <a:cubicBezTo>
                        <a:pt x="20904" y="21600"/>
                        <a:pt x="21600" y="20904"/>
                        <a:pt x="21600" y="20048"/>
                      </a:cubicBezTo>
                      <a:cubicBezTo>
                        <a:pt x="21600" y="10733"/>
                        <a:pt x="21600" y="10733"/>
                        <a:pt x="21600" y="10733"/>
                      </a:cubicBezTo>
                      <a:cubicBezTo>
                        <a:pt x="21600" y="6772"/>
                        <a:pt x="21600" y="6772"/>
                        <a:pt x="21600" y="6772"/>
                      </a:cubicBezTo>
                      <a:cubicBezTo>
                        <a:pt x="21600" y="1552"/>
                        <a:pt x="21600" y="1552"/>
                        <a:pt x="21600" y="1552"/>
                      </a:cubicBezTo>
                      <a:cubicBezTo>
                        <a:pt x="21600" y="696"/>
                        <a:pt x="20904" y="0"/>
                        <a:pt x="20048"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74" name="Shape 1147"/>
                <p:cNvSpPr/>
                <p:nvPr/>
              </p:nvSpPr>
              <p:spPr>
                <a:xfrm>
                  <a:off x="71123" y="78998"/>
                  <a:ext cx="609961" cy="565144"/>
                </a:xfrm>
                <a:custGeom>
                  <a:avLst/>
                  <a:gdLst/>
                  <a:ahLst/>
                  <a:cxnLst>
                    <a:cxn ang="0">
                      <a:pos x="wd2" y="hd2"/>
                    </a:cxn>
                    <a:cxn ang="5400000">
                      <a:pos x="wd2" y="hd2"/>
                    </a:cxn>
                    <a:cxn ang="10800000">
                      <a:pos x="wd2" y="hd2"/>
                    </a:cxn>
                    <a:cxn ang="16200000">
                      <a:pos x="wd2" y="hd2"/>
                    </a:cxn>
                  </a:cxnLst>
                  <a:rect l="0" t="0" r="r" b="b"/>
                  <a:pathLst>
                    <a:path w="21600" h="21600" extrusionOk="0">
                      <a:moveTo>
                        <a:pt x="20965" y="0"/>
                      </a:moveTo>
                      <a:cubicBezTo>
                        <a:pt x="635" y="0"/>
                        <a:pt x="635" y="0"/>
                        <a:pt x="635" y="0"/>
                      </a:cubicBezTo>
                      <a:cubicBezTo>
                        <a:pt x="286" y="0"/>
                        <a:pt x="0" y="309"/>
                        <a:pt x="0" y="686"/>
                      </a:cubicBezTo>
                      <a:cubicBezTo>
                        <a:pt x="0" y="18000"/>
                        <a:pt x="0" y="18000"/>
                        <a:pt x="0" y="18000"/>
                      </a:cubicBezTo>
                      <a:cubicBezTo>
                        <a:pt x="0" y="18343"/>
                        <a:pt x="286" y="18651"/>
                        <a:pt x="635" y="18651"/>
                      </a:cubicBezTo>
                      <a:cubicBezTo>
                        <a:pt x="8227" y="18651"/>
                        <a:pt x="8227" y="18651"/>
                        <a:pt x="8227" y="18651"/>
                      </a:cubicBezTo>
                      <a:cubicBezTo>
                        <a:pt x="7973" y="20777"/>
                        <a:pt x="8132" y="20674"/>
                        <a:pt x="7655" y="20983"/>
                      </a:cubicBezTo>
                      <a:cubicBezTo>
                        <a:pt x="7179" y="21257"/>
                        <a:pt x="6829" y="21600"/>
                        <a:pt x="7433" y="21600"/>
                      </a:cubicBezTo>
                      <a:cubicBezTo>
                        <a:pt x="8068" y="21600"/>
                        <a:pt x="10800" y="21600"/>
                        <a:pt x="10800" y="21600"/>
                      </a:cubicBezTo>
                      <a:cubicBezTo>
                        <a:pt x="10800" y="21600"/>
                        <a:pt x="10800" y="21600"/>
                        <a:pt x="10800" y="21600"/>
                      </a:cubicBezTo>
                      <a:cubicBezTo>
                        <a:pt x="10800" y="21600"/>
                        <a:pt x="13532" y="21600"/>
                        <a:pt x="14167" y="21600"/>
                      </a:cubicBezTo>
                      <a:cubicBezTo>
                        <a:pt x="14771" y="21600"/>
                        <a:pt x="14421" y="21257"/>
                        <a:pt x="13945" y="20983"/>
                      </a:cubicBezTo>
                      <a:cubicBezTo>
                        <a:pt x="13468" y="20674"/>
                        <a:pt x="13627" y="20777"/>
                        <a:pt x="13373" y="18651"/>
                      </a:cubicBezTo>
                      <a:cubicBezTo>
                        <a:pt x="20965" y="18651"/>
                        <a:pt x="20965" y="18651"/>
                        <a:pt x="20965" y="18651"/>
                      </a:cubicBezTo>
                      <a:cubicBezTo>
                        <a:pt x="21314" y="18651"/>
                        <a:pt x="21600" y="18343"/>
                        <a:pt x="21600" y="18000"/>
                      </a:cubicBezTo>
                      <a:cubicBezTo>
                        <a:pt x="21600" y="686"/>
                        <a:pt x="21600" y="686"/>
                        <a:pt x="21600" y="686"/>
                      </a:cubicBezTo>
                      <a:cubicBezTo>
                        <a:pt x="21600" y="309"/>
                        <a:pt x="21314" y="0"/>
                        <a:pt x="20965" y="0"/>
                      </a:cubicBezTo>
                      <a:close/>
                      <a:moveTo>
                        <a:pt x="20965" y="14400"/>
                      </a:moveTo>
                      <a:cubicBezTo>
                        <a:pt x="20965" y="14777"/>
                        <a:pt x="20679" y="15086"/>
                        <a:pt x="20361" y="15086"/>
                      </a:cubicBezTo>
                      <a:cubicBezTo>
                        <a:pt x="1239" y="15086"/>
                        <a:pt x="1239" y="15086"/>
                        <a:pt x="1239" y="15086"/>
                      </a:cubicBezTo>
                      <a:cubicBezTo>
                        <a:pt x="921" y="15086"/>
                        <a:pt x="635" y="14777"/>
                        <a:pt x="635" y="14400"/>
                      </a:cubicBezTo>
                      <a:cubicBezTo>
                        <a:pt x="635" y="1269"/>
                        <a:pt x="635" y="1269"/>
                        <a:pt x="635" y="1269"/>
                      </a:cubicBezTo>
                      <a:cubicBezTo>
                        <a:pt x="635" y="891"/>
                        <a:pt x="921" y="583"/>
                        <a:pt x="1239" y="583"/>
                      </a:cubicBezTo>
                      <a:cubicBezTo>
                        <a:pt x="20361" y="583"/>
                        <a:pt x="20361" y="583"/>
                        <a:pt x="20361" y="583"/>
                      </a:cubicBezTo>
                      <a:cubicBezTo>
                        <a:pt x="20679" y="583"/>
                        <a:pt x="20965" y="891"/>
                        <a:pt x="20965" y="1269"/>
                      </a:cubicBezTo>
                      <a:lnTo>
                        <a:pt x="20965" y="1440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75" name="Shape 1148"/>
                <p:cNvSpPr/>
                <p:nvPr/>
              </p:nvSpPr>
              <p:spPr>
                <a:xfrm>
                  <a:off x="102546" y="107103"/>
                  <a:ext cx="50894" cy="52034"/>
                </a:xfrm>
                <a:custGeom>
                  <a:avLst/>
                  <a:gdLst/>
                  <a:ahLst/>
                  <a:cxnLst>
                    <a:cxn ang="0">
                      <a:pos x="wd2" y="hd2"/>
                    </a:cxn>
                    <a:cxn ang="5400000">
                      <a:pos x="wd2" y="hd2"/>
                    </a:cxn>
                    <a:cxn ang="10800000">
                      <a:pos x="wd2" y="hd2"/>
                    </a:cxn>
                    <a:cxn ang="16200000">
                      <a:pos x="wd2" y="hd2"/>
                    </a:cxn>
                  </a:cxnLst>
                  <a:rect l="0" t="0" r="r" b="b"/>
                  <a:pathLst>
                    <a:path w="21600" h="21600" extrusionOk="0">
                      <a:moveTo>
                        <a:pt x="21600" y="18248"/>
                      </a:moveTo>
                      <a:cubicBezTo>
                        <a:pt x="21600" y="20110"/>
                        <a:pt x="20084" y="21600"/>
                        <a:pt x="18568" y="21600"/>
                      </a:cubicBezTo>
                      <a:cubicBezTo>
                        <a:pt x="3032" y="21600"/>
                        <a:pt x="3032" y="21600"/>
                        <a:pt x="3032" y="21600"/>
                      </a:cubicBezTo>
                      <a:cubicBezTo>
                        <a:pt x="1516" y="21600"/>
                        <a:pt x="0" y="20110"/>
                        <a:pt x="0" y="18248"/>
                      </a:cubicBezTo>
                      <a:cubicBezTo>
                        <a:pt x="0" y="3352"/>
                        <a:pt x="0" y="3352"/>
                        <a:pt x="0" y="3352"/>
                      </a:cubicBezTo>
                      <a:cubicBezTo>
                        <a:pt x="0" y="1490"/>
                        <a:pt x="1516" y="0"/>
                        <a:pt x="3032" y="0"/>
                      </a:cubicBezTo>
                      <a:cubicBezTo>
                        <a:pt x="18568" y="0"/>
                        <a:pt x="18568" y="0"/>
                        <a:pt x="18568" y="0"/>
                      </a:cubicBezTo>
                      <a:cubicBezTo>
                        <a:pt x="20084" y="0"/>
                        <a:pt x="21600" y="1490"/>
                        <a:pt x="21600" y="3352"/>
                      </a:cubicBezTo>
                      <a:lnTo>
                        <a:pt x="21600" y="18248"/>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76" name="Shape 1149"/>
                <p:cNvSpPr/>
                <p:nvPr/>
              </p:nvSpPr>
              <p:spPr>
                <a:xfrm>
                  <a:off x="102546" y="182304"/>
                  <a:ext cx="50894" cy="52034"/>
                </a:xfrm>
                <a:custGeom>
                  <a:avLst/>
                  <a:gdLst/>
                  <a:ahLst/>
                  <a:cxnLst>
                    <a:cxn ang="0">
                      <a:pos x="wd2" y="hd2"/>
                    </a:cxn>
                    <a:cxn ang="5400000">
                      <a:pos x="wd2" y="hd2"/>
                    </a:cxn>
                    <a:cxn ang="10800000">
                      <a:pos x="wd2" y="hd2"/>
                    </a:cxn>
                    <a:cxn ang="16200000">
                      <a:pos x="wd2" y="hd2"/>
                    </a:cxn>
                  </a:cxnLst>
                  <a:rect l="0" t="0" r="r" b="b"/>
                  <a:pathLst>
                    <a:path w="21600" h="21600" extrusionOk="0">
                      <a:moveTo>
                        <a:pt x="21600" y="18248"/>
                      </a:moveTo>
                      <a:cubicBezTo>
                        <a:pt x="21600" y="20110"/>
                        <a:pt x="20084" y="21600"/>
                        <a:pt x="18568" y="21600"/>
                      </a:cubicBezTo>
                      <a:cubicBezTo>
                        <a:pt x="3032" y="21600"/>
                        <a:pt x="3032" y="21600"/>
                        <a:pt x="3032" y="21600"/>
                      </a:cubicBezTo>
                      <a:cubicBezTo>
                        <a:pt x="1516" y="21600"/>
                        <a:pt x="0" y="20110"/>
                        <a:pt x="0" y="18248"/>
                      </a:cubicBezTo>
                      <a:cubicBezTo>
                        <a:pt x="0" y="3352"/>
                        <a:pt x="0" y="3352"/>
                        <a:pt x="0" y="3352"/>
                      </a:cubicBezTo>
                      <a:cubicBezTo>
                        <a:pt x="0" y="1490"/>
                        <a:pt x="1516" y="0"/>
                        <a:pt x="3032" y="0"/>
                      </a:cubicBezTo>
                      <a:cubicBezTo>
                        <a:pt x="18568" y="0"/>
                        <a:pt x="18568" y="0"/>
                        <a:pt x="18568" y="0"/>
                      </a:cubicBezTo>
                      <a:cubicBezTo>
                        <a:pt x="20084" y="0"/>
                        <a:pt x="21600" y="1490"/>
                        <a:pt x="21600" y="3352"/>
                      </a:cubicBezTo>
                      <a:lnTo>
                        <a:pt x="21600" y="18248"/>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77" name="Shape 1150"/>
                <p:cNvSpPr/>
                <p:nvPr/>
              </p:nvSpPr>
              <p:spPr>
                <a:xfrm>
                  <a:off x="581474" y="107103"/>
                  <a:ext cx="51274" cy="52034"/>
                </a:xfrm>
                <a:custGeom>
                  <a:avLst/>
                  <a:gdLst/>
                  <a:ahLst/>
                  <a:cxnLst>
                    <a:cxn ang="0">
                      <a:pos x="wd2" y="hd2"/>
                    </a:cxn>
                    <a:cxn ang="5400000">
                      <a:pos x="wd2" y="hd2"/>
                    </a:cxn>
                    <a:cxn ang="10800000">
                      <a:pos x="wd2" y="hd2"/>
                    </a:cxn>
                    <a:cxn ang="16200000">
                      <a:pos x="wd2" y="hd2"/>
                    </a:cxn>
                  </a:cxnLst>
                  <a:rect l="0" t="0" r="r" b="b"/>
                  <a:pathLst>
                    <a:path w="21600" h="21600" extrusionOk="0">
                      <a:moveTo>
                        <a:pt x="21600" y="18248"/>
                      </a:moveTo>
                      <a:cubicBezTo>
                        <a:pt x="21600" y="20110"/>
                        <a:pt x="20084" y="21600"/>
                        <a:pt x="18189" y="21600"/>
                      </a:cubicBezTo>
                      <a:cubicBezTo>
                        <a:pt x="3032" y="21600"/>
                        <a:pt x="3032" y="21600"/>
                        <a:pt x="3032" y="21600"/>
                      </a:cubicBezTo>
                      <a:cubicBezTo>
                        <a:pt x="1137" y="21600"/>
                        <a:pt x="0" y="20110"/>
                        <a:pt x="0" y="18248"/>
                      </a:cubicBezTo>
                      <a:cubicBezTo>
                        <a:pt x="0" y="3352"/>
                        <a:pt x="0" y="3352"/>
                        <a:pt x="0" y="3352"/>
                      </a:cubicBezTo>
                      <a:cubicBezTo>
                        <a:pt x="0" y="1490"/>
                        <a:pt x="1137" y="0"/>
                        <a:pt x="3032" y="0"/>
                      </a:cubicBezTo>
                      <a:cubicBezTo>
                        <a:pt x="18189" y="0"/>
                        <a:pt x="18189" y="0"/>
                        <a:pt x="18189" y="0"/>
                      </a:cubicBezTo>
                      <a:cubicBezTo>
                        <a:pt x="20084" y="0"/>
                        <a:pt x="21600" y="1490"/>
                        <a:pt x="21600" y="3352"/>
                      </a:cubicBezTo>
                      <a:lnTo>
                        <a:pt x="21600" y="18248"/>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78" name="Shape 1151"/>
                <p:cNvSpPr/>
                <p:nvPr/>
              </p:nvSpPr>
              <p:spPr>
                <a:xfrm>
                  <a:off x="581474" y="182304"/>
                  <a:ext cx="51274" cy="52034"/>
                </a:xfrm>
                <a:custGeom>
                  <a:avLst/>
                  <a:gdLst/>
                  <a:ahLst/>
                  <a:cxnLst>
                    <a:cxn ang="0">
                      <a:pos x="wd2" y="hd2"/>
                    </a:cxn>
                    <a:cxn ang="5400000">
                      <a:pos x="wd2" y="hd2"/>
                    </a:cxn>
                    <a:cxn ang="10800000">
                      <a:pos x="wd2" y="hd2"/>
                    </a:cxn>
                    <a:cxn ang="16200000">
                      <a:pos x="wd2" y="hd2"/>
                    </a:cxn>
                  </a:cxnLst>
                  <a:rect l="0" t="0" r="r" b="b"/>
                  <a:pathLst>
                    <a:path w="21600" h="21600" extrusionOk="0">
                      <a:moveTo>
                        <a:pt x="21600" y="18248"/>
                      </a:moveTo>
                      <a:cubicBezTo>
                        <a:pt x="21600" y="20110"/>
                        <a:pt x="20084" y="21600"/>
                        <a:pt x="18189" y="21600"/>
                      </a:cubicBezTo>
                      <a:cubicBezTo>
                        <a:pt x="3032" y="21600"/>
                        <a:pt x="3032" y="21600"/>
                        <a:pt x="3032" y="21600"/>
                      </a:cubicBezTo>
                      <a:cubicBezTo>
                        <a:pt x="1137" y="21600"/>
                        <a:pt x="0" y="20110"/>
                        <a:pt x="0" y="18248"/>
                      </a:cubicBezTo>
                      <a:cubicBezTo>
                        <a:pt x="0" y="3352"/>
                        <a:pt x="0" y="3352"/>
                        <a:pt x="0" y="3352"/>
                      </a:cubicBezTo>
                      <a:cubicBezTo>
                        <a:pt x="0" y="1490"/>
                        <a:pt x="1137" y="0"/>
                        <a:pt x="3032" y="0"/>
                      </a:cubicBezTo>
                      <a:cubicBezTo>
                        <a:pt x="18189" y="0"/>
                        <a:pt x="18189" y="0"/>
                        <a:pt x="18189" y="0"/>
                      </a:cubicBezTo>
                      <a:cubicBezTo>
                        <a:pt x="20084" y="0"/>
                        <a:pt x="21600" y="1490"/>
                        <a:pt x="21600" y="3352"/>
                      </a:cubicBezTo>
                      <a:lnTo>
                        <a:pt x="21600" y="18248"/>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79" name="Shape 1152"/>
                <p:cNvSpPr/>
                <p:nvPr/>
              </p:nvSpPr>
              <p:spPr>
                <a:xfrm>
                  <a:off x="102546" y="257504"/>
                  <a:ext cx="50894" cy="52034"/>
                </a:xfrm>
                <a:custGeom>
                  <a:avLst/>
                  <a:gdLst/>
                  <a:ahLst/>
                  <a:cxnLst>
                    <a:cxn ang="0">
                      <a:pos x="wd2" y="hd2"/>
                    </a:cxn>
                    <a:cxn ang="5400000">
                      <a:pos x="wd2" y="hd2"/>
                    </a:cxn>
                    <a:cxn ang="10800000">
                      <a:pos x="wd2" y="hd2"/>
                    </a:cxn>
                    <a:cxn ang="16200000">
                      <a:pos x="wd2" y="hd2"/>
                    </a:cxn>
                  </a:cxnLst>
                  <a:rect l="0" t="0" r="r" b="b"/>
                  <a:pathLst>
                    <a:path w="21600" h="21600" extrusionOk="0">
                      <a:moveTo>
                        <a:pt x="21600" y="18248"/>
                      </a:moveTo>
                      <a:cubicBezTo>
                        <a:pt x="21600" y="20110"/>
                        <a:pt x="20084" y="21600"/>
                        <a:pt x="18568" y="21600"/>
                      </a:cubicBezTo>
                      <a:cubicBezTo>
                        <a:pt x="3032" y="21600"/>
                        <a:pt x="3032" y="21600"/>
                        <a:pt x="3032" y="21600"/>
                      </a:cubicBezTo>
                      <a:cubicBezTo>
                        <a:pt x="1516" y="21600"/>
                        <a:pt x="0" y="20110"/>
                        <a:pt x="0" y="18248"/>
                      </a:cubicBezTo>
                      <a:cubicBezTo>
                        <a:pt x="0" y="3352"/>
                        <a:pt x="0" y="3352"/>
                        <a:pt x="0" y="3352"/>
                      </a:cubicBezTo>
                      <a:cubicBezTo>
                        <a:pt x="0" y="1490"/>
                        <a:pt x="1516" y="0"/>
                        <a:pt x="3032" y="0"/>
                      </a:cubicBezTo>
                      <a:cubicBezTo>
                        <a:pt x="18568" y="0"/>
                        <a:pt x="18568" y="0"/>
                        <a:pt x="18568" y="0"/>
                      </a:cubicBezTo>
                      <a:cubicBezTo>
                        <a:pt x="20084" y="0"/>
                        <a:pt x="21600" y="1490"/>
                        <a:pt x="21600" y="3352"/>
                      </a:cubicBezTo>
                      <a:lnTo>
                        <a:pt x="21600" y="18248"/>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80" name="Shape 1153"/>
                <p:cNvSpPr/>
                <p:nvPr/>
              </p:nvSpPr>
              <p:spPr>
                <a:xfrm>
                  <a:off x="174328" y="107103"/>
                  <a:ext cx="50894" cy="52034"/>
                </a:xfrm>
                <a:custGeom>
                  <a:avLst/>
                  <a:gdLst/>
                  <a:ahLst/>
                  <a:cxnLst>
                    <a:cxn ang="0">
                      <a:pos x="wd2" y="hd2"/>
                    </a:cxn>
                    <a:cxn ang="5400000">
                      <a:pos x="wd2" y="hd2"/>
                    </a:cxn>
                    <a:cxn ang="10800000">
                      <a:pos x="wd2" y="hd2"/>
                    </a:cxn>
                    <a:cxn ang="16200000">
                      <a:pos x="wd2" y="hd2"/>
                    </a:cxn>
                  </a:cxnLst>
                  <a:rect l="0" t="0" r="r" b="b"/>
                  <a:pathLst>
                    <a:path w="21600" h="21600" extrusionOk="0">
                      <a:moveTo>
                        <a:pt x="21600" y="18248"/>
                      </a:moveTo>
                      <a:cubicBezTo>
                        <a:pt x="21600" y="20110"/>
                        <a:pt x="20084" y="21600"/>
                        <a:pt x="18568" y="21600"/>
                      </a:cubicBezTo>
                      <a:cubicBezTo>
                        <a:pt x="3032" y="21600"/>
                        <a:pt x="3032" y="21600"/>
                        <a:pt x="3032" y="21600"/>
                      </a:cubicBezTo>
                      <a:cubicBezTo>
                        <a:pt x="1516" y="21600"/>
                        <a:pt x="0" y="20110"/>
                        <a:pt x="0" y="18248"/>
                      </a:cubicBezTo>
                      <a:cubicBezTo>
                        <a:pt x="0" y="3352"/>
                        <a:pt x="0" y="3352"/>
                        <a:pt x="0" y="3352"/>
                      </a:cubicBezTo>
                      <a:cubicBezTo>
                        <a:pt x="0" y="1490"/>
                        <a:pt x="1516" y="0"/>
                        <a:pt x="3032" y="0"/>
                      </a:cubicBezTo>
                      <a:cubicBezTo>
                        <a:pt x="18568" y="0"/>
                        <a:pt x="18568" y="0"/>
                        <a:pt x="18568" y="0"/>
                      </a:cubicBezTo>
                      <a:cubicBezTo>
                        <a:pt x="20084" y="0"/>
                        <a:pt x="21600" y="1490"/>
                        <a:pt x="21600" y="3352"/>
                      </a:cubicBezTo>
                      <a:lnTo>
                        <a:pt x="21600" y="18248"/>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81" name="Shape 1154"/>
                <p:cNvSpPr/>
                <p:nvPr/>
              </p:nvSpPr>
              <p:spPr>
                <a:xfrm>
                  <a:off x="174328" y="182304"/>
                  <a:ext cx="50894" cy="52034"/>
                </a:xfrm>
                <a:custGeom>
                  <a:avLst/>
                  <a:gdLst/>
                  <a:ahLst/>
                  <a:cxnLst>
                    <a:cxn ang="0">
                      <a:pos x="wd2" y="hd2"/>
                    </a:cxn>
                    <a:cxn ang="5400000">
                      <a:pos x="wd2" y="hd2"/>
                    </a:cxn>
                    <a:cxn ang="10800000">
                      <a:pos x="wd2" y="hd2"/>
                    </a:cxn>
                    <a:cxn ang="16200000">
                      <a:pos x="wd2" y="hd2"/>
                    </a:cxn>
                  </a:cxnLst>
                  <a:rect l="0" t="0" r="r" b="b"/>
                  <a:pathLst>
                    <a:path w="21600" h="21600" extrusionOk="0">
                      <a:moveTo>
                        <a:pt x="21600" y="18248"/>
                      </a:moveTo>
                      <a:cubicBezTo>
                        <a:pt x="21600" y="20110"/>
                        <a:pt x="20084" y="21600"/>
                        <a:pt x="18568" y="21600"/>
                      </a:cubicBezTo>
                      <a:cubicBezTo>
                        <a:pt x="3032" y="21600"/>
                        <a:pt x="3032" y="21600"/>
                        <a:pt x="3032" y="21600"/>
                      </a:cubicBezTo>
                      <a:cubicBezTo>
                        <a:pt x="1516" y="21600"/>
                        <a:pt x="0" y="20110"/>
                        <a:pt x="0" y="18248"/>
                      </a:cubicBezTo>
                      <a:cubicBezTo>
                        <a:pt x="0" y="3352"/>
                        <a:pt x="0" y="3352"/>
                        <a:pt x="0" y="3352"/>
                      </a:cubicBezTo>
                      <a:cubicBezTo>
                        <a:pt x="0" y="1490"/>
                        <a:pt x="1516" y="0"/>
                        <a:pt x="3032" y="0"/>
                      </a:cubicBezTo>
                      <a:cubicBezTo>
                        <a:pt x="18568" y="0"/>
                        <a:pt x="18568" y="0"/>
                        <a:pt x="18568" y="0"/>
                      </a:cubicBezTo>
                      <a:cubicBezTo>
                        <a:pt x="20084" y="0"/>
                        <a:pt x="21600" y="1490"/>
                        <a:pt x="21600" y="3352"/>
                      </a:cubicBezTo>
                      <a:lnTo>
                        <a:pt x="21600" y="18248"/>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82" name="Shape 1155"/>
                <p:cNvSpPr/>
                <p:nvPr/>
              </p:nvSpPr>
              <p:spPr>
                <a:xfrm>
                  <a:off x="174328" y="257504"/>
                  <a:ext cx="50894" cy="52034"/>
                </a:xfrm>
                <a:custGeom>
                  <a:avLst/>
                  <a:gdLst/>
                  <a:ahLst/>
                  <a:cxnLst>
                    <a:cxn ang="0">
                      <a:pos x="wd2" y="hd2"/>
                    </a:cxn>
                    <a:cxn ang="5400000">
                      <a:pos x="wd2" y="hd2"/>
                    </a:cxn>
                    <a:cxn ang="10800000">
                      <a:pos x="wd2" y="hd2"/>
                    </a:cxn>
                    <a:cxn ang="16200000">
                      <a:pos x="wd2" y="hd2"/>
                    </a:cxn>
                  </a:cxnLst>
                  <a:rect l="0" t="0" r="r" b="b"/>
                  <a:pathLst>
                    <a:path w="21600" h="21600" extrusionOk="0">
                      <a:moveTo>
                        <a:pt x="21600" y="18248"/>
                      </a:moveTo>
                      <a:cubicBezTo>
                        <a:pt x="21600" y="20110"/>
                        <a:pt x="20084" y="21600"/>
                        <a:pt x="18568" y="21600"/>
                      </a:cubicBezTo>
                      <a:cubicBezTo>
                        <a:pt x="3032" y="21600"/>
                        <a:pt x="3032" y="21600"/>
                        <a:pt x="3032" y="21600"/>
                      </a:cubicBezTo>
                      <a:cubicBezTo>
                        <a:pt x="1516" y="21600"/>
                        <a:pt x="0" y="20110"/>
                        <a:pt x="0" y="18248"/>
                      </a:cubicBezTo>
                      <a:cubicBezTo>
                        <a:pt x="0" y="3352"/>
                        <a:pt x="0" y="3352"/>
                        <a:pt x="0" y="3352"/>
                      </a:cubicBezTo>
                      <a:cubicBezTo>
                        <a:pt x="0" y="1490"/>
                        <a:pt x="1516" y="0"/>
                        <a:pt x="3032" y="0"/>
                      </a:cubicBezTo>
                      <a:cubicBezTo>
                        <a:pt x="18568" y="0"/>
                        <a:pt x="18568" y="0"/>
                        <a:pt x="18568" y="0"/>
                      </a:cubicBezTo>
                      <a:cubicBezTo>
                        <a:pt x="20084" y="0"/>
                        <a:pt x="21600" y="1490"/>
                        <a:pt x="21600" y="3352"/>
                      </a:cubicBezTo>
                      <a:lnTo>
                        <a:pt x="21600" y="18248"/>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83" name="Shape 1156"/>
                <p:cNvSpPr/>
                <p:nvPr/>
              </p:nvSpPr>
              <p:spPr>
                <a:xfrm>
                  <a:off x="246110" y="107103"/>
                  <a:ext cx="50895" cy="52034"/>
                </a:xfrm>
                <a:custGeom>
                  <a:avLst/>
                  <a:gdLst/>
                  <a:ahLst/>
                  <a:cxnLst>
                    <a:cxn ang="0">
                      <a:pos x="wd2" y="hd2"/>
                    </a:cxn>
                    <a:cxn ang="5400000">
                      <a:pos x="wd2" y="hd2"/>
                    </a:cxn>
                    <a:cxn ang="10800000">
                      <a:pos x="wd2" y="hd2"/>
                    </a:cxn>
                    <a:cxn ang="16200000">
                      <a:pos x="wd2" y="hd2"/>
                    </a:cxn>
                  </a:cxnLst>
                  <a:rect l="0" t="0" r="r" b="b"/>
                  <a:pathLst>
                    <a:path w="21600" h="21600" extrusionOk="0">
                      <a:moveTo>
                        <a:pt x="21600" y="18248"/>
                      </a:moveTo>
                      <a:cubicBezTo>
                        <a:pt x="21600" y="20110"/>
                        <a:pt x="20084" y="21600"/>
                        <a:pt x="18568" y="21600"/>
                      </a:cubicBezTo>
                      <a:cubicBezTo>
                        <a:pt x="3032" y="21600"/>
                        <a:pt x="3032" y="21600"/>
                        <a:pt x="3032" y="21600"/>
                      </a:cubicBezTo>
                      <a:cubicBezTo>
                        <a:pt x="1516" y="21600"/>
                        <a:pt x="0" y="20110"/>
                        <a:pt x="0" y="18248"/>
                      </a:cubicBezTo>
                      <a:cubicBezTo>
                        <a:pt x="0" y="3352"/>
                        <a:pt x="0" y="3352"/>
                        <a:pt x="0" y="3352"/>
                      </a:cubicBezTo>
                      <a:cubicBezTo>
                        <a:pt x="0" y="1490"/>
                        <a:pt x="1516" y="0"/>
                        <a:pt x="3032" y="0"/>
                      </a:cubicBezTo>
                      <a:cubicBezTo>
                        <a:pt x="18568" y="0"/>
                        <a:pt x="18568" y="0"/>
                        <a:pt x="18568" y="0"/>
                      </a:cubicBezTo>
                      <a:cubicBezTo>
                        <a:pt x="20084" y="0"/>
                        <a:pt x="21600" y="1490"/>
                        <a:pt x="21600" y="3352"/>
                      </a:cubicBezTo>
                      <a:lnTo>
                        <a:pt x="21600" y="18248"/>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84" name="Shape 1157"/>
                <p:cNvSpPr/>
                <p:nvPr/>
              </p:nvSpPr>
              <p:spPr>
                <a:xfrm>
                  <a:off x="437910" y="408285"/>
                  <a:ext cx="52033" cy="52034"/>
                </a:xfrm>
                <a:custGeom>
                  <a:avLst/>
                  <a:gdLst/>
                  <a:ahLst/>
                  <a:cxnLst>
                    <a:cxn ang="0">
                      <a:pos x="wd2" y="hd2"/>
                    </a:cxn>
                    <a:cxn ang="5400000">
                      <a:pos x="wd2" y="hd2"/>
                    </a:cxn>
                    <a:cxn ang="10800000">
                      <a:pos x="wd2" y="hd2"/>
                    </a:cxn>
                    <a:cxn ang="16200000">
                      <a:pos x="wd2" y="hd2"/>
                    </a:cxn>
                  </a:cxnLst>
                  <a:rect l="0" t="0" r="r" b="b"/>
                  <a:pathLst>
                    <a:path w="21600" h="21600" extrusionOk="0">
                      <a:moveTo>
                        <a:pt x="21600" y="18248"/>
                      </a:moveTo>
                      <a:cubicBezTo>
                        <a:pt x="21600" y="20110"/>
                        <a:pt x="20110" y="21600"/>
                        <a:pt x="18248" y="21600"/>
                      </a:cubicBezTo>
                      <a:cubicBezTo>
                        <a:pt x="3352" y="21600"/>
                        <a:pt x="3352" y="21600"/>
                        <a:pt x="3352" y="21600"/>
                      </a:cubicBezTo>
                      <a:cubicBezTo>
                        <a:pt x="1490" y="21600"/>
                        <a:pt x="0" y="20110"/>
                        <a:pt x="0" y="18248"/>
                      </a:cubicBezTo>
                      <a:cubicBezTo>
                        <a:pt x="0" y="3352"/>
                        <a:pt x="0" y="3352"/>
                        <a:pt x="0" y="3352"/>
                      </a:cubicBezTo>
                      <a:cubicBezTo>
                        <a:pt x="0" y="1490"/>
                        <a:pt x="1490" y="0"/>
                        <a:pt x="3352" y="0"/>
                      </a:cubicBezTo>
                      <a:cubicBezTo>
                        <a:pt x="18248" y="0"/>
                        <a:pt x="18248" y="0"/>
                        <a:pt x="18248" y="0"/>
                      </a:cubicBezTo>
                      <a:cubicBezTo>
                        <a:pt x="20110" y="0"/>
                        <a:pt x="21600" y="1490"/>
                        <a:pt x="21600" y="3352"/>
                      </a:cubicBezTo>
                      <a:lnTo>
                        <a:pt x="21600" y="18248"/>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85" name="Shape 1158"/>
                <p:cNvSpPr/>
                <p:nvPr/>
              </p:nvSpPr>
              <p:spPr>
                <a:xfrm>
                  <a:off x="509692" y="408285"/>
                  <a:ext cx="52034" cy="52034"/>
                </a:xfrm>
                <a:custGeom>
                  <a:avLst/>
                  <a:gdLst/>
                  <a:ahLst/>
                  <a:cxnLst>
                    <a:cxn ang="0">
                      <a:pos x="wd2" y="hd2"/>
                    </a:cxn>
                    <a:cxn ang="5400000">
                      <a:pos x="wd2" y="hd2"/>
                    </a:cxn>
                    <a:cxn ang="10800000">
                      <a:pos x="wd2" y="hd2"/>
                    </a:cxn>
                    <a:cxn ang="16200000">
                      <a:pos x="wd2" y="hd2"/>
                    </a:cxn>
                  </a:cxnLst>
                  <a:rect l="0" t="0" r="r" b="b"/>
                  <a:pathLst>
                    <a:path w="21600" h="21600" extrusionOk="0">
                      <a:moveTo>
                        <a:pt x="21600" y="18248"/>
                      </a:moveTo>
                      <a:cubicBezTo>
                        <a:pt x="21600" y="20110"/>
                        <a:pt x="20110" y="21600"/>
                        <a:pt x="18248" y="21600"/>
                      </a:cubicBezTo>
                      <a:cubicBezTo>
                        <a:pt x="3352" y="21600"/>
                        <a:pt x="3352" y="21600"/>
                        <a:pt x="3352" y="21600"/>
                      </a:cubicBezTo>
                      <a:cubicBezTo>
                        <a:pt x="1490" y="21600"/>
                        <a:pt x="0" y="20110"/>
                        <a:pt x="0" y="18248"/>
                      </a:cubicBezTo>
                      <a:cubicBezTo>
                        <a:pt x="0" y="3352"/>
                        <a:pt x="0" y="3352"/>
                        <a:pt x="0" y="3352"/>
                      </a:cubicBezTo>
                      <a:cubicBezTo>
                        <a:pt x="0" y="1490"/>
                        <a:pt x="1490" y="0"/>
                        <a:pt x="3352" y="0"/>
                      </a:cubicBezTo>
                      <a:cubicBezTo>
                        <a:pt x="18248" y="0"/>
                        <a:pt x="18248" y="0"/>
                        <a:pt x="18248" y="0"/>
                      </a:cubicBezTo>
                      <a:cubicBezTo>
                        <a:pt x="20110" y="0"/>
                        <a:pt x="21600" y="1490"/>
                        <a:pt x="21600" y="3352"/>
                      </a:cubicBezTo>
                      <a:lnTo>
                        <a:pt x="21600" y="18248"/>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86" name="Shape 1159"/>
                <p:cNvSpPr/>
                <p:nvPr/>
              </p:nvSpPr>
              <p:spPr>
                <a:xfrm>
                  <a:off x="581474" y="408285"/>
                  <a:ext cx="52034" cy="52034"/>
                </a:xfrm>
                <a:custGeom>
                  <a:avLst/>
                  <a:gdLst/>
                  <a:ahLst/>
                  <a:cxnLst>
                    <a:cxn ang="0">
                      <a:pos x="wd2" y="hd2"/>
                    </a:cxn>
                    <a:cxn ang="5400000">
                      <a:pos x="wd2" y="hd2"/>
                    </a:cxn>
                    <a:cxn ang="10800000">
                      <a:pos x="wd2" y="hd2"/>
                    </a:cxn>
                    <a:cxn ang="16200000">
                      <a:pos x="wd2" y="hd2"/>
                    </a:cxn>
                  </a:cxnLst>
                  <a:rect l="0" t="0" r="r" b="b"/>
                  <a:pathLst>
                    <a:path w="21600" h="21600" extrusionOk="0">
                      <a:moveTo>
                        <a:pt x="21600" y="18248"/>
                      </a:moveTo>
                      <a:cubicBezTo>
                        <a:pt x="21600" y="20110"/>
                        <a:pt x="20110" y="21600"/>
                        <a:pt x="18248" y="21600"/>
                      </a:cubicBezTo>
                      <a:cubicBezTo>
                        <a:pt x="3352" y="21600"/>
                        <a:pt x="3352" y="21600"/>
                        <a:pt x="3352" y="21600"/>
                      </a:cubicBezTo>
                      <a:cubicBezTo>
                        <a:pt x="1490" y="21600"/>
                        <a:pt x="0" y="20110"/>
                        <a:pt x="0" y="18248"/>
                      </a:cubicBezTo>
                      <a:cubicBezTo>
                        <a:pt x="0" y="3352"/>
                        <a:pt x="0" y="3352"/>
                        <a:pt x="0" y="3352"/>
                      </a:cubicBezTo>
                      <a:cubicBezTo>
                        <a:pt x="0" y="1490"/>
                        <a:pt x="1490" y="0"/>
                        <a:pt x="3352" y="0"/>
                      </a:cubicBezTo>
                      <a:cubicBezTo>
                        <a:pt x="18248" y="0"/>
                        <a:pt x="18248" y="0"/>
                        <a:pt x="18248" y="0"/>
                      </a:cubicBezTo>
                      <a:cubicBezTo>
                        <a:pt x="20110" y="0"/>
                        <a:pt x="21600" y="1490"/>
                        <a:pt x="21600" y="3352"/>
                      </a:cubicBezTo>
                      <a:lnTo>
                        <a:pt x="21600" y="18248"/>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87" name="Shape 1160"/>
                <p:cNvSpPr/>
                <p:nvPr/>
              </p:nvSpPr>
              <p:spPr>
                <a:xfrm>
                  <a:off x="246110" y="182304"/>
                  <a:ext cx="50895" cy="52034"/>
                </a:xfrm>
                <a:custGeom>
                  <a:avLst/>
                  <a:gdLst/>
                  <a:ahLst/>
                  <a:cxnLst>
                    <a:cxn ang="0">
                      <a:pos x="wd2" y="hd2"/>
                    </a:cxn>
                    <a:cxn ang="5400000">
                      <a:pos x="wd2" y="hd2"/>
                    </a:cxn>
                    <a:cxn ang="10800000">
                      <a:pos x="wd2" y="hd2"/>
                    </a:cxn>
                    <a:cxn ang="16200000">
                      <a:pos x="wd2" y="hd2"/>
                    </a:cxn>
                  </a:cxnLst>
                  <a:rect l="0" t="0" r="r" b="b"/>
                  <a:pathLst>
                    <a:path w="21600" h="21600" extrusionOk="0">
                      <a:moveTo>
                        <a:pt x="21600" y="18248"/>
                      </a:moveTo>
                      <a:cubicBezTo>
                        <a:pt x="21600" y="20110"/>
                        <a:pt x="20084" y="21600"/>
                        <a:pt x="18568" y="21600"/>
                      </a:cubicBezTo>
                      <a:cubicBezTo>
                        <a:pt x="3032" y="21600"/>
                        <a:pt x="3032" y="21600"/>
                        <a:pt x="3032" y="21600"/>
                      </a:cubicBezTo>
                      <a:cubicBezTo>
                        <a:pt x="1516" y="21600"/>
                        <a:pt x="0" y="20110"/>
                        <a:pt x="0" y="18248"/>
                      </a:cubicBezTo>
                      <a:cubicBezTo>
                        <a:pt x="0" y="3352"/>
                        <a:pt x="0" y="3352"/>
                        <a:pt x="0" y="3352"/>
                      </a:cubicBezTo>
                      <a:cubicBezTo>
                        <a:pt x="0" y="1490"/>
                        <a:pt x="1516" y="0"/>
                        <a:pt x="3032" y="0"/>
                      </a:cubicBezTo>
                      <a:cubicBezTo>
                        <a:pt x="18568" y="0"/>
                        <a:pt x="18568" y="0"/>
                        <a:pt x="18568" y="0"/>
                      </a:cubicBezTo>
                      <a:cubicBezTo>
                        <a:pt x="20084" y="0"/>
                        <a:pt x="21600" y="1490"/>
                        <a:pt x="21600" y="3352"/>
                      </a:cubicBezTo>
                      <a:lnTo>
                        <a:pt x="21600" y="18248"/>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88" name="Shape 1161"/>
                <p:cNvSpPr/>
                <p:nvPr/>
              </p:nvSpPr>
              <p:spPr>
                <a:xfrm>
                  <a:off x="246110" y="257504"/>
                  <a:ext cx="50895" cy="52034"/>
                </a:xfrm>
                <a:custGeom>
                  <a:avLst/>
                  <a:gdLst/>
                  <a:ahLst/>
                  <a:cxnLst>
                    <a:cxn ang="0">
                      <a:pos x="wd2" y="hd2"/>
                    </a:cxn>
                    <a:cxn ang="5400000">
                      <a:pos x="wd2" y="hd2"/>
                    </a:cxn>
                    <a:cxn ang="10800000">
                      <a:pos x="wd2" y="hd2"/>
                    </a:cxn>
                    <a:cxn ang="16200000">
                      <a:pos x="wd2" y="hd2"/>
                    </a:cxn>
                  </a:cxnLst>
                  <a:rect l="0" t="0" r="r" b="b"/>
                  <a:pathLst>
                    <a:path w="21600" h="21600" extrusionOk="0">
                      <a:moveTo>
                        <a:pt x="21600" y="18248"/>
                      </a:moveTo>
                      <a:cubicBezTo>
                        <a:pt x="21600" y="20110"/>
                        <a:pt x="20084" y="21600"/>
                        <a:pt x="18568" y="21600"/>
                      </a:cubicBezTo>
                      <a:cubicBezTo>
                        <a:pt x="3032" y="21600"/>
                        <a:pt x="3032" y="21600"/>
                        <a:pt x="3032" y="21600"/>
                      </a:cubicBezTo>
                      <a:cubicBezTo>
                        <a:pt x="1516" y="21600"/>
                        <a:pt x="0" y="20110"/>
                        <a:pt x="0" y="18248"/>
                      </a:cubicBezTo>
                      <a:cubicBezTo>
                        <a:pt x="0" y="3352"/>
                        <a:pt x="0" y="3352"/>
                        <a:pt x="0" y="3352"/>
                      </a:cubicBezTo>
                      <a:cubicBezTo>
                        <a:pt x="0" y="1490"/>
                        <a:pt x="1516" y="0"/>
                        <a:pt x="3032" y="0"/>
                      </a:cubicBezTo>
                      <a:cubicBezTo>
                        <a:pt x="18568" y="0"/>
                        <a:pt x="18568" y="0"/>
                        <a:pt x="18568" y="0"/>
                      </a:cubicBezTo>
                      <a:cubicBezTo>
                        <a:pt x="20084" y="0"/>
                        <a:pt x="21600" y="1490"/>
                        <a:pt x="21600" y="3352"/>
                      </a:cubicBezTo>
                      <a:lnTo>
                        <a:pt x="21600" y="18248"/>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89" name="Shape 1162"/>
                <p:cNvSpPr/>
                <p:nvPr/>
              </p:nvSpPr>
              <p:spPr>
                <a:xfrm>
                  <a:off x="102546" y="333085"/>
                  <a:ext cx="50894" cy="52033"/>
                </a:xfrm>
                <a:custGeom>
                  <a:avLst/>
                  <a:gdLst/>
                  <a:ahLst/>
                  <a:cxnLst>
                    <a:cxn ang="0">
                      <a:pos x="wd2" y="hd2"/>
                    </a:cxn>
                    <a:cxn ang="5400000">
                      <a:pos x="wd2" y="hd2"/>
                    </a:cxn>
                    <a:cxn ang="10800000">
                      <a:pos x="wd2" y="hd2"/>
                    </a:cxn>
                    <a:cxn ang="16200000">
                      <a:pos x="wd2" y="hd2"/>
                    </a:cxn>
                  </a:cxnLst>
                  <a:rect l="0" t="0" r="r" b="b"/>
                  <a:pathLst>
                    <a:path w="21600" h="21600" extrusionOk="0">
                      <a:moveTo>
                        <a:pt x="21600" y="18248"/>
                      </a:moveTo>
                      <a:cubicBezTo>
                        <a:pt x="21600" y="20110"/>
                        <a:pt x="20084" y="21600"/>
                        <a:pt x="18568" y="21600"/>
                      </a:cubicBezTo>
                      <a:cubicBezTo>
                        <a:pt x="3032" y="21600"/>
                        <a:pt x="3032" y="21600"/>
                        <a:pt x="3032" y="21600"/>
                      </a:cubicBezTo>
                      <a:cubicBezTo>
                        <a:pt x="1516" y="21600"/>
                        <a:pt x="0" y="20110"/>
                        <a:pt x="0" y="18248"/>
                      </a:cubicBezTo>
                      <a:cubicBezTo>
                        <a:pt x="0" y="3352"/>
                        <a:pt x="0" y="3352"/>
                        <a:pt x="0" y="3352"/>
                      </a:cubicBezTo>
                      <a:cubicBezTo>
                        <a:pt x="0" y="1490"/>
                        <a:pt x="1516" y="0"/>
                        <a:pt x="3032" y="0"/>
                      </a:cubicBezTo>
                      <a:cubicBezTo>
                        <a:pt x="18568" y="0"/>
                        <a:pt x="18568" y="0"/>
                        <a:pt x="18568" y="0"/>
                      </a:cubicBezTo>
                      <a:cubicBezTo>
                        <a:pt x="20084" y="0"/>
                        <a:pt x="21600" y="1490"/>
                        <a:pt x="21600" y="3352"/>
                      </a:cubicBezTo>
                      <a:lnTo>
                        <a:pt x="21600" y="18248"/>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90" name="Shape 1163"/>
                <p:cNvSpPr/>
                <p:nvPr/>
              </p:nvSpPr>
              <p:spPr>
                <a:xfrm>
                  <a:off x="102546" y="408285"/>
                  <a:ext cx="50894" cy="52034"/>
                </a:xfrm>
                <a:custGeom>
                  <a:avLst/>
                  <a:gdLst/>
                  <a:ahLst/>
                  <a:cxnLst>
                    <a:cxn ang="0">
                      <a:pos x="wd2" y="hd2"/>
                    </a:cxn>
                    <a:cxn ang="5400000">
                      <a:pos x="wd2" y="hd2"/>
                    </a:cxn>
                    <a:cxn ang="10800000">
                      <a:pos x="wd2" y="hd2"/>
                    </a:cxn>
                    <a:cxn ang="16200000">
                      <a:pos x="wd2" y="hd2"/>
                    </a:cxn>
                  </a:cxnLst>
                  <a:rect l="0" t="0" r="r" b="b"/>
                  <a:pathLst>
                    <a:path w="21600" h="21600" extrusionOk="0">
                      <a:moveTo>
                        <a:pt x="21600" y="18248"/>
                      </a:moveTo>
                      <a:cubicBezTo>
                        <a:pt x="21600" y="20110"/>
                        <a:pt x="20084" y="21600"/>
                        <a:pt x="18568" y="21600"/>
                      </a:cubicBezTo>
                      <a:cubicBezTo>
                        <a:pt x="3032" y="21600"/>
                        <a:pt x="3032" y="21600"/>
                        <a:pt x="3032" y="21600"/>
                      </a:cubicBezTo>
                      <a:cubicBezTo>
                        <a:pt x="1516" y="21600"/>
                        <a:pt x="0" y="20110"/>
                        <a:pt x="0" y="18248"/>
                      </a:cubicBezTo>
                      <a:cubicBezTo>
                        <a:pt x="0" y="3352"/>
                        <a:pt x="0" y="3352"/>
                        <a:pt x="0" y="3352"/>
                      </a:cubicBezTo>
                      <a:cubicBezTo>
                        <a:pt x="0" y="1490"/>
                        <a:pt x="1516" y="0"/>
                        <a:pt x="3032" y="0"/>
                      </a:cubicBezTo>
                      <a:cubicBezTo>
                        <a:pt x="18568" y="0"/>
                        <a:pt x="18568" y="0"/>
                        <a:pt x="18568" y="0"/>
                      </a:cubicBezTo>
                      <a:cubicBezTo>
                        <a:pt x="20084" y="0"/>
                        <a:pt x="21600" y="1490"/>
                        <a:pt x="21600" y="3352"/>
                      </a:cubicBezTo>
                      <a:lnTo>
                        <a:pt x="21600" y="18248"/>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grpSp>
        </p:grpSp>
        <p:grpSp>
          <p:nvGrpSpPr>
            <p:cNvPr id="252" name="Group 251">
              <a:extLst>
                <a:ext uri="{C183D7F6-B498-43B3-948B-1728B52AA6E4}">
                  <adec:decorative xmlns:adec="http://schemas.microsoft.com/office/drawing/2017/decorative" val="1"/>
                </a:ext>
              </a:extLst>
            </p:cNvPr>
            <p:cNvGrpSpPr/>
            <p:nvPr/>
          </p:nvGrpSpPr>
          <p:grpSpPr>
            <a:xfrm>
              <a:off x="7522197" y="1602968"/>
              <a:ext cx="3072557" cy="338554"/>
              <a:chOff x="5443804" y="565277"/>
              <a:chExt cx="2565538" cy="296544"/>
            </a:xfrm>
            <a:solidFill>
              <a:schemeClr val="bg1"/>
            </a:solidFill>
          </p:grpSpPr>
          <p:sp>
            <p:nvSpPr>
              <p:cNvPr id="253" name="TextBox 252"/>
              <p:cNvSpPr txBox="1"/>
              <p:nvPr/>
            </p:nvSpPr>
            <p:spPr>
              <a:xfrm>
                <a:off x="5687276" y="565277"/>
                <a:ext cx="2322066" cy="296544"/>
              </a:xfrm>
              <a:prstGeom prst="rect">
                <a:avLst/>
              </a:prstGeom>
              <a:grpFill/>
            </p:spPr>
            <p:txBody>
              <a:bodyPr wrap="square" rtlCol="0">
                <a:spAutoFit/>
              </a:bodyPr>
              <a:lstStyle/>
              <a:p>
                <a:pPr defTabSz="609585" fontAlgn="base">
                  <a:spcBef>
                    <a:spcPct val="0"/>
                  </a:spcBef>
                  <a:spcAft>
                    <a:spcPct val="0"/>
                  </a:spcAft>
                </a:pPr>
                <a:r>
                  <a:rPr lang="en-US" sz="1600" dirty="0">
                    <a:solidFill>
                      <a:srgbClr val="636466"/>
                    </a:solidFill>
                    <a:cs typeface="Arial"/>
                  </a:rPr>
                  <a:t>Collaboration and sharing</a:t>
                </a:r>
              </a:p>
            </p:txBody>
          </p:sp>
          <p:grpSp>
            <p:nvGrpSpPr>
              <p:cNvPr id="254" name="Group 6061"/>
              <p:cNvGrpSpPr/>
              <p:nvPr/>
            </p:nvGrpSpPr>
            <p:grpSpPr>
              <a:xfrm>
                <a:off x="5443804" y="573444"/>
                <a:ext cx="260487" cy="253443"/>
                <a:chOff x="0" y="0"/>
                <a:chExt cx="723900" cy="704325"/>
              </a:xfrm>
              <a:grpFill/>
            </p:grpSpPr>
            <p:sp>
              <p:nvSpPr>
                <p:cNvPr id="255" name="Shape 6045"/>
                <p:cNvSpPr/>
                <p:nvPr/>
              </p:nvSpPr>
              <p:spPr>
                <a:xfrm>
                  <a:off x="40313" y="30526"/>
                  <a:ext cx="643274" cy="64327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pFill/>
                <a:ln w="3175" cap="flat">
                  <a:noFill/>
                  <a:miter lim="400000"/>
                </a:ln>
                <a:effectLst/>
              </p:spPr>
              <p:txBody>
                <a:bodyPr wrap="square" lIns="60959" tIns="60959" rIns="60959" bIns="60959" numCol="1" anchor="ctr">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grpSp>
              <p:nvGrpSpPr>
                <p:cNvPr id="256" name="Group 6060"/>
                <p:cNvGrpSpPr/>
                <p:nvPr/>
              </p:nvGrpSpPr>
              <p:grpSpPr>
                <a:xfrm>
                  <a:off x="-1" y="0"/>
                  <a:ext cx="723901" cy="704326"/>
                  <a:chOff x="0" y="0"/>
                  <a:chExt cx="723899" cy="704325"/>
                </a:xfrm>
                <a:grpFill/>
              </p:grpSpPr>
              <p:sp>
                <p:nvSpPr>
                  <p:cNvPr id="257" name="Shape 6046"/>
                  <p:cNvSpPr/>
                  <p:nvPr/>
                </p:nvSpPr>
                <p:spPr>
                  <a:xfrm>
                    <a:off x="10341" y="163901"/>
                    <a:ext cx="498103" cy="270893"/>
                  </a:xfrm>
                  <a:custGeom>
                    <a:avLst/>
                    <a:gdLst/>
                    <a:ahLst/>
                    <a:cxnLst>
                      <a:cxn ang="0">
                        <a:pos x="wd2" y="hd2"/>
                      </a:cxn>
                      <a:cxn ang="5400000">
                        <a:pos x="wd2" y="hd2"/>
                      </a:cxn>
                      <a:cxn ang="10800000">
                        <a:pos x="wd2" y="hd2"/>
                      </a:cxn>
                      <a:cxn ang="16200000">
                        <a:pos x="wd2" y="hd2"/>
                      </a:cxn>
                    </a:cxnLst>
                    <a:rect l="0" t="0" r="r" b="b"/>
                    <a:pathLst>
                      <a:path w="21562" h="21496" extrusionOk="0">
                        <a:moveTo>
                          <a:pt x="21449" y="14348"/>
                        </a:moveTo>
                        <a:cubicBezTo>
                          <a:pt x="19334" y="10471"/>
                          <a:pt x="19334" y="10471"/>
                          <a:pt x="19334" y="10471"/>
                        </a:cubicBezTo>
                        <a:cubicBezTo>
                          <a:pt x="17031" y="6248"/>
                          <a:pt x="17031" y="6248"/>
                          <a:pt x="17031" y="6248"/>
                        </a:cubicBezTo>
                        <a:cubicBezTo>
                          <a:pt x="17031" y="6248"/>
                          <a:pt x="17031" y="6248"/>
                          <a:pt x="17031" y="6248"/>
                        </a:cubicBezTo>
                        <a:cubicBezTo>
                          <a:pt x="13708" y="156"/>
                          <a:pt x="13708" y="156"/>
                          <a:pt x="13708" y="156"/>
                        </a:cubicBezTo>
                        <a:cubicBezTo>
                          <a:pt x="13557" y="-52"/>
                          <a:pt x="13368" y="-52"/>
                          <a:pt x="13255" y="156"/>
                        </a:cubicBezTo>
                        <a:cubicBezTo>
                          <a:pt x="11404" y="3479"/>
                          <a:pt x="11404" y="3479"/>
                          <a:pt x="11404" y="3479"/>
                        </a:cubicBezTo>
                        <a:cubicBezTo>
                          <a:pt x="11366" y="3548"/>
                          <a:pt x="11366" y="3617"/>
                          <a:pt x="11329" y="3686"/>
                        </a:cubicBezTo>
                        <a:cubicBezTo>
                          <a:pt x="9252" y="7494"/>
                          <a:pt x="9252" y="7494"/>
                          <a:pt x="9252" y="7494"/>
                        </a:cubicBezTo>
                        <a:cubicBezTo>
                          <a:pt x="0" y="7494"/>
                          <a:pt x="0" y="7494"/>
                          <a:pt x="0" y="7494"/>
                        </a:cubicBezTo>
                        <a:cubicBezTo>
                          <a:pt x="0" y="18017"/>
                          <a:pt x="0" y="18017"/>
                          <a:pt x="0" y="18017"/>
                        </a:cubicBezTo>
                        <a:cubicBezTo>
                          <a:pt x="12046" y="18017"/>
                          <a:pt x="12046" y="18017"/>
                          <a:pt x="12046" y="18017"/>
                        </a:cubicBezTo>
                        <a:cubicBezTo>
                          <a:pt x="13897" y="21340"/>
                          <a:pt x="13897" y="21340"/>
                          <a:pt x="13897" y="21340"/>
                        </a:cubicBezTo>
                        <a:cubicBezTo>
                          <a:pt x="14010" y="21548"/>
                          <a:pt x="14199" y="21548"/>
                          <a:pt x="14350" y="21340"/>
                        </a:cubicBezTo>
                        <a:cubicBezTo>
                          <a:pt x="15407" y="19402"/>
                          <a:pt x="15407" y="19402"/>
                          <a:pt x="15407" y="19402"/>
                        </a:cubicBezTo>
                        <a:cubicBezTo>
                          <a:pt x="15558" y="19125"/>
                          <a:pt x="15558" y="18779"/>
                          <a:pt x="15407" y="18502"/>
                        </a:cubicBezTo>
                        <a:cubicBezTo>
                          <a:pt x="15407" y="18502"/>
                          <a:pt x="15407" y="18502"/>
                          <a:pt x="15407" y="18502"/>
                        </a:cubicBezTo>
                        <a:cubicBezTo>
                          <a:pt x="15898" y="17671"/>
                          <a:pt x="15898" y="17671"/>
                          <a:pt x="15898" y="17671"/>
                        </a:cubicBezTo>
                        <a:cubicBezTo>
                          <a:pt x="15973" y="17810"/>
                          <a:pt x="16124" y="17879"/>
                          <a:pt x="16238" y="17810"/>
                        </a:cubicBezTo>
                        <a:cubicBezTo>
                          <a:pt x="17899" y="20856"/>
                          <a:pt x="17899" y="20856"/>
                          <a:pt x="17899" y="20856"/>
                        </a:cubicBezTo>
                        <a:cubicBezTo>
                          <a:pt x="18050" y="21133"/>
                          <a:pt x="18239" y="21133"/>
                          <a:pt x="18352" y="20856"/>
                        </a:cubicBezTo>
                        <a:cubicBezTo>
                          <a:pt x="19448" y="18917"/>
                          <a:pt x="19448" y="18917"/>
                          <a:pt x="19448" y="18917"/>
                        </a:cubicBezTo>
                        <a:cubicBezTo>
                          <a:pt x="19561" y="18710"/>
                          <a:pt x="19561" y="18294"/>
                          <a:pt x="19448" y="18086"/>
                        </a:cubicBezTo>
                        <a:cubicBezTo>
                          <a:pt x="17522" y="14556"/>
                          <a:pt x="17522" y="14556"/>
                          <a:pt x="17522" y="14556"/>
                        </a:cubicBezTo>
                        <a:cubicBezTo>
                          <a:pt x="18013" y="13725"/>
                          <a:pt x="18013" y="13725"/>
                          <a:pt x="18013" y="13725"/>
                        </a:cubicBezTo>
                        <a:cubicBezTo>
                          <a:pt x="19938" y="17186"/>
                          <a:pt x="19938" y="17186"/>
                          <a:pt x="19938" y="17186"/>
                        </a:cubicBezTo>
                        <a:cubicBezTo>
                          <a:pt x="20052" y="17394"/>
                          <a:pt x="20241" y="17394"/>
                          <a:pt x="20392" y="17186"/>
                        </a:cubicBezTo>
                        <a:cubicBezTo>
                          <a:pt x="21449" y="15248"/>
                          <a:pt x="21449" y="15248"/>
                          <a:pt x="21449" y="15248"/>
                        </a:cubicBezTo>
                        <a:cubicBezTo>
                          <a:pt x="21600" y="14971"/>
                          <a:pt x="21600" y="14625"/>
                          <a:pt x="21449" y="14348"/>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58" name="Shape 6047"/>
                  <p:cNvSpPr/>
                  <p:nvPr/>
                </p:nvSpPr>
                <p:spPr>
                  <a:xfrm>
                    <a:off x="0" y="152905"/>
                    <a:ext cx="519021" cy="292885"/>
                  </a:xfrm>
                  <a:custGeom>
                    <a:avLst/>
                    <a:gdLst/>
                    <a:ahLst/>
                    <a:cxnLst>
                      <a:cxn ang="0">
                        <a:pos x="wd2" y="hd2"/>
                      </a:cxn>
                      <a:cxn ang="5400000">
                        <a:pos x="wd2" y="hd2"/>
                      </a:cxn>
                      <a:cxn ang="10800000">
                        <a:pos x="wd2" y="hd2"/>
                      </a:cxn>
                      <a:cxn ang="16200000">
                        <a:pos x="wd2" y="hd2"/>
                      </a:cxn>
                    </a:cxnLst>
                    <a:rect l="0" t="0" r="r" b="b"/>
                    <a:pathLst>
                      <a:path w="21528" h="21600" extrusionOk="0">
                        <a:moveTo>
                          <a:pt x="13351" y="771"/>
                        </a:moveTo>
                        <a:cubicBezTo>
                          <a:pt x="13423" y="771"/>
                          <a:pt x="13495" y="836"/>
                          <a:pt x="13568" y="964"/>
                        </a:cubicBezTo>
                        <a:cubicBezTo>
                          <a:pt x="16752" y="6621"/>
                          <a:pt x="16752" y="6621"/>
                          <a:pt x="16752" y="6621"/>
                        </a:cubicBezTo>
                        <a:cubicBezTo>
                          <a:pt x="16752" y="6621"/>
                          <a:pt x="16752" y="6621"/>
                          <a:pt x="16752" y="6621"/>
                        </a:cubicBezTo>
                        <a:cubicBezTo>
                          <a:pt x="18959" y="10543"/>
                          <a:pt x="18959" y="10543"/>
                          <a:pt x="18959" y="10543"/>
                        </a:cubicBezTo>
                        <a:cubicBezTo>
                          <a:pt x="20985" y="14143"/>
                          <a:pt x="20985" y="14143"/>
                          <a:pt x="20985" y="14143"/>
                        </a:cubicBezTo>
                        <a:cubicBezTo>
                          <a:pt x="21130" y="14400"/>
                          <a:pt x="21130" y="14721"/>
                          <a:pt x="20985" y="14979"/>
                        </a:cubicBezTo>
                        <a:cubicBezTo>
                          <a:pt x="19972" y="16779"/>
                          <a:pt x="19972" y="16779"/>
                          <a:pt x="19972" y="16779"/>
                        </a:cubicBezTo>
                        <a:cubicBezTo>
                          <a:pt x="19899" y="16907"/>
                          <a:pt x="19827" y="16971"/>
                          <a:pt x="19755" y="16971"/>
                        </a:cubicBezTo>
                        <a:cubicBezTo>
                          <a:pt x="19646" y="16971"/>
                          <a:pt x="19574" y="16907"/>
                          <a:pt x="19538" y="16779"/>
                        </a:cubicBezTo>
                        <a:cubicBezTo>
                          <a:pt x="17692" y="13564"/>
                          <a:pt x="17692" y="13564"/>
                          <a:pt x="17692" y="13564"/>
                        </a:cubicBezTo>
                        <a:cubicBezTo>
                          <a:pt x="17222" y="14336"/>
                          <a:pt x="17222" y="14336"/>
                          <a:pt x="17222" y="14336"/>
                        </a:cubicBezTo>
                        <a:cubicBezTo>
                          <a:pt x="19067" y="17614"/>
                          <a:pt x="19067" y="17614"/>
                          <a:pt x="19067" y="17614"/>
                        </a:cubicBezTo>
                        <a:cubicBezTo>
                          <a:pt x="19176" y="17807"/>
                          <a:pt x="19176" y="18193"/>
                          <a:pt x="19067" y="18386"/>
                        </a:cubicBezTo>
                        <a:cubicBezTo>
                          <a:pt x="18018" y="20186"/>
                          <a:pt x="18018" y="20186"/>
                          <a:pt x="18018" y="20186"/>
                        </a:cubicBezTo>
                        <a:cubicBezTo>
                          <a:pt x="17982" y="20314"/>
                          <a:pt x="17873" y="20379"/>
                          <a:pt x="17801" y="20379"/>
                        </a:cubicBezTo>
                        <a:cubicBezTo>
                          <a:pt x="17729" y="20379"/>
                          <a:pt x="17656" y="20314"/>
                          <a:pt x="17584" y="20186"/>
                        </a:cubicBezTo>
                        <a:cubicBezTo>
                          <a:pt x="15992" y="17357"/>
                          <a:pt x="15992" y="17357"/>
                          <a:pt x="15992" y="17357"/>
                        </a:cubicBezTo>
                        <a:cubicBezTo>
                          <a:pt x="15956" y="17357"/>
                          <a:pt x="15920" y="17357"/>
                          <a:pt x="15883" y="17357"/>
                        </a:cubicBezTo>
                        <a:cubicBezTo>
                          <a:pt x="15811" y="17357"/>
                          <a:pt x="15739" y="17293"/>
                          <a:pt x="15666" y="17229"/>
                        </a:cubicBezTo>
                        <a:cubicBezTo>
                          <a:pt x="15196" y="18000"/>
                          <a:pt x="15196" y="18000"/>
                          <a:pt x="15196" y="18000"/>
                        </a:cubicBezTo>
                        <a:cubicBezTo>
                          <a:pt x="15196" y="18000"/>
                          <a:pt x="15196" y="18000"/>
                          <a:pt x="15196" y="18000"/>
                        </a:cubicBezTo>
                        <a:cubicBezTo>
                          <a:pt x="15341" y="18257"/>
                          <a:pt x="15341" y="18579"/>
                          <a:pt x="15196" y="18836"/>
                        </a:cubicBezTo>
                        <a:cubicBezTo>
                          <a:pt x="14183" y="20636"/>
                          <a:pt x="14183" y="20636"/>
                          <a:pt x="14183" y="20636"/>
                        </a:cubicBezTo>
                        <a:cubicBezTo>
                          <a:pt x="14111" y="20764"/>
                          <a:pt x="14038" y="20829"/>
                          <a:pt x="13966" y="20829"/>
                        </a:cubicBezTo>
                        <a:cubicBezTo>
                          <a:pt x="13857" y="20829"/>
                          <a:pt x="13785" y="20764"/>
                          <a:pt x="13749" y="20636"/>
                        </a:cubicBezTo>
                        <a:cubicBezTo>
                          <a:pt x="11976" y="17550"/>
                          <a:pt x="11976" y="17550"/>
                          <a:pt x="11976" y="17550"/>
                        </a:cubicBezTo>
                        <a:cubicBezTo>
                          <a:pt x="434" y="17550"/>
                          <a:pt x="434" y="17550"/>
                          <a:pt x="434" y="17550"/>
                        </a:cubicBezTo>
                        <a:cubicBezTo>
                          <a:pt x="434" y="7779"/>
                          <a:pt x="434" y="7779"/>
                          <a:pt x="434" y="7779"/>
                        </a:cubicBezTo>
                        <a:cubicBezTo>
                          <a:pt x="9298" y="7779"/>
                          <a:pt x="9298" y="7779"/>
                          <a:pt x="9298" y="7779"/>
                        </a:cubicBezTo>
                        <a:cubicBezTo>
                          <a:pt x="11288" y="4243"/>
                          <a:pt x="11288" y="4243"/>
                          <a:pt x="11288" y="4243"/>
                        </a:cubicBezTo>
                        <a:cubicBezTo>
                          <a:pt x="11325" y="4179"/>
                          <a:pt x="11325" y="4114"/>
                          <a:pt x="11361" y="4050"/>
                        </a:cubicBezTo>
                        <a:cubicBezTo>
                          <a:pt x="13134" y="964"/>
                          <a:pt x="13134" y="964"/>
                          <a:pt x="13134" y="964"/>
                        </a:cubicBezTo>
                        <a:cubicBezTo>
                          <a:pt x="13170" y="836"/>
                          <a:pt x="13242" y="771"/>
                          <a:pt x="13351" y="771"/>
                        </a:cubicBezTo>
                        <a:moveTo>
                          <a:pt x="13351" y="0"/>
                        </a:moveTo>
                        <a:cubicBezTo>
                          <a:pt x="13134" y="0"/>
                          <a:pt x="12953" y="129"/>
                          <a:pt x="12808" y="386"/>
                        </a:cubicBezTo>
                        <a:cubicBezTo>
                          <a:pt x="11071" y="3536"/>
                          <a:pt x="11071" y="3536"/>
                          <a:pt x="11071" y="3536"/>
                        </a:cubicBezTo>
                        <a:cubicBezTo>
                          <a:pt x="10999" y="3600"/>
                          <a:pt x="10999" y="3664"/>
                          <a:pt x="10963" y="3729"/>
                        </a:cubicBezTo>
                        <a:cubicBezTo>
                          <a:pt x="9118" y="7007"/>
                          <a:pt x="9118" y="7007"/>
                          <a:pt x="9118" y="7007"/>
                        </a:cubicBezTo>
                        <a:cubicBezTo>
                          <a:pt x="434" y="7007"/>
                          <a:pt x="434" y="7007"/>
                          <a:pt x="434" y="7007"/>
                        </a:cubicBezTo>
                        <a:cubicBezTo>
                          <a:pt x="181" y="7007"/>
                          <a:pt x="0" y="7329"/>
                          <a:pt x="0" y="7779"/>
                        </a:cubicBezTo>
                        <a:cubicBezTo>
                          <a:pt x="0" y="17550"/>
                          <a:pt x="0" y="17550"/>
                          <a:pt x="0" y="17550"/>
                        </a:cubicBezTo>
                        <a:cubicBezTo>
                          <a:pt x="0" y="18000"/>
                          <a:pt x="181" y="18321"/>
                          <a:pt x="434" y="18321"/>
                        </a:cubicBezTo>
                        <a:cubicBezTo>
                          <a:pt x="11795" y="18321"/>
                          <a:pt x="11795" y="18321"/>
                          <a:pt x="11795" y="18321"/>
                        </a:cubicBezTo>
                        <a:cubicBezTo>
                          <a:pt x="13423" y="21214"/>
                          <a:pt x="13423" y="21214"/>
                          <a:pt x="13423" y="21214"/>
                        </a:cubicBezTo>
                        <a:cubicBezTo>
                          <a:pt x="13568" y="21471"/>
                          <a:pt x="13749" y="21600"/>
                          <a:pt x="13966" y="21600"/>
                        </a:cubicBezTo>
                        <a:cubicBezTo>
                          <a:pt x="14147" y="21600"/>
                          <a:pt x="14328" y="21471"/>
                          <a:pt x="14472" y="21214"/>
                        </a:cubicBezTo>
                        <a:cubicBezTo>
                          <a:pt x="15522" y="19350"/>
                          <a:pt x="15522" y="19350"/>
                          <a:pt x="15522" y="19350"/>
                        </a:cubicBezTo>
                        <a:cubicBezTo>
                          <a:pt x="15666" y="19093"/>
                          <a:pt x="15739" y="18771"/>
                          <a:pt x="15739" y="18386"/>
                        </a:cubicBezTo>
                        <a:cubicBezTo>
                          <a:pt x="15739" y="18321"/>
                          <a:pt x="15739" y="18257"/>
                          <a:pt x="15703" y="18193"/>
                        </a:cubicBezTo>
                        <a:cubicBezTo>
                          <a:pt x="15739" y="18129"/>
                          <a:pt x="15739" y="18129"/>
                          <a:pt x="15739" y="18129"/>
                        </a:cubicBezTo>
                        <a:cubicBezTo>
                          <a:pt x="15775" y="18129"/>
                          <a:pt x="15775" y="18129"/>
                          <a:pt x="15811" y="18129"/>
                        </a:cubicBezTo>
                        <a:cubicBezTo>
                          <a:pt x="17294" y="20764"/>
                          <a:pt x="17294" y="20764"/>
                          <a:pt x="17294" y="20764"/>
                        </a:cubicBezTo>
                        <a:cubicBezTo>
                          <a:pt x="17439" y="21021"/>
                          <a:pt x="17620" y="21150"/>
                          <a:pt x="17801" y="21150"/>
                        </a:cubicBezTo>
                        <a:cubicBezTo>
                          <a:pt x="18018" y="21150"/>
                          <a:pt x="18199" y="21021"/>
                          <a:pt x="18344" y="20764"/>
                        </a:cubicBezTo>
                        <a:cubicBezTo>
                          <a:pt x="19357" y="18900"/>
                          <a:pt x="19357" y="18900"/>
                          <a:pt x="19357" y="18900"/>
                        </a:cubicBezTo>
                        <a:cubicBezTo>
                          <a:pt x="19502" y="18707"/>
                          <a:pt x="19574" y="18321"/>
                          <a:pt x="19574" y="18000"/>
                        </a:cubicBezTo>
                        <a:cubicBezTo>
                          <a:pt x="19574" y="17871"/>
                          <a:pt x="19574" y="17807"/>
                          <a:pt x="19574" y="17679"/>
                        </a:cubicBezTo>
                        <a:cubicBezTo>
                          <a:pt x="19610" y="17679"/>
                          <a:pt x="19682" y="17743"/>
                          <a:pt x="19755" y="17743"/>
                        </a:cubicBezTo>
                        <a:cubicBezTo>
                          <a:pt x="19936" y="17743"/>
                          <a:pt x="20117" y="17614"/>
                          <a:pt x="20261" y="17357"/>
                        </a:cubicBezTo>
                        <a:cubicBezTo>
                          <a:pt x="21311" y="15493"/>
                          <a:pt x="21311" y="15493"/>
                          <a:pt x="21311" y="15493"/>
                        </a:cubicBezTo>
                        <a:cubicBezTo>
                          <a:pt x="21600" y="14979"/>
                          <a:pt x="21600" y="14143"/>
                          <a:pt x="21311" y="13629"/>
                        </a:cubicBezTo>
                        <a:cubicBezTo>
                          <a:pt x="19248" y="9964"/>
                          <a:pt x="19248" y="9964"/>
                          <a:pt x="19248" y="9964"/>
                        </a:cubicBezTo>
                        <a:cubicBezTo>
                          <a:pt x="17077" y="6107"/>
                          <a:pt x="17077" y="6107"/>
                          <a:pt x="17077" y="6107"/>
                        </a:cubicBezTo>
                        <a:cubicBezTo>
                          <a:pt x="17077" y="6107"/>
                          <a:pt x="17077" y="6107"/>
                          <a:pt x="17077" y="6107"/>
                        </a:cubicBezTo>
                        <a:cubicBezTo>
                          <a:pt x="13857" y="386"/>
                          <a:pt x="13857" y="386"/>
                          <a:pt x="13857" y="386"/>
                        </a:cubicBezTo>
                        <a:cubicBezTo>
                          <a:pt x="13713" y="129"/>
                          <a:pt x="13532" y="0"/>
                          <a:pt x="13351"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59" name="Shape 6048"/>
                  <p:cNvSpPr/>
                  <p:nvPr/>
                </p:nvSpPr>
                <p:spPr>
                  <a:xfrm>
                    <a:off x="9602" y="258535"/>
                    <a:ext cx="703957" cy="445791"/>
                  </a:xfrm>
                  <a:custGeom>
                    <a:avLst/>
                    <a:gdLst/>
                    <a:ahLst/>
                    <a:cxnLst>
                      <a:cxn ang="0">
                        <a:pos x="wd2" y="hd2"/>
                      </a:cxn>
                      <a:cxn ang="5400000">
                        <a:pos x="wd2" y="hd2"/>
                      </a:cxn>
                      <a:cxn ang="10800000">
                        <a:pos x="wd2" y="hd2"/>
                      </a:cxn>
                      <a:cxn ang="16200000">
                        <a:pos x="wd2" y="hd2"/>
                      </a:cxn>
                    </a:cxnLst>
                    <a:rect l="0" t="0" r="r" b="b"/>
                    <a:pathLst>
                      <a:path w="21600" h="21600" extrusionOk="0">
                        <a:moveTo>
                          <a:pt x="20021" y="6932"/>
                        </a:moveTo>
                        <a:cubicBezTo>
                          <a:pt x="19271" y="13865"/>
                          <a:pt x="15471" y="19106"/>
                          <a:pt x="10894" y="19106"/>
                        </a:cubicBezTo>
                        <a:cubicBezTo>
                          <a:pt x="5781" y="19106"/>
                          <a:pt x="1659" y="12596"/>
                          <a:pt x="1659" y="4523"/>
                        </a:cubicBezTo>
                        <a:cubicBezTo>
                          <a:pt x="1659" y="2959"/>
                          <a:pt x="1820" y="1437"/>
                          <a:pt x="2114" y="0"/>
                        </a:cubicBezTo>
                        <a:cubicBezTo>
                          <a:pt x="0" y="0"/>
                          <a:pt x="0" y="0"/>
                          <a:pt x="0" y="0"/>
                        </a:cubicBezTo>
                        <a:cubicBezTo>
                          <a:pt x="0" y="19148"/>
                          <a:pt x="0" y="19148"/>
                          <a:pt x="0" y="19148"/>
                        </a:cubicBezTo>
                        <a:cubicBezTo>
                          <a:pt x="0" y="20501"/>
                          <a:pt x="696" y="21600"/>
                          <a:pt x="1552" y="21600"/>
                        </a:cubicBezTo>
                        <a:cubicBezTo>
                          <a:pt x="4309" y="21600"/>
                          <a:pt x="4309" y="21600"/>
                          <a:pt x="4309" y="21600"/>
                        </a:cubicBezTo>
                        <a:cubicBezTo>
                          <a:pt x="6531" y="21600"/>
                          <a:pt x="6531" y="21600"/>
                          <a:pt x="6531" y="21600"/>
                        </a:cubicBezTo>
                        <a:cubicBezTo>
                          <a:pt x="6799" y="21600"/>
                          <a:pt x="6799" y="21600"/>
                          <a:pt x="6799" y="21600"/>
                        </a:cubicBezTo>
                        <a:cubicBezTo>
                          <a:pt x="16541" y="21600"/>
                          <a:pt x="16541" y="21600"/>
                          <a:pt x="16541" y="21600"/>
                        </a:cubicBezTo>
                        <a:cubicBezTo>
                          <a:pt x="17398" y="21600"/>
                          <a:pt x="17398" y="21600"/>
                          <a:pt x="17398" y="21600"/>
                        </a:cubicBezTo>
                        <a:cubicBezTo>
                          <a:pt x="20048" y="21600"/>
                          <a:pt x="20048" y="21600"/>
                          <a:pt x="20048" y="21600"/>
                        </a:cubicBezTo>
                        <a:cubicBezTo>
                          <a:pt x="20904" y="21600"/>
                          <a:pt x="21600" y="20501"/>
                          <a:pt x="21600" y="19148"/>
                        </a:cubicBezTo>
                        <a:cubicBezTo>
                          <a:pt x="21600" y="6932"/>
                          <a:pt x="21600" y="6932"/>
                          <a:pt x="21600" y="6932"/>
                        </a:cubicBezTo>
                        <a:lnTo>
                          <a:pt x="20021" y="6932"/>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60" name="Shape 6049"/>
                  <p:cNvSpPr/>
                  <p:nvPr/>
                </p:nvSpPr>
                <p:spPr>
                  <a:xfrm>
                    <a:off x="180152" y="163900"/>
                    <a:ext cx="533407" cy="411242"/>
                  </a:xfrm>
                  <a:custGeom>
                    <a:avLst/>
                    <a:gdLst/>
                    <a:ahLst/>
                    <a:cxnLst>
                      <a:cxn ang="0">
                        <a:pos x="wd2" y="hd2"/>
                      </a:cxn>
                      <a:cxn ang="5400000">
                        <a:pos x="wd2" y="hd2"/>
                      </a:cxn>
                      <a:cxn ang="10800000">
                        <a:pos x="wd2" y="hd2"/>
                      </a:cxn>
                      <a:cxn ang="16200000">
                        <a:pos x="wd2" y="hd2"/>
                      </a:cxn>
                    </a:cxnLst>
                    <a:rect l="0" t="0" r="r" b="b"/>
                    <a:pathLst>
                      <a:path w="21574" h="21531" extrusionOk="0">
                        <a:moveTo>
                          <a:pt x="12750" y="4944"/>
                        </a:moveTo>
                        <a:cubicBezTo>
                          <a:pt x="9009" y="103"/>
                          <a:pt x="9009" y="103"/>
                          <a:pt x="9009" y="103"/>
                        </a:cubicBezTo>
                        <a:cubicBezTo>
                          <a:pt x="8903" y="-34"/>
                          <a:pt x="8692" y="-34"/>
                          <a:pt x="8586" y="103"/>
                        </a:cubicBezTo>
                        <a:cubicBezTo>
                          <a:pt x="7562" y="1427"/>
                          <a:pt x="7562" y="1427"/>
                          <a:pt x="7562" y="1427"/>
                        </a:cubicBezTo>
                        <a:cubicBezTo>
                          <a:pt x="9362" y="3756"/>
                          <a:pt x="9362" y="3756"/>
                          <a:pt x="9362" y="3756"/>
                        </a:cubicBezTo>
                        <a:cubicBezTo>
                          <a:pt x="9574" y="4030"/>
                          <a:pt x="9574" y="4533"/>
                          <a:pt x="9362" y="4807"/>
                        </a:cubicBezTo>
                        <a:cubicBezTo>
                          <a:pt x="7527" y="7181"/>
                          <a:pt x="7527" y="7181"/>
                          <a:pt x="7527" y="7181"/>
                        </a:cubicBezTo>
                        <a:cubicBezTo>
                          <a:pt x="7421" y="7318"/>
                          <a:pt x="7280" y="7410"/>
                          <a:pt x="7139" y="7410"/>
                        </a:cubicBezTo>
                        <a:cubicBezTo>
                          <a:pt x="6962" y="7410"/>
                          <a:pt x="6821" y="7318"/>
                          <a:pt x="6715" y="7181"/>
                        </a:cubicBezTo>
                        <a:cubicBezTo>
                          <a:pt x="5833" y="5994"/>
                          <a:pt x="5833" y="5994"/>
                          <a:pt x="5833" y="5994"/>
                        </a:cubicBezTo>
                        <a:cubicBezTo>
                          <a:pt x="3468" y="9054"/>
                          <a:pt x="3468" y="9054"/>
                          <a:pt x="3468" y="9054"/>
                        </a:cubicBezTo>
                        <a:cubicBezTo>
                          <a:pt x="3433" y="9099"/>
                          <a:pt x="3433" y="9099"/>
                          <a:pt x="3433" y="9099"/>
                        </a:cubicBezTo>
                        <a:cubicBezTo>
                          <a:pt x="80" y="13437"/>
                          <a:pt x="80" y="13437"/>
                          <a:pt x="80" y="13437"/>
                        </a:cubicBezTo>
                        <a:cubicBezTo>
                          <a:pt x="-26" y="13574"/>
                          <a:pt x="-26" y="13803"/>
                          <a:pt x="80" y="13940"/>
                        </a:cubicBezTo>
                        <a:cubicBezTo>
                          <a:pt x="962" y="15036"/>
                          <a:pt x="962" y="15036"/>
                          <a:pt x="962" y="15036"/>
                        </a:cubicBezTo>
                        <a:cubicBezTo>
                          <a:pt x="1068" y="15173"/>
                          <a:pt x="1209" y="15173"/>
                          <a:pt x="1315" y="15036"/>
                        </a:cubicBezTo>
                        <a:cubicBezTo>
                          <a:pt x="2268" y="13803"/>
                          <a:pt x="2268" y="13803"/>
                          <a:pt x="2268" y="13803"/>
                        </a:cubicBezTo>
                        <a:cubicBezTo>
                          <a:pt x="2656" y="14305"/>
                          <a:pt x="2656" y="14305"/>
                          <a:pt x="2656" y="14305"/>
                        </a:cubicBezTo>
                        <a:cubicBezTo>
                          <a:pt x="1703" y="15538"/>
                          <a:pt x="1703" y="15538"/>
                          <a:pt x="1703" y="15538"/>
                        </a:cubicBezTo>
                        <a:cubicBezTo>
                          <a:pt x="1598" y="15675"/>
                          <a:pt x="1598" y="15903"/>
                          <a:pt x="1703" y="16040"/>
                        </a:cubicBezTo>
                        <a:cubicBezTo>
                          <a:pt x="2586" y="17182"/>
                          <a:pt x="2586" y="17182"/>
                          <a:pt x="2586" y="17182"/>
                        </a:cubicBezTo>
                        <a:cubicBezTo>
                          <a:pt x="2692" y="17319"/>
                          <a:pt x="2868" y="17319"/>
                          <a:pt x="2974" y="17182"/>
                        </a:cubicBezTo>
                        <a:cubicBezTo>
                          <a:pt x="3927" y="15949"/>
                          <a:pt x="3927" y="15949"/>
                          <a:pt x="3927" y="15949"/>
                        </a:cubicBezTo>
                        <a:cubicBezTo>
                          <a:pt x="4315" y="16451"/>
                          <a:pt x="4315" y="16451"/>
                          <a:pt x="4315" y="16451"/>
                        </a:cubicBezTo>
                        <a:cubicBezTo>
                          <a:pt x="3362" y="17684"/>
                          <a:pt x="3362" y="17684"/>
                          <a:pt x="3362" y="17684"/>
                        </a:cubicBezTo>
                        <a:cubicBezTo>
                          <a:pt x="3256" y="17821"/>
                          <a:pt x="3256" y="18050"/>
                          <a:pt x="3362" y="18187"/>
                        </a:cubicBezTo>
                        <a:cubicBezTo>
                          <a:pt x="4245" y="19328"/>
                          <a:pt x="4245" y="19328"/>
                          <a:pt x="4245" y="19328"/>
                        </a:cubicBezTo>
                        <a:cubicBezTo>
                          <a:pt x="4350" y="19465"/>
                          <a:pt x="4527" y="19465"/>
                          <a:pt x="4598" y="19328"/>
                        </a:cubicBezTo>
                        <a:cubicBezTo>
                          <a:pt x="5586" y="18095"/>
                          <a:pt x="5586" y="18095"/>
                          <a:pt x="5586" y="18095"/>
                        </a:cubicBezTo>
                        <a:cubicBezTo>
                          <a:pt x="5974" y="18598"/>
                          <a:pt x="5974" y="18598"/>
                          <a:pt x="5974" y="18598"/>
                        </a:cubicBezTo>
                        <a:cubicBezTo>
                          <a:pt x="4986" y="19831"/>
                          <a:pt x="4986" y="19831"/>
                          <a:pt x="4986" y="19831"/>
                        </a:cubicBezTo>
                        <a:cubicBezTo>
                          <a:pt x="4915" y="19968"/>
                          <a:pt x="4915" y="20150"/>
                          <a:pt x="4986" y="20287"/>
                        </a:cubicBezTo>
                        <a:cubicBezTo>
                          <a:pt x="5868" y="21429"/>
                          <a:pt x="5868" y="21429"/>
                          <a:pt x="5868" y="21429"/>
                        </a:cubicBezTo>
                        <a:cubicBezTo>
                          <a:pt x="5974" y="21566"/>
                          <a:pt x="6150" y="21566"/>
                          <a:pt x="6256" y="21429"/>
                        </a:cubicBezTo>
                        <a:cubicBezTo>
                          <a:pt x="7209" y="20196"/>
                          <a:pt x="7209" y="20196"/>
                          <a:pt x="7209" y="20196"/>
                        </a:cubicBezTo>
                        <a:cubicBezTo>
                          <a:pt x="7245" y="20242"/>
                          <a:pt x="7245" y="20242"/>
                          <a:pt x="7245" y="20242"/>
                        </a:cubicBezTo>
                        <a:cubicBezTo>
                          <a:pt x="13739" y="11885"/>
                          <a:pt x="13739" y="11885"/>
                          <a:pt x="13739" y="11885"/>
                        </a:cubicBezTo>
                        <a:cubicBezTo>
                          <a:pt x="21574" y="11885"/>
                          <a:pt x="21574" y="11885"/>
                          <a:pt x="21574" y="11885"/>
                        </a:cubicBezTo>
                        <a:cubicBezTo>
                          <a:pt x="21574" y="4944"/>
                          <a:pt x="21574" y="4944"/>
                          <a:pt x="21574" y="4944"/>
                        </a:cubicBezTo>
                        <a:lnTo>
                          <a:pt x="12750" y="4944"/>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61" name="Shape 6050"/>
                  <p:cNvSpPr/>
                  <p:nvPr/>
                </p:nvSpPr>
                <p:spPr>
                  <a:xfrm>
                    <a:off x="404793" y="321322"/>
                    <a:ext cx="138502" cy="138503"/>
                  </a:xfrm>
                  <a:custGeom>
                    <a:avLst/>
                    <a:gdLst/>
                    <a:ahLst/>
                    <a:cxnLst>
                      <a:cxn ang="0">
                        <a:pos x="wd2" y="hd2"/>
                      </a:cxn>
                      <a:cxn ang="5400000">
                        <a:pos x="wd2" y="hd2"/>
                      </a:cxn>
                      <a:cxn ang="10800000">
                        <a:pos x="wd2" y="hd2"/>
                      </a:cxn>
                      <a:cxn ang="16200000">
                        <a:pos x="wd2" y="hd2"/>
                      </a:cxn>
                    </a:cxnLst>
                    <a:rect l="0" t="0" r="r" b="b"/>
                    <a:pathLst>
                      <a:path w="21600" h="21600" extrusionOk="0">
                        <a:moveTo>
                          <a:pt x="6113" y="1630"/>
                        </a:moveTo>
                        <a:cubicBezTo>
                          <a:pt x="6385" y="1630"/>
                          <a:pt x="6657" y="1766"/>
                          <a:pt x="6792" y="1902"/>
                        </a:cubicBezTo>
                        <a:cubicBezTo>
                          <a:pt x="19698" y="14808"/>
                          <a:pt x="19698" y="14808"/>
                          <a:pt x="19698" y="14808"/>
                        </a:cubicBezTo>
                        <a:cubicBezTo>
                          <a:pt x="20106" y="15215"/>
                          <a:pt x="20106" y="15894"/>
                          <a:pt x="19698" y="16302"/>
                        </a:cubicBezTo>
                        <a:cubicBezTo>
                          <a:pt x="16302" y="19562"/>
                          <a:pt x="16302" y="19562"/>
                          <a:pt x="16302" y="19562"/>
                        </a:cubicBezTo>
                        <a:cubicBezTo>
                          <a:pt x="16030" y="19834"/>
                          <a:pt x="15758" y="19970"/>
                          <a:pt x="15623" y="19970"/>
                        </a:cubicBezTo>
                        <a:cubicBezTo>
                          <a:pt x="15351" y="19970"/>
                          <a:pt x="15079" y="19834"/>
                          <a:pt x="14808" y="19562"/>
                        </a:cubicBezTo>
                        <a:cubicBezTo>
                          <a:pt x="1902" y="6792"/>
                          <a:pt x="1902" y="6792"/>
                          <a:pt x="1902" y="6792"/>
                        </a:cubicBezTo>
                        <a:cubicBezTo>
                          <a:pt x="1630" y="6385"/>
                          <a:pt x="1630" y="5706"/>
                          <a:pt x="1902" y="5298"/>
                        </a:cubicBezTo>
                        <a:cubicBezTo>
                          <a:pt x="5298" y="1902"/>
                          <a:pt x="5298" y="1902"/>
                          <a:pt x="5298" y="1902"/>
                        </a:cubicBezTo>
                        <a:cubicBezTo>
                          <a:pt x="5570" y="1766"/>
                          <a:pt x="5842" y="1630"/>
                          <a:pt x="6113" y="1630"/>
                        </a:cubicBezTo>
                        <a:moveTo>
                          <a:pt x="6113" y="0"/>
                        </a:moveTo>
                        <a:cubicBezTo>
                          <a:pt x="6113" y="0"/>
                          <a:pt x="6113" y="0"/>
                          <a:pt x="6113" y="0"/>
                        </a:cubicBezTo>
                        <a:cubicBezTo>
                          <a:pt x="5298" y="0"/>
                          <a:pt x="4755" y="272"/>
                          <a:pt x="4211" y="815"/>
                        </a:cubicBezTo>
                        <a:cubicBezTo>
                          <a:pt x="815" y="4211"/>
                          <a:pt x="815" y="4211"/>
                          <a:pt x="815" y="4211"/>
                        </a:cubicBezTo>
                        <a:cubicBezTo>
                          <a:pt x="272" y="4619"/>
                          <a:pt x="0" y="5298"/>
                          <a:pt x="0" y="5977"/>
                        </a:cubicBezTo>
                        <a:cubicBezTo>
                          <a:pt x="0" y="6792"/>
                          <a:pt x="272" y="7472"/>
                          <a:pt x="815" y="7879"/>
                        </a:cubicBezTo>
                        <a:cubicBezTo>
                          <a:pt x="13721" y="20785"/>
                          <a:pt x="13721" y="20785"/>
                          <a:pt x="13721" y="20785"/>
                        </a:cubicBezTo>
                        <a:cubicBezTo>
                          <a:pt x="14128" y="21328"/>
                          <a:pt x="14808" y="21600"/>
                          <a:pt x="15623" y="21600"/>
                        </a:cubicBezTo>
                        <a:cubicBezTo>
                          <a:pt x="16302" y="21600"/>
                          <a:pt x="16981" y="21328"/>
                          <a:pt x="17389" y="20785"/>
                        </a:cubicBezTo>
                        <a:cubicBezTo>
                          <a:pt x="20785" y="17389"/>
                          <a:pt x="20785" y="17389"/>
                          <a:pt x="20785" y="17389"/>
                        </a:cubicBezTo>
                        <a:cubicBezTo>
                          <a:pt x="21328" y="16845"/>
                          <a:pt x="21600" y="16166"/>
                          <a:pt x="21600" y="15487"/>
                        </a:cubicBezTo>
                        <a:cubicBezTo>
                          <a:pt x="21600" y="14808"/>
                          <a:pt x="21328" y="14128"/>
                          <a:pt x="20785" y="13585"/>
                        </a:cubicBezTo>
                        <a:cubicBezTo>
                          <a:pt x="8015" y="815"/>
                          <a:pt x="8015" y="815"/>
                          <a:pt x="8015" y="815"/>
                        </a:cubicBezTo>
                        <a:cubicBezTo>
                          <a:pt x="7472" y="272"/>
                          <a:pt x="6792" y="0"/>
                          <a:pt x="6113"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62" name="Shape 6051"/>
                  <p:cNvSpPr/>
                  <p:nvPr/>
                </p:nvSpPr>
                <p:spPr>
                  <a:xfrm>
                    <a:off x="364216" y="362319"/>
                    <a:ext cx="138401" cy="137763"/>
                  </a:xfrm>
                  <a:custGeom>
                    <a:avLst/>
                    <a:gdLst/>
                    <a:ahLst/>
                    <a:cxnLst>
                      <a:cxn ang="0">
                        <a:pos x="wd2" y="hd2"/>
                      </a:cxn>
                      <a:cxn ang="5400000">
                        <a:pos x="wd2" y="hd2"/>
                      </a:cxn>
                      <a:cxn ang="10800000">
                        <a:pos x="wd2" y="hd2"/>
                      </a:cxn>
                      <a:cxn ang="16200000">
                        <a:pos x="wd2" y="hd2"/>
                      </a:cxn>
                    </a:cxnLst>
                    <a:rect l="0" t="0" r="r" b="b"/>
                    <a:pathLst>
                      <a:path w="21133" h="21600" extrusionOk="0">
                        <a:moveTo>
                          <a:pt x="5900" y="1641"/>
                        </a:moveTo>
                        <a:cubicBezTo>
                          <a:pt x="6167" y="1641"/>
                          <a:pt x="6434" y="1641"/>
                          <a:pt x="6567" y="1914"/>
                        </a:cubicBezTo>
                        <a:cubicBezTo>
                          <a:pt x="19234" y="14765"/>
                          <a:pt x="19234" y="14765"/>
                          <a:pt x="19234" y="14765"/>
                        </a:cubicBezTo>
                        <a:cubicBezTo>
                          <a:pt x="19634" y="15175"/>
                          <a:pt x="19634" y="15858"/>
                          <a:pt x="19234" y="16268"/>
                        </a:cubicBezTo>
                        <a:cubicBezTo>
                          <a:pt x="15900" y="19686"/>
                          <a:pt x="15900" y="19686"/>
                          <a:pt x="15900" y="19686"/>
                        </a:cubicBezTo>
                        <a:cubicBezTo>
                          <a:pt x="15767" y="19959"/>
                          <a:pt x="15500" y="19959"/>
                          <a:pt x="15234" y="19959"/>
                        </a:cubicBezTo>
                        <a:cubicBezTo>
                          <a:pt x="14967" y="19959"/>
                          <a:pt x="14700" y="19959"/>
                          <a:pt x="14567" y="19686"/>
                        </a:cubicBezTo>
                        <a:cubicBezTo>
                          <a:pt x="1900" y="6699"/>
                          <a:pt x="1900" y="6699"/>
                          <a:pt x="1900" y="6699"/>
                        </a:cubicBezTo>
                        <a:cubicBezTo>
                          <a:pt x="1500" y="6289"/>
                          <a:pt x="1500" y="5742"/>
                          <a:pt x="1900" y="5332"/>
                        </a:cubicBezTo>
                        <a:cubicBezTo>
                          <a:pt x="5234" y="1914"/>
                          <a:pt x="5234" y="1914"/>
                          <a:pt x="5234" y="1914"/>
                        </a:cubicBezTo>
                        <a:cubicBezTo>
                          <a:pt x="5367" y="1641"/>
                          <a:pt x="5634" y="1641"/>
                          <a:pt x="5900" y="1641"/>
                        </a:cubicBezTo>
                        <a:moveTo>
                          <a:pt x="5900" y="0"/>
                        </a:moveTo>
                        <a:cubicBezTo>
                          <a:pt x="5900" y="0"/>
                          <a:pt x="5900" y="0"/>
                          <a:pt x="5900" y="0"/>
                        </a:cubicBezTo>
                        <a:cubicBezTo>
                          <a:pt x="5234" y="0"/>
                          <a:pt x="4567" y="273"/>
                          <a:pt x="4034" y="684"/>
                        </a:cubicBezTo>
                        <a:cubicBezTo>
                          <a:pt x="700" y="4101"/>
                          <a:pt x="700" y="4101"/>
                          <a:pt x="700" y="4101"/>
                        </a:cubicBezTo>
                        <a:cubicBezTo>
                          <a:pt x="-233" y="5195"/>
                          <a:pt x="-233" y="6835"/>
                          <a:pt x="700" y="7929"/>
                        </a:cubicBezTo>
                        <a:cubicBezTo>
                          <a:pt x="13367" y="20916"/>
                          <a:pt x="13367" y="20916"/>
                          <a:pt x="13367" y="20916"/>
                        </a:cubicBezTo>
                        <a:cubicBezTo>
                          <a:pt x="13900" y="21327"/>
                          <a:pt x="14567" y="21600"/>
                          <a:pt x="15234" y="21600"/>
                        </a:cubicBezTo>
                        <a:cubicBezTo>
                          <a:pt x="15900" y="21600"/>
                          <a:pt x="16567" y="21327"/>
                          <a:pt x="17100" y="20916"/>
                        </a:cubicBezTo>
                        <a:cubicBezTo>
                          <a:pt x="20434" y="17499"/>
                          <a:pt x="20434" y="17499"/>
                          <a:pt x="20434" y="17499"/>
                        </a:cubicBezTo>
                        <a:cubicBezTo>
                          <a:pt x="21367" y="16405"/>
                          <a:pt x="21367" y="14765"/>
                          <a:pt x="20434" y="13671"/>
                        </a:cubicBezTo>
                        <a:cubicBezTo>
                          <a:pt x="7767" y="684"/>
                          <a:pt x="7767" y="684"/>
                          <a:pt x="7767" y="684"/>
                        </a:cubicBezTo>
                        <a:cubicBezTo>
                          <a:pt x="7234" y="273"/>
                          <a:pt x="6567" y="0"/>
                          <a:pt x="5900"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63" name="Shape 6052"/>
                  <p:cNvSpPr/>
                  <p:nvPr/>
                </p:nvSpPr>
                <p:spPr>
                  <a:xfrm>
                    <a:off x="323437" y="402207"/>
                    <a:ext cx="138706" cy="138872"/>
                  </a:xfrm>
                  <a:custGeom>
                    <a:avLst/>
                    <a:gdLst/>
                    <a:ahLst/>
                    <a:cxnLst>
                      <a:cxn ang="0">
                        <a:pos x="wd2" y="hd2"/>
                      </a:cxn>
                      <a:cxn ang="5400000">
                        <a:pos x="wd2" y="hd2"/>
                      </a:cxn>
                      <a:cxn ang="10800000">
                        <a:pos x="wd2" y="hd2"/>
                      </a:cxn>
                      <a:cxn ang="16200000">
                        <a:pos x="wd2" y="hd2"/>
                      </a:cxn>
                    </a:cxnLst>
                    <a:rect l="0" t="0" r="r" b="b"/>
                    <a:pathLst>
                      <a:path w="21070" h="21600" extrusionOk="0">
                        <a:moveTo>
                          <a:pt x="5963" y="1630"/>
                        </a:moveTo>
                        <a:cubicBezTo>
                          <a:pt x="6228" y="1630"/>
                          <a:pt x="6361" y="1766"/>
                          <a:pt x="6626" y="1902"/>
                        </a:cubicBezTo>
                        <a:cubicBezTo>
                          <a:pt x="19215" y="14808"/>
                          <a:pt x="19215" y="14808"/>
                          <a:pt x="19215" y="14808"/>
                        </a:cubicBezTo>
                        <a:cubicBezTo>
                          <a:pt x="19612" y="15215"/>
                          <a:pt x="19612" y="15894"/>
                          <a:pt x="19215" y="16302"/>
                        </a:cubicBezTo>
                        <a:cubicBezTo>
                          <a:pt x="15902" y="19698"/>
                          <a:pt x="15902" y="19698"/>
                          <a:pt x="15902" y="19698"/>
                        </a:cubicBezTo>
                        <a:cubicBezTo>
                          <a:pt x="15637" y="19834"/>
                          <a:pt x="15372" y="19970"/>
                          <a:pt x="15107" y="19970"/>
                        </a:cubicBezTo>
                        <a:cubicBezTo>
                          <a:pt x="14842" y="19970"/>
                          <a:pt x="14709" y="19834"/>
                          <a:pt x="14444" y="19698"/>
                        </a:cubicBezTo>
                        <a:cubicBezTo>
                          <a:pt x="1855" y="6792"/>
                          <a:pt x="1855" y="6792"/>
                          <a:pt x="1855" y="6792"/>
                        </a:cubicBezTo>
                        <a:cubicBezTo>
                          <a:pt x="1458" y="6385"/>
                          <a:pt x="1458" y="5706"/>
                          <a:pt x="1855" y="5298"/>
                        </a:cubicBezTo>
                        <a:cubicBezTo>
                          <a:pt x="5168" y="1902"/>
                          <a:pt x="5168" y="1902"/>
                          <a:pt x="5168" y="1902"/>
                        </a:cubicBezTo>
                        <a:cubicBezTo>
                          <a:pt x="5433" y="1766"/>
                          <a:pt x="5698" y="1630"/>
                          <a:pt x="5963" y="1630"/>
                        </a:cubicBezTo>
                        <a:moveTo>
                          <a:pt x="5963" y="0"/>
                        </a:moveTo>
                        <a:cubicBezTo>
                          <a:pt x="5168" y="0"/>
                          <a:pt x="4506" y="272"/>
                          <a:pt x="4108" y="815"/>
                        </a:cubicBezTo>
                        <a:cubicBezTo>
                          <a:pt x="795" y="4211"/>
                          <a:pt x="795" y="4211"/>
                          <a:pt x="795" y="4211"/>
                        </a:cubicBezTo>
                        <a:cubicBezTo>
                          <a:pt x="-265" y="5162"/>
                          <a:pt x="-265" y="6928"/>
                          <a:pt x="795" y="7879"/>
                        </a:cubicBezTo>
                        <a:cubicBezTo>
                          <a:pt x="13384" y="20785"/>
                          <a:pt x="13384" y="20785"/>
                          <a:pt x="13384" y="20785"/>
                        </a:cubicBezTo>
                        <a:cubicBezTo>
                          <a:pt x="13782" y="21328"/>
                          <a:pt x="14444" y="21600"/>
                          <a:pt x="15107" y="21600"/>
                        </a:cubicBezTo>
                        <a:cubicBezTo>
                          <a:pt x="15902" y="21600"/>
                          <a:pt x="16564" y="21328"/>
                          <a:pt x="16962" y="20785"/>
                        </a:cubicBezTo>
                        <a:cubicBezTo>
                          <a:pt x="20275" y="17389"/>
                          <a:pt x="20275" y="17389"/>
                          <a:pt x="20275" y="17389"/>
                        </a:cubicBezTo>
                        <a:cubicBezTo>
                          <a:pt x="21335" y="16438"/>
                          <a:pt x="21335" y="14672"/>
                          <a:pt x="20275" y="13721"/>
                        </a:cubicBezTo>
                        <a:cubicBezTo>
                          <a:pt x="7686" y="815"/>
                          <a:pt x="7686" y="815"/>
                          <a:pt x="7686" y="815"/>
                        </a:cubicBezTo>
                        <a:cubicBezTo>
                          <a:pt x="7288" y="272"/>
                          <a:pt x="6626" y="0"/>
                          <a:pt x="5963"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64" name="Shape 6053"/>
                  <p:cNvSpPr/>
                  <p:nvPr/>
                </p:nvSpPr>
                <p:spPr>
                  <a:xfrm>
                    <a:off x="283328" y="443204"/>
                    <a:ext cx="138039" cy="138133"/>
                  </a:xfrm>
                  <a:custGeom>
                    <a:avLst/>
                    <a:gdLst/>
                    <a:ahLst/>
                    <a:cxnLst>
                      <a:cxn ang="0">
                        <a:pos x="wd2" y="hd2"/>
                      </a:cxn>
                      <a:cxn ang="5400000">
                        <a:pos x="wd2" y="hd2"/>
                      </a:cxn>
                      <a:cxn ang="10800000">
                        <a:pos x="wd2" y="hd2"/>
                      </a:cxn>
                      <a:cxn ang="16200000">
                        <a:pos x="wd2" y="hd2"/>
                      </a:cxn>
                    </a:cxnLst>
                    <a:rect l="0" t="0" r="r" b="b"/>
                    <a:pathLst>
                      <a:path w="21133" h="21600" extrusionOk="0">
                        <a:moveTo>
                          <a:pt x="5900" y="1641"/>
                        </a:moveTo>
                        <a:cubicBezTo>
                          <a:pt x="6167" y="1641"/>
                          <a:pt x="6434" y="1641"/>
                          <a:pt x="6567" y="1914"/>
                        </a:cubicBezTo>
                        <a:cubicBezTo>
                          <a:pt x="19234" y="14901"/>
                          <a:pt x="19234" y="14901"/>
                          <a:pt x="19234" y="14901"/>
                        </a:cubicBezTo>
                        <a:cubicBezTo>
                          <a:pt x="19634" y="15311"/>
                          <a:pt x="19634" y="15858"/>
                          <a:pt x="19234" y="16268"/>
                        </a:cubicBezTo>
                        <a:cubicBezTo>
                          <a:pt x="15900" y="19686"/>
                          <a:pt x="15900" y="19686"/>
                          <a:pt x="15900" y="19686"/>
                        </a:cubicBezTo>
                        <a:cubicBezTo>
                          <a:pt x="15767" y="19959"/>
                          <a:pt x="15500" y="19959"/>
                          <a:pt x="15234" y="19959"/>
                        </a:cubicBezTo>
                        <a:cubicBezTo>
                          <a:pt x="14967" y="19959"/>
                          <a:pt x="14700" y="19959"/>
                          <a:pt x="14567" y="19686"/>
                        </a:cubicBezTo>
                        <a:cubicBezTo>
                          <a:pt x="1900" y="6699"/>
                          <a:pt x="1900" y="6699"/>
                          <a:pt x="1900" y="6699"/>
                        </a:cubicBezTo>
                        <a:cubicBezTo>
                          <a:pt x="1500" y="6289"/>
                          <a:pt x="1500" y="5742"/>
                          <a:pt x="1900" y="5332"/>
                        </a:cubicBezTo>
                        <a:cubicBezTo>
                          <a:pt x="5234" y="1914"/>
                          <a:pt x="5234" y="1914"/>
                          <a:pt x="5234" y="1914"/>
                        </a:cubicBezTo>
                        <a:cubicBezTo>
                          <a:pt x="5367" y="1641"/>
                          <a:pt x="5634" y="1641"/>
                          <a:pt x="5900" y="1641"/>
                        </a:cubicBezTo>
                        <a:moveTo>
                          <a:pt x="5900" y="0"/>
                        </a:moveTo>
                        <a:cubicBezTo>
                          <a:pt x="5234" y="0"/>
                          <a:pt x="4567" y="273"/>
                          <a:pt x="4034" y="684"/>
                        </a:cubicBezTo>
                        <a:cubicBezTo>
                          <a:pt x="700" y="4101"/>
                          <a:pt x="700" y="4101"/>
                          <a:pt x="700" y="4101"/>
                        </a:cubicBezTo>
                        <a:cubicBezTo>
                          <a:pt x="-233" y="5195"/>
                          <a:pt x="-233" y="6835"/>
                          <a:pt x="700" y="7929"/>
                        </a:cubicBezTo>
                        <a:cubicBezTo>
                          <a:pt x="13367" y="20916"/>
                          <a:pt x="13367" y="20916"/>
                          <a:pt x="13367" y="20916"/>
                        </a:cubicBezTo>
                        <a:cubicBezTo>
                          <a:pt x="13900" y="21327"/>
                          <a:pt x="14567" y="21600"/>
                          <a:pt x="15234" y="21600"/>
                        </a:cubicBezTo>
                        <a:cubicBezTo>
                          <a:pt x="15900" y="21600"/>
                          <a:pt x="16567" y="21327"/>
                          <a:pt x="17100" y="20916"/>
                        </a:cubicBezTo>
                        <a:cubicBezTo>
                          <a:pt x="20434" y="17499"/>
                          <a:pt x="20434" y="17499"/>
                          <a:pt x="20434" y="17499"/>
                        </a:cubicBezTo>
                        <a:cubicBezTo>
                          <a:pt x="21367" y="16405"/>
                          <a:pt x="21367" y="14765"/>
                          <a:pt x="20434" y="13671"/>
                        </a:cubicBezTo>
                        <a:cubicBezTo>
                          <a:pt x="7767" y="684"/>
                          <a:pt x="7767" y="684"/>
                          <a:pt x="7767" y="684"/>
                        </a:cubicBezTo>
                        <a:cubicBezTo>
                          <a:pt x="7234" y="273"/>
                          <a:pt x="6567" y="0"/>
                          <a:pt x="5900"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65" name="Shape 6054"/>
                  <p:cNvSpPr/>
                  <p:nvPr/>
                </p:nvSpPr>
                <p:spPr>
                  <a:xfrm>
                    <a:off x="169894" y="153644"/>
                    <a:ext cx="554006" cy="431755"/>
                  </a:xfrm>
                  <a:custGeom>
                    <a:avLst/>
                    <a:gdLst/>
                    <a:ahLst/>
                    <a:cxnLst>
                      <a:cxn ang="0">
                        <a:pos x="wd2" y="hd2"/>
                      </a:cxn>
                      <a:cxn ang="5400000">
                        <a:pos x="wd2" y="hd2"/>
                      </a:cxn>
                      <a:cxn ang="10800000">
                        <a:pos x="wd2" y="hd2"/>
                      </a:cxn>
                      <a:cxn ang="16200000">
                        <a:pos x="wd2" y="hd2"/>
                      </a:cxn>
                    </a:cxnLst>
                    <a:rect l="0" t="0" r="r" b="b"/>
                    <a:pathLst>
                      <a:path w="21600" h="21600" extrusionOk="0">
                        <a:moveTo>
                          <a:pt x="21192" y="4713"/>
                        </a:moveTo>
                        <a:cubicBezTo>
                          <a:pt x="12858" y="4713"/>
                          <a:pt x="12858" y="4713"/>
                          <a:pt x="12858" y="4713"/>
                        </a:cubicBezTo>
                        <a:cubicBezTo>
                          <a:pt x="9354" y="262"/>
                          <a:pt x="9354" y="262"/>
                          <a:pt x="9354" y="262"/>
                        </a:cubicBezTo>
                        <a:cubicBezTo>
                          <a:pt x="9252" y="87"/>
                          <a:pt x="9048" y="0"/>
                          <a:pt x="8878" y="0"/>
                        </a:cubicBezTo>
                        <a:cubicBezTo>
                          <a:pt x="8674" y="0"/>
                          <a:pt x="8504" y="87"/>
                          <a:pt x="8368" y="262"/>
                        </a:cubicBezTo>
                        <a:cubicBezTo>
                          <a:pt x="7381" y="1527"/>
                          <a:pt x="7381" y="1527"/>
                          <a:pt x="7381" y="1527"/>
                        </a:cubicBezTo>
                        <a:cubicBezTo>
                          <a:pt x="7245" y="1702"/>
                          <a:pt x="7245" y="2051"/>
                          <a:pt x="7381" y="2269"/>
                        </a:cubicBezTo>
                        <a:cubicBezTo>
                          <a:pt x="9116" y="4451"/>
                          <a:pt x="9116" y="4451"/>
                          <a:pt x="9116" y="4451"/>
                        </a:cubicBezTo>
                        <a:cubicBezTo>
                          <a:pt x="9150" y="4538"/>
                          <a:pt x="9184" y="4582"/>
                          <a:pt x="9184" y="4625"/>
                        </a:cubicBezTo>
                        <a:cubicBezTo>
                          <a:pt x="9184" y="4625"/>
                          <a:pt x="9150" y="4713"/>
                          <a:pt x="9116" y="4756"/>
                        </a:cubicBezTo>
                        <a:cubicBezTo>
                          <a:pt x="7381" y="6982"/>
                          <a:pt x="7381" y="6982"/>
                          <a:pt x="7381" y="6982"/>
                        </a:cubicBezTo>
                        <a:cubicBezTo>
                          <a:pt x="7347" y="7025"/>
                          <a:pt x="7313" y="7069"/>
                          <a:pt x="7279" y="7069"/>
                        </a:cubicBezTo>
                        <a:cubicBezTo>
                          <a:pt x="7211" y="7069"/>
                          <a:pt x="7177" y="7025"/>
                          <a:pt x="7143" y="6982"/>
                        </a:cubicBezTo>
                        <a:cubicBezTo>
                          <a:pt x="6293" y="5891"/>
                          <a:pt x="6293" y="5891"/>
                          <a:pt x="6293" y="5891"/>
                        </a:cubicBezTo>
                        <a:cubicBezTo>
                          <a:pt x="6225" y="5804"/>
                          <a:pt x="6123" y="5716"/>
                          <a:pt x="6021" y="5716"/>
                        </a:cubicBezTo>
                        <a:cubicBezTo>
                          <a:pt x="5885" y="5716"/>
                          <a:pt x="5783" y="5804"/>
                          <a:pt x="5715" y="5891"/>
                        </a:cubicBezTo>
                        <a:cubicBezTo>
                          <a:pt x="3470" y="8771"/>
                          <a:pt x="3470" y="8771"/>
                          <a:pt x="3470" y="8771"/>
                        </a:cubicBezTo>
                        <a:cubicBezTo>
                          <a:pt x="3436" y="8815"/>
                          <a:pt x="3436" y="8815"/>
                          <a:pt x="3402" y="8858"/>
                        </a:cubicBezTo>
                        <a:cubicBezTo>
                          <a:pt x="170" y="12960"/>
                          <a:pt x="170" y="12960"/>
                          <a:pt x="170" y="12960"/>
                        </a:cubicBezTo>
                        <a:cubicBezTo>
                          <a:pt x="68" y="13135"/>
                          <a:pt x="0" y="13353"/>
                          <a:pt x="0" y="13571"/>
                        </a:cubicBezTo>
                        <a:cubicBezTo>
                          <a:pt x="0" y="13833"/>
                          <a:pt x="68" y="14007"/>
                          <a:pt x="170" y="14182"/>
                        </a:cubicBezTo>
                        <a:cubicBezTo>
                          <a:pt x="1020" y="15273"/>
                          <a:pt x="1020" y="15273"/>
                          <a:pt x="1020" y="15273"/>
                        </a:cubicBezTo>
                        <a:cubicBezTo>
                          <a:pt x="1157" y="15447"/>
                          <a:pt x="1327" y="15535"/>
                          <a:pt x="1497" y="15535"/>
                        </a:cubicBezTo>
                        <a:cubicBezTo>
                          <a:pt x="1531" y="15535"/>
                          <a:pt x="1565" y="15535"/>
                          <a:pt x="1565" y="15535"/>
                        </a:cubicBezTo>
                        <a:cubicBezTo>
                          <a:pt x="1565" y="15753"/>
                          <a:pt x="1633" y="16015"/>
                          <a:pt x="1769" y="16233"/>
                        </a:cubicBezTo>
                        <a:cubicBezTo>
                          <a:pt x="2619" y="17324"/>
                          <a:pt x="2619" y="17324"/>
                          <a:pt x="2619" y="17324"/>
                        </a:cubicBezTo>
                        <a:cubicBezTo>
                          <a:pt x="2721" y="17455"/>
                          <a:pt x="2891" y="17542"/>
                          <a:pt x="3095" y="17542"/>
                        </a:cubicBezTo>
                        <a:cubicBezTo>
                          <a:pt x="3095" y="17542"/>
                          <a:pt x="3129" y="17542"/>
                          <a:pt x="3163" y="17542"/>
                        </a:cubicBezTo>
                        <a:cubicBezTo>
                          <a:pt x="3129" y="17804"/>
                          <a:pt x="3197" y="18065"/>
                          <a:pt x="3334" y="18240"/>
                        </a:cubicBezTo>
                        <a:cubicBezTo>
                          <a:pt x="4184" y="19331"/>
                          <a:pt x="4184" y="19331"/>
                          <a:pt x="4184" y="19331"/>
                        </a:cubicBezTo>
                        <a:cubicBezTo>
                          <a:pt x="4320" y="19505"/>
                          <a:pt x="4490" y="19593"/>
                          <a:pt x="4660" y="19593"/>
                        </a:cubicBezTo>
                        <a:cubicBezTo>
                          <a:pt x="4694" y="19593"/>
                          <a:pt x="4728" y="19593"/>
                          <a:pt x="4728" y="19593"/>
                        </a:cubicBezTo>
                        <a:cubicBezTo>
                          <a:pt x="4728" y="19593"/>
                          <a:pt x="4728" y="19636"/>
                          <a:pt x="4728" y="19680"/>
                        </a:cubicBezTo>
                        <a:cubicBezTo>
                          <a:pt x="4728" y="19898"/>
                          <a:pt x="4796" y="20116"/>
                          <a:pt x="4932" y="20291"/>
                        </a:cubicBezTo>
                        <a:cubicBezTo>
                          <a:pt x="5783" y="21382"/>
                          <a:pt x="5783" y="21382"/>
                          <a:pt x="5783" y="21382"/>
                        </a:cubicBezTo>
                        <a:cubicBezTo>
                          <a:pt x="5919" y="21513"/>
                          <a:pt x="6055" y="21600"/>
                          <a:pt x="6259" y="21600"/>
                        </a:cubicBezTo>
                        <a:cubicBezTo>
                          <a:pt x="6429" y="21600"/>
                          <a:pt x="6599" y="21513"/>
                          <a:pt x="6735" y="21382"/>
                        </a:cubicBezTo>
                        <a:cubicBezTo>
                          <a:pt x="7517" y="20335"/>
                          <a:pt x="7517" y="20335"/>
                          <a:pt x="7517" y="20335"/>
                        </a:cubicBezTo>
                        <a:cubicBezTo>
                          <a:pt x="7586" y="20291"/>
                          <a:pt x="7620" y="20247"/>
                          <a:pt x="7654" y="20204"/>
                        </a:cubicBezTo>
                        <a:cubicBezTo>
                          <a:pt x="13810" y="12393"/>
                          <a:pt x="13810" y="12393"/>
                          <a:pt x="13810" y="12393"/>
                        </a:cubicBezTo>
                        <a:cubicBezTo>
                          <a:pt x="21192" y="12393"/>
                          <a:pt x="21192" y="12393"/>
                          <a:pt x="21192" y="12393"/>
                        </a:cubicBezTo>
                        <a:cubicBezTo>
                          <a:pt x="21396" y="12393"/>
                          <a:pt x="21600" y="12175"/>
                          <a:pt x="21600" y="11869"/>
                        </a:cubicBezTo>
                        <a:cubicBezTo>
                          <a:pt x="21600" y="5236"/>
                          <a:pt x="21600" y="5236"/>
                          <a:pt x="21600" y="5236"/>
                        </a:cubicBezTo>
                        <a:cubicBezTo>
                          <a:pt x="21600" y="4931"/>
                          <a:pt x="21396" y="4713"/>
                          <a:pt x="21192" y="4713"/>
                        </a:cubicBezTo>
                        <a:close/>
                        <a:moveTo>
                          <a:pt x="21192" y="11869"/>
                        </a:moveTo>
                        <a:cubicBezTo>
                          <a:pt x="13640" y="11869"/>
                          <a:pt x="13640" y="11869"/>
                          <a:pt x="13640" y="11869"/>
                        </a:cubicBezTo>
                        <a:cubicBezTo>
                          <a:pt x="7381" y="19855"/>
                          <a:pt x="7381" y="19855"/>
                          <a:pt x="7381" y="19855"/>
                        </a:cubicBezTo>
                        <a:cubicBezTo>
                          <a:pt x="7347" y="19811"/>
                          <a:pt x="7347" y="19811"/>
                          <a:pt x="7347" y="19811"/>
                        </a:cubicBezTo>
                        <a:cubicBezTo>
                          <a:pt x="6429" y="20989"/>
                          <a:pt x="6429" y="20989"/>
                          <a:pt x="6429" y="20989"/>
                        </a:cubicBezTo>
                        <a:cubicBezTo>
                          <a:pt x="6395" y="21076"/>
                          <a:pt x="6327" y="21076"/>
                          <a:pt x="6259" y="21076"/>
                        </a:cubicBezTo>
                        <a:cubicBezTo>
                          <a:pt x="6191" y="21076"/>
                          <a:pt x="6123" y="21076"/>
                          <a:pt x="6055" y="20989"/>
                        </a:cubicBezTo>
                        <a:cubicBezTo>
                          <a:pt x="5204" y="19898"/>
                          <a:pt x="5204" y="19898"/>
                          <a:pt x="5204" y="19898"/>
                        </a:cubicBezTo>
                        <a:cubicBezTo>
                          <a:pt x="5136" y="19767"/>
                          <a:pt x="5136" y="19593"/>
                          <a:pt x="5204" y="19462"/>
                        </a:cubicBezTo>
                        <a:cubicBezTo>
                          <a:pt x="6157" y="18284"/>
                          <a:pt x="6157" y="18284"/>
                          <a:pt x="6157" y="18284"/>
                        </a:cubicBezTo>
                        <a:cubicBezTo>
                          <a:pt x="5783" y="17804"/>
                          <a:pt x="5783" y="17804"/>
                          <a:pt x="5783" y="17804"/>
                        </a:cubicBezTo>
                        <a:cubicBezTo>
                          <a:pt x="4830" y="18982"/>
                          <a:pt x="4830" y="18982"/>
                          <a:pt x="4830" y="18982"/>
                        </a:cubicBezTo>
                        <a:cubicBezTo>
                          <a:pt x="4796" y="19025"/>
                          <a:pt x="4728" y="19069"/>
                          <a:pt x="4660" y="19069"/>
                        </a:cubicBezTo>
                        <a:cubicBezTo>
                          <a:pt x="4592" y="19069"/>
                          <a:pt x="4524" y="19025"/>
                          <a:pt x="4490" y="18982"/>
                        </a:cubicBezTo>
                        <a:cubicBezTo>
                          <a:pt x="3640" y="17891"/>
                          <a:pt x="3640" y="17891"/>
                          <a:pt x="3640" y="17891"/>
                        </a:cubicBezTo>
                        <a:cubicBezTo>
                          <a:pt x="3538" y="17760"/>
                          <a:pt x="3538" y="17542"/>
                          <a:pt x="3640" y="17411"/>
                        </a:cubicBezTo>
                        <a:cubicBezTo>
                          <a:pt x="4524" y="16276"/>
                          <a:pt x="4524" y="16276"/>
                          <a:pt x="4524" y="16276"/>
                        </a:cubicBezTo>
                        <a:cubicBezTo>
                          <a:pt x="4524" y="16276"/>
                          <a:pt x="4558" y="16233"/>
                          <a:pt x="4558" y="16233"/>
                        </a:cubicBezTo>
                        <a:cubicBezTo>
                          <a:pt x="4558" y="16233"/>
                          <a:pt x="4558" y="16233"/>
                          <a:pt x="4558" y="16233"/>
                        </a:cubicBezTo>
                        <a:cubicBezTo>
                          <a:pt x="4558" y="16233"/>
                          <a:pt x="4558" y="16233"/>
                          <a:pt x="4558" y="16233"/>
                        </a:cubicBezTo>
                        <a:cubicBezTo>
                          <a:pt x="4592" y="16189"/>
                          <a:pt x="4626" y="16102"/>
                          <a:pt x="4626" y="16015"/>
                        </a:cubicBezTo>
                        <a:cubicBezTo>
                          <a:pt x="4626" y="15840"/>
                          <a:pt x="4490" y="15665"/>
                          <a:pt x="4354" y="15665"/>
                        </a:cubicBezTo>
                        <a:cubicBezTo>
                          <a:pt x="4286" y="15665"/>
                          <a:pt x="4218" y="15709"/>
                          <a:pt x="4184" y="15753"/>
                        </a:cubicBezTo>
                        <a:cubicBezTo>
                          <a:pt x="4184" y="15753"/>
                          <a:pt x="4184" y="15753"/>
                          <a:pt x="4184" y="15753"/>
                        </a:cubicBezTo>
                        <a:cubicBezTo>
                          <a:pt x="4184" y="15753"/>
                          <a:pt x="4184" y="15753"/>
                          <a:pt x="4184" y="15753"/>
                        </a:cubicBezTo>
                        <a:cubicBezTo>
                          <a:pt x="4150" y="15796"/>
                          <a:pt x="4150" y="15796"/>
                          <a:pt x="4150" y="15796"/>
                        </a:cubicBezTo>
                        <a:cubicBezTo>
                          <a:pt x="3266" y="16931"/>
                          <a:pt x="3266" y="16931"/>
                          <a:pt x="3266" y="16931"/>
                        </a:cubicBezTo>
                        <a:cubicBezTo>
                          <a:pt x="3197" y="17018"/>
                          <a:pt x="3163" y="17018"/>
                          <a:pt x="3095" y="17018"/>
                        </a:cubicBezTo>
                        <a:cubicBezTo>
                          <a:pt x="3027" y="17018"/>
                          <a:pt x="2959" y="17018"/>
                          <a:pt x="2891" y="16931"/>
                        </a:cubicBezTo>
                        <a:cubicBezTo>
                          <a:pt x="2041" y="15840"/>
                          <a:pt x="2041" y="15840"/>
                          <a:pt x="2041" y="15840"/>
                        </a:cubicBezTo>
                        <a:cubicBezTo>
                          <a:pt x="1939" y="15709"/>
                          <a:pt x="1939" y="15491"/>
                          <a:pt x="2041" y="15360"/>
                        </a:cubicBezTo>
                        <a:cubicBezTo>
                          <a:pt x="2925" y="14225"/>
                          <a:pt x="2925" y="14225"/>
                          <a:pt x="2925" y="14225"/>
                        </a:cubicBezTo>
                        <a:cubicBezTo>
                          <a:pt x="2959" y="14225"/>
                          <a:pt x="2959" y="14225"/>
                          <a:pt x="2959" y="14225"/>
                        </a:cubicBezTo>
                        <a:cubicBezTo>
                          <a:pt x="2959" y="14182"/>
                          <a:pt x="2959" y="14182"/>
                          <a:pt x="2959" y="14182"/>
                        </a:cubicBezTo>
                        <a:cubicBezTo>
                          <a:pt x="2959" y="14182"/>
                          <a:pt x="2959" y="14182"/>
                          <a:pt x="2959" y="14182"/>
                        </a:cubicBezTo>
                        <a:cubicBezTo>
                          <a:pt x="2993" y="14138"/>
                          <a:pt x="3027" y="14051"/>
                          <a:pt x="3027" y="14007"/>
                        </a:cubicBezTo>
                        <a:cubicBezTo>
                          <a:pt x="3027" y="13789"/>
                          <a:pt x="2925" y="13658"/>
                          <a:pt x="2755" y="13658"/>
                        </a:cubicBezTo>
                        <a:cubicBezTo>
                          <a:pt x="2721" y="13658"/>
                          <a:pt x="2653" y="13658"/>
                          <a:pt x="2585" y="13702"/>
                        </a:cubicBezTo>
                        <a:cubicBezTo>
                          <a:pt x="2585" y="13702"/>
                          <a:pt x="2585" y="13702"/>
                          <a:pt x="2585" y="13702"/>
                        </a:cubicBezTo>
                        <a:cubicBezTo>
                          <a:pt x="2585" y="13745"/>
                          <a:pt x="2585" y="13745"/>
                          <a:pt x="2585" y="13745"/>
                        </a:cubicBezTo>
                        <a:cubicBezTo>
                          <a:pt x="2585" y="13745"/>
                          <a:pt x="2585" y="13745"/>
                          <a:pt x="2585" y="13745"/>
                        </a:cubicBezTo>
                        <a:cubicBezTo>
                          <a:pt x="1667" y="14880"/>
                          <a:pt x="1667" y="14880"/>
                          <a:pt x="1667" y="14880"/>
                        </a:cubicBezTo>
                        <a:cubicBezTo>
                          <a:pt x="1633" y="14967"/>
                          <a:pt x="1565" y="15011"/>
                          <a:pt x="1497" y="15011"/>
                        </a:cubicBezTo>
                        <a:cubicBezTo>
                          <a:pt x="1429" y="15011"/>
                          <a:pt x="1361" y="14967"/>
                          <a:pt x="1327" y="14880"/>
                        </a:cubicBezTo>
                        <a:cubicBezTo>
                          <a:pt x="476" y="13833"/>
                          <a:pt x="476" y="13833"/>
                          <a:pt x="476" y="13833"/>
                        </a:cubicBezTo>
                        <a:cubicBezTo>
                          <a:pt x="374" y="13702"/>
                          <a:pt x="374" y="13484"/>
                          <a:pt x="476" y="13353"/>
                        </a:cubicBezTo>
                        <a:cubicBezTo>
                          <a:pt x="3708" y="9207"/>
                          <a:pt x="3708" y="9207"/>
                          <a:pt x="3708" y="9207"/>
                        </a:cubicBezTo>
                        <a:cubicBezTo>
                          <a:pt x="3708" y="9207"/>
                          <a:pt x="3708" y="9207"/>
                          <a:pt x="3742" y="9164"/>
                        </a:cubicBezTo>
                        <a:cubicBezTo>
                          <a:pt x="6021" y="6240"/>
                          <a:pt x="6021" y="6240"/>
                          <a:pt x="6021" y="6240"/>
                        </a:cubicBezTo>
                        <a:cubicBezTo>
                          <a:pt x="6871" y="7375"/>
                          <a:pt x="6871" y="7375"/>
                          <a:pt x="6871" y="7375"/>
                        </a:cubicBezTo>
                        <a:cubicBezTo>
                          <a:pt x="6973" y="7505"/>
                          <a:pt x="7109" y="7593"/>
                          <a:pt x="7279" y="7593"/>
                        </a:cubicBezTo>
                        <a:cubicBezTo>
                          <a:pt x="7415" y="7593"/>
                          <a:pt x="7551" y="7505"/>
                          <a:pt x="7654" y="7375"/>
                        </a:cubicBezTo>
                        <a:cubicBezTo>
                          <a:pt x="9422" y="5105"/>
                          <a:pt x="9422" y="5105"/>
                          <a:pt x="9422" y="5105"/>
                        </a:cubicBezTo>
                        <a:cubicBezTo>
                          <a:pt x="9626" y="4844"/>
                          <a:pt x="9626" y="4364"/>
                          <a:pt x="9422" y="4102"/>
                        </a:cubicBezTo>
                        <a:cubicBezTo>
                          <a:pt x="7688" y="1876"/>
                          <a:pt x="7688" y="1876"/>
                          <a:pt x="7688" y="1876"/>
                        </a:cubicBezTo>
                        <a:cubicBezTo>
                          <a:pt x="8674" y="611"/>
                          <a:pt x="8674" y="611"/>
                          <a:pt x="8674" y="611"/>
                        </a:cubicBezTo>
                        <a:cubicBezTo>
                          <a:pt x="8708" y="567"/>
                          <a:pt x="8810" y="524"/>
                          <a:pt x="8878" y="524"/>
                        </a:cubicBezTo>
                        <a:cubicBezTo>
                          <a:pt x="8946" y="524"/>
                          <a:pt x="9014" y="567"/>
                          <a:pt x="9082" y="611"/>
                        </a:cubicBezTo>
                        <a:cubicBezTo>
                          <a:pt x="12688" y="5236"/>
                          <a:pt x="12688" y="5236"/>
                          <a:pt x="12688" y="5236"/>
                        </a:cubicBezTo>
                        <a:cubicBezTo>
                          <a:pt x="21192" y="5236"/>
                          <a:pt x="21192" y="5236"/>
                          <a:pt x="21192" y="5236"/>
                        </a:cubicBezTo>
                        <a:lnTo>
                          <a:pt x="21192" y="11869"/>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66" name="Shape 6055"/>
                  <p:cNvSpPr/>
                  <p:nvPr/>
                </p:nvSpPr>
                <p:spPr>
                  <a:xfrm>
                    <a:off x="415570" y="331579"/>
                    <a:ext cx="117468" cy="117251"/>
                  </a:xfrm>
                  <a:custGeom>
                    <a:avLst/>
                    <a:gdLst/>
                    <a:ahLst/>
                    <a:cxnLst>
                      <a:cxn ang="0">
                        <a:pos x="wd2" y="hd2"/>
                      </a:cxn>
                      <a:cxn ang="5400000">
                        <a:pos x="wd2" y="hd2"/>
                      </a:cxn>
                      <a:cxn ang="10800000">
                        <a:pos x="wd2" y="hd2"/>
                      </a:cxn>
                      <a:cxn ang="16200000">
                        <a:pos x="wd2" y="hd2"/>
                      </a:cxn>
                    </a:cxnLst>
                    <a:rect l="0" t="0" r="r" b="b"/>
                    <a:pathLst>
                      <a:path w="21401" h="21362" extrusionOk="0">
                        <a:moveTo>
                          <a:pt x="21045" y="15446"/>
                        </a:moveTo>
                        <a:cubicBezTo>
                          <a:pt x="21521" y="15922"/>
                          <a:pt x="21521" y="16716"/>
                          <a:pt x="21045" y="17193"/>
                        </a:cubicBezTo>
                        <a:cubicBezTo>
                          <a:pt x="17074" y="21005"/>
                          <a:pt x="17074" y="21005"/>
                          <a:pt x="17074" y="21005"/>
                        </a:cubicBezTo>
                        <a:cubicBezTo>
                          <a:pt x="16597" y="21481"/>
                          <a:pt x="15803" y="21481"/>
                          <a:pt x="15327" y="21005"/>
                        </a:cubicBezTo>
                        <a:cubicBezTo>
                          <a:pt x="239" y="6075"/>
                          <a:pt x="239" y="6075"/>
                          <a:pt x="239" y="6075"/>
                        </a:cubicBezTo>
                        <a:cubicBezTo>
                          <a:pt x="-79" y="5599"/>
                          <a:pt x="-79" y="4805"/>
                          <a:pt x="239" y="4328"/>
                        </a:cubicBezTo>
                        <a:cubicBezTo>
                          <a:pt x="4209" y="357"/>
                          <a:pt x="4209" y="357"/>
                          <a:pt x="4209" y="357"/>
                        </a:cubicBezTo>
                        <a:cubicBezTo>
                          <a:pt x="4686" y="-119"/>
                          <a:pt x="5480" y="-119"/>
                          <a:pt x="5956" y="357"/>
                        </a:cubicBezTo>
                        <a:lnTo>
                          <a:pt x="21045" y="15446"/>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67" name="Shape 6056"/>
                  <p:cNvSpPr/>
                  <p:nvPr/>
                </p:nvSpPr>
                <p:spPr>
                  <a:xfrm>
                    <a:off x="374791" y="372575"/>
                    <a:ext cx="117251" cy="117251"/>
                  </a:xfrm>
                  <a:custGeom>
                    <a:avLst/>
                    <a:gdLst/>
                    <a:ahLst/>
                    <a:cxnLst>
                      <a:cxn ang="0">
                        <a:pos x="wd2" y="hd2"/>
                      </a:cxn>
                      <a:cxn ang="5400000">
                        <a:pos x="wd2" y="hd2"/>
                      </a:cxn>
                      <a:cxn ang="10800000">
                        <a:pos x="wd2" y="hd2"/>
                      </a:cxn>
                      <a:cxn ang="16200000">
                        <a:pos x="wd2" y="hd2"/>
                      </a:cxn>
                    </a:cxnLst>
                    <a:rect l="0" t="0" r="r" b="b"/>
                    <a:pathLst>
                      <a:path w="21362" h="21362" extrusionOk="0">
                        <a:moveTo>
                          <a:pt x="21005" y="15287"/>
                        </a:moveTo>
                        <a:cubicBezTo>
                          <a:pt x="21481" y="15763"/>
                          <a:pt x="21481" y="16557"/>
                          <a:pt x="21005" y="17034"/>
                        </a:cubicBezTo>
                        <a:cubicBezTo>
                          <a:pt x="17034" y="21005"/>
                          <a:pt x="17034" y="21005"/>
                          <a:pt x="17034" y="21005"/>
                        </a:cubicBezTo>
                        <a:cubicBezTo>
                          <a:pt x="16557" y="21481"/>
                          <a:pt x="15922" y="21481"/>
                          <a:pt x="15446" y="21005"/>
                        </a:cubicBezTo>
                        <a:cubicBezTo>
                          <a:pt x="357" y="5916"/>
                          <a:pt x="357" y="5916"/>
                          <a:pt x="357" y="5916"/>
                        </a:cubicBezTo>
                        <a:cubicBezTo>
                          <a:pt x="-119" y="5440"/>
                          <a:pt x="-119" y="4805"/>
                          <a:pt x="357" y="4328"/>
                        </a:cubicBezTo>
                        <a:cubicBezTo>
                          <a:pt x="4328" y="357"/>
                          <a:pt x="4328" y="357"/>
                          <a:pt x="4328" y="357"/>
                        </a:cubicBezTo>
                        <a:cubicBezTo>
                          <a:pt x="4805" y="-119"/>
                          <a:pt x="5599" y="-119"/>
                          <a:pt x="5916" y="357"/>
                        </a:cubicBezTo>
                        <a:lnTo>
                          <a:pt x="21005" y="15287"/>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68" name="Shape 6057"/>
                  <p:cNvSpPr/>
                  <p:nvPr/>
                </p:nvSpPr>
                <p:spPr>
                  <a:xfrm>
                    <a:off x="333796" y="412465"/>
                    <a:ext cx="118356" cy="118356"/>
                  </a:xfrm>
                  <a:custGeom>
                    <a:avLst/>
                    <a:gdLst/>
                    <a:ahLst/>
                    <a:cxnLst>
                      <a:cxn ang="0">
                        <a:pos x="wd2" y="hd2"/>
                      </a:cxn>
                      <a:cxn ang="5400000">
                        <a:pos x="wd2" y="hd2"/>
                      </a:cxn>
                      <a:cxn ang="10800000">
                        <a:pos x="wd2" y="hd2"/>
                      </a:cxn>
                      <a:cxn ang="16200000">
                        <a:pos x="wd2" y="hd2"/>
                      </a:cxn>
                    </a:cxnLst>
                    <a:rect l="0" t="0" r="r" b="b"/>
                    <a:pathLst>
                      <a:path w="21364" h="21364" extrusionOk="0">
                        <a:moveTo>
                          <a:pt x="21009" y="15333"/>
                        </a:moveTo>
                        <a:cubicBezTo>
                          <a:pt x="21482" y="15806"/>
                          <a:pt x="21482" y="16594"/>
                          <a:pt x="21009" y="17067"/>
                        </a:cubicBezTo>
                        <a:cubicBezTo>
                          <a:pt x="17067" y="21009"/>
                          <a:pt x="17067" y="21009"/>
                          <a:pt x="17067" y="21009"/>
                        </a:cubicBezTo>
                        <a:cubicBezTo>
                          <a:pt x="16594" y="21482"/>
                          <a:pt x="15806" y="21482"/>
                          <a:pt x="15333" y="21009"/>
                        </a:cubicBezTo>
                        <a:cubicBezTo>
                          <a:pt x="355" y="6031"/>
                          <a:pt x="355" y="6031"/>
                          <a:pt x="355" y="6031"/>
                        </a:cubicBezTo>
                        <a:cubicBezTo>
                          <a:pt x="-118" y="5558"/>
                          <a:pt x="-118" y="4770"/>
                          <a:pt x="355" y="4297"/>
                        </a:cubicBezTo>
                        <a:cubicBezTo>
                          <a:pt x="4297" y="355"/>
                          <a:pt x="4297" y="355"/>
                          <a:pt x="4297" y="355"/>
                        </a:cubicBezTo>
                        <a:cubicBezTo>
                          <a:pt x="4770" y="-118"/>
                          <a:pt x="5558" y="-118"/>
                          <a:pt x="6031" y="355"/>
                        </a:cubicBezTo>
                        <a:lnTo>
                          <a:pt x="21009" y="15333"/>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69" name="Shape 6058"/>
                  <p:cNvSpPr/>
                  <p:nvPr/>
                </p:nvSpPr>
                <p:spPr>
                  <a:xfrm>
                    <a:off x="293539" y="453462"/>
                    <a:ext cx="117616" cy="117616"/>
                  </a:xfrm>
                  <a:custGeom>
                    <a:avLst/>
                    <a:gdLst/>
                    <a:ahLst/>
                    <a:cxnLst>
                      <a:cxn ang="0">
                        <a:pos x="wd2" y="hd2"/>
                      </a:cxn>
                      <a:cxn ang="5400000">
                        <a:pos x="wd2" y="hd2"/>
                      </a:cxn>
                      <a:cxn ang="10800000">
                        <a:pos x="wd2" y="hd2"/>
                      </a:cxn>
                      <a:cxn ang="16200000">
                        <a:pos x="wd2" y="hd2"/>
                      </a:cxn>
                    </a:cxnLst>
                    <a:rect l="0" t="0" r="r" b="b"/>
                    <a:pathLst>
                      <a:path w="21362" h="21362" extrusionOk="0">
                        <a:moveTo>
                          <a:pt x="21005" y="15446"/>
                        </a:moveTo>
                        <a:cubicBezTo>
                          <a:pt x="21481" y="15922"/>
                          <a:pt x="21481" y="16557"/>
                          <a:pt x="21005" y="17034"/>
                        </a:cubicBezTo>
                        <a:cubicBezTo>
                          <a:pt x="17034" y="21005"/>
                          <a:pt x="17034" y="21005"/>
                          <a:pt x="17034" y="21005"/>
                        </a:cubicBezTo>
                        <a:cubicBezTo>
                          <a:pt x="16557" y="21481"/>
                          <a:pt x="15763" y="21481"/>
                          <a:pt x="15446" y="21005"/>
                        </a:cubicBezTo>
                        <a:cubicBezTo>
                          <a:pt x="357" y="5916"/>
                          <a:pt x="357" y="5916"/>
                          <a:pt x="357" y="5916"/>
                        </a:cubicBezTo>
                        <a:cubicBezTo>
                          <a:pt x="-119" y="5440"/>
                          <a:pt x="-119" y="4805"/>
                          <a:pt x="357" y="4328"/>
                        </a:cubicBezTo>
                        <a:cubicBezTo>
                          <a:pt x="4328" y="357"/>
                          <a:pt x="4328" y="357"/>
                          <a:pt x="4328" y="357"/>
                        </a:cubicBezTo>
                        <a:cubicBezTo>
                          <a:pt x="4805" y="-119"/>
                          <a:pt x="5440" y="-119"/>
                          <a:pt x="5916" y="357"/>
                        </a:cubicBezTo>
                        <a:lnTo>
                          <a:pt x="21005" y="15446"/>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sp>
                <p:nvSpPr>
                  <p:cNvPr id="270" name="Shape 6059"/>
                  <p:cNvSpPr/>
                  <p:nvPr/>
                </p:nvSpPr>
                <p:spPr>
                  <a:xfrm>
                    <a:off x="9602" y="0"/>
                    <a:ext cx="703957" cy="391128"/>
                  </a:xfrm>
                  <a:custGeom>
                    <a:avLst/>
                    <a:gdLst/>
                    <a:ahLst/>
                    <a:cxnLst>
                      <a:cxn ang="0">
                        <a:pos x="wd2" y="hd2"/>
                      </a:cxn>
                      <a:cxn ang="5400000">
                        <a:pos x="wd2" y="hd2"/>
                      </a:cxn>
                      <a:cxn ang="10800000">
                        <a:pos x="wd2" y="hd2"/>
                      </a:cxn>
                      <a:cxn ang="16200000">
                        <a:pos x="wd2" y="hd2"/>
                      </a:cxn>
                    </a:cxnLst>
                    <a:rect l="0" t="0" r="r" b="b"/>
                    <a:pathLst>
                      <a:path w="21600" h="21600" extrusionOk="0">
                        <a:moveTo>
                          <a:pt x="2222" y="13693"/>
                        </a:moveTo>
                        <a:cubicBezTo>
                          <a:pt x="3506" y="7329"/>
                          <a:pt x="6906" y="2796"/>
                          <a:pt x="10894" y="2796"/>
                        </a:cubicBezTo>
                        <a:cubicBezTo>
                          <a:pt x="16006" y="2796"/>
                          <a:pt x="20128" y="10221"/>
                          <a:pt x="20128" y="19430"/>
                        </a:cubicBezTo>
                        <a:cubicBezTo>
                          <a:pt x="20128" y="20154"/>
                          <a:pt x="20101" y="20877"/>
                          <a:pt x="20048" y="21600"/>
                        </a:cubicBezTo>
                        <a:cubicBezTo>
                          <a:pt x="21600" y="21600"/>
                          <a:pt x="21600" y="21600"/>
                          <a:pt x="21600" y="21600"/>
                        </a:cubicBezTo>
                        <a:cubicBezTo>
                          <a:pt x="21600" y="19334"/>
                          <a:pt x="21600" y="19334"/>
                          <a:pt x="21600" y="19334"/>
                        </a:cubicBezTo>
                        <a:cubicBezTo>
                          <a:pt x="21600" y="12198"/>
                          <a:pt x="21600" y="12198"/>
                          <a:pt x="21600" y="12198"/>
                        </a:cubicBezTo>
                        <a:cubicBezTo>
                          <a:pt x="21600" y="7618"/>
                          <a:pt x="21600" y="7618"/>
                          <a:pt x="21600" y="7618"/>
                        </a:cubicBezTo>
                        <a:cubicBezTo>
                          <a:pt x="21600" y="2796"/>
                          <a:pt x="21600" y="2796"/>
                          <a:pt x="21600" y="2796"/>
                        </a:cubicBezTo>
                        <a:cubicBezTo>
                          <a:pt x="21600" y="1254"/>
                          <a:pt x="20904" y="0"/>
                          <a:pt x="20048" y="0"/>
                        </a:cubicBezTo>
                        <a:cubicBezTo>
                          <a:pt x="1552" y="0"/>
                          <a:pt x="1552" y="0"/>
                          <a:pt x="1552" y="0"/>
                        </a:cubicBezTo>
                        <a:cubicBezTo>
                          <a:pt x="696" y="0"/>
                          <a:pt x="0" y="1254"/>
                          <a:pt x="0" y="2796"/>
                        </a:cubicBezTo>
                        <a:cubicBezTo>
                          <a:pt x="0" y="13693"/>
                          <a:pt x="0" y="13693"/>
                          <a:pt x="0" y="13693"/>
                        </a:cubicBezTo>
                        <a:lnTo>
                          <a:pt x="2222" y="13693"/>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800" dirty="0">
                      <a:solidFill>
                        <a:srgbClr val="000000"/>
                      </a:solidFill>
                      <a:ea typeface="Calibri"/>
                      <a:cs typeface="Calibri"/>
                      <a:sym typeface="Calibri"/>
                    </a:endParaRPr>
                  </a:p>
                </p:txBody>
              </p:sp>
            </p:grpSp>
          </p:grpSp>
        </p:grpSp>
        <p:sp>
          <p:nvSpPr>
            <p:cNvPr id="292" name="Rectangle 291">
              <a:extLst>
                <a:ext uri="{C183D7F6-B498-43B3-948B-1728B52AA6E4}">
                  <adec:decorative xmlns:adec="http://schemas.microsoft.com/office/drawing/2017/decorative" val="1"/>
                </a:ext>
              </a:extLst>
            </p:cNvPr>
            <p:cNvSpPr/>
            <p:nvPr/>
          </p:nvSpPr>
          <p:spPr>
            <a:xfrm>
              <a:off x="2684608" y="2211086"/>
              <a:ext cx="8651725" cy="2506953"/>
            </a:xfrm>
            <a:prstGeom prst="rect">
              <a:avLst/>
            </a:prstGeom>
            <a:solidFill>
              <a:schemeClr val="bg1"/>
            </a:solidFill>
            <a:ln>
              <a:solidFill>
                <a:srgbClr val="B1B3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fontAlgn="base">
                <a:spcBef>
                  <a:spcPct val="0"/>
                </a:spcBef>
                <a:spcAft>
                  <a:spcPct val="0"/>
                </a:spcAft>
              </a:pPr>
              <a:endParaRPr lang="en-US" sz="3200" dirty="0">
                <a:solidFill>
                  <a:srgbClr val="FFFFFF"/>
                </a:solidFill>
              </a:endParaRPr>
            </a:p>
          </p:txBody>
        </p:sp>
        <p:sp>
          <p:nvSpPr>
            <p:cNvPr id="293" name="TextBox 292">
              <a:extLst>
                <a:ext uri="{C183D7F6-B498-43B3-948B-1728B52AA6E4}">
                  <adec:decorative xmlns:adec="http://schemas.microsoft.com/office/drawing/2017/decorative" val="1"/>
                </a:ext>
              </a:extLst>
            </p:cNvPr>
            <p:cNvSpPr txBox="1"/>
            <p:nvPr/>
          </p:nvSpPr>
          <p:spPr>
            <a:xfrm>
              <a:off x="1266744" y="3183665"/>
              <a:ext cx="1355237" cy="646331"/>
            </a:xfrm>
            <a:prstGeom prst="rect">
              <a:avLst/>
            </a:prstGeom>
            <a:noFill/>
          </p:spPr>
          <p:txBody>
            <a:bodyPr wrap="square" rtlCol="0">
              <a:spAutoFit/>
            </a:bodyPr>
            <a:lstStyle/>
            <a:p>
              <a:pPr algn="r" defTabSz="609585" fontAlgn="base">
                <a:spcBef>
                  <a:spcPct val="0"/>
                </a:spcBef>
                <a:spcAft>
                  <a:spcPct val="0"/>
                </a:spcAft>
              </a:pPr>
              <a:r>
                <a:rPr lang="en-US" b="1" dirty="0">
                  <a:solidFill>
                    <a:srgbClr val="FAA634"/>
                  </a:solidFill>
                  <a:cs typeface="Arial"/>
                </a:rPr>
                <a:t>Platform</a:t>
              </a:r>
              <a:br>
                <a:rPr lang="en-US" b="1" dirty="0">
                  <a:solidFill>
                    <a:srgbClr val="FAA634"/>
                  </a:solidFill>
                  <a:cs typeface="Arial"/>
                </a:rPr>
              </a:br>
              <a:r>
                <a:rPr lang="en-US" b="1" dirty="0">
                  <a:solidFill>
                    <a:srgbClr val="FAA634"/>
                  </a:solidFill>
                  <a:cs typeface="Arial"/>
                </a:rPr>
                <a:t>Services</a:t>
              </a:r>
            </a:p>
          </p:txBody>
        </p:sp>
        <p:cxnSp>
          <p:nvCxnSpPr>
            <p:cNvPr id="294" name="Straight Connector 293">
              <a:extLst>
                <a:ext uri="{C183D7F6-B498-43B3-948B-1728B52AA6E4}">
                  <adec:decorative xmlns:adec="http://schemas.microsoft.com/office/drawing/2017/decorative" val="1"/>
                </a:ext>
              </a:extLst>
            </p:cNvPr>
            <p:cNvCxnSpPr/>
            <p:nvPr/>
          </p:nvCxnSpPr>
          <p:spPr>
            <a:xfrm flipH="1">
              <a:off x="4076905" y="2370112"/>
              <a:ext cx="13430" cy="2179552"/>
            </a:xfrm>
            <a:prstGeom prst="line">
              <a:avLst/>
            </a:prstGeom>
            <a:solidFill>
              <a:schemeClr val="bg1"/>
            </a:solidFill>
            <a:ln w="9525" cmpd="sng">
              <a:solidFill>
                <a:srgbClr val="636466"/>
              </a:solidFill>
              <a:prstDash val="dash"/>
            </a:ln>
          </p:spPr>
          <p:style>
            <a:lnRef idx="2">
              <a:schemeClr val="accent1"/>
            </a:lnRef>
            <a:fillRef idx="0">
              <a:schemeClr val="accent1"/>
            </a:fillRef>
            <a:effectRef idx="1">
              <a:schemeClr val="accent1"/>
            </a:effectRef>
            <a:fontRef idx="minor">
              <a:schemeClr val="tx1"/>
            </a:fontRef>
          </p:style>
        </p:cxnSp>
        <p:cxnSp>
          <p:nvCxnSpPr>
            <p:cNvPr id="296" name="Straight Connector 295">
              <a:extLst>
                <a:ext uri="{C183D7F6-B498-43B3-948B-1728B52AA6E4}">
                  <adec:decorative xmlns:adec="http://schemas.microsoft.com/office/drawing/2017/decorative" val="1"/>
                </a:ext>
              </a:extLst>
            </p:cNvPr>
            <p:cNvCxnSpPr/>
            <p:nvPr/>
          </p:nvCxnSpPr>
          <p:spPr>
            <a:xfrm>
              <a:off x="7186230" y="2370112"/>
              <a:ext cx="0" cy="2179552"/>
            </a:xfrm>
            <a:prstGeom prst="line">
              <a:avLst/>
            </a:prstGeom>
            <a:solidFill>
              <a:schemeClr val="bg1"/>
            </a:solidFill>
            <a:ln w="9525" cmpd="sng">
              <a:solidFill>
                <a:srgbClr val="636466"/>
              </a:solidFill>
              <a:prstDash val="dash"/>
            </a:ln>
          </p:spPr>
          <p:style>
            <a:lnRef idx="2">
              <a:schemeClr val="accent1"/>
            </a:lnRef>
            <a:fillRef idx="0">
              <a:schemeClr val="accent1"/>
            </a:fillRef>
            <a:effectRef idx="1">
              <a:schemeClr val="accent1"/>
            </a:effectRef>
            <a:fontRef idx="minor">
              <a:schemeClr val="tx1"/>
            </a:fontRef>
          </p:style>
        </p:cxnSp>
        <p:cxnSp>
          <p:nvCxnSpPr>
            <p:cNvPr id="297" name="Straight Connector 296">
              <a:extLst>
                <a:ext uri="{C183D7F6-B498-43B3-948B-1728B52AA6E4}">
                  <adec:decorative xmlns:adec="http://schemas.microsoft.com/office/drawing/2017/decorative" val="1"/>
                </a:ext>
              </a:extLst>
            </p:cNvPr>
            <p:cNvCxnSpPr/>
            <p:nvPr/>
          </p:nvCxnSpPr>
          <p:spPr>
            <a:xfrm>
              <a:off x="9552605" y="2370112"/>
              <a:ext cx="0" cy="2179552"/>
            </a:xfrm>
            <a:prstGeom prst="line">
              <a:avLst/>
            </a:prstGeom>
            <a:solidFill>
              <a:schemeClr val="bg1"/>
            </a:solidFill>
            <a:ln w="9525" cmpd="sng">
              <a:solidFill>
                <a:srgbClr val="636466"/>
              </a:solidFill>
              <a:prstDash val="dash"/>
            </a:ln>
          </p:spPr>
          <p:style>
            <a:lnRef idx="2">
              <a:schemeClr val="accent1"/>
            </a:lnRef>
            <a:fillRef idx="0">
              <a:schemeClr val="accent1"/>
            </a:fillRef>
            <a:effectRef idx="1">
              <a:schemeClr val="accent1"/>
            </a:effectRef>
            <a:fontRef idx="minor">
              <a:schemeClr val="tx1"/>
            </a:fontRef>
          </p:style>
        </p:cxnSp>
        <p:grpSp>
          <p:nvGrpSpPr>
            <p:cNvPr id="298" name="Group 297">
              <a:extLst>
                <a:ext uri="{C183D7F6-B498-43B3-948B-1728B52AA6E4}">
                  <adec:decorative xmlns:adec="http://schemas.microsoft.com/office/drawing/2017/decorative" val="1"/>
                </a:ext>
              </a:extLst>
            </p:cNvPr>
            <p:cNvGrpSpPr/>
            <p:nvPr/>
          </p:nvGrpSpPr>
          <p:grpSpPr>
            <a:xfrm>
              <a:off x="2882871" y="2965166"/>
              <a:ext cx="1120769" cy="1466718"/>
              <a:chOff x="1570037" y="1710543"/>
              <a:chExt cx="935825" cy="1138775"/>
            </a:xfrm>
            <a:solidFill>
              <a:schemeClr val="bg1"/>
            </a:solidFill>
          </p:grpSpPr>
          <p:sp>
            <p:nvSpPr>
              <p:cNvPr id="322" name="TextBox 321"/>
              <p:cNvSpPr txBox="1"/>
              <p:nvPr/>
            </p:nvSpPr>
            <p:spPr>
              <a:xfrm>
                <a:off x="1587961" y="2586461"/>
                <a:ext cx="899977" cy="262857"/>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Caching</a:t>
                </a:r>
              </a:p>
            </p:txBody>
          </p:sp>
          <p:sp>
            <p:nvSpPr>
              <p:cNvPr id="323" name="TextBox 322"/>
              <p:cNvSpPr txBox="1"/>
              <p:nvPr/>
            </p:nvSpPr>
            <p:spPr>
              <a:xfrm>
                <a:off x="1570037" y="1710543"/>
                <a:ext cx="935825" cy="262857"/>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Relational</a:t>
                </a:r>
              </a:p>
            </p:txBody>
          </p:sp>
          <p:sp>
            <p:nvSpPr>
              <p:cNvPr id="324" name="TextBox 323"/>
              <p:cNvSpPr txBox="1"/>
              <p:nvPr/>
            </p:nvSpPr>
            <p:spPr>
              <a:xfrm>
                <a:off x="1678618" y="2154937"/>
                <a:ext cx="718663" cy="262857"/>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NoSQL</a:t>
                </a:r>
              </a:p>
            </p:txBody>
          </p:sp>
        </p:grpSp>
        <p:grpSp>
          <p:nvGrpSpPr>
            <p:cNvPr id="299" name="Group 298">
              <a:extLst>
                <a:ext uri="{C183D7F6-B498-43B3-948B-1728B52AA6E4}">
                  <adec:decorative xmlns:adec="http://schemas.microsoft.com/office/drawing/2017/decorative" val="1"/>
                </a:ext>
              </a:extLst>
            </p:cNvPr>
            <p:cNvGrpSpPr/>
            <p:nvPr/>
          </p:nvGrpSpPr>
          <p:grpSpPr>
            <a:xfrm>
              <a:off x="4110661" y="2645424"/>
              <a:ext cx="1331625" cy="1995960"/>
              <a:chOff x="2505012" y="1470335"/>
              <a:chExt cx="1111887" cy="1648978"/>
            </a:xfrm>
            <a:solidFill>
              <a:schemeClr val="bg1"/>
            </a:solidFill>
          </p:grpSpPr>
          <p:sp>
            <p:nvSpPr>
              <p:cNvPr id="318" name="TextBox 317"/>
              <p:cNvSpPr txBox="1"/>
              <p:nvPr/>
            </p:nvSpPr>
            <p:spPr>
              <a:xfrm>
                <a:off x="2505012" y="1470335"/>
                <a:ext cx="1111887" cy="483117"/>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Cluster computing</a:t>
                </a:r>
              </a:p>
            </p:txBody>
          </p:sp>
          <p:sp>
            <p:nvSpPr>
              <p:cNvPr id="319" name="TextBox 318"/>
              <p:cNvSpPr txBox="1"/>
              <p:nvPr/>
            </p:nvSpPr>
            <p:spPr>
              <a:xfrm>
                <a:off x="2592901" y="1936342"/>
                <a:ext cx="928634" cy="279699"/>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Real-time</a:t>
                </a:r>
              </a:p>
            </p:txBody>
          </p:sp>
          <p:sp>
            <p:nvSpPr>
              <p:cNvPr id="320" name="TextBox 319"/>
              <p:cNvSpPr txBox="1"/>
              <p:nvPr/>
            </p:nvSpPr>
            <p:spPr>
              <a:xfrm>
                <a:off x="2552788" y="2636196"/>
                <a:ext cx="1008862" cy="483117"/>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Data workflows</a:t>
                </a:r>
              </a:p>
            </p:txBody>
          </p:sp>
          <p:sp>
            <p:nvSpPr>
              <p:cNvPr id="321" name="TextBox 320"/>
              <p:cNvSpPr txBox="1"/>
              <p:nvPr/>
            </p:nvSpPr>
            <p:spPr>
              <a:xfrm>
                <a:off x="2505065" y="2204938"/>
                <a:ext cx="1075633" cy="483116"/>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Data warehouse</a:t>
                </a:r>
              </a:p>
            </p:txBody>
          </p:sp>
        </p:grpSp>
        <p:grpSp>
          <p:nvGrpSpPr>
            <p:cNvPr id="300" name="Group 299">
              <a:extLst>
                <a:ext uri="{C183D7F6-B498-43B3-948B-1728B52AA6E4}">
                  <adec:decorative xmlns:adec="http://schemas.microsoft.com/office/drawing/2017/decorative" val="1"/>
                </a:ext>
              </a:extLst>
            </p:cNvPr>
            <p:cNvGrpSpPr/>
            <p:nvPr/>
          </p:nvGrpSpPr>
          <p:grpSpPr>
            <a:xfrm>
              <a:off x="5485774" y="2835188"/>
              <a:ext cx="1630475" cy="1814098"/>
              <a:chOff x="3599639" y="1630317"/>
              <a:chExt cx="1361422" cy="1515294"/>
            </a:xfrm>
            <a:solidFill>
              <a:schemeClr val="bg1"/>
            </a:solidFill>
          </p:grpSpPr>
          <p:sp>
            <p:nvSpPr>
              <p:cNvPr id="312" name="TextBox 311"/>
              <p:cNvSpPr txBox="1"/>
              <p:nvPr/>
            </p:nvSpPr>
            <p:spPr>
              <a:xfrm>
                <a:off x="3815883" y="1630317"/>
                <a:ext cx="928934" cy="282790"/>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Queuing</a:t>
                </a:r>
              </a:p>
            </p:txBody>
          </p:sp>
          <p:sp>
            <p:nvSpPr>
              <p:cNvPr id="313" name="TextBox 312"/>
              <p:cNvSpPr txBox="1"/>
              <p:nvPr/>
            </p:nvSpPr>
            <p:spPr>
              <a:xfrm>
                <a:off x="3657692" y="1876818"/>
                <a:ext cx="1245316" cy="282790"/>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Orchestration</a:t>
                </a:r>
              </a:p>
            </p:txBody>
          </p:sp>
          <p:sp>
            <p:nvSpPr>
              <p:cNvPr id="314" name="TextBox 313"/>
              <p:cNvSpPr txBox="1"/>
              <p:nvPr/>
            </p:nvSpPr>
            <p:spPr>
              <a:xfrm>
                <a:off x="3599639" y="2123319"/>
                <a:ext cx="1361422" cy="282790"/>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App Streaming</a:t>
                </a:r>
              </a:p>
            </p:txBody>
          </p:sp>
          <p:sp>
            <p:nvSpPr>
              <p:cNvPr id="315" name="TextBox 314"/>
              <p:cNvSpPr txBox="1"/>
              <p:nvPr/>
            </p:nvSpPr>
            <p:spPr>
              <a:xfrm>
                <a:off x="3689832" y="2369820"/>
                <a:ext cx="1181037" cy="282790"/>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Transcoding</a:t>
                </a:r>
              </a:p>
            </p:txBody>
          </p:sp>
          <p:sp>
            <p:nvSpPr>
              <p:cNvPr id="316" name="TextBox 315"/>
              <p:cNvSpPr txBox="1"/>
              <p:nvPr/>
            </p:nvSpPr>
            <p:spPr>
              <a:xfrm>
                <a:off x="3810286" y="2616321"/>
                <a:ext cx="940127" cy="282790"/>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Email</a:t>
                </a:r>
              </a:p>
            </p:txBody>
          </p:sp>
          <p:sp>
            <p:nvSpPr>
              <p:cNvPr id="317" name="TextBox 316"/>
              <p:cNvSpPr txBox="1"/>
              <p:nvPr/>
            </p:nvSpPr>
            <p:spPr>
              <a:xfrm>
                <a:off x="3810286" y="2862821"/>
                <a:ext cx="940127" cy="282790"/>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Search</a:t>
                </a:r>
              </a:p>
            </p:txBody>
          </p:sp>
        </p:grpSp>
        <p:grpSp>
          <p:nvGrpSpPr>
            <p:cNvPr id="301" name="Group 300">
              <a:extLst>
                <a:ext uri="{C183D7F6-B498-43B3-948B-1728B52AA6E4}">
                  <adec:decorative xmlns:adec="http://schemas.microsoft.com/office/drawing/2017/decorative" val="1"/>
                </a:ext>
              </a:extLst>
            </p:cNvPr>
            <p:cNvGrpSpPr/>
            <p:nvPr/>
          </p:nvGrpSpPr>
          <p:grpSpPr>
            <a:xfrm>
              <a:off x="7371777" y="2843230"/>
              <a:ext cx="2150547" cy="1751687"/>
              <a:chOff x="5218120" y="1629002"/>
              <a:chExt cx="1795674" cy="1424020"/>
            </a:xfrm>
            <a:solidFill>
              <a:schemeClr val="bg1"/>
            </a:solidFill>
          </p:grpSpPr>
          <p:sp>
            <p:nvSpPr>
              <p:cNvPr id="307" name="TextBox 306"/>
              <p:cNvSpPr txBox="1"/>
              <p:nvPr/>
            </p:nvSpPr>
            <p:spPr>
              <a:xfrm>
                <a:off x="5573813" y="1629002"/>
                <a:ext cx="1084289" cy="275225"/>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Containers</a:t>
                </a:r>
              </a:p>
            </p:txBody>
          </p:sp>
          <p:sp>
            <p:nvSpPr>
              <p:cNvPr id="308" name="TextBox 307"/>
              <p:cNvSpPr txBox="1"/>
              <p:nvPr/>
            </p:nvSpPr>
            <p:spPr>
              <a:xfrm>
                <a:off x="5412386" y="1916201"/>
                <a:ext cx="1407141" cy="275225"/>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DevOps tools</a:t>
                </a:r>
              </a:p>
            </p:txBody>
          </p:sp>
          <p:sp>
            <p:nvSpPr>
              <p:cNvPr id="309" name="TextBox 308"/>
              <p:cNvSpPr txBox="1"/>
              <p:nvPr/>
            </p:nvSpPr>
            <p:spPr>
              <a:xfrm>
                <a:off x="5231855" y="2203400"/>
                <a:ext cx="1768206" cy="275225"/>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Resource templates</a:t>
                </a:r>
              </a:p>
            </p:txBody>
          </p:sp>
          <p:sp>
            <p:nvSpPr>
              <p:cNvPr id="310" name="TextBox 309"/>
              <p:cNvSpPr txBox="1"/>
              <p:nvPr/>
            </p:nvSpPr>
            <p:spPr>
              <a:xfrm>
                <a:off x="5404106" y="2490599"/>
                <a:ext cx="1423702" cy="275225"/>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Usage tracking</a:t>
                </a:r>
              </a:p>
            </p:txBody>
          </p:sp>
          <p:sp>
            <p:nvSpPr>
              <p:cNvPr id="311" name="TextBox 310"/>
              <p:cNvSpPr txBox="1"/>
              <p:nvPr/>
            </p:nvSpPr>
            <p:spPr>
              <a:xfrm>
                <a:off x="5218120" y="2777797"/>
                <a:ext cx="1795674" cy="275225"/>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Monitoring and logs</a:t>
                </a:r>
              </a:p>
            </p:txBody>
          </p:sp>
        </p:grpSp>
        <p:grpSp>
          <p:nvGrpSpPr>
            <p:cNvPr id="302" name="Group 301">
              <a:extLst>
                <a:ext uri="{C183D7F6-B498-43B3-948B-1728B52AA6E4}">
                  <adec:decorative xmlns:adec="http://schemas.microsoft.com/office/drawing/2017/decorative" val="1"/>
                </a:ext>
              </a:extLst>
            </p:cNvPr>
            <p:cNvGrpSpPr/>
            <p:nvPr/>
          </p:nvGrpSpPr>
          <p:grpSpPr>
            <a:xfrm>
              <a:off x="9679539" y="2899475"/>
              <a:ext cx="1539556" cy="1608292"/>
              <a:chOff x="7190231" y="1660685"/>
              <a:chExt cx="1285506" cy="1253128"/>
            </a:xfrm>
            <a:solidFill>
              <a:schemeClr val="bg1"/>
            </a:solidFill>
          </p:grpSpPr>
          <p:sp>
            <p:nvSpPr>
              <p:cNvPr id="303" name="TextBox 302"/>
              <p:cNvSpPr txBox="1"/>
              <p:nvPr/>
            </p:nvSpPr>
            <p:spPr>
              <a:xfrm>
                <a:off x="7262828" y="1660685"/>
                <a:ext cx="1140311" cy="263790"/>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Identity</a:t>
                </a:r>
              </a:p>
            </p:txBody>
          </p:sp>
          <p:sp>
            <p:nvSpPr>
              <p:cNvPr id="304" name="TextBox 303"/>
              <p:cNvSpPr txBox="1"/>
              <p:nvPr/>
            </p:nvSpPr>
            <p:spPr>
              <a:xfrm>
                <a:off x="7262828" y="1926515"/>
                <a:ext cx="1140311" cy="263790"/>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Sync</a:t>
                </a:r>
              </a:p>
            </p:txBody>
          </p:sp>
          <p:sp>
            <p:nvSpPr>
              <p:cNvPr id="305" name="TextBox 304"/>
              <p:cNvSpPr txBox="1"/>
              <p:nvPr/>
            </p:nvSpPr>
            <p:spPr>
              <a:xfrm>
                <a:off x="7262828" y="2192345"/>
                <a:ext cx="1140311" cy="455637"/>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Mobile Analytics</a:t>
                </a:r>
              </a:p>
            </p:txBody>
          </p:sp>
          <p:sp>
            <p:nvSpPr>
              <p:cNvPr id="306" name="TextBox 305"/>
              <p:cNvSpPr txBox="1"/>
              <p:nvPr/>
            </p:nvSpPr>
            <p:spPr>
              <a:xfrm>
                <a:off x="7190231" y="2650023"/>
                <a:ext cx="1285506" cy="263790"/>
              </a:xfrm>
              <a:prstGeom prst="rect">
                <a:avLst/>
              </a:prstGeom>
              <a:grpFill/>
            </p:spPr>
            <p:txBody>
              <a:bodyPr wrap="square" rtlCol="0">
                <a:spAutoFit/>
              </a:bodyPr>
              <a:lstStyle/>
              <a:p>
                <a:pPr algn="ctr" defTabSz="609585" fontAlgn="base">
                  <a:spcBef>
                    <a:spcPct val="0"/>
                  </a:spcBef>
                  <a:spcAft>
                    <a:spcPct val="0"/>
                  </a:spcAft>
                </a:pPr>
                <a:r>
                  <a:rPr lang="en-US" sz="1600" dirty="0">
                    <a:solidFill>
                      <a:srgbClr val="636466"/>
                    </a:solidFill>
                    <a:cs typeface="Arial"/>
                  </a:rPr>
                  <a:t>Notifications</a:t>
                </a:r>
              </a:p>
            </p:txBody>
          </p:sp>
        </p:grpSp>
        <p:cxnSp>
          <p:nvCxnSpPr>
            <p:cNvPr id="295" name="Straight Connector 294">
              <a:extLst>
                <a:ext uri="{C183D7F6-B498-43B3-948B-1728B52AA6E4}">
                  <adec:decorative xmlns:adec="http://schemas.microsoft.com/office/drawing/2017/decorative" val="1"/>
                </a:ext>
              </a:extLst>
            </p:cNvPr>
            <p:cNvCxnSpPr/>
            <p:nvPr/>
          </p:nvCxnSpPr>
          <p:spPr>
            <a:xfrm>
              <a:off x="5508200" y="2370112"/>
              <a:ext cx="0" cy="2179552"/>
            </a:xfrm>
            <a:prstGeom prst="line">
              <a:avLst/>
            </a:prstGeom>
            <a:solidFill>
              <a:schemeClr val="bg1"/>
            </a:solidFill>
            <a:ln w="9525" cmpd="sng">
              <a:solidFill>
                <a:srgbClr val="636466"/>
              </a:solidFill>
              <a:prstDash val="dash"/>
            </a:ln>
          </p:spPr>
          <p:style>
            <a:lnRef idx="2">
              <a:schemeClr val="accent1"/>
            </a:lnRef>
            <a:fillRef idx="0">
              <a:schemeClr val="accent1"/>
            </a:fillRef>
            <a:effectRef idx="1">
              <a:schemeClr val="accent1"/>
            </a:effectRef>
            <a:fontRef idx="minor">
              <a:schemeClr val="tx1"/>
            </a:fontRef>
          </p:style>
        </p:cxnSp>
        <p:pic>
          <p:nvPicPr>
            <p:cNvPr id="325" name="Picture 324">
              <a:extLs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249101" y="1459763"/>
              <a:ext cx="592088" cy="564422"/>
            </a:xfrm>
            <a:prstGeom prst="rect">
              <a:avLst/>
            </a:prstGeom>
          </p:spPr>
        </p:pic>
        <p:pic>
          <p:nvPicPr>
            <p:cNvPr id="326" name="Picture 325">
              <a:extLs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814247" y="1495716"/>
              <a:ext cx="554374" cy="528470"/>
            </a:xfrm>
            <a:prstGeom prst="rect">
              <a:avLst/>
            </a:prstGeom>
          </p:spPr>
        </p:pic>
        <p:sp>
          <p:nvSpPr>
            <p:cNvPr id="327" name="Rounded Rectangle 326">
              <a:extLst>
                <a:ext uri="{C183D7F6-B498-43B3-948B-1728B52AA6E4}">
                  <adec:decorative xmlns:adec="http://schemas.microsoft.com/office/drawing/2017/decorative" val="1"/>
                </a:ext>
              </a:extLst>
            </p:cNvPr>
            <p:cNvSpPr/>
            <p:nvPr/>
          </p:nvSpPr>
          <p:spPr>
            <a:xfrm>
              <a:off x="4140659" y="5859065"/>
              <a:ext cx="1235460" cy="383490"/>
            </a:xfrm>
            <a:prstGeom prst="roundRect">
              <a:avLst>
                <a:gd name="adj" fmla="val 9818"/>
              </a:avLst>
            </a:prstGeom>
            <a:noFill/>
            <a:ln w="19050">
              <a:solidFill>
                <a:schemeClr val="tx1"/>
              </a:solidFill>
              <a:prstDash val="sysDot"/>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2400" dirty="0">
                <a:solidFill>
                  <a:schemeClr val="tx1"/>
                </a:solidFill>
                <a:cs typeface="Helvetica Neue"/>
              </a:endParaRPr>
            </a:p>
          </p:txBody>
        </p:sp>
        <p:sp>
          <p:nvSpPr>
            <p:cNvPr id="328" name="Rounded Rectangle 327">
              <a:extLst>
                <a:ext uri="{C183D7F6-B498-43B3-948B-1728B52AA6E4}">
                  <adec:decorative xmlns:adec="http://schemas.microsoft.com/office/drawing/2017/decorative" val="1"/>
                </a:ext>
              </a:extLst>
            </p:cNvPr>
            <p:cNvSpPr/>
            <p:nvPr/>
          </p:nvSpPr>
          <p:spPr>
            <a:xfrm>
              <a:off x="6254990" y="5883033"/>
              <a:ext cx="1861260" cy="364965"/>
            </a:xfrm>
            <a:prstGeom prst="roundRect">
              <a:avLst>
                <a:gd name="adj" fmla="val 9818"/>
              </a:avLst>
            </a:prstGeom>
            <a:no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2400" dirty="0">
                <a:solidFill>
                  <a:schemeClr val="tx1"/>
                </a:solidFill>
                <a:cs typeface="Helvetica Neue"/>
              </a:endParaRPr>
            </a:p>
          </p:txBody>
        </p:sp>
        <p:sp>
          <p:nvSpPr>
            <p:cNvPr id="330" name="Shape 1215">
              <a:extLst>
                <a:ext uri="{C183D7F6-B498-43B3-948B-1728B52AA6E4}">
                  <adec:decorative xmlns:adec="http://schemas.microsoft.com/office/drawing/2017/decorative" val="1"/>
                </a:ext>
              </a:extLst>
            </p:cNvPr>
            <p:cNvSpPr/>
            <p:nvPr/>
          </p:nvSpPr>
          <p:spPr>
            <a:xfrm>
              <a:off x="8736712" y="5892134"/>
              <a:ext cx="323072" cy="307976"/>
            </a:xfrm>
            <a:custGeom>
              <a:avLst/>
              <a:gdLst/>
              <a:ahLst/>
              <a:cxnLst>
                <a:cxn ang="0">
                  <a:pos x="wd2" y="hd2"/>
                </a:cxn>
                <a:cxn ang="5400000">
                  <a:pos x="wd2" y="hd2"/>
                </a:cxn>
                <a:cxn ang="10800000">
                  <a:pos x="wd2" y="hd2"/>
                </a:cxn>
                <a:cxn ang="16200000">
                  <a:pos x="wd2" y="hd2"/>
                </a:cxn>
              </a:cxnLst>
              <a:rect l="0" t="0" r="r" b="b"/>
              <a:pathLst>
                <a:path w="21600" h="21600" extrusionOk="0">
                  <a:moveTo>
                    <a:pt x="20048" y="0"/>
                  </a:moveTo>
                  <a:cubicBezTo>
                    <a:pt x="1552" y="0"/>
                    <a:pt x="1552" y="0"/>
                    <a:pt x="1552" y="0"/>
                  </a:cubicBezTo>
                  <a:cubicBezTo>
                    <a:pt x="696" y="0"/>
                    <a:pt x="0" y="696"/>
                    <a:pt x="0" y="1552"/>
                  </a:cubicBezTo>
                  <a:cubicBezTo>
                    <a:pt x="0" y="20048"/>
                    <a:pt x="0" y="20048"/>
                    <a:pt x="0" y="20048"/>
                  </a:cubicBezTo>
                  <a:cubicBezTo>
                    <a:pt x="0" y="20904"/>
                    <a:pt x="696" y="21600"/>
                    <a:pt x="1552" y="21600"/>
                  </a:cubicBezTo>
                  <a:cubicBezTo>
                    <a:pt x="5300" y="21600"/>
                    <a:pt x="5300" y="21600"/>
                    <a:pt x="5300" y="21600"/>
                  </a:cubicBezTo>
                  <a:cubicBezTo>
                    <a:pt x="6049" y="21600"/>
                    <a:pt x="6049" y="21600"/>
                    <a:pt x="6049" y="21600"/>
                  </a:cubicBezTo>
                  <a:cubicBezTo>
                    <a:pt x="6745" y="21600"/>
                    <a:pt x="6745" y="21600"/>
                    <a:pt x="6745" y="21600"/>
                  </a:cubicBezTo>
                  <a:cubicBezTo>
                    <a:pt x="8859" y="21600"/>
                    <a:pt x="8859" y="21600"/>
                    <a:pt x="8859" y="21600"/>
                  </a:cubicBezTo>
                  <a:cubicBezTo>
                    <a:pt x="10171" y="21600"/>
                    <a:pt x="10171" y="21600"/>
                    <a:pt x="10171" y="21600"/>
                  </a:cubicBezTo>
                  <a:cubicBezTo>
                    <a:pt x="20048" y="21600"/>
                    <a:pt x="20048" y="21600"/>
                    <a:pt x="20048" y="21600"/>
                  </a:cubicBezTo>
                  <a:cubicBezTo>
                    <a:pt x="20904" y="21600"/>
                    <a:pt x="21600" y="20904"/>
                    <a:pt x="21600" y="20048"/>
                  </a:cubicBezTo>
                  <a:cubicBezTo>
                    <a:pt x="21600" y="18683"/>
                    <a:pt x="21600" y="18683"/>
                    <a:pt x="21600" y="18683"/>
                  </a:cubicBezTo>
                  <a:cubicBezTo>
                    <a:pt x="21600" y="10760"/>
                    <a:pt x="21600" y="10760"/>
                    <a:pt x="21600" y="10760"/>
                  </a:cubicBezTo>
                  <a:cubicBezTo>
                    <a:pt x="21600" y="9877"/>
                    <a:pt x="21600" y="9877"/>
                    <a:pt x="21600" y="9877"/>
                  </a:cubicBezTo>
                  <a:cubicBezTo>
                    <a:pt x="21600" y="7414"/>
                    <a:pt x="21600" y="7414"/>
                    <a:pt x="21600" y="7414"/>
                  </a:cubicBezTo>
                  <a:cubicBezTo>
                    <a:pt x="21600" y="6397"/>
                    <a:pt x="21600" y="6397"/>
                    <a:pt x="21600" y="6397"/>
                  </a:cubicBezTo>
                  <a:cubicBezTo>
                    <a:pt x="21600" y="1552"/>
                    <a:pt x="21600" y="1552"/>
                    <a:pt x="21600" y="1552"/>
                  </a:cubicBezTo>
                  <a:cubicBezTo>
                    <a:pt x="21600" y="696"/>
                    <a:pt x="20904" y="0"/>
                    <a:pt x="20048" y="0"/>
                  </a:cubicBezTo>
                  <a:close/>
                  <a:moveTo>
                    <a:pt x="4336" y="15765"/>
                  </a:moveTo>
                  <a:cubicBezTo>
                    <a:pt x="4336" y="15765"/>
                    <a:pt x="4336" y="15765"/>
                    <a:pt x="4336" y="15765"/>
                  </a:cubicBezTo>
                  <a:cubicBezTo>
                    <a:pt x="4256" y="15685"/>
                    <a:pt x="4256" y="15685"/>
                    <a:pt x="4256" y="15685"/>
                  </a:cubicBezTo>
                  <a:lnTo>
                    <a:pt x="4336" y="15765"/>
                  </a:lnTo>
                  <a:close/>
                </a:path>
              </a:pathLst>
            </a:custGeom>
            <a:solidFill>
              <a:srgbClr val="88A57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31" name="Shape 1216">
              <a:extLst>
                <a:ext uri="{C183D7F6-B498-43B3-948B-1728B52AA6E4}">
                  <adec:decorative xmlns:adec="http://schemas.microsoft.com/office/drawing/2017/decorative" val="1"/>
                </a:ext>
              </a:extLst>
            </p:cNvPr>
            <p:cNvSpPr/>
            <p:nvPr/>
          </p:nvSpPr>
          <p:spPr>
            <a:xfrm>
              <a:off x="8790658" y="5930409"/>
              <a:ext cx="74365" cy="57171"/>
            </a:xfrm>
            <a:custGeom>
              <a:avLst/>
              <a:gdLst/>
              <a:ahLst/>
              <a:cxnLst>
                <a:cxn ang="0">
                  <a:pos x="wd2" y="hd2"/>
                </a:cxn>
                <a:cxn ang="5400000">
                  <a:pos x="wd2" y="hd2"/>
                </a:cxn>
                <a:cxn ang="10800000">
                  <a:pos x="wd2" y="hd2"/>
                </a:cxn>
                <a:cxn ang="16200000">
                  <a:pos x="wd2" y="hd2"/>
                </a:cxn>
              </a:cxnLst>
              <a:rect l="0" t="0" r="r" b="b"/>
              <a:pathLst>
                <a:path w="21354" h="21600" extrusionOk="0">
                  <a:moveTo>
                    <a:pt x="1883" y="21600"/>
                  </a:moveTo>
                  <a:cubicBezTo>
                    <a:pt x="11075" y="21600"/>
                    <a:pt x="11075" y="21600"/>
                    <a:pt x="11075" y="21600"/>
                  </a:cubicBezTo>
                  <a:cubicBezTo>
                    <a:pt x="11879" y="21600"/>
                    <a:pt x="12568" y="21024"/>
                    <a:pt x="12798" y="20160"/>
                  </a:cubicBezTo>
                  <a:cubicBezTo>
                    <a:pt x="14751" y="13680"/>
                    <a:pt x="17394" y="8208"/>
                    <a:pt x="20841" y="3888"/>
                  </a:cubicBezTo>
                  <a:cubicBezTo>
                    <a:pt x="21415" y="3168"/>
                    <a:pt x="21530" y="2016"/>
                    <a:pt x="21070" y="1008"/>
                  </a:cubicBezTo>
                  <a:cubicBezTo>
                    <a:pt x="20726" y="432"/>
                    <a:pt x="20036" y="0"/>
                    <a:pt x="19462" y="0"/>
                  </a:cubicBezTo>
                  <a:cubicBezTo>
                    <a:pt x="19232" y="0"/>
                    <a:pt x="19117" y="0"/>
                    <a:pt x="18887" y="144"/>
                  </a:cubicBezTo>
                  <a:cubicBezTo>
                    <a:pt x="13602" y="2304"/>
                    <a:pt x="8777" y="6192"/>
                    <a:pt x="4870" y="11088"/>
                  </a:cubicBezTo>
                  <a:cubicBezTo>
                    <a:pt x="3147" y="13248"/>
                    <a:pt x="1653" y="15552"/>
                    <a:pt x="275" y="18144"/>
                  </a:cubicBezTo>
                  <a:cubicBezTo>
                    <a:pt x="-70" y="18720"/>
                    <a:pt x="-70" y="19728"/>
                    <a:pt x="160" y="20448"/>
                  </a:cubicBezTo>
                  <a:cubicBezTo>
                    <a:pt x="504" y="21168"/>
                    <a:pt x="1194" y="21600"/>
                    <a:pt x="1883" y="21600"/>
                  </a:cubicBezTo>
                  <a:close/>
                </a:path>
              </a:pathLst>
            </a:custGeom>
            <a:solidFill>
              <a:srgbClr val="FFFFF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32" name="Shape 1217">
              <a:extLst>
                <a:ext uri="{C183D7F6-B498-43B3-948B-1728B52AA6E4}">
                  <adec:decorative xmlns:adec="http://schemas.microsoft.com/office/drawing/2017/decorative" val="1"/>
                </a:ext>
              </a:extLst>
            </p:cNvPr>
            <p:cNvSpPr/>
            <p:nvPr/>
          </p:nvSpPr>
          <p:spPr>
            <a:xfrm>
              <a:off x="8770087" y="5992908"/>
              <a:ext cx="59126" cy="50711"/>
            </a:xfrm>
            <a:custGeom>
              <a:avLst/>
              <a:gdLst/>
              <a:ahLst/>
              <a:cxnLst>
                <a:cxn ang="0">
                  <a:pos x="wd2" y="hd2"/>
                </a:cxn>
                <a:cxn ang="5400000">
                  <a:pos x="wd2" y="hd2"/>
                </a:cxn>
                <a:cxn ang="10800000">
                  <a:pos x="wd2" y="hd2"/>
                </a:cxn>
                <a:cxn ang="16200000">
                  <a:pos x="wd2" y="hd2"/>
                </a:cxn>
              </a:cxnLst>
              <a:rect l="0" t="0" r="r" b="b"/>
              <a:pathLst>
                <a:path w="21600" h="21600" extrusionOk="0">
                  <a:moveTo>
                    <a:pt x="2335" y="21600"/>
                  </a:moveTo>
                  <a:cubicBezTo>
                    <a:pt x="17076" y="21600"/>
                    <a:pt x="17076" y="21600"/>
                    <a:pt x="17076" y="21600"/>
                  </a:cubicBezTo>
                  <a:cubicBezTo>
                    <a:pt x="18243" y="21600"/>
                    <a:pt x="19265" y="20463"/>
                    <a:pt x="19411" y="19164"/>
                  </a:cubicBezTo>
                  <a:cubicBezTo>
                    <a:pt x="19703" y="13642"/>
                    <a:pt x="20286" y="8445"/>
                    <a:pt x="21600" y="3411"/>
                  </a:cubicBezTo>
                  <a:cubicBezTo>
                    <a:pt x="21600" y="3086"/>
                    <a:pt x="21600" y="2923"/>
                    <a:pt x="21600" y="2598"/>
                  </a:cubicBezTo>
                  <a:cubicBezTo>
                    <a:pt x="21600" y="1137"/>
                    <a:pt x="20578" y="0"/>
                    <a:pt x="19265" y="0"/>
                  </a:cubicBezTo>
                  <a:cubicBezTo>
                    <a:pt x="5984" y="0"/>
                    <a:pt x="5984" y="0"/>
                    <a:pt x="5984" y="0"/>
                  </a:cubicBezTo>
                  <a:cubicBezTo>
                    <a:pt x="5108" y="0"/>
                    <a:pt x="4232" y="650"/>
                    <a:pt x="3941" y="1624"/>
                  </a:cubicBezTo>
                  <a:cubicBezTo>
                    <a:pt x="1751" y="6983"/>
                    <a:pt x="438" y="12830"/>
                    <a:pt x="0" y="18839"/>
                  </a:cubicBezTo>
                  <a:cubicBezTo>
                    <a:pt x="0" y="19489"/>
                    <a:pt x="146" y="20138"/>
                    <a:pt x="584" y="20788"/>
                  </a:cubicBezTo>
                  <a:cubicBezTo>
                    <a:pt x="1022" y="21275"/>
                    <a:pt x="1605" y="21600"/>
                    <a:pt x="2335" y="21600"/>
                  </a:cubicBezTo>
                  <a:close/>
                </a:path>
              </a:pathLst>
            </a:custGeom>
            <a:solidFill>
              <a:srgbClr val="FFFFF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33" name="Shape 1218">
              <a:extLst>
                <a:ext uri="{C183D7F6-B498-43B3-948B-1728B52AA6E4}">
                  <adec:decorative xmlns:adec="http://schemas.microsoft.com/office/drawing/2017/decorative" val="1"/>
                </a:ext>
              </a:extLst>
            </p:cNvPr>
            <p:cNvSpPr/>
            <p:nvPr/>
          </p:nvSpPr>
          <p:spPr>
            <a:xfrm>
              <a:off x="8770426" y="6048302"/>
              <a:ext cx="58537" cy="50711"/>
            </a:xfrm>
            <a:custGeom>
              <a:avLst/>
              <a:gdLst/>
              <a:ahLst/>
              <a:cxnLst>
                <a:cxn ang="0">
                  <a:pos x="wd2" y="hd2"/>
                </a:cxn>
                <a:cxn ang="5400000">
                  <a:pos x="wd2" y="hd2"/>
                </a:cxn>
                <a:cxn ang="10800000">
                  <a:pos x="wd2" y="hd2"/>
                </a:cxn>
                <a:cxn ang="16200000">
                  <a:pos x="wd2" y="hd2"/>
                </a:cxn>
              </a:cxnLst>
              <a:rect l="0" t="0" r="r" b="b"/>
              <a:pathLst>
                <a:path w="21508" h="21600" extrusionOk="0">
                  <a:moveTo>
                    <a:pt x="21012" y="20626"/>
                  </a:moveTo>
                  <a:cubicBezTo>
                    <a:pt x="21453" y="19976"/>
                    <a:pt x="21600" y="19164"/>
                    <a:pt x="21453" y="18352"/>
                  </a:cubicBezTo>
                  <a:cubicBezTo>
                    <a:pt x="20278" y="13317"/>
                    <a:pt x="19690" y="7958"/>
                    <a:pt x="19543" y="2598"/>
                  </a:cubicBezTo>
                  <a:cubicBezTo>
                    <a:pt x="19396" y="1137"/>
                    <a:pt x="18367" y="0"/>
                    <a:pt x="17192" y="0"/>
                  </a:cubicBezTo>
                  <a:cubicBezTo>
                    <a:pt x="2351" y="0"/>
                    <a:pt x="2351" y="0"/>
                    <a:pt x="2351" y="0"/>
                  </a:cubicBezTo>
                  <a:cubicBezTo>
                    <a:pt x="1763" y="0"/>
                    <a:pt x="1176" y="325"/>
                    <a:pt x="588" y="812"/>
                  </a:cubicBezTo>
                  <a:cubicBezTo>
                    <a:pt x="147" y="1462"/>
                    <a:pt x="0" y="2111"/>
                    <a:pt x="0" y="2923"/>
                  </a:cubicBezTo>
                  <a:cubicBezTo>
                    <a:pt x="441" y="8770"/>
                    <a:pt x="1763" y="14617"/>
                    <a:pt x="3967" y="20138"/>
                  </a:cubicBezTo>
                  <a:cubicBezTo>
                    <a:pt x="4408" y="20950"/>
                    <a:pt x="5143" y="21600"/>
                    <a:pt x="6171" y="21600"/>
                  </a:cubicBezTo>
                  <a:cubicBezTo>
                    <a:pt x="19102" y="21600"/>
                    <a:pt x="19102" y="21600"/>
                    <a:pt x="19102" y="21600"/>
                  </a:cubicBezTo>
                  <a:cubicBezTo>
                    <a:pt x="19837" y="21600"/>
                    <a:pt x="20424" y="21275"/>
                    <a:pt x="21012" y="20626"/>
                  </a:cubicBezTo>
                  <a:close/>
                </a:path>
              </a:pathLst>
            </a:custGeom>
            <a:solidFill>
              <a:srgbClr val="FFFFF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34" name="Shape 1219">
              <a:extLst>
                <a:ext uri="{C183D7F6-B498-43B3-948B-1728B52AA6E4}">
                  <adec:decorative xmlns:adec="http://schemas.microsoft.com/office/drawing/2017/decorative" val="1"/>
                </a:ext>
              </a:extLst>
            </p:cNvPr>
            <p:cNvSpPr/>
            <p:nvPr/>
          </p:nvSpPr>
          <p:spPr>
            <a:xfrm>
              <a:off x="8790658" y="6104988"/>
              <a:ext cx="70973" cy="56202"/>
            </a:xfrm>
            <a:custGeom>
              <a:avLst/>
              <a:gdLst/>
              <a:ahLst/>
              <a:cxnLst>
                <a:cxn ang="0">
                  <a:pos x="wd2" y="hd2"/>
                </a:cxn>
                <a:cxn ang="5400000">
                  <a:pos x="wd2" y="hd2"/>
                </a:cxn>
                <a:cxn ang="10800000">
                  <a:pos x="wd2" y="hd2"/>
                </a:cxn>
                <a:cxn ang="16200000">
                  <a:pos x="wd2" y="hd2"/>
                </a:cxn>
              </a:cxnLst>
              <a:rect l="0" t="0" r="r" b="b"/>
              <a:pathLst>
                <a:path w="21392" h="21600" extrusionOk="0">
                  <a:moveTo>
                    <a:pt x="13201" y="2351"/>
                  </a:moveTo>
                  <a:cubicBezTo>
                    <a:pt x="13201" y="2057"/>
                    <a:pt x="13080" y="1763"/>
                    <a:pt x="12959" y="1469"/>
                  </a:cubicBezTo>
                  <a:cubicBezTo>
                    <a:pt x="12718" y="588"/>
                    <a:pt x="11994" y="0"/>
                    <a:pt x="11149" y="0"/>
                  </a:cubicBezTo>
                  <a:cubicBezTo>
                    <a:pt x="1978" y="0"/>
                    <a:pt x="1978" y="0"/>
                    <a:pt x="1978" y="0"/>
                  </a:cubicBezTo>
                  <a:cubicBezTo>
                    <a:pt x="1254" y="0"/>
                    <a:pt x="530" y="441"/>
                    <a:pt x="168" y="1176"/>
                  </a:cubicBezTo>
                  <a:cubicBezTo>
                    <a:pt x="-73" y="1910"/>
                    <a:pt x="-73" y="2939"/>
                    <a:pt x="289" y="3673"/>
                  </a:cubicBezTo>
                  <a:cubicBezTo>
                    <a:pt x="1737" y="6171"/>
                    <a:pt x="3306" y="8522"/>
                    <a:pt x="5116" y="10727"/>
                  </a:cubicBezTo>
                  <a:cubicBezTo>
                    <a:pt x="8977" y="15429"/>
                    <a:pt x="13683" y="19102"/>
                    <a:pt x="18752" y="21453"/>
                  </a:cubicBezTo>
                  <a:cubicBezTo>
                    <a:pt x="18993" y="21600"/>
                    <a:pt x="19234" y="21600"/>
                    <a:pt x="19476" y="21600"/>
                  </a:cubicBezTo>
                  <a:cubicBezTo>
                    <a:pt x="20079" y="21600"/>
                    <a:pt x="20682" y="21306"/>
                    <a:pt x="21044" y="20571"/>
                  </a:cubicBezTo>
                  <a:cubicBezTo>
                    <a:pt x="21527" y="19690"/>
                    <a:pt x="21527" y="18514"/>
                    <a:pt x="20924" y="17633"/>
                  </a:cubicBezTo>
                  <a:cubicBezTo>
                    <a:pt x="17666" y="13665"/>
                    <a:pt x="15131" y="8376"/>
                    <a:pt x="13201" y="2351"/>
                  </a:cubicBezTo>
                  <a:close/>
                </a:path>
              </a:pathLst>
            </a:custGeom>
            <a:solidFill>
              <a:srgbClr val="FFFFF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35" name="Shape 1220">
              <a:extLst>
                <a:ext uri="{C183D7F6-B498-43B3-948B-1728B52AA6E4}">
                  <adec:decorative xmlns:adec="http://schemas.microsoft.com/office/drawing/2017/decorative" val="1"/>
                </a:ext>
              </a:extLst>
            </p:cNvPr>
            <p:cNvSpPr/>
            <p:nvPr/>
          </p:nvSpPr>
          <p:spPr>
            <a:xfrm>
              <a:off x="8840636" y="6104988"/>
              <a:ext cx="54647" cy="59593"/>
            </a:xfrm>
            <a:custGeom>
              <a:avLst/>
              <a:gdLst/>
              <a:ahLst/>
              <a:cxnLst>
                <a:cxn ang="0">
                  <a:pos x="wd2" y="hd2"/>
                </a:cxn>
                <a:cxn ang="5400000">
                  <a:pos x="wd2" y="hd2"/>
                </a:cxn>
                <a:cxn ang="10800000">
                  <a:pos x="wd2" y="hd2"/>
                </a:cxn>
                <a:cxn ang="16200000">
                  <a:pos x="wd2" y="hd2"/>
                </a:cxn>
              </a:cxnLst>
              <a:rect l="0" t="0" r="r" b="b"/>
              <a:pathLst>
                <a:path w="21504" h="21600" extrusionOk="0">
                  <a:moveTo>
                    <a:pt x="18981" y="0"/>
                  </a:moveTo>
                  <a:cubicBezTo>
                    <a:pt x="2584" y="0"/>
                    <a:pt x="2584" y="0"/>
                    <a:pt x="2584" y="0"/>
                  </a:cubicBezTo>
                  <a:cubicBezTo>
                    <a:pt x="1638" y="0"/>
                    <a:pt x="850" y="277"/>
                    <a:pt x="377" y="969"/>
                  </a:cubicBezTo>
                  <a:cubicBezTo>
                    <a:pt x="-96" y="1523"/>
                    <a:pt x="-96" y="2354"/>
                    <a:pt x="219" y="3046"/>
                  </a:cubicBezTo>
                  <a:cubicBezTo>
                    <a:pt x="4161" y="11492"/>
                    <a:pt x="10310" y="17862"/>
                    <a:pt x="17878" y="21323"/>
                  </a:cubicBezTo>
                  <a:cubicBezTo>
                    <a:pt x="18193" y="21462"/>
                    <a:pt x="18666" y="21600"/>
                    <a:pt x="18981" y="21600"/>
                  </a:cubicBezTo>
                  <a:cubicBezTo>
                    <a:pt x="19454" y="21600"/>
                    <a:pt x="19927" y="21462"/>
                    <a:pt x="20400" y="21185"/>
                  </a:cubicBezTo>
                  <a:cubicBezTo>
                    <a:pt x="21031" y="20908"/>
                    <a:pt x="21504" y="20077"/>
                    <a:pt x="21504" y="19385"/>
                  </a:cubicBezTo>
                  <a:cubicBezTo>
                    <a:pt x="21504" y="2215"/>
                    <a:pt x="21504" y="2215"/>
                    <a:pt x="21504" y="2215"/>
                  </a:cubicBezTo>
                  <a:cubicBezTo>
                    <a:pt x="21504" y="969"/>
                    <a:pt x="20400" y="0"/>
                    <a:pt x="18981" y="0"/>
                  </a:cubicBezTo>
                  <a:close/>
                </a:path>
              </a:pathLst>
            </a:custGeom>
            <a:solidFill>
              <a:srgbClr val="FFFFF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36" name="Shape 1221">
              <a:extLst>
                <a:ext uri="{C183D7F6-B498-43B3-948B-1728B52AA6E4}">
                  <adec:decorative xmlns:adec="http://schemas.microsoft.com/office/drawing/2017/decorative" val="1"/>
                </a:ext>
              </a:extLst>
            </p:cNvPr>
            <p:cNvSpPr/>
            <p:nvPr/>
          </p:nvSpPr>
          <p:spPr>
            <a:xfrm>
              <a:off x="8828874" y="6048302"/>
              <a:ext cx="66410" cy="50711"/>
            </a:xfrm>
            <a:custGeom>
              <a:avLst/>
              <a:gdLst/>
              <a:ahLst/>
              <a:cxnLst>
                <a:cxn ang="0">
                  <a:pos x="wd2" y="hd2"/>
                </a:cxn>
                <a:cxn ang="5400000">
                  <a:pos x="wd2" y="hd2"/>
                </a:cxn>
                <a:cxn ang="10800000">
                  <a:pos x="wd2" y="hd2"/>
                </a:cxn>
                <a:cxn ang="16200000">
                  <a:pos x="wd2" y="hd2"/>
                </a:cxn>
              </a:cxnLst>
              <a:rect l="0" t="0" r="r" b="b"/>
              <a:pathLst>
                <a:path w="21600" h="21600" extrusionOk="0">
                  <a:moveTo>
                    <a:pt x="19518" y="0"/>
                  </a:moveTo>
                  <a:cubicBezTo>
                    <a:pt x="2082" y="0"/>
                    <a:pt x="2082" y="0"/>
                    <a:pt x="2082" y="0"/>
                  </a:cubicBezTo>
                  <a:cubicBezTo>
                    <a:pt x="1431" y="0"/>
                    <a:pt x="911" y="325"/>
                    <a:pt x="520" y="812"/>
                  </a:cubicBezTo>
                  <a:cubicBezTo>
                    <a:pt x="130" y="1299"/>
                    <a:pt x="0" y="2111"/>
                    <a:pt x="0" y="2761"/>
                  </a:cubicBezTo>
                  <a:cubicBezTo>
                    <a:pt x="130" y="8608"/>
                    <a:pt x="781" y="14292"/>
                    <a:pt x="1952" y="19651"/>
                  </a:cubicBezTo>
                  <a:cubicBezTo>
                    <a:pt x="2212" y="20788"/>
                    <a:pt x="2993" y="21600"/>
                    <a:pt x="3904" y="21600"/>
                  </a:cubicBezTo>
                  <a:cubicBezTo>
                    <a:pt x="19518" y="21600"/>
                    <a:pt x="19518" y="21600"/>
                    <a:pt x="19518" y="21600"/>
                  </a:cubicBezTo>
                  <a:cubicBezTo>
                    <a:pt x="20689" y="21600"/>
                    <a:pt x="21600" y="20463"/>
                    <a:pt x="21600" y="19002"/>
                  </a:cubicBezTo>
                  <a:cubicBezTo>
                    <a:pt x="21600" y="2598"/>
                    <a:pt x="21600" y="2598"/>
                    <a:pt x="21600" y="2598"/>
                  </a:cubicBezTo>
                  <a:cubicBezTo>
                    <a:pt x="21600" y="1299"/>
                    <a:pt x="20689" y="0"/>
                    <a:pt x="19518" y="0"/>
                  </a:cubicBezTo>
                  <a:close/>
                </a:path>
              </a:pathLst>
            </a:custGeom>
            <a:solidFill>
              <a:srgbClr val="FFFFF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37" name="Shape 1222">
              <a:extLst>
                <a:ext uri="{C183D7F6-B498-43B3-948B-1728B52AA6E4}">
                  <adec:decorative xmlns:adec="http://schemas.microsoft.com/office/drawing/2017/decorative" val="1"/>
                </a:ext>
              </a:extLst>
            </p:cNvPr>
            <p:cNvSpPr/>
            <p:nvPr/>
          </p:nvSpPr>
          <p:spPr>
            <a:xfrm>
              <a:off x="8828874" y="5992908"/>
              <a:ext cx="66410" cy="50711"/>
            </a:xfrm>
            <a:custGeom>
              <a:avLst/>
              <a:gdLst/>
              <a:ahLst/>
              <a:cxnLst>
                <a:cxn ang="0">
                  <a:pos x="wd2" y="hd2"/>
                </a:cxn>
                <a:cxn ang="5400000">
                  <a:pos x="wd2" y="hd2"/>
                </a:cxn>
                <a:cxn ang="10800000">
                  <a:pos x="wd2" y="hd2"/>
                </a:cxn>
                <a:cxn ang="16200000">
                  <a:pos x="wd2" y="hd2"/>
                </a:cxn>
              </a:cxnLst>
              <a:rect l="0" t="0" r="r" b="b"/>
              <a:pathLst>
                <a:path w="21600" h="21600" extrusionOk="0">
                  <a:moveTo>
                    <a:pt x="19518" y="0"/>
                  </a:moveTo>
                  <a:cubicBezTo>
                    <a:pt x="4294" y="0"/>
                    <a:pt x="4294" y="0"/>
                    <a:pt x="4294" y="0"/>
                  </a:cubicBezTo>
                  <a:cubicBezTo>
                    <a:pt x="3383" y="0"/>
                    <a:pt x="2602" y="812"/>
                    <a:pt x="2342" y="1949"/>
                  </a:cubicBezTo>
                  <a:cubicBezTo>
                    <a:pt x="1041" y="7308"/>
                    <a:pt x="260" y="12992"/>
                    <a:pt x="0" y="18839"/>
                  </a:cubicBezTo>
                  <a:cubicBezTo>
                    <a:pt x="0" y="19489"/>
                    <a:pt x="260" y="20301"/>
                    <a:pt x="651" y="20788"/>
                  </a:cubicBezTo>
                  <a:cubicBezTo>
                    <a:pt x="1041" y="21275"/>
                    <a:pt x="1561" y="21600"/>
                    <a:pt x="2082" y="21600"/>
                  </a:cubicBezTo>
                  <a:cubicBezTo>
                    <a:pt x="19518" y="21600"/>
                    <a:pt x="19518" y="21600"/>
                    <a:pt x="19518" y="21600"/>
                  </a:cubicBezTo>
                  <a:cubicBezTo>
                    <a:pt x="20689" y="21600"/>
                    <a:pt x="21600" y="20463"/>
                    <a:pt x="21600" y="19002"/>
                  </a:cubicBezTo>
                  <a:cubicBezTo>
                    <a:pt x="21600" y="2598"/>
                    <a:pt x="21600" y="2598"/>
                    <a:pt x="21600" y="2598"/>
                  </a:cubicBezTo>
                  <a:cubicBezTo>
                    <a:pt x="21600" y="1137"/>
                    <a:pt x="20689" y="0"/>
                    <a:pt x="19518" y="0"/>
                  </a:cubicBezTo>
                  <a:close/>
                </a:path>
              </a:pathLst>
            </a:custGeom>
            <a:solidFill>
              <a:srgbClr val="FFFFF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38" name="Shape 1223">
              <a:extLst>
                <a:ext uri="{C183D7F6-B498-43B3-948B-1728B52AA6E4}">
                  <adec:decorative xmlns:adec="http://schemas.microsoft.com/office/drawing/2017/decorative" val="1"/>
                </a:ext>
              </a:extLst>
            </p:cNvPr>
            <p:cNvSpPr/>
            <p:nvPr/>
          </p:nvSpPr>
          <p:spPr>
            <a:xfrm>
              <a:off x="8842329" y="5929278"/>
              <a:ext cx="52953" cy="58301"/>
            </a:xfrm>
            <a:custGeom>
              <a:avLst/>
              <a:gdLst/>
              <a:ahLst/>
              <a:cxnLst>
                <a:cxn ang="0">
                  <a:pos x="wd2" y="hd2"/>
                </a:cxn>
                <a:cxn ang="5400000">
                  <a:pos x="wd2" y="hd2"/>
                </a:cxn>
                <a:cxn ang="10800000">
                  <a:pos x="wd2" y="hd2"/>
                </a:cxn>
                <a:cxn ang="16200000">
                  <a:pos x="wd2" y="hd2"/>
                </a:cxn>
              </a:cxnLst>
              <a:rect l="0" t="0" r="r" b="b"/>
              <a:pathLst>
                <a:path w="21502" h="21600" extrusionOk="0">
                  <a:moveTo>
                    <a:pt x="20203" y="282"/>
                  </a:moveTo>
                  <a:cubicBezTo>
                    <a:pt x="19878" y="0"/>
                    <a:pt x="19391" y="0"/>
                    <a:pt x="18904" y="0"/>
                  </a:cubicBezTo>
                  <a:cubicBezTo>
                    <a:pt x="18579" y="0"/>
                    <a:pt x="18091" y="0"/>
                    <a:pt x="17604" y="282"/>
                  </a:cubicBezTo>
                  <a:cubicBezTo>
                    <a:pt x="10296" y="4094"/>
                    <a:pt x="4287" y="10306"/>
                    <a:pt x="227" y="18494"/>
                  </a:cubicBezTo>
                  <a:cubicBezTo>
                    <a:pt x="-98" y="19200"/>
                    <a:pt x="-98" y="20047"/>
                    <a:pt x="389" y="20612"/>
                  </a:cubicBezTo>
                  <a:cubicBezTo>
                    <a:pt x="876" y="21318"/>
                    <a:pt x="1688" y="21600"/>
                    <a:pt x="2663" y="21600"/>
                  </a:cubicBezTo>
                  <a:cubicBezTo>
                    <a:pt x="18904" y="21600"/>
                    <a:pt x="18904" y="21600"/>
                    <a:pt x="18904" y="21600"/>
                  </a:cubicBezTo>
                  <a:cubicBezTo>
                    <a:pt x="20365" y="21600"/>
                    <a:pt x="21502" y="20612"/>
                    <a:pt x="21502" y="19341"/>
                  </a:cubicBezTo>
                  <a:cubicBezTo>
                    <a:pt x="21502" y="2259"/>
                    <a:pt x="21502" y="2259"/>
                    <a:pt x="21502" y="2259"/>
                  </a:cubicBezTo>
                  <a:cubicBezTo>
                    <a:pt x="21502" y="1412"/>
                    <a:pt x="21015" y="706"/>
                    <a:pt x="20203" y="282"/>
                  </a:cubicBezTo>
                  <a:close/>
                </a:path>
              </a:pathLst>
            </a:custGeom>
            <a:solidFill>
              <a:srgbClr val="FFFFF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39" name="Shape 1224">
              <a:extLst>
                <a:ext uri="{C183D7F6-B498-43B3-948B-1728B52AA6E4}">
                  <adec:decorative xmlns:adec="http://schemas.microsoft.com/office/drawing/2017/decorative" val="1"/>
                </a:ext>
              </a:extLst>
            </p:cNvPr>
            <p:cNvSpPr/>
            <p:nvPr/>
          </p:nvSpPr>
          <p:spPr>
            <a:xfrm>
              <a:off x="8932320" y="6104988"/>
              <a:ext cx="74262" cy="57332"/>
            </a:xfrm>
            <a:custGeom>
              <a:avLst/>
              <a:gdLst/>
              <a:ahLst/>
              <a:cxnLst>
                <a:cxn ang="0">
                  <a:pos x="wd2" y="hd2"/>
                </a:cxn>
                <a:cxn ang="5400000">
                  <a:pos x="wd2" y="hd2"/>
                </a:cxn>
                <a:cxn ang="10800000">
                  <a:pos x="wd2" y="hd2"/>
                </a:cxn>
                <a:cxn ang="16200000">
                  <a:pos x="wd2" y="hd2"/>
                </a:cxn>
              </a:cxnLst>
              <a:rect l="0" t="0" r="r" b="b"/>
              <a:pathLst>
                <a:path w="21325" h="21600" extrusionOk="0">
                  <a:moveTo>
                    <a:pt x="19471" y="0"/>
                  </a:moveTo>
                  <a:cubicBezTo>
                    <a:pt x="10279" y="0"/>
                    <a:pt x="10279" y="0"/>
                    <a:pt x="10279" y="0"/>
                  </a:cubicBezTo>
                  <a:cubicBezTo>
                    <a:pt x="9475" y="0"/>
                    <a:pt x="8786" y="576"/>
                    <a:pt x="8556" y="1440"/>
                  </a:cubicBezTo>
                  <a:cubicBezTo>
                    <a:pt x="6603" y="7920"/>
                    <a:pt x="3845" y="13392"/>
                    <a:pt x="513" y="17712"/>
                  </a:cubicBezTo>
                  <a:cubicBezTo>
                    <a:pt x="-61" y="18432"/>
                    <a:pt x="-176" y="19728"/>
                    <a:pt x="284" y="20592"/>
                  </a:cubicBezTo>
                  <a:cubicBezTo>
                    <a:pt x="628" y="21312"/>
                    <a:pt x="1203" y="21600"/>
                    <a:pt x="1892" y="21600"/>
                  </a:cubicBezTo>
                  <a:cubicBezTo>
                    <a:pt x="2007" y="21600"/>
                    <a:pt x="2237" y="21600"/>
                    <a:pt x="2467" y="21456"/>
                  </a:cubicBezTo>
                  <a:cubicBezTo>
                    <a:pt x="7637" y="19296"/>
                    <a:pt x="12462" y="15408"/>
                    <a:pt x="16484" y="10512"/>
                  </a:cubicBezTo>
                  <a:cubicBezTo>
                    <a:pt x="18092" y="8352"/>
                    <a:pt x="19701" y="6048"/>
                    <a:pt x="20964" y="3600"/>
                  </a:cubicBezTo>
                  <a:cubicBezTo>
                    <a:pt x="21424" y="2880"/>
                    <a:pt x="21424" y="1872"/>
                    <a:pt x="21079" y="1152"/>
                  </a:cubicBezTo>
                  <a:cubicBezTo>
                    <a:pt x="20735" y="432"/>
                    <a:pt x="20160" y="0"/>
                    <a:pt x="19471" y="0"/>
                  </a:cubicBezTo>
                  <a:close/>
                </a:path>
              </a:pathLst>
            </a:custGeom>
            <a:solidFill>
              <a:srgbClr val="FFFFF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40" name="Shape 1225">
              <a:extLst>
                <a:ext uri="{C183D7F6-B498-43B3-948B-1728B52AA6E4}">
                  <adec:decorative xmlns:adec="http://schemas.microsoft.com/office/drawing/2017/decorative" val="1"/>
                </a:ext>
              </a:extLst>
            </p:cNvPr>
            <p:cNvSpPr/>
            <p:nvPr/>
          </p:nvSpPr>
          <p:spPr>
            <a:xfrm>
              <a:off x="8966686" y="6048302"/>
              <a:ext cx="59384" cy="50711"/>
            </a:xfrm>
            <a:custGeom>
              <a:avLst/>
              <a:gdLst/>
              <a:ahLst/>
              <a:cxnLst>
                <a:cxn ang="0">
                  <a:pos x="wd2" y="hd2"/>
                </a:cxn>
                <a:cxn ang="5400000">
                  <a:pos x="wd2" y="hd2"/>
                </a:cxn>
                <a:cxn ang="10800000">
                  <a:pos x="wd2" y="hd2"/>
                </a:cxn>
                <a:cxn ang="16200000">
                  <a:pos x="wd2" y="hd2"/>
                </a:cxn>
              </a:cxnLst>
              <a:rect l="0" t="0" r="r" b="b"/>
              <a:pathLst>
                <a:path w="21509" h="21600" extrusionOk="0">
                  <a:moveTo>
                    <a:pt x="19190" y="0"/>
                  </a:moveTo>
                  <a:cubicBezTo>
                    <a:pt x="4548" y="0"/>
                    <a:pt x="4548" y="0"/>
                    <a:pt x="4548" y="0"/>
                  </a:cubicBezTo>
                  <a:cubicBezTo>
                    <a:pt x="3388" y="0"/>
                    <a:pt x="2373" y="1137"/>
                    <a:pt x="2228" y="2598"/>
                  </a:cubicBezTo>
                  <a:cubicBezTo>
                    <a:pt x="1939" y="7958"/>
                    <a:pt x="1214" y="13317"/>
                    <a:pt x="54" y="18352"/>
                  </a:cubicBezTo>
                  <a:cubicBezTo>
                    <a:pt x="-91" y="19164"/>
                    <a:pt x="54" y="19976"/>
                    <a:pt x="489" y="20626"/>
                  </a:cubicBezTo>
                  <a:cubicBezTo>
                    <a:pt x="924" y="21275"/>
                    <a:pt x="1649" y="21600"/>
                    <a:pt x="2373" y="21600"/>
                  </a:cubicBezTo>
                  <a:cubicBezTo>
                    <a:pt x="15565" y="21600"/>
                    <a:pt x="15565" y="21600"/>
                    <a:pt x="15565" y="21600"/>
                  </a:cubicBezTo>
                  <a:cubicBezTo>
                    <a:pt x="16435" y="21600"/>
                    <a:pt x="17305" y="20950"/>
                    <a:pt x="17595" y="20138"/>
                  </a:cubicBezTo>
                  <a:cubicBezTo>
                    <a:pt x="19769" y="14617"/>
                    <a:pt x="21074" y="8932"/>
                    <a:pt x="21509" y="2923"/>
                  </a:cubicBezTo>
                  <a:cubicBezTo>
                    <a:pt x="21509" y="2923"/>
                    <a:pt x="21509" y="2761"/>
                    <a:pt x="21509" y="2598"/>
                  </a:cubicBezTo>
                  <a:cubicBezTo>
                    <a:pt x="21509" y="1299"/>
                    <a:pt x="20494" y="0"/>
                    <a:pt x="19190" y="0"/>
                  </a:cubicBezTo>
                  <a:close/>
                </a:path>
              </a:pathLst>
            </a:custGeom>
            <a:solidFill>
              <a:srgbClr val="FFFFF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41" name="Shape 1226">
              <a:extLst>
                <a:ext uri="{C183D7F6-B498-43B3-948B-1728B52AA6E4}">
                  <adec:decorative xmlns:adec="http://schemas.microsoft.com/office/drawing/2017/decorative" val="1"/>
                </a:ext>
              </a:extLst>
            </p:cNvPr>
            <p:cNvSpPr/>
            <p:nvPr/>
          </p:nvSpPr>
          <p:spPr>
            <a:xfrm>
              <a:off x="8967194" y="5992908"/>
              <a:ext cx="58537" cy="50711"/>
            </a:xfrm>
            <a:custGeom>
              <a:avLst/>
              <a:gdLst/>
              <a:ahLst/>
              <a:cxnLst>
                <a:cxn ang="0">
                  <a:pos x="wd2" y="hd2"/>
                </a:cxn>
                <a:cxn ang="5400000">
                  <a:pos x="wd2" y="hd2"/>
                </a:cxn>
                <a:cxn ang="10800000">
                  <a:pos x="wd2" y="hd2"/>
                </a:cxn>
                <a:cxn ang="16200000">
                  <a:pos x="wd2" y="hd2"/>
                </a:cxn>
              </a:cxnLst>
              <a:rect l="0" t="0" r="r" b="b"/>
              <a:pathLst>
                <a:path w="21508" h="21600" extrusionOk="0">
                  <a:moveTo>
                    <a:pt x="496" y="974"/>
                  </a:moveTo>
                  <a:cubicBezTo>
                    <a:pt x="55" y="1624"/>
                    <a:pt x="-92" y="2436"/>
                    <a:pt x="55" y="3248"/>
                  </a:cubicBezTo>
                  <a:cubicBezTo>
                    <a:pt x="1230" y="8283"/>
                    <a:pt x="1818" y="13642"/>
                    <a:pt x="1965" y="19002"/>
                  </a:cubicBezTo>
                  <a:cubicBezTo>
                    <a:pt x="2112" y="20463"/>
                    <a:pt x="3141" y="21600"/>
                    <a:pt x="4316" y="21600"/>
                  </a:cubicBezTo>
                  <a:cubicBezTo>
                    <a:pt x="19157" y="21600"/>
                    <a:pt x="19157" y="21600"/>
                    <a:pt x="19157" y="21600"/>
                  </a:cubicBezTo>
                  <a:cubicBezTo>
                    <a:pt x="19745" y="21600"/>
                    <a:pt x="20332" y="21275"/>
                    <a:pt x="20773" y="20788"/>
                  </a:cubicBezTo>
                  <a:cubicBezTo>
                    <a:pt x="21214" y="20138"/>
                    <a:pt x="21508" y="19489"/>
                    <a:pt x="21508" y="18839"/>
                  </a:cubicBezTo>
                  <a:cubicBezTo>
                    <a:pt x="21067" y="12830"/>
                    <a:pt x="19745" y="6983"/>
                    <a:pt x="17541" y="1624"/>
                  </a:cubicBezTo>
                  <a:cubicBezTo>
                    <a:pt x="17100" y="650"/>
                    <a:pt x="16365" y="0"/>
                    <a:pt x="15337" y="0"/>
                  </a:cubicBezTo>
                  <a:cubicBezTo>
                    <a:pt x="2406" y="0"/>
                    <a:pt x="2406" y="0"/>
                    <a:pt x="2406" y="0"/>
                  </a:cubicBezTo>
                  <a:cubicBezTo>
                    <a:pt x="1671" y="0"/>
                    <a:pt x="937" y="325"/>
                    <a:pt x="496" y="974"/>
                  </a:cubicBezTo>
                  <a:close/>
                </a:path>
              </a:pathLst>
            </a:custGeom>
            <a:solidFill>
              <a:srgbClr val="FFFFF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42" name="Shape 1227">
              <a:extLst>
                <a:ext uri="{C183D7F6-B498-43B3-948B-1728B52AA6E4}">
                  <adec:decorative xmlns:adec="http://schemas.microsoft.com/office/drawing/2017/decorative" val="1"/>
                </a:ext>
              </a:extLst>
            </p:cNvPr>
            <p:cNvSpPr/>
            <p:nvPr/>
          </p:nvSpPr>
          <p:spPr>
            <a:xfrm>
              <a:off x="8933506" y="5931539"/>
              <a:ext cx="70912" cy="56040"/>
            </a:xfrm>
            <a:custGeom>
              <a:avLst/>
              <a:gdLst/>
              <a:ahLst/>
              <a:cxnLst>
                <a:cxn ang="0">
                  <a:pos x="wd2" y="hd2"/>
                </a:cxn>
                <a:cxn ang="5400000">
                  <a:pos x="wd2" y="hd2"/>
                </a:cxn>
                <a:cxn ang="10800000">
                  <a:pos x="wd2" y="hd2"/>
                </a:cxn>
                <a:cxn ang="16200000">
                  <a:pos x="wd2" y="hd2"/>
                </a:cxn>
              </a:cxnLst>
              <a:rect l="0" t="0" r="r" b="b"/>
              <a:pathLst>
                <a:path w="21274" h="21600" extrusionOk="0">
                  <a:moveTo>
                    <a:pt x="8096" y="19249"/>
                  </a:moveTo>
                  <a:cubicBezTo>
                    <a:pt x="8096" y="19543"/>
                    <a:pt x="8216" y="19837"/>
                    <a:pt x="8336" y="20131"/>
                  </a:cubicBezTo>
                  <a:cubicBezTo>
                    <a:pt x="8576" y="21012"/>
                    <a:pt x="9296" y="21600"/>
                    <a:pt x="10136" y="21600"/>
                  </a:cubicBezTo>
                  <a:cubicBezTo>
                    <a:pt x="19376" y="21600"/>
                    <a:pt x="19376" y="21600"/>
                    <a:pt x="19376" y="21600"/>
                  </a:cubicBezTo>
                  <a:cubicBezTo>
                    <a:pt x="20096" y="21600"/>
                    <a:pt x="20696" y="21159"/>
                    <a:pt x="21056" y="20424"/>
                  </a:cubicBezTo>
                  <a:cubicBezTo>
                    <a:pt x="21416" y="19690"/>
                    <a:pt x="21296" y="18661"/>
                    <a:pt x="20936" y="18073"/>
                  </a:cubicBezTo>
                  <a:cubicBezTo>
                    <a:pt x="19496" y="15429"/>
                    <a:pt x="17936" y="13078"/>
                    <a:pt x="16136" y="10873"/>
                  </a:cubicBezTo>
                  <a:cubicBezTo>
                    <a:pt x="12296" y="6171"/>
                    <a:pt x="7616" y="2498"/>
                    <a:pt x="2576" y="147"/>
                  </a:cubicBezTo>
                  <a:cubicBezTo>
                    <a:pt x="2336" y="0"/>
                    <a:pt x="2096" y="0"/>
                    <a:pt x="1856" y="0"/>
                  </a:cubicBezTo>
                  <a:cubicBezTo>
                    <a:pt x="1256" y="0"/>
                    <a:pt x="656" y="294"/>
                    <a:pt x="296" y="1029"/>
                  </a:cubicBezTo>
                  <a:cubicBezTo>
                    <a:pt x="-184" y="1910"/>
                    <a:pt x="-64" y="3086"/>
                    <a:pt x="536" y="3967"/>
                  </a:cubicBezTo>
                  <a:cubicBezTo>
                    <a:pt x="3656" y="8082"/>
                    <a:pt x="6176" y="13224"/>
                    <a:pt x="8096" y="19249"/>
                  </a:cubicBezTo>
                  <a:close/>
                </a:path>
              </a:pathLst>
            </a:custGeom>
            <a:solidFill>
              <a:srgbClr val="FFFFF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43" name="Shape 1228">
              <a:extLst>
                <a:ext uri="{C183D7F6-B498-43B3-948B-1728B52AA6E4}">
                  <adec:decorative xmlns:adec="http://schemas.microsoft.com/office/drawing/2017/decorative" val="1"/>
                </a:ext>
              </a:extLst>
            </p:cNvPr>
            <p:cNvSpPr/>
            <p:nvPr/>
          </p:nvSpPr>
          <p:spPr>
            <a:xfrm>
              <a:off x="8900873" y="5928148"/>
              <a:ext cx="54479" cy="59431"/>
            </a:xfrm>
            <a:custGeom>
              <a:avLst/>
              <a:gdLst/>
              <a:ahLst/>
              <a:cxnLst>
                <a:cxn ang="0">
                  <a:pos x="wd2" y="hd2"/>
                </a:cxn>
                <a:cxn ang="5400000">
                  <a:pos x="wd2" y="hd2"/>
                </a:cxn>
                <a:cxn ang="10800000">
                  <a:pos x="wd2" y="hd2"/>
                </a:cxn>
                <a:cxn ang="16200000">
                  <a:pos x="wd2" y="hd2"/>
                </a:cxn>
              </a:cxnLst>
              <a:rect l="0" t="0" r="r" b="b"/>
              <a:pathLst>
                <a:path w="21504" h="21600" extrusionOk="0">
                  <a:moveTo>
                    <a:pt x="2523" y="21600"/>
                  </a:moveTo>
                  <a:cubicBezTo>
                    <a:pt x="18920" y="21600"/>
                    <a:pt x="18920" y="21600"/>
                    <a:pt x="18920" y="21600"/>
                  </a:cubicBezTo>
                  <a:cubicBezTo>
                    <a:pt x="19866" y="21600"/>
                    <a:pt x="20654" y="21323"/>
                    <a:pt x="21127" y="20631"/>
                  </a:cubicBezTo>
                  <a:cubicBezTo>
                    <a:pt x="21600" y="20077"/>
                    <a:pt x="21600" y="19246"/>
                    <a:pt x="21285" y="18554"/>
                  </a:cubicBezTo>
                  <a:cubicBezTo>
                    <a:pt x="17343" y="10108"/>
                    <a:pt x="11194" y="3738"/>
                    <a:pt x="3626" y="277"/>
                  </a:cubicBezTo>
                  <a:cubicBezTo>
                    <a:pt x="3311" y="138"/>
                    <a:pt x="2838" y="0"/>
                    <a:pt x="2523" y="0"/>
                  </a:cubicBezTo>
                  <a:cubicBezTo>
                    <a:pt x="2050" y="0"/>
                    <a:pt x="1577" y="138"/>
                    <a:pt x="1104" y="415"/>
                  </a:cubicBezTo>
                  <a:cubicBezTo>
                    <a:pt x="315" y="831"/>
                    <a:pt x="0" y="1523"/>
                    <a:pt x="0" y="2215"/>
                  </a:cubicBezTo>
                  <a:cubicBezTo>
                    <a:pt x="0" y="19385"/>
                    <a:pt x="0" y="19385"/>
                    <a:pt x="0" y="19385"/>
                  </a:cubicBezTo>
                  <a:cubicBezTo>
                    <a:pt x="0" y="20631"/>
                    <a:pt x="1104" y="21600"/>
                    <a:pt x="2523" y="21600"/>
                  </a:cubicBezTo>
                  <a:close/>
                </a:path>
              </a:pathLst>
            </a:custGeom>
            <a:solidFill>
              <a:srgbClr val="FFFFF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44" name="Shape 1229">
              <a:extLst>
                <a:ext uri="{C183D7F6-B498-43B3-948B-1728B52AA6E4}">
                  <adec:decorative xmlns:adec="http://schemas.microsoft.com/office/drawing/2017/decorative" val="1"/>
                </a:ext>
              </a:extLst>
            </p:cNvPr>
            <p:cNvSpPr/>
            <p:nvPr/>
          </p:nvSpPr>
          <p:spPr>
            <a:xfrm>
              <a:off x="8900873" y="5992908"/>
              <a:ext cx="66411" cy="50711"/>
            </a:xfrm>
            <a:custGeom>
              <a:avLst/>
              <a:gdLst/>
              <a:ahLst/>
              <a:cxnLst>
                <a:cxn ang="0">
                  <a:pos x="wd2" y="hd2"/>
                </a:cxn>
                <a:cxn ang="5400000">
                  <a:pos x="wd2" y="hd2"/>
                </a:cxn>
                <a:cxn ang="10800000">
                  <a:pos x="wd2" y="hd2"/>
                </a:cxn>
                <a:cxn ang="16200000">
                  <a:pos x="wd2" y="hd2"/>
                </a:cxn>
              </a:cxnLst>
              <a:rect l="0" t="0" r="r" b="b"/>
              <a:pathLst>
                <a:path w="21600" h="21600" extrusionOk="0">
                  <a:moveTo>
                    <a:pt x="2082" y="21600"/>
                  </a:moveTo>
                  <a:cubicBezTo>
                    <a:pt x="19518" y="21600"/>
                    <a:pt x="19518" y="21600"/>
                    <a:pt x="19518" y="21600"/>
                  </a:cubicBezTo>
                  <a:cubicBezTo>
                    <a:pt x="20169" y="21600"/>
                    <a:pt x="20689" y="21275"/>
                    <a:pt x="21080" y="20788"/>
                  </a:cubicBezTo>
                  <a:cubicBezTo>
                    <a:pt x="21470" y="20301"/>
                    <a:pt x="21600" y="19651"/>
                    <a:pt x="21600" y="18839"/>
                  </a:cubicBezTo>
                  <a:cubicBezTo>
                    <a:pt x="21470" y="12992"/>
                    <a:pt x="20819" y="7308"/>
                    <a:pt x="19648" y="1949"/>
                  </a:cubicBezTo>
                  <a:cubicBezTo>
                    <a:pt x="19388" y="812"/>
                    <a:pt x="18607" y="0"/>
                    <a:pt x="17696" y="0"/>
                  </a:cubicBezTo>
                  <a:cubicBezTo>
                    <a:pt x="2082" y="0"/>
                    <a:pt x="2082" y="0"/>
                    <a:pt x="2082" y="0"/>
                  </a:cubicBezTo>
                  <a:cubicBezTo>
                    <a:pt x="911" y="0"/>
                    <a:pt x="0" y="1137"/>
                    <a:pt x="0" y="2598"/>
                  </a:cubicBezTo>
                  <a:cubicBezTo>
                    <a:pt x="0" y="19002"/>
                    <a:pt x="0" y="19002"/>
                    <a:pt x="0" y="19002"/>
                  </a:cubicBezTo>
                  <a:cubicBezTo>
                    <a:pt x="0" y="20463"/>
                    <a:pt x="911" y="21600"/>
                    <a:pt x="2082" y="21600"/>
                  </a:cubicBezTo>
                  <a:close/>
                </a:path>
              </a:pathLst>
            </a:custGeom>
            <a:solidFill>
              <a:srgbClr val="FFFFF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45" name="Shape 1230">
              <a:extLst>
                <a:ext uri="{C183D7F6-B498-43B3-948B-1728B52AA6E4}">
                  <adec:decorative xmlns:adec="http://schemas.microsoft.com/office/drawing/2017/decorative" val="1"/>
                </a:ext>
              </a:extLst>
            </p:cNvPr>
            <p:cNvSpPr/>
            <p:nvPr/>
          </p:nvSpPr>
          <p:spPr>
            <a:xfrm>
              <a:off x="8900873" y="6048302"/>
              <a:ext cx="66411" cy="50711"/>
            </a:xfrm>
            <a:custGeom>
              <a:avLst/>
              <a:gdLst/>
              <a:ahLst/>
              <a:cxnLst>
                <a:cxn ang="0">
                  <a:pos x="wd2" y="hd2"/>
                </a:cxn>
                <a:cxn ang="5400000">
                  <a:pos x="wd2" y="hd2"/>
                </a:cxn>
                <a:cxn ang="10800000">
                  <a:pos x="wd2" y="hd2"/>
                </a:cxn>
                <a:cxn ang="16200000">
                  <a:pos x="wd2" y="hd2"/>
                </a:cxn>
              </a:cxnLst>
              <a:rect l="0" t="0" r="r" b="b"/>
              <a:pathLst>
                <a:path w="21600" h="21600" extrusionOk="0">
                  <a:moveTo>
                    <a:pt x="2082" y="21600"/>
                  </a:moveTo>
                  <a:cubicBezTo>
                    <a:pt x="17306" y="21600"/>
                    <a:pt x="17306" y="21600"/>
                    <a:pt x="17306" y="21600"/>
                  </a:cubicBezTo>
                  <a:cubicBezTo>
                    <a:pt x="18217" y="21600"/>
                    <a:pt x="18998" y="20788"/>
                    <a:pt x="19258" y="19814"/>
                  </a:cubicBezTo>
                  <a:cubicBezTo>
                    <a:pt x="20559" y="14454"/>
                    <a:pt x="21340" y="8770"/>
                    <a:pt x="21600" y="2923"/>
                  </a:cubicBezTo>
                  <a:cubicBezTo>
                    <a:pt x="21600" y="2761"/>
                    <a:pt x="21600" y="2761"/>
                    <a:pt x="21600" y="2598"/>
                  </a:cubicBezTo>
                  <a:cubicBezTo>
                    <a:pt x="21600" y="1299"/>
                    <a:pt x="20689" y="0"/>
                    <a:pt x="19518" y="0"/>
                  </a:cubicBezTo>
                  <a:cubicBezTo>
                    <a:pt x="2082" y="0"/>
                    <a:pt x="2082" y="0"/>
                    <a:pt x="2082" y="0"/>
                  </a:cubicBezTo>
                  <a:cubicBezTo>
                    <a:pt x="911" y="0"/>
                    <a:pt x="0" y="1299"/>
                    <a:pt x="0" y="2598"/>
                  </a:cubicBezTo>
                  <a:cubicBezTo>
                    <a:pt x="0" y="19002"/>
                    <a:pt x="0" y="19002"/>
                    <a:pt x="0" y="19002"/>
                  </a:cubicBezTo>
                  <a:cubicBezTo>
                    <a:pt x="0" y="20463"/>
                    <a:pt x="911" y="21600"/>
                    <a:pt x="2082" y="21600"/>
                  </a:cubicBezTo>
                  <a:close/>
                </a:path>
              </a:pathLst>
            </a:custGeom>
            <a:solidFill>
              <a:srgbClr val="FFFFF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46" name="Shape 1231">
              <a:extLst>
                <a:ext uri="{C183D7F6-B498-43B3-948B-1728B52AA6E4}">
                  <adec:decorative xmlns:adec="http://schemas.microsoft.com/office/drawing/2017/decorative" val="1"/>
                </a:ext>
              </a:extLst>
            </p:cNvPr>
            <p:cNvSpPr/>
            <p:nvPr/>
          </p:nvSpPr>
          <p:spPr>
            <a:xfrm>
              <a:off x="8900873" y="6104988"/>
              <a:ext cx="52858" cy="58786"/>
            </a:xfrm>
            <a:custGeom>
              <a:avLst/>
              <a:gdLst/>
              <a:ahLst/>
              <a:cxnLst>
                <a:cxn ang="0">
                  <a:pos x="wd2" y="hd2"/>
                </a:cxn>
                <a:cxn ang="5400000">
                  <a:pos x="wd2" y="hd2"/>
                </a:cxn>
                <a:cxn ang="10800000">
                  <a:pos x="wd2" y="hd2"/>
                </a:cxn>
                <a:cxn ang="16200000">
                  <a:pos x="wd2" y="hd2"/>
                </a:cxn>
              </a:cxnLst>
              <a:rect l="0" t="0" r="r" b="b"/>
              <a:pathLst>
                <a:path w="21600" h="21600" extrusionOk="0">
                  <a:moveTo>
                    <a:pt x="21600" y="2244"/>
                  </a:moveTo>
                  <a:cubicBezTo>
                    <a:pt x="21600" y="982"/>
                    <a:pt x="20455" y="0"/>
                    <a:pt x="18982" y="0"/>
                  </a:cubicBezTo>
                  <a:cubicBezTo>
                    <a:pt x="2618" y="0"/>
                    <a:pt x="2618" y="0"/>
                    <a:pt x="2618" y="0"/>
                  </a:cubicBezTo>
                  <a:cubicBezTo>
                    <a:pt x="1145" y="0"/>
                    <a:pt x="0" y="982"/>
                    <a:pt x="0" y="2244"/>
                  </a:cubicBezTo>
                  <a:cubicBezTo>
                    <a:pt x="0" y="19356"/>
                    <a:pt x="0" y="19356"/>
                    <a:pt x="0" y="19356"/>
                  </a:cubicBezTo>
                  <a:cubicBezTo>
                    <a:pt x="0" y="20057"/>
                    <a:pt x="491" y="20899"/>
                    <a:pt x="1309" y="21179"/>
                  </a:cubicBezTo>
                  <a:cubicBezTo>
                    <a:pt x="1636" y="21460"/>
                    <a:pt x="2127" y="21600"/>
                    <a:pt x="2618" y="21600"/>
                  </a:cubicBezTo>
                  <a:cubicBezTo>
                    <a:pt x="2945" y="21600"/>
                    <a:pt x="3436" y="21460"/>
                    <a:pt x="3927" y="21179"/>
                  </a:cubicBezTo>
                  <a:cubicBezTo>
                    <a:pt x="11291" y="17532"/>
                    <a:pt x="17345" y="11221"/>
                    <a:pt x="21436" y="3226"/>
                  </a:cubicBezTo>
                  <a:cubicBezTo>
                    <a:pt x="21600" y="2945"/>
                    <a:pt x="21600" y="2525"/>
                    <a:pt x="21600" y="2244"/>
                  </a:cubicBezTo>
                  <a:close/>
                </a:path>
              </a:pathLst>
            </a:custGeom>
            <a:solidFill>
              <a:srgbClr val="FFFFF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47" name="Shape 1232">
              <a:extLst>
                <a:ext uri="{C183D7F6-B498-43B3-948B-1728B52AA6E4}">
                  <adec:decorative xmlns:adec="http://schemas.microsoft.com/office/drawing/2017/decorative" val="1"/>
                </a:ext>
              </a:extLst>
            </p:cNvPr>
            <p:cNvSpPr/>
            <p:nvPr/>
          </p:nvSpPr>
          <p:spPr>
            <a:xfrm>
              <a:off x="8750773" y="5905538"/>
              <a:ext cx="294611" cy="280845"/>
            </a:xfrm>
            <a:custGeom>
              <a:avLst/>
              <a:gdLst/>
              <a:ahLst/>
              <a:cxnLst>
                <a:cxn ang="0">
                  <a:pos x="wd2" y="hd2"/>
                </a:cxn>
                <a:cxn ang="5400000">
                  <a:pos x="wd2" y="hd2"/>
                </a:cxn>
                <a:cxn ang="10800000">
                  <a:pos x="wd2" y="hd2"/>
                </a:cxn>
                <a:cxn ang="16200000">
                  <a:pos x="wd2" y="hd2"/>
                </a:cxn>
              </a:cxnLst>
              <a:rect l="0" t="0" r="r" b="b"/>
              <a:pathLst>
                <a:path w="21600" h="21600" extrusionOk="0">
                  <a:moveTo>
                    <a:pt x="10800" y="704"/>
                  </a:moveTo>
                  <a:cubicBezTo>
                    <a:pt x="16376" y="704"/>
                    <a:pt x="20896" y="5224"/>
                    <a:pt x="20896" y="10800"/>
                  </a:cubicBezTo>
                  <a:cubicBezTo>
                    <a:pt x="20896" y="16376"/>
                    <a:pt x="16376" y="20896"/>
                    <a:pt x="10800" y="20896"/>
                  </a:cubicBezTo>
                  <a:cubicBezTo>
                    <a:pt x="5224" y="20896"/>
                    <a:pt x="704" y="16376"/>
                    <a:pt x="704" y="10800"/>
                  </a:cubicBezTo>
                  <a:cubicBezTo>
                    <a:pt x="704" y="5224"/>
                    <a:pt x="5224" y="704"/>
                    <a:pt x="10800" y="704"/>
                  </a:cubicBezTo>
                  <a:moveTo>
                    <a:pt x="10800" y="0"/>
                  </a:moveTo>
                  <a:cubicBezTo>
                    <a:pt x="4842" y="0"/>
                    <a:pt x="0" y="4842"/>
                    <a:pt x="0" y="10800"/>
                  </a:cubicBezTo>
                  <a:cubicBezTo>
                    <a:pt x="0" y="16758"/>
                    <a:pt x="4842" y="21600"/>
                    <a:pt x="10800" y="21600"/>
                  </a:cubicBezTo>
                  <a:cubicBezTo>
                    <a:pt x="16758" y="21600"/>
                    <a:pt x="21600" y="16758"/>
                    <a:pt x="21600" y="10800"/>
                  </a:cubicBezTo>
                  <a:cubicBezTo>
                    <a:pt x="21600" y="4842"/>
                    <a:pt x="16758" y="0"/>
                    <a:pt x="10800" y="0"/>
                  </a:cubicBezTo>
                  <a:close/>
                </a:path>
              </a:pathLst>
            </a:custGeom>
            <a:solidFill>
              <a:srgbClr val="FFFFF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48" name="Shape 1233">
              <a:extLst>
                <a:ext uri="{C183D7F6-B498-43B3-948B-1728B52AA6E4}">
                  <adec:decorative xmlns:adec="http://schemas.microsoft.com/office/drawing/2017/decorative" val="1"/>
                </a:ext>
              </a:extLst>
            </p:cNvPr>
            <p:cNvSpPr/>
            <p:nvPr/>
          </p:nvSpPr>
          <p:spPr>
            <a:xfrm>
              <a:off x="8773615" y="5902147"/>
              <a:ext cx="104758" cy="95284"/>
            </a:xfrm>
            <a:custGeom>
              <a:avLst/>
              <a:gdLst/>
              <a:ahLst/>
              <a:cxnLst>
                <a:cxn ang="0">
                  <a:pos x="wd2" y="hd2"/>
                </a:cxn>
                <a:cxn ang="5400000">
                  <a:pos x="wd2" y="hd2"/>
                </a:cxn>
                <a:cxn ang="10800000">
                  <a:pos x="wd2" y="hd2"/>
                </a:cxn>
                <a:cxn ang="16200000">
                  <a:pos x="wd2" y="hd2"/>
                </a:cxn>
              </a:cxnLst>
              <a:rect l="0" t="0" r="r" b="b"/>
              <a:pathLst>
                <a:path w="21404" h="21600" extrusionOk="0">
                  <a:moveTo>
                    <a:pt x="16675" y="21600"/>
                  </a:moveTo>
                  <a:cubicBezTo>
                    <a:pt x="16511" y="21600"/>
                    <a:pt x="16429" y="21600"/>
                    <a:pt x="16266" y="21514"/>
                  </a:cubicBezTo>
                  <a:cubicBezTo>
                    <a:pt x="10702" y="18403"/>
                    <a:pt x="10702" y="18403"/>
                    <a:pt x="10702" y="18403"/>
                  </a:cubicBezTo>
                  <a:cubicBezTo>
                    <a:pt x="5138" y="21514"/>
                    <a:pt x="5138" y="21514"/>
                    <a:pt x="5138" y="21514"/>
                  </a:cubicBezTo>
                  <a:cubicBezTo>
                    <a:pt x="4975" y="21600"/>
                    <a:pt x="4893" y="21600"/>
                    <a:pt x="4729" y="21600"/>
                  </a:cubicBezTo>
                  <a:cubicBezTo>
                    <a:pt x="4484" y="21600"/>
                    <a:pt x="4320" y="21514"/>
                    <a:pt x="4157" y="21427"/>
                  </a:cubicBezTo>
                  <a:cubicBezTo>
                    <a:pt x="3829" y="21168"/>
                    <a:pt x="3666" y="20736"/>
                    <a:pt x="3747" y="20390"/>
                  </a:cubicBezTo>
                  <a:cubicBezTo>
                    <a:pt x="4811" y="13824"/>
                    <a:pt x="4811" y="13824"/>
                    <a:pt x="4811" y="13824"/>
                  </a:cubicBezTo>
                  <a:cubicBezTo>
                    <a:pt x="311" y="9245"/>
                    <a:pt x="311" y="9245"/>
                    <a:pt x="311" y="9245"/>
                  </a:cubicBezTo>
                  <a:cubicBezTo>
                    <a:pt x="66" y="8986"/>
                    <a:pt x="-98" y="8554"/>
                    <a:pt x="66" y="8208"/>
                  </a:cubicBezTo>
                  <a:cubicBezTo>
                    <a:pt x="147" y="7776"/>
                    <a:pt x="475" y="7517"/>
                    <a:pt x="884" y="7517"/>
                  </a:cubicBezTo>
                  <a:cubicBezTo>
                    <a:pt x="7020" y="6566"/>
                    <a:pt x="7020" y="6566"/>
                    <a:pt x="7020" y="6566"/>
                  </a:cubicBezTo>
                  <a:cubicBezTo>
                    <a:pt x="9802" y="605"/>
                    <a:pt x="9802" y="605"/>
                    <a:pt x="9802" y="605"/>
                  </a:cubicBezTo>
                  <a:cubicBezTo>
                    <a:pt x="9966" y="259"/>
                    <a:pt x="10293" y="0"/>
                    <a:pt x="10702" y="0"/>
                  </a:cubicBezTo>
                  <a:cubicBezTo>
                    <a:pt x="11111" y="0"/>
                    <a:pt x="11438" y="259"/>
                    <a:pt x="11602" y="605"/>
                  </a:cubicBezTo>
                  <a:cubicBezTo>
                    <a:pt x="14384" y="6566"/>
                    <a:pt x="14384" y="6566"/>
                    <a:pt x="14384" y="6566"/>
                  </a:cubicBezTo>
                  <a:cubicBezTo>
                    <a:pt x="20520" y="7517"/>
                    <a:pt x="20520" y="7517"/>
                    <a:pt x="20520" y="7517"/>
                  </a:cubicBezTo>
                  <a:cubicBezTo>
                    <a:pt x="20929" y="7517"/>
                    <a:pt x="21257" y="7776"/>
                    <a:pt x="21338" y="8208"/>
                  </a:cubicBezTo>
                  <a:cubicBezTo>
                    <a:pt x="21502" y="8554"/>
                    <a:pt x="21338" y="8986"/>
                    <a:pt x="21093" y="9245"/>
                  </a:cubicBezTo>
                  <a:cubicBezTo>
                    <a:pt x="16593" y="13824"/>
                    <a:pt x="16593" y="13824"/>
                    <a:pt x="16593" y="13824"/>
                  </a:cubicBezTo>
                  <a:cubicBezTo>
                    <a:pt x="17657" y="20390"/>
                    <a:pt x="17657" y="20390"/>
                    <a:pt x="17657" y="20390"/>
                  </a:cubicBezTo>
                  <a:cubicBezTo>
                    <a:pt x="17738" y="20736"/>
                    <a:pt x="17575" y="21168"/>
                    <a:pt x="17247" y="21427"/>
                  </a:cubicBezTo>
                  <a:cubicBezTo>
                    <a:pt x="17084" y="21514"/>
                    <a:pt x="16920" y="21600"/>
                    <a:pt x="16675" y="21600"/>
                  </a:cubicBezTo>
                  <a:close/>
                </a:path>
              </a:pathLst>
            </a:custGeom>
            <a:solidFill>
              <a:srgbClr val="FFFFF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49" name="Shape 1234">
              <a:extLst>
                <a:ext uri="{C183D7F6-B498-43B3-948B-1728B52AA6E4}">
                  <adec:decorative xmlns:adec="http://schemas.microsoft.com/office/drawing/2017/decorative" val="1"/>
                </a:ext>
              </a:extLst>
            </p:cNvPr>
            <p:cNvSpPr/>
            <p:nvPr/>
          </p:nvSpPr>
          <p:spPr>
            <a:xfrm>
              <a:off x="8768898" y="5897625"/>
              <a:ext cx="114190" cy="104489"/>
            </a:xfrm>
            <a:custGeom>
              <a:avLst/>
              <a:gdLst/>
              <a:ahLst/>
              <a:cxnLst>
                <a:cxn ang="0">
                  <a:pos x="wd2" y="hd2"/>
                </a:cxn>
                <a:cxn ang="5400000">
                  <a:pos x="wd2" y="hd2"/>
                </a:cxn>
                <a:cxn ang="10800000">
                  <a:pos x="wd2" y="hd2"/>
                </a:cxn>
                <a:cxn ang="16200000">
                  <a:pos x="wd2" y="hd2"/>
                </a:cxn>
              </a:cxnLst>
              <a:rect l="0" t="0" r="r" b="b"/>
              <a:pathLst>
                <a:path w="21410" h="21600" extrusionOk="0">
                  <a:moveTo>
                    <a:pt x="10705" y="1892"/>
                  </a:moveTo>
                  <a:cubicBezTo>
                    <a:pt x="13480" y="7726"/>
                    <a:pt x="13480" y="7726"/>
                    <a:pt x="13480" y="7726"/>
                  </a:cubicBezTo>
                  <a:cubicBezTo>
                    <a:pt x="19630" y="8672"/>
                    <a:pt x="19630" y="8672"/>
                    <a:pt x="19630" y="8672"/>
                  </a:cubicBezTo>
                  <a:cubicBezTo>
                    <a:pt x="15130" y="13244"/>
                    <a:pt x="15130" y="13244"/>
                    <a:pt x="15130" y="13244"/>
                  </a:cubicBezTo>
                  <a:cubicBezTo>
                    <a:pt x="16180" y="19708"/>
                    <a:pt x="16180" y="19708"/>
                    <a:pt x="16180" y="19708"/>
                  </a:cubicBezTo>
                  <a:cubicBezTo>
                    <a:pt x="10705" y="16634"/>
                    <a:pt x="10705" y="16634"/>
                    <a:pt x="10705" y="16634"/>
                  </a:cubicBezTo>
                  <a:cubicBezTo>
                    <a:pt x="5230" y="19708"/>
                    <a:pt x="5230" y="19708"/>
                    <a:pt x="5230" y="19708"/>
                  </a:cubicBezTo>
                  <a:cubicBezTo>
                    <a:pt x="6280" y="13244"/>
                    <a:pt x="6280" y="13244"/>
                    <a:pt x="6280" y="13244"/>
                  </a:cubicBezTo>
                  <a:cubicBezTo>
                    <a:pt x="1780" y="8672"/>
                    <a:pt x="1780" y="8672"/>
                    <a:pt x="1780" y="8672"/>
                  </a:cubicBezTo>
                  <a:cubicBezTo>
                    <a:pt x="7930" y="7726"/>
                    <a:pt x="7930" y="7726"/>
                    <a:pt x="7930" y="7726"/>
                  </a:cubicBezTo>
                  <a:cubicBezTo>
                    <a:pt x="10705" y="1892"/>
                    <a:pt x="10705" y="1892"/>
                    <a:pt x="10705" y="1892"/>
                  </a:cubicBezTo>
                  <a:moveTo>
                    <a:pt x="10705" y="0"/>
                  </a:moveTo>
                  <a:cubicBezTo>
                    <a:pt x="10030" y="0"/>
                    <a:pt x="9430" y="394"/>
                    <a:pt x="9055" y="1104"/>
                  </a:cubicBezTo>
                  <a:cubicBezTo>
                    <a:pt x="6730" y="6070"/>
                    <a:pt x="6730" y="6070"/>
                    <a:pt x="6730" y="6070"/>
                  </a:cubicBezTo>
                  <a:cubicBezTo>
                    <a:pt x="1555" y="6858"/>
                    <a:pt x="1555" y="6858"/>
                    <a:pt x="1555" y="6858"/>
                  </a:cubicBezTo>
                  <a:cubicBezTo>
                    <a:pt x="880" y="6937"/>
                    <a:pt x="280" y="7410"/>
                    <a:pt x="55" y="8120"/>
                  </a:cubicBezTo>
                  <a:cubicBezTo>
                    <a:pt x="-95" y="8829"/>
                    <a:pt x="55" y="9539"/>
                    <a:pt x="580" y="10091"/>
                  </a:cubicBezTo>
                  <a:cubicBezTo>
                    <a:pt x="4330" y="13953"/>
                    <a:pt x="4330" y="13953"/>
                    <a:pt x="4330" y="13953"/>
                  </a:cubicBezTo>
                  <a:cubicBezTo>
                    <a:pt x="3430" y="19393"/>
                    <a:pt x="3430" y="19393"/>
                    <a:pt x="3430" y="19393"/>
                  </a:cubicBezTo>
                  <a:cubicBezTo>
                    <a:pt x="3280" y="20102"/>
                    <a:pt x="3580" y="20812"/>
                    <a:pt x="4180" y="21206"/>
                  </a:cubicBezTo>
                  <a:cubicBezTo>
                    <a:pt x="4480" y="21442"/>
                    <a:pt x="4855" y="21600"/>
                    <a:pt x="5230" y="21600"/>
                  </a:cubicBezTo>
                  <a:cubicBezTo>
                    <a:pt x="5455" y="21600"/>
                    <a:pt x="5755" y="21521"/>
                    <a:pt x="6055" y="21364"/>
                  </a:cubicBezTo>
                  <a:cubicBezTo>
                    <a:pt x="10705" y="18841"/>
                    <a:pt x="10705" y="18841"/>
                    <a:pt x="10705" y="18841"/>
                  </a:cubicBezTo>
                  <a:cubicBezTo>
                    <a:pt x="15355" y="21364"/>
                    <a:pt x="15355" y="21364"/>
                    <a:pt x="15355" y="21364"/>
                  </a:cubicBezTo>
                  <a:cubicBezTo>
                    <a:pt x="15655" y="21521"/>
                    <a:pt x="15955" y="21600"/>
                    <a:pt x="16180" y="21600"/>
                  </a:cubicBezTo>
                  <a:cubicBezTo>
                    <a:pt x="16555" y="21600"/>
                    <a:pt x="16930" y="21442"/>
                    <a:pt x="17230" y="21206"/>
                  </a:cubicBezTo>
                  <a:cubicBezTo>
                    <a:pt x="17830" y="20812"/>
                    <a:pt x="18130" y="20102"/>
                    <a:pt x="17980" y="19393"/>
                  </a:cubicBezTo>
                  <a:cubicBezTo>
                    <a:pt x="17080" y="13953"/>
                    <a:pt x="17080" y="13953"/>
                    <a:pt x="17080" y="13953"/>
                  </a:cubicBezTo>
                  <a:cubicBezTo>
                    <a:pt x="20830" y="10091"/>
                    <a:pt x="20830" y="10091"/>
                    <a:pt x="20830" y="10091"/>
                  </a:cubicBezTo>
                  <a:cubicBezTo>
                    <a:pt x="21355" y="9539"/>
                    <a:pt x="21505" y="8829"/>
                    <a:pt x="21355" y="8120"/>
                  </a:cubicBezTo>
                  <a:cubicBezTo>
                    <a:pt x="21130" y="7410"/>
                    <a:pt x="20530" y="6937"/>
                    <a:pt x="19855" y="6858"/>
                  </a:cubicBezTo>
                  <a:cubicBezTo>
                    <a:pt x="14680" y="6070"/>
                    <a:pt x="14680" y="6070"/>
                    <a:pt x="14680" y="6070"/>
                  </a:cubicBezTo>
                  <a:cubicBezTo>
                    <a:pt x="12355" y="1104"/>
                    <a:pt x="12355" y="1104"/>
                    <a:pt x="12355" y="1104"/>
                  </a:cubicBezTo>
                  <a:cubicBezTo>
                    <a:pt x="11980" y="394"/>
                    <a:pt x="11380" y="0"/>
                    <a:pt x="10705" y="0"/>
                  </a:cubicBezTo>
                  <a:close/>
                </a:path>
              </a:pathLst>
            </a:custGeom>
            <a:solidFill>
              <a:srgbClr val="45B40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50" name="Shape 1235">
              <a:extLst>
                <a:ext uri="{C183D7F6-B498-43B3-948B-1728B52AA6E4}">
                  <adec:decorative xmlns:adec="http://schemas.microsoft.com/office/drawing/2017/decorative" val="1"/>
                </a:ext>
              </a:extLst>
            </p:cNvPr>
            <p:cNvSpPr/>
            <p:nvPr/>
          </p:nvSpPr>
          <p:spPr>
            <a:xfrm>
              <a:off x="8918462" y="5960932"/>
              <a:ext cx="104758" cy="95284"/>
            </a:xfrm>
            <a:custGeom>
              <a:avLst/>
              <a:gdLst/>
              <a:ahLst/>
              <a:cxnLst>
                <a:cxn ang="0">
                  <a:pos x="wd2" y="hd2"/>
                </a:cxn>
                <a:cxn ang="5400000">
                  <a:pos x="wd2" y="hd2"/>
                </a:cxn>
                <a:cxn ang="10800000">
                  <a:pos x="wd2" y="hd2"/>
                </a:cxn>
                <a:cxn ang="16200000">
                  <a:pos x="wd2" y="hd2"/>
                </a:cxn>
              </a:cxnLst>
              <a:rect l="0" t="0" r="r" b="b"/>
              <a:pathLst>
                <a:path w="21404" h="21600" extrusionOk="0">
                  <a:moveTo>
                    <a:pt x="16675" y="21600"/>
                  </a:moveTo>
                  <a:cubicBezTo>
                    <a:pt x="16511" y="21600"/>
                    <a:pt x="16429" y="21600"/>
                    <a:pt x="16266" y="21514"/>
                  </a:cubicBezTo>
                  <a:cubicBezTo>
                    <a:pt x="10702" y="18403"/>
                    <a:pt x="10702" y="18403"/>
                    <a:pt x="10702" y="18403"/>
                  </a:cubicBezTo>
                  <a:cubicBezTo>
                    <a:pt x="5138" y="21514"/>
                    <a:pt x="5138" y="21514"/>
                    <a:pt x="5138" y="21514"/>
                  </a:cubicBezTo>
                  <a:cubicBezTo>
                    <a:pt x="4975" y="21600"/>
                    <a:pt x="4893" y="21600"/>
                    <a:pt x="4729" y="21600"/>
                  </a:cubicBezTo>
                  <a:cubicBezTo>
                    <a:pt x="4484" y="21600"/>
                    <a:pt x="4320" y="21514"/>
                    <a:pt x="4157" y="21427"/>
                  </a:cubicBezTo>
                  <a:cubicBezTo>
                    <a:pt x="3829" y="21168"/>
                    <a:pt x="3666" y="20736"/>
                    <a:pt x="3747" y="20390"/>
                  </a:cubicBezTo>
                  <a:cubicBezTo>
                    <a:pt x="4811" y="13824"/>
                    <a:pt x="4811" y="13824"/>
                    <a:pt x="4811" y="13824"/>
                  </a:cubicBezTo>
                  <a:cubicBezTo>
                    <a:pt x="311" y="9245"/>
                    <a:pt x="311" y="9245"/>
                    <a:pt x="311" y="9245"/>
                  </a:cubicBezTo>
                  <a:cubicBezTo>
                    <a:pt x="66" y="8986"/>
                    <a:pt x="-98" y="8554"/>
                    <a:pt x="66" y="8208"/>
                  </a:cubicBezTo>
                  <a:cubicBezTo>
                    <a:pt x="147" y="7776"/>
                    <a:pt x="475" y="7517"/>
                    <a:pt x="884" y="7517"/>
                  </a:cubicBezTo>
                  <a:cubicBezTo>
                    <a:pt x="7020" y="6566"/>
                    <a:pt x="7020" y="6566"/>
                    <a:pt x="7020" y="6566"/>
                  </a:cubicBezTo>
                  <a:cubicBezTo>
                    <a:pt x="9802" y="605"/>
                    <a:pt x="9802" y="605"/>
                    <a:pt x="9802" y="605"/>
                  </a:cubicBezTo>
                  <a:cubicBezTo>
                    <a:pt x="9966" y="259"/>
                    <a:pt x="10293" y="0"/>
                    <a:pt x="10702" y="0"/>
                  </a:cubicBezTo>
                  <a:cubicBezTo>
                    <a:pt x="11111" y="0"/>
                    <a:pt x="11438" y="259"/>
                    <a:pt x="11602" y="605"/>
                  </a:cubicBezTo>
                  <a:cubicBezTo>
                    <a:pt x="14384" y="6566"/>
                    <a:pt x="14384" y="6566"/>
                    <a:pt x="14384" y="6566"/>
                  </a:cubicBezTo>
                  <a:cubicBezTo>
                    <a:pt x="20520" y="7517"/>
                    <a:pt x="20520" y="7517"/>
                    <a:pt x="20520" y="7517"/>
                  </a:cubicBezTo>
                  <a:cubicBezTo>
                    <a:pt x="20929" y="7517"/>
                    <a:pt x="21257" y="7776"/>
                    <a:pt x="21338" y="8208"/>
                  </a:cubicBezTo>
                  <a:cubicBezTo>
                    <a:pt x="21502" y="8554"/>
                    <a:pt x="21338" y="8986"/>
                    <a:pt x="21093" y="9245"/>
                  </a:cubicBezTo>
                  <a:cubicBezTo>
                    <a:pt x="16593" y="13824"/>
                    <a:pt x="16593" y="13824"/>
                    <a:pt x="16593" y="13824"/>
                  </a:cubicBezTo>
                  <a:cubicBezTo>
                    <a:pt x="17657" y="20390"/>
                    <a:pt x="17657" y="20390"/>
                    <a:pt x="17657" y="20390"/>
                  </a:cubicBezTo>
                  <a:cubicBezTo>
                    <a:pt x="17738" y="20736"/>
                    <a:pt x="17575" y="21168"/>
                    <a:pt x="17247" y="21427"/>
                  </a:cubicBezTo>
                  <a:cubicBezTo>
                    <a:pt x="17084" y="21514"/>
                    <a:pt x="16920" y="21600"/>
                    <a:pt x="16675" y="21600"/>
                  </a:cubicBezTo>
                  <a:close/>
                </a:path>
              </a:pathLst>
            </a:custGeom>
            <a:solidFill>
              <a:srgbClr val="FFFFF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51" name="Shape 1236">
              <a:extLst>
                <a:ext uri="{C183D7F6-B498-43B3-948B-1728B52AA6E4}">
                  <adec:decorative xmlns:adec="http://schemas.microsoft.com/office/drawing/2017/decorative" val="1"/>
                </a:ext>
              </a:extLst>
            </p:cNvPr>
            <p:cNvSpPr/>
            <p:nvPr/>
          </p:nvSpPr>
          <p:spPr>
            <a:xfrm>
              <a:off x="8913747" y="5956248"/>
              <a:ext cx="114190" cy="104489"/>
            </a:xfrm>
            <a:custGeom>
              <a:avLst/>
              <a:gdLst/>
              <a:ahLst/>
              <a:cxnLst>
                <a:cxn ang="0">
                  <a:pos x="wd2" y="hd2"/>
                </a:cxn>
                <a:cxn ang="5400000">
                  <a:pos x="wd2" y="hd2"/>
                </a:cxn>
                <a:cxn ang="10800000">
                  <a:pos x="wd2" y="hd2"/>
                </a:cxn>
                <a:cxn ang="16200000">
                  <a:pos x="wd2" y="hd2"/>
                </a:cxn>
              </a:cxnLst>
              <a:rect l="0" t="0" r="r" b="b"/>
              <a:pathLst>
                <a:path w="21410" h="21600" extrusionOk="0">
                  <a:moveTo>
                    <a:pt x="10705" y="1892"/>
                  </a:moveTo>
                  <a:cubicBezTo>
                    <a:pt x="13480" y="7726"/>
                    <a:pt x="13480" y="7726"/>
                    <a:pt x="13480" y="7726"/>
                  </a:cubicBezTo>
                  <a:cubicBezTo>
                    <a:pt x="19630" y="8672"/>
                    <a:pt x="19630" y="8672"/>
                    <a:pt x="19630" y="8672"/>
                  </a:cubicBezTo>
                  <a:cubicBezTo>
                    <a:pt x="15130" y="13244"/>
                    <a:pt x="15130" y="13244"/>
                    <a:pt x="15130" y="13244"/>
                  </a:cubicBezTo>
                  <a:cubicBezTo>
                    <a:pt x="16180" y="19708"/>
                    <a:pt x="16180" y="19708"/>
                    <a:pt x="16180" y="19708"/>
                  </a:cubicBezTo>
                  <a:cubicBezTo>
                    <a:pt x="10705" y="16634"/>
                    <a:pt x="10705" y="16634"/>
                    <a:pt x="10705" y="16634"/>
                  </a:cubicBezTo>
                  <a:cubicBezTo>
                    <a:pt x="5230" y="19708"/>
                    <a:pt x="5230" y="19708"/>
                    <a:pt x="5230" y="19708"/>
                  </a:cubicBezTo>
                  <a:cubicBezTo>
                    <a:pt x="6280" y="13244"/>
                    <a:pt x="6280" y="13244"/>
                    <a:pt x="6280" y="13244"/>
                  </a:cubicBezTo>
                  <a:cubicBezTo>
                    <a:pt x="1780" y="8672"/>
                    <a:pt x="1780" y="8672"/>
                    <a:pt x="1780" y="8672"/>
                  </a:cubicBezTo>
                  <a:cubicBezTo>
                    <a:pt x="7930" y="7726"/>
                    <a:pt x="7930" y="7726"/>
                    <a:pt x="7930" y="7726"/>
                  </a:cubicBezTo>
                  <a:cubicBezTo>
                    <a:pt x="10705" y="1892"/>
                    <a:pt x="10705" y="1892"/>
                    <a:pt x="10705" y="1892"/>
                  </a:cubicBezTo>
                  <a:moveTo>
                    <a:pt x="10705" y="0"/>
                  </a:moveTo>
                  <a:cubicBezTo>
                    <a:pt x="10030" y="0"/>
                    <a:pt x="9430" y="394"/>
                    <a:pt x="9055" y="1104"/>
                  </a:cubicBezTo>
                  <a:cubicBezTo>
                    <a:pt x="6730" y="6070"/>
                    <a:pt x="6730" y="6070"/>
                    <a:pt x="6730" y="6070"/>
                  </a:cubicBezTo>
                  <a:cubicBezTo>
                    <a:pt x="1555" y="6858"/>
                    <a:pt x="1555" y="6858"/>
                    <a:pt x="1555" y="6858"/>
                  </a:cubicBezTo>
                  <a:cubicBezTo>
                    <a:pt x="880" y="6937"/>
                    <a:pt x="280" y="7410"/>
                    <a:pt x="55" y="8120"/>
                  </a:cubicBezTo>
                  <a:cubicBezTo>
                    <a:pt x="-95" y="8829"/>
                    <a:pt x="55" y="9539"/>
                    <a:pt x="580" y="10091"/>
                  </a:cubicBezTo>
                  <a:cubicBezTo>
                    <a:pt x="4330" y="13953"/>
                    <a:pt x="4330" y="13953"/>
                    <a:pt x="4330" y="13953"/>
                  </a:cubicBezTo>
                  <a:cubicBezTo>
                    <a:pt x="3430" y="19393"/>
                    <a:pt x="3430" y="19393"/>
                    <a:pt x="3430" y="19393"/>
                  </a:cubicBezTo>
                  <a:cubicBezTo>
                    <a:pt x="3280" y="20102"/>
                    <a:pt x="3580" y="20812"/>
                    <a:pt x="4180" y="21206"/>
                  </a:cubicBezTo>
                  <a:cubicBezTo>
                    <a:pt x="4480" y="21442"/>
                    <a:pt x="4855" y="21600"/>
                    <a:pt x="5230" y="21600"/>
                  </a:cubicBezTo>
                  <a:cubicBezTo>
                    <a:pt x="5455" y="21600"/>
                    <a:pt x="5755" y="21521"/>
                    <a:pt x="6055" y="21364"/>
                  </a:cubicBezTo>
                  <a:cubicBezTo>
                    <a:pt x="10705" y="18841"/>
                    <a:pt x="10705" y="18841"/>
                    <a:pt x="10705" y="18841"/>
                  </a:cubicBezTo>
                  <a:cubicBezTo>
                    <a:pt x="15355" y="21364"/>
                    <a:pt x="15355" y="21364"/>
                    <a:pt x="15355" y="21364"/>
                  </a:cubicBezTo>
                  <a:cubicBezTo>
                    <a:pt x="15655" y="21521"/>
                    <a:pt x="15955" y="21600"/>
                    <a:pt x="16180" y="21600"/>
                  </a:cubicBezTo>
                  <a:cubicBezTo>
                    <a:pt x="16555" y="21600"/>
                    <a:pt x="16930" y="21442"/>
                    <a:pt x="17230" y="21206"/>
                  </a:cubicBezTo>
                  <a:cubicBezTo>
                    <a:pt x="17830" y="20812"/>
                    <a:pt x="18130" y="20102"/>
                    <a:pt x="17980" y="19393"/>
                  </a:cubicBezTo>
                  <a:cubicBezTo>
                    <a:pt x="17080" y="13953"/>
                    <a:pt x="17080" y="13953"/>
                    <a:pt x="17080" y="13953"/>
                  </a:cubicBezTo>
                  <a:cubicBezTo>
                    <a:pt x="20830" y="10091"/>
                    <a:pt x="20830" y="10091"/>
                    <a:pt x="20830" y="10091"/>
                  </a:cubicBezTo>
                  <a:cubicBezTo>
                    <a:pt x="21355" y="9539"/>
                    <a:pt x="21505" y="8829"/>
                    <a:pt x="21355" y="8120"/>
                  </a:cubicBezTo>
                  <a:cubicBezTo>
                    <a:pt x="21130" y="7410"/>
                    <a:pt x="20530" y="6937"/>
                    <a:pt x="19855" y="6858"/>
                  </a:cubicBezTo>
                  <a:cubicBezTo>
                    <a:pt x="14680" y="6070"/>
                    <a:pt x="14680" y="6070"/>
                    <a:pt x="14680" y="6070"/>
                  </a:cubicBezTo>
                  <a:cubicBezTo>
                    <a:pt x="12355" y="1104"/>
                    <a:pt x="12355" y="1104"/>
                    <a:pt x="12355" y="1104"/>
                  </a:cubicBezTo>
                  <a:cubicBezTo>
                    <a:pt x="11980" y="394"/>
                    <a:pt x="11380" y="0"/>
                    <a:pt x="10705" y="0"/>
                  </a:cubicBezTo>
                  <a:close/>
                </a:path>
              </a:pathLst>
            </a:custGeom>
            <a:solidFill>
              <a:srgbClr val="45B40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52" name="Shape 1237">
              <a:extLst>
                <a:ext uri="{C183D7F6-B498-43B3-948B-1728B52AA6E4}">
                  <adec:decorative xmlns:adec="http://schemas.microsoft.com/office/drawing/2017/decorative" val="1"/>
                </a:ext>
              </a:extLst>
            </p:cNvPr>
            <p:cNvSpPr/>
            <p:nvPr/>
          </p:nvSpPr>
          <p:spPr>
            <a:xfrm>
              <a:off x="8812917" y="6050886"/>
              <a:ext cx="104590" cy="95445"/>
            </a:xfrm>
            <a:custGeom>
              <a:avLst/>
              <a:gdLst/>
              <a:ahLst/>
              <a:cxnLst>
                <a:cxn ang="0">
                  <a:pos x="wd2" y="hd2"/>
                </a:cxn>
                <a:cxn ang="5400000">
                  <a:pos x="wd2" y="hd2"/>
                </a:cxn>
                <a:cxn ang="10800000">
                  <a:pos x="wd2" y="hd2"/>
                </a:cxn>
                <a:cxn ang="16200000">
                  <a:pos x="wd2" y="hd2"/>
                </a:cxn>
              </a:cxnLst>
              <a:rect l="0" t="0" r="r" b="b"/>
              <a:pathLst>
                <a:path w="21404" h="21600" extrusionOk="0">
                  <a:moveTo>
                    <a:pt x="16675" y="21600"/>
                  </a:moveTo>
                  <a:cubicBezTo>
                    <a:pt x="16511" y="21600"/>
                    <a:pt x="16429" y="21600"/>
                    <a:pt x="16266" y="21514"/>
                  </a:cubicBezTo>
                  <a:cubicBezTo>
                    <a:pt x="10702" y="18403"/>
                    <a:pt x="10702" y="18403"/>
                    <a:pt x="10702" y="18403"/>
                  </a:cubicBezTo>
                  <a:cubicBezTo>
                    <a:pt x="5138" y="21514"/>
                    <a:pt x="5138" y="21514"/>
                    <a:pt x="5138" y="21514"/>
                  </a:cubicBezTo>
                  <a:cubicBezTo>
                    <a:pt x="4975" y="21600"/>
                    <a:pt x="4893" y="21600"/>
                    <a:pt x="4729" y="21600"/>
                  </a:cubicBezTo>
                  <a:cubicBezTo>
                    <a:pt x="4484" y="21600"/>
                    <a:pt x="4320" y="21514"/>
                    <a:pt x="4157" y="21427"/>
                  </a:cubicBezTo>
                  <a:cubicBezTo>
                    <a:pt x="3829" y="21168"/>
                    <a:pt x="3666" y="20736"/>
                    <a:pt x="3747" y="20390"/>
                  </a:cubicBezTo>
                  <a:cubicBezTo>
                    <a:pt x="4811" y="13824"/>
                    <a:pt x="4811" y="13824"/>
                    <a:pt x="4811" y="13824"/>
                  </a:cubicBezTo>
                  <a:cubicBezTo>
                    <a:pt x="311" y="9245"/>
                    <a:pt x="311" y="9245"/>
                    <a:pt x="311" y="9245"/>
                  </a:cubicBezTo>
                  <a:cubicBezTo>
                    <a:pt x="66" y="8986"/>
                    <a:pt x="-98" y="8554"/>
                    <a:pt x="66" y="8208"/>
                  </a:cubicBezTo>
                  <a:cubicBezTo>
                    <a:pt x="147" y="7776"/>
                    <a:pt x="475" y="7517"/>
                    <a:pt x="884" y="7517"/>
                  </a:cubicBezTo>
                  <a:cubicBezTo>
                    <a:pt x="7020" y="6566"/>
                    <a:pt x="7020" y="6566"/>
                    <a:pt x="7020" y="6566"/>
                  </a:cubicBezTo>
                  <a:cubicBezTo>
                    <a:pt x="9802" y="605"/>
                    <a:pt x="9802" y="605"/>
                    <a:pt x="9802" y="605"/>
                  </a:cubicBezTo>
                  <a:cubicBezTo>
                    <a:pt x="9966" y="259"/>
                    <a:pt x="10293" y="0"/>
                    <a:pt x="10702" y="0"/>
                  </a:cubicBezTo>
                  <a:cubicBezTo>
                    <a:pt x="11111" y="0"/>
                    <a:pt x="11438" y="259"/>
                    <a:pt x="11602" y="605"/>
                  </a:cubicBezTo>
                  <a:cubicBezTo>
                    <a:pt x="14384" y="6566"/>
                    <a:pt x="14384" y="6566"/>
                    <a:pt x="14384" y="6566"/>
                  </a:cubicBezTo>
                  <a:cubicBezTo>
                    <a:pt x="20520" y="7517"/>
                    <a:pt x="20520" y="7517"/>
                    <a:pt x="20520" y="7517"/>
                  </a:cubicBezTo>
                  <a:cubicBezTo>
                    <a:pt x="20929" y="7517"/>
                    <a:pt x="21257" y="7776"/>
                    <a:pt x="21338" y="8208"/>
                  </a:cubicBezTo>
                  <a:cubicBezTo>
                    <a:pt x="21502" y="8554"/>
                    <a:pt x="21338" y="8986"/>
                    <a:pt x="21093" y="9245"/>
                  </a:cubicBezTo>
                  <a:cubicBezTo>
                    <a:pt x="16593" y="13824"/>
                    <a:pt x="16593" y="13824"/>
                    <a:pt x="16593" y="13824"/>
                  </a:cubicBezTo>
                  <a:cubicBezTo>
                    <a:pt x="17657" y="20390"/>
                    <a:pt x="17657" y="20390"/>
                    <a:pt x="17657" y="20390"/>
                  </a:cubicBezTo>
                  <a:cubicBezTo>
                    <a:pt x="17738" y="20736"/>
                    <a:pt x="17575" y="21168"/>
                    <a:pt x="17247" y="21427"/>
                  </a:cubicBezTo>
                  <a:cubicBezTo>
                    <a:pt x="17084" y="21514"/>
                    <a:pt x="16920" y="21600"/>
                    <a:pt x="16675" y="21600"/>
                  </a:cubicBezTo>
                  <a:close/>
                </a:path>
              </a:pathLst>
            </a:custGeom>
            <a:solidFill>
              <a:srgbClr val="FFFFFF"/>
            </a:solidFill>
            <a:ln w="3175" cap="flat">
              <a:solidFill>
                <a:srgbClr val="88A57F"/>
              </a:solid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53" name="Shape 1238">
              <a:extLst>
                <a:ext uri="{C183D7F6-B498-43B3-948B-1728B52AA6E4}">
                  <adec:decorative xmlns:adec="http://schemas.microsoft.com/office/drawing/2017/decorative" val="1"/>
                </a:ext>
              </a:extLst>
            </p:cNvPr>
            <p:cNvSpPr/>
            <p:nvPr/>
          </p:nvSpPr>
          <p:spPr>
            <a:xfrm>
              <a:off x="8808203" y="6046364"/>
              <a:ext cx="114190" cy="104489"/>
            </a:xfrm>
            <a:custGeom>
              <a:avLst/>
              <a:gdLst/>
              <a:ahLst/>
              <a:cxnLst>
                <a:cxn ang="0">
                  <a:pos x="wd2" y="hd2"/>
                </a:cxn>
                <a:cxn ang="5400000">
                  <a:pos x="wd2" y="hd2"/>
                </a:cxn>
                <a:cxn ang="10800000">
                  <a:pos x="wd2" y="hd2"/>
                </a:cxn>
                <a:cxn ang="16200000">
                  <a:pos x="wd2" y="hd2"/>
                </a:cxn>
              </a:cxnLst>
              <a:rect l="0" t="0" r="r" b="b"/>
              <a:pathLst>
                <a:path w="21410" h="21600" extrusionOk="0">
                  <a:moveTo>
                    <a:pt x="10705" y="1892"/>
                  </a:moveTo>
                  <a:cubicBezTo>
                    <a:pt x="13480" y="7726"/>
                    <a:pt x="13480" y="7726"/>
                    <a:pt x="13480" y="7726"/>
                  </a:cubicBezTo>
                  <a:cubicBezTo>
                    <a:pt x="19630" y="8672"/>
                    <a:pt x="19630" y="8672"/>
                    <a:pt x="19630" y="8672"/>
                  </a:cubicBezTo>
                  <a:cubicBezTo>
                    <a:pt x="15130" y="13244"/>
                    <a:pt x="15130" y="13244"/>
                    <a:pt x="15130" y="13244"/>
                  </a:cubicBezTo>
                  <a:cubicBezTo>
                    <a:pt x="16180" y="19708"/>
                    <a:pt x="16180" y="19708"/>
                    <a:pt x="16180" y="19708"/>
                  </a:cubicBezTo>
                  <a:cubicBezTo>
                    <a:pt x="10705" y="16634"/>
                    <a:pt x="10705" y="16634"/>
                    <a:pt x="10705" y="16634"/>
                  </a:cubicBezTo>
                  <a:cubicBezTo>
                    <a:pt x="5230" y="19708"/>
                    <a:pt x="5230" y="19708"/>
                    <a:pt x="5230" y="19708"/>
                  </a:cubicBezTo>
                  <a:cubicBezTo>
                    <a:pt x="6280" y="13244"/>
                    <a:pt x="6280" y="13244"/>
                    <a:pt x="6280" y="13244"/>
                  </a:cubicBezTo>
                  <a:cubicBezTo>
                    <a:pt x="1780" y="8672"/>
                    <a:pt x="1780" y="8672"/>
                    <a:pt x="1780" y="8672"/>
                  </a:cubicBezTo>
                  <a:cubicBezTo>
                    <a:pt x="7930" y="7726"/>
                    <a:pt x="7930" y="7726"/>
                    <a:pt x="7930" y="7726"/>
                  </a:cubicBezTo>
                  <a:cubicBezTo>
                    <a:pt x="10705" y="1892"/>
                    <a:pt x="10705" y="1892"/>
                    <a:pt x="10705" y="1892"/>
                  </a:cubicBezTo>
                  <a:moveTo>
                    <a:pt x="10705" y="0"/>
                  </a:moveTo>
                  <a:cubicBezTo>
                    <a:pt x="10030" y="0"/>
                    <a:pt x="9430" y="394"/>
                    <a:pt x="9055" y="1104"/>
                  </a:cubicBezTo>
                  <a:cubicBezTo>
                    <a:pt x="6730" y="6070"/>
                    <a:pt x="6730" y="6070"/>
                    <a:pt x="6730" y="6070"/>
                  </a:cubicBezTo>
                  <a:cubicBezTo>
                    <a:pt x="1555" y="6858"/>
                    <a:pt x="1555" y="6858"/>
                    <a:pt x="1555" y="6858"/>
                  </a:cubicBezTo>
                  <a:cubicBezTo>
                    <a:pt x="880" y="6937"/>
                    <a:pt x="280" y="7410"/>
                    <a:pt x="55" y="8120"/>
                  </a:cubicBezTo>
                  <a:cubicBezTo>
                    <a:pt x="-95" y="8829"/>
                    <a:pt x="55" y="9539"/>
                    <a:pt x="580" y="10091"/>
                  </a:cubicBezTo>
                  <a:cubicBezTo>
                    <a:pt x="4330" y="13953"/>
                    <a:pt x="4330" y="13953"/>
                    <a:pt x="4330" y="13953"/>
                  </a:cubicBezTo>
                  <a:cubicBezTo>
                    <a:pt x="3430" y="19393"/>
                    <a:pt x="3430" y="19393"/>
                    <a:pt x="3430" y="19393"/>
                  </a:cubicBezTo>
                  <a:cubicBezTo>
                    <a:pt x="3280" y="20102"/>
                    <a:pt x="3580" y="20812"/>
                    <a:pt x="4180" y="21206"/>
                  </a:cubicBezTo>
                  <a:cubicBezTo>
                    <a:pt x="4480" y="21442"/>
                    <a:pt x="4855" y="21600"/>
                    <a:pt x="5230" y="21600"/>
                  </a:cubicBezTo>
                  <a:cubicBezTo>
                    <a:pt x="5455" y="21600"/>
                    <a:pt x="5755" y="21521"/>
                    <a:pt x="6055" y="21364"/>
                  </a:cubicBezTo>
                  <a:cubicBezTo>
                    <a:pt x="10705" y="18841"/>
                    <a:pt x="10705" y="18841"/>
                    <a:pt x="10705" y="18841"/>
                  </a:cubicBezTo>
                  <a:cubicBezTo>
                    <a:pt x="15355" y="21364"/>
                    <a:pt x="15355" y="21364"/>
                    <a:pt x="15355" y="21364"/>
                  </a:cubicBezTo>
                  <a:cubicBezTo>
                    <a:pt x="15655" y="21521"/>
                    <a:pt x="15955" y="21600"/>
                    <a:pt x="16180" y="21600"/>
                  </a:cubicBezTo>
                  <a:cubicBezTo>
                    <a:pt x="16555" y="21600"/>
                    <a:pt x="16930" y="21442"/>
                    <a:pt x="17230" y="21206"/>
                  </a:cubicBezTo>
                  <a:cubicBezTo>
                    <a:pt x="17830" y="20812"/>
                    <a:pt x="18130" y="20102"/>
                    <a:pt x="17980" y="19393"/>
                  </a:cubicBezTo>
                  <a:cubicBezTo>
                    <a:pt x="17080" y="13953"/>
                    <a:pt x="17080" y="13953"/>
                    <a:pt x="17080" y="13953"/>
                  </a:cubicBezTo>
                  <a:cubicBezTo>
                    <a:pt x="20830" y="10091"/>
                    <a:pt x="20830" y="10091"/>
                    <a:pt x="20830" y="10091"/>
                  </a:cubicBezTo>
                  <a:cubicBezTo>
                    <a:pt x="21355" y="9539"/>
                    <a:pt x="21505" y="8829"/>
                    <a:pt x="21355" y="8120"/>
                  </a:cubicBezTo>
                  <a:cubicBezTo>
                    <a:pt x="21130" y="7410"/>
                    <a:pt x="20530" y="6937"/>
                    <a:pt x="19855" y="6858"/>
                  </a:cubicBezTo>
                  <a:cubicBezTo>
                    <a:pt x="14680" y="6070"/>
                    <a:pt x="14680" y="6070"/>
                    <a:pt x="14680" y="6070"/>
                  </a:cubicBezTo>
                  <a:cubicBezTo>
                    <a:pt x="12355" y="1104"/>
                    <a:pt x="12355" y="1104"/>
                    <a:pt x="12355" y="1104"/>
                  </a:cubicBezTo>
                  <a:cubicBezTo>
                    <a:pt x="11980" y="394"/>
                    <a:pt x="11380" y="0"/>
                    <a:pt x="10705" y="0"/>
                  </a:cubicBezTo>
                  <a:close/>
                </a:path>
              </a:pathLst>
            </a:custGeom>
            <a:solidFill>
              <a:srgbClr val="45B40F"/>
            </a:solid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ea typeface="Calibri"/>
                <a:cs typeface="Calibri"/>
                <a:sym typeface="Calibri"/>
              </a:endParaRPr>
            </a:p>
          </p:txBody>
        </p:sp>
        <p:sp>
          <p:nvSpPr>
            <p:cNvPr id="356" name="TextBox 355">
              <a:extLst>
                <a:ext uri="{C183D7F6-B498-43B3-948B-1728B52AA6E4}">
                  <adec:decorative xmlns:adec="http://schemas.microsoft.com/office/drawing/2017/decorative" val="1"/>
                </a:ext>
              </a:extLst>
            </p:cNvPr>
            <p:cNvSpPr txBox="1"/>
            <p:nvPr/>
          </p:nvSpPr>
          <p:spPr>
            <a:xfrm>
              <a:off x="5548812" y="2253127"/>
              <a:ext cx="1458052" cy="646331"/>
            </a:xfrm>
            <a:prstGeom prst="rect">
              <a:avLst/>
            </a:prstGeom>
            <a:solidFill>
              <a:schemeClr val="bg1"/>
            </a:solidFill>
          </p:spPr>
          <p:txBody>
            <a:bodyPr wrap="square" rtlCol="0">
              <a:spAutoFit/>
            </a:bodyPr>
            <a:lstStyle/>
            <a:p>
              <a:pPr algn="ctr" defTabSz="609585" fontAlgn="base">
                <a:spcBef>
                  <a:spcPct val="0"/>
                </a:spcBef>
                <a:spcAft>
                  <a:spcPct val="0"/>
                </a:spcAft>
              </a:pPr>
              <a:r>
                <a:rPr lang="en-US" b="1" dirty="0">
                  <a:solidFill>
                    <a:srgbClr val="504BAB"/>
                  </a:solidFill>
                  <a:cs typeface="Arial"/>
                </a:rPr>
                <a:t>Application</a:t>
              </a:r>
              <a:r>
                <a:rPr lang="en-US" b="1" dirty="0">
                  <a:solidFill>
                    <a:schemeClr val="accent5"/>
                  </a:solidFill>
                  <a:cs typeface="Arial"/>
                </a:rPr>
                <a:t> </a:t>
              </a:r>
              <a:r>
                <a:rPr lang="en-US" b="1" dirty="0">
                  <a:solidFill>
                    <a:srgbClr val="504BAB"/>
                  </a:solidFill>
                  <a:cs typeface="Arial"/>
                </a:rPr>
                <a:t>services</a:t>
              </a:r>
            </a:p>
          </p:txBody>
        </p:sp>
        <p:sp>
          <p:nvSpPr>
            <p:cNvPr id="359" name="TextBox 358">
              <a:extLst>
                <a:ext uri="{C183D7F6-B498-43B3-948B-1728B52AA6E4}">
                  <adec:decorative xmlns:adec="http://schemas.microsoft.com/office/drawing/2017/decorative" val="1"/>
                </a:ext>
              </a:extLst>
            </p:cNvPr>
            <p:cNvSpPr txBox="1"/>
            <p:nvPr/>
          </p:nvSpPr>
          <p:spPr>
            <a:xfrm>
              <a:off x="9137245" y="4920547"/>
              <a:ext cx="2013994" cy="584775"/>
            </a:xfrm>
            <a:prstGeom prst="rect">
              <a:avLst/>
            </a:prstGeom>
            <a:solidFill>
              <a:schemeClr val="bg1"/>
            </a:solidFill>
          </p:spPr>
          <p:txBody>
            <a:bodyPr wrap="square" rtlCol="0">
              <a:spAutoFit/>
            </a:bodyPr>
            <a:lstStyle/>
            <a:p>
              <a:pPr defTabSz="609585" fontAlgn="base">
                <a:spcBef>
                  <a:spcPct val="0"/>
                </a:spcBef>
                <a:spcAft>
                  <a:spcPct val="0"/>
                </a:spcAft>
              </a:pPr>
              <a:r>
                <a:rPr lang="en-US" sz="1600" dirty="0">
                  <a:solidFill>
                    <a:srgbClr val="636466"/>
                  </a:solidFill>
                  <a:cs typeface="Arial"/>
                </a:rPr>
                <a:t>Storage (object, block, and archive)</a:t>
              </a:r>
            </a:p>
          </p:txBody>
        </p:sp>
        <p:sp>
          <p:nvSpPr>
            <p:cNvPr id="360" name="Rounded Rectangle 359">
              <a:extLst>
                <a:ext uri="{C183D7F6-B498-43B3-948B-1728B52AA6E4}">
                  <adec:decorative xmlns:adec="http://schemas.microsoft.com/office/drawing/2017/decorative" val="1"/>
                </a:ext>
              </a:extLst>
            </p:cNvPr>
            <p:cNvSpPr/>
            <p:nvPr/>
          </p:nvSpPr>
          <p:spPr>
            <a:xfrm>
              <a:off x="3246790" y="4938985"/>
              <a:ext cx="759415" cy="57332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p>
          </p:txBody>
        </p:sp>
        <p:pic>
          <p:nvPicPr>
            <p:cNvPr id="361" name="Picture 2">
              <a:extLst>
                <a:ext uri="{C183D7F6-B498-43B3-948B-1728B52AA6E4}">
                  <adec:decorative xmlns:adec="http://schemas.microsoft.com/office/drawing/2017/decorative" val="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61830" y="4973405"/>
              <a:ext cx="519240" cy="494978"/>
            </a:xfrm>
            <a:prstGeom prst="rect">
              <a:avLst/>
            </a:prstGeom>
            <a:noFill/>
            <a:extLst>
              <a:ext uri="{909E8E84-426E-40DD-AFC4-6F175D3DCCD1}">
                <a14:hiddenFill xmlns:a14="http://schemas.microsoft.com/office/drawing/2010/main">
                  <a:solidFill>
                    <a:srgbClr val="FFFFFF"/>
                  </a:solidFill>
                </a14:hiddenFill>
              </a:ext>
            </a:extLst>
          </p:spPr>
        </p:pic>
        <p:sp>
          <p:nvSpPr>
            <p:cNvPr id="362" name="Rounded Rectangle 361">
              <a:extLst>
                <a:ext uri="{C183D7F6-B498-43B3-948B-1728B52AA6E4}">
                  <adec:decorative xmlns:adec="http://schemas.microsoft.com/office/drawing/2017/decorative" val="1"/>
                </a:ext>
              </a:extLst>
            </p:cNvPr>
            <p:cNvSpPr/>
            <p:nvPr/>
          </p:nvSpPr>
          <p:spPr>
            <a:xfrm>
              <a:off x="6105315" y="4927183"/>
              <a:ext cx="759415" cy="57332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p>
          </p:txBody>
        </p:sp>
        <p:pic>
          <p:nvPicPr>
            <p:cNvPr id="363" name="Picture 4">
              <a:extLst>
                <a:ext uri="{C183D7F6-B498-43B3-948B-1728B52AA6E4}">
                  <adec:decorative xmlns:adec="http://schemas.microsoft.com/office/drawing/2017/decorative" val="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25093" y="4980735"/>
              <a:ext cx="511550" cy="487647"/>
            </a:xfrm>
            <a:prstGeom prst="rect">
              <a:avLst/>
            </a:prstGeom>
            <a:noFill/>
            <a:extLst>
              <a:ext uri="{909E8E84-426E-40DD-AFC4-6F175D3DCCD1}">
                <a14:hiddenFill xmlns:a14="http://schemas.microsoft.com/office/drawing/2010/main">
                  <a:solidFill>
                    <a:srgbClr val="FFFFFF"/>
                  </a:solidFill>
                </a14:hiddenFill>
              </a:ext>
            </a:extLst>
          </p:spPr>
        </p:pic>
        <p:sp>
          <p:nvSpPr>
            <p:cNvPr id="364" name="Rounded Rectangle 363">
              <a:extLst>
                <a:ext uri="{C183D7F6-B498-43B3-948B-1728B52AA6E4}">
                  <adec:decorative xmlns:adec="http://schemas.microsoft.com/office/drawing/2017/decorative" val="1"/>
                </a:ext>
              </a:extLst>
            </p:cNvPr>
            <p:cNvSpPr/>
            <p:nvPr/>
          </p:nvSpPr>
          <p:spPr>
            <a:xfrm>
              <a:off x="8392362" y="4913032"/>
              <a:ext cx="759415" cy="57332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p>
          </p:txBody>
        </p:sp>
        <p:pic>
          <p:nvPicPr>
            <p:cNvPr id="365" name="Picture 6">
              <a:extLst>
                <a:ext uri="{C183D7F6-B498-43B3-948B-1728B52AA6E4}">
                  <adec:decorative xmlns:adec="http://schemas.microsoft.com/office/drawing/2017/decorative" val="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26640" y="4949923"/>
              <a:ext cx="529924" cy="505163"/>
            </a:xfrm>
            <a:prstGeom prst="rect">
              <a:avLst/>
            </a:prstGeom>
            <a:noFill/>
            <a:extLst>
              <a:ext uri="{909E8E84-426E-40DD-AFC4-6F175D3DCCD1}">
                <a14:hiddenFill xmlns:a14="http://schemas.microsoft.com/office/drawing/2010/main">
                  <a:solidFill>
                    <a:srgbClr val="FFFFFF"/>
                  </a:solidFill>
                </a14:hiddenFill>
              </a:ext>
            </a:extLst>
          </p:spPr>
        </p:pic>
        <p:sp>
          <p:nvSpPr>
            <p:cNvPr id="366" name="Rectangle 365">
              <a:extLst>
                <a:ext uri="{FF2B5EF4-FFF2-40B4-BE49-F238E27FC236}">
                  <a16:creationId xmlns:a16="http://schemas.microsoft.com/office/drawing/2014/main" id="{3C53E359-A416-7444-9EBB-D1CE4F3793C8}"/>
                </a:ext>
                <a:ext uri="{C183D7F6-B498-43B3-948B-1728B52AA6E4}">
                  <adec:decorative xmlns:adec="http://schemas.microsoft.com/office/drawing/2017/decorative" val="1"/>
                </a:ext>
              </a:extLst>
            </p:cNvPr>
            <p:cNvSpPr/>
            <p:nvPr/>
          </p:nvSpPr>
          <p:spPr>
            <a:xfrm>
              <a:off x="1106873" y="4812838"/>
              <a:ext cx="10359580" cy="83120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5" name="TextBox 354">
              <a:extLst>
                <a:ext uri="{C183D7F6-B498-43B3-948B-1728B52AA6E4}">
                  <adec:decorative xmlns:adec="http://schemas.microsoft.com/office/drawing/2017/decorative" val="1"/>
                </a:ext>
              </a:extLst>
            </p:cNvPr>
            <p:cNvSpPr txBox="1"/>
            <p:nvPr/>
          </p:nvSpPr>
          <p:spPr>
            <a:xfrm>
              <a:off x="4253376" y="2253121"/>
              <a:ext cx="1202767" cy="369332"/>
            </a:xfrm>
            <a:prstGeom prst="rect">
              <a:avLst/>
            </a:prstGeom>
            <a:solidFill>
              <a:schemeClr val="bg1"/>
            </a:solidFill>
          </p:spPr>
          <p:txBody>
            <a:bodyPr wrap="square" rtlCol="0">
              <a:spAutoFit/>
            </a:bodyPr>
            <a:lstStyle/>
            <a:p>
              <a:pPr algn="ctr" defTabSz="609585" fontAlgn="base">
                <a:spcBef>
                  <a:spcPct val="0"/>
                </a:spcBef>
                <a:spcAft>
                  <a:spcPct val="0"/>
                </a:spcAft>
              </a:pPr>
              <a:r>
                <a:rPr lang="en-US" b="1" dirty="0">
                  <a:solidFill>
                    <a:srgbClr val="504BAB"/>
                  </a:solidFill>
                  <a:cs typeface="Arial"/>
                </a:rPr>
                <a:t>Analytics</a:t>
              </a:r>
            </a:p>
          </p:txBody>
        </p:sp>
        <p:sp>
          <p:nvSpPr>
            <p:cNvPr id="357" name="TextBox 356">
              <a:extLst>
                <a:ext uri="{C183D7F6-B498-43B3-948B-1728B52AA6E4}">
                  <adec:decorative xmlns:adec="http://schemas.microsoft.com/office/drawing/2017/decorative" val="1"/>
                </a:ext>
              </a:extLst>
            </p:cNvPr>
            <p:cNvSpPr txBox="1"/>
            <p:nvPr/>
          </p:nvSpPr>
          <p:spPr>
            <a:xfrm>
              <a:off x="7313536" y="2253127"/>
              <a:ext cx="2212226" cy="646331"/>
            </a:xfrm>
            <a:prstGeom prst="rect">
              <a:avLst/>
            </a:prstGeom>
            <a:solidFill>
              <a:schemeClr val="bg1"/>
            </a:solidFill>
          </p:spPr>
          <p:txBody>
            <a:bodyPr wrap="square" rtlCol="0">
              <a:spAutoFit/>
            </a:bodyPr>
            <a:lstStyle/>
            <a:p>
              <a:pPr algn="ctr" defTabSz="609585" fontAlgn="base">
                <a:spcBef>
                  <a:spcPct val="0"/>
                </a:spcBef>
                <a:spcAft>
                  <a:spcPct val="0"/>
                </a:spcAft>
              </a:pPr>
              <a:r>
                <a:rPr lang="en-US" b="1" dirty="0">
                  <a:solidFill>
                    <a:srgbClr val="504BAB"/>
                  </a:solidFill>
                  <a:cs typeface="Arial"/>
                </a:rPr>
                <a:t>Deployment</a:t>
              </a:r>
              <a:r>
                <a:rPr lang="en-US" b="1" dirty="0">
                  <a:solidFill>
                    <a:schemeClr val="accent5"/>
                  </a:solidFill>
                  <a:cs typeface="Arial"/>
                </a:rPr>
                <a:t> </a:t>
              </a:r>
              <a:r>
                <a:rPr lang="en-US" b="1" dirty="0">
                  <a:solidFill>
                    <a:srgbClr val="504BAB"/>
                  </a:solidFill>
                  <a:cs typeface="Arial"/>
                </a:rPr>
                <a:t>and management</a:t>
              </a:r>
            </a:p>
          </p:txBody>
        </p:sp>
        <p:sp>
          <p:nvSpPr>
            <p:cNvPr id="358" name="TextBox 357">
              <a:extLst>
                <a:ext uri="{C183D7F6-B498-43B3-948B-1728B52AA6E4}">
                  <adec:decorative xmlns:adec="http://schemas.microsoft.com/office/drawing/2017/decorative" val="1"/>
                </a:ext>
              </a:extLst>
            </p:cNvPr>
            <p:cNvSpPr txBox="1"/>
            <p:nvPr/>
          </p:nvSpPr>
          <p:spPr>
            <a:xfrm>
              <a:off x="9741171" y="2253126"/>
              <a:ext cx="1514616" cy="646331"/>
            </a:xfrm>
            <a:prstGeom prst="rect">
              <a:avLst/>
            </a:prstGeom>
            <a:solidFill>
              <a:schemeClr val="bg1"/>
            </a:solidFill>
          </p:spPr>
          <p:txBody>
            <a:bodyPr wrap="square" rtlCol="0">
              <a:spAutoFit/>
            </a:bodyPr>
            <a:lstStyle/>
            <a:p>
              <a:pPr algn="ctr" defTabSz="609585" fontAlgn="base">
                <a:spcBef>
                  <a:spcPct val="0"/>
                </a:spcBef>
                <a:spcAft>
                  <a:spcPct val="0"/>
                </a:spcAft>
              </a:pPr>
              <a:r>
                <a:rPr lang="en-US" b="1" dirty="0">
                  <a:solidFill>
                    <a:srgbClr val="504BAB"/>
                  </a:solidFill>
                  <a:cs typeface="Arial"/>
                </a:rPr>
                <a:t>Mobile Services</a:t>
              </a:r>
            </a:p>
          </p:txBody>
        </p:sp>
        <p:sp>
          <p:nvSpPr>
            <p:cNvPr id="354" name="TextBox 353">
              <a:extLst>
                <a:ext uri="{C183D7F6-B498-43B3-948B-1728B52AA6E4}">
                  <adec:decorative xmlns:adec="http://schemas.microsoft.com/office/drawing/2017/decorative" val="1"/>
                </a:ext>
              </a:extLst>
            </p:cNvPr>
            <p:cNvSpPr txBox="1"/>
            <p:nvPr/>
          </p:nvSpPr>
          <p:spPr>
            <a:xfrm>
              <a:off x="2760335" y="2253129"/>
              <a:ext cx="1403736" cy="369332"/>
            </a:xfrm>
            <a:prstGeom prst="rect">
              <a:avLst/>
            </a:prstGeom>
            <a:solidFill>
              <a:schemeClr val="bg1"/>
            </a:solidFill>
          </p:spPr>
          <p:txBody>
            <a:bodyPr wrap="square" rtlCol="0">
              <a:spAutoFit/>
            </a:bodyPr>
            <a:lstStyle/>
            <a:p>
              <a:pPr algn="ctr" defTabSz="609585" fontAlgn="base">
                <a:spcBef>
                  <a:spcPct val="0"/>
                </a:spcBef>
                <a:spcAft>
                  <a:spcPct val="0"/>
                </a:spcAft>
              </a:pPr>
              <a:r>
                <a:rPr lang="en-US" b="1" dirty="0">
                  <a:solidFill>
                    <a:srgbClr val="504BAB"/>
                  </a:solidFill>
                  <a:cs typeface="Arial"/>
                </a:rPr>
                <a:t>Databases</a:t>
              </a:r>
            </a:p>
          </p:txBody>
        </p:sp>
      </p:grpSp>
    </p:spTree>
    <p:custDataLst>
      <p:tags r:id="rId1"/>
    </p:custDataLst>
    <p:extLst>
      <p:ext uri="{BB962C8B-B14F-4D97-AF65-F5344CB8AC3E}">
        <p14:creationId xmlns:p14="http://schemas.microsoft.com/office/powerpoint/2010/main" val="38944349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05DDA38-6914-D99C-28ED-4F4679FF8CD0}"/>
              </a:ext>
            </a:extLst>
          </p:cNvPr>
          <p:cNvSpPr>
            <a:spLocks noGrp="1"/>
          </p:cNvSpPr>
          <p:nvPr>
            <p:ph type="sldNum" sz="quarter" idx="20"/>
          </p:nvPr>
        </p:nvSpPr>
        <p:spPr>
          <a:xfrm>
            <a:off x="11469389" y="6568410"/>
            <a:ext cx="484261" cy="265176"/>
          </a:xfrm>
          <a:prstGeom prst="rect">
            <a:avLst/>
          </a:prstGeom>
        </p:spPr>
        <p:txBody>
          <a:bodyPr vert="horz" lIns="0" tIns="72000" rIns="0" bIns="0" rtlCol="0" anchor="t" anchorCtr="0"/>
          <a:lstStyle>
            <a:defPPr>
              <a:defRPr lang="de-DE"/>
            </a:defPPr>
            <a:lvl1pPr algn="r" rtl="0" fontAlgn="base">
              <a:spcBef>
                <a:spcPct val="0"/>
              </a:spcBef>
              <a:spcAft>
                <a:spcPct val="0"/>
              </a:spcAft>
              <a:defRPr sz="1100" kern="1200">
                <a:solidFill>
                  <a:schemeClr val="tx2"/>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930176A1-BCF0-4712-97A6-6B495F55390B}" type="slidenum">
              <a:rPr lang="en-US" smtClean="0"/>
              <a:pPr/>
              <a:t>47</a:t>
            </a:fld>
            <a:endParaRPr lang="en-US"/>
          </a:p>
        </p:txBody>
      </p:sp>
      <p:sp>
        <p:nvSpPr>
          <p:cNvPr id="4" name="Title 3"/>
          <p:cNvSpPr>
            <a:spLocks noGrp="1"/>
          </p:cNvSpPr>
          <p:nvPr>
            <p:ph type="title"/>
          </p:nvPr>
        </p:nvSpPr>
        <p:spPr>
          <a:xfrm>
            <a:off x="387779" y="626740"/>
            <a:ext cx="7485267" cy="984885"/>
          </a:xfrm>
        </p:spPr>
        <p:txBody>
          <a:bodyPr/>
          <a:lstStyle/>
          <a:p>
            <a:r>
              <a:rPr lang="en-US" dirty="0"/>
              <a:t>AWS Service Categories</a:t>
            </a:r>
            <a:endParaRPr lang="en-US" dirty="0">
              <a:latin typeface="+mj-lt"/>
            </a:endParaRPr>
          </a:p>
        </p:txBody>
      </p:sp>
      <p:grpSp>
        <p:nvGrpSpPr>
          <p:cNvPr id="5" name="Group 4" descr="Slide has 23 icons on it, each representing an AWS category of service. Of these 23 only 8 are highlighted: compute, cost management, database, management and governance, migration and transfer, networking and content delivery, secuirty, identity, and compliance, and storage.">
            <a:extLst>
              <a:ext uri="{FF2B5EF4-FFF2-40B4-BE49-F238E27FC236}">
                <a16:creationId xmlns:a16="http://schemas.microsoft.com/office/drawing/2014/main" id="{7434DD40-B144-0D27-539F-1DF2E5416FEA}"/>
              </a:ext>
            </a:extLst>
          </p:cNvPr>
          <p:cNvGrpSpPr/>
          <p:nvPr/>
        </p:nvGrpSpPr>
        <p:grpSpPr>
          <a:xfrm>
            <a:off x="234162" y="1218196"/>
            <a:ext cx="11707158" cy="5147567"/>
            <a:chOff x="227812" y="1218195"/>
            <a:chExt cx="11707158" cy="5147567"/>
          </a:xfrm>
        </p:grpSpPr>
        <p:pic>
          <p:nvPicPr>
            <p:cNvPr id="28" name="Graphic 27">
              <a:extLst>
                <a:ext uri="{FF2B5EF4-FFF2-40B4-BE49-F238E27FC236}">
                  <a16:creationId xmlns:a16="http://schemas.microsoft.com/office/drawing/2014/main" id="{8A07F3F7-4AF9-495E-9351-928106FFF99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2471" y="5111309"/>
              <a:ext cx="726853" cy="708032"/>
            </a:xfrm>
            <a:prstGeom prst="rect">
              <a:avLst/>
            </a:prstGeom>
          </p:spPr>
        </p:pic>
        <p:sp>
          <p:nvSpPr>
            <p:cNvPr id="29" name="TextBox 28">
              <a:extLst>
                <a:ext uri="{FF2B5EF4-FFF2-40B4-BE49-F238E27FC236}">
                  <a16:creationId xmlns:a16="http://schemas.microsoft.com/office/drawing/2014/main" id="{AE61170E-1A90-4B43-A277-51B2E3D6CBA5}"/>
                </a:ext>
                <a:ext uri="{C183D7F6-B498-43B3-948B-1728B52AA6E4}">
                  <adec:decorative xmlns:adec="http://schemas.microsoft.com/office/drawing/2017/decorative" val="1"/>
                </a:ext>
              </a:extLst>
            </p:cNvPr>
            <p:cNvSpPr txBox="1"/>
            <p:nvPr/>
          </p:nvSpPr>
          <p:spPr>
            <a:xfrm>
              <a:off x="386146" y="5780987"/>
              <a:ext cx="1699503" cy="584775"/>
            </a:xfrm>
            <a:prstGeom prst="rect">
              <a:avLst/>
            </a:prstGeom>
            <a:noFill/>
          </p:spPr>
          <p:txBody>
            <a:bodyPr wrap="non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Networking </a:t>
              </a:r>
              <a:r>
                <a:rPr lang="en-US" sz="1600" dirty="0">
                  <a:solidFill>
                    <a:srgbClr val="000000"/>
                  </a:solidFill>
                  <a:ea typeface="Amazon Ember Light" panose="020B0403020204020204" pitchFamily="34" charset="0"/>
                  <a:cs typeface="Amazon Ember Light" panose="020B0403020204020204" pitchFamily="34" charset="0"/>
                </a:rPr>
                <a:t>and</a:t>
              </a:r>
              <a:endParaRPr lang="en-US" sz="1600" kern="1200" dirty="0">
                <a:solidFill>
                  <a:srgbClr val="000000"/>
                </a:solidFill>
                <a:ea typeface="Amazon Ember Light" panose="020B0403020204020204" pitchFamily="34" charset="0"/>
                <a:cs typeface="Amazon Ember Light" panose="020B0403020204020204" pitchFamily="34" charset="0"/>
              </a:endParaRPr>
            </a:p>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Content Delivery</a:t>
              </a:r>
            </a:p>
          </p:txBody>
        </p:sp>
        <p:sp>
          <p:nvSpPr>
            <p:cNvPr id="33" name="TextBox 32">
              <a:extLst>
                <a:ext uri="{FF2B5EF4-FFF2-40B4-BE49-F238E27FC236}">
                  <a16:creationId xmlns:a16="http://schemas.microsoft.com/office/drawing/2014/main" id="{DC1DF143-2940-4413-AF10-AFE41270FFD9}"/>
                </a:ext>
                <a:ext uri="{C183D7F6-B498-43B3-948B-1728B52AA6E4}">
                  <adec:decorative xmlns:adec="http://schemas.microsoft.com/office/drawing/2017/decorative" val="1"/>
                </a:ext>
              </a:extLst>
            </p:cNvPr>
            <p:cNvSpPr txBox="1"/>
            <p:nvPr/>
          </p:nvSpPr>
          <p:spPr>
            <a:xfrm>
              <a:off x="10533186" y="4472377"/>
              <a:ext cx="787395" cy="338554"/>
            </a:xfrm>
            <a:prstGeom prst="rect">
              <a:avLst/>
            </a:prstGeom>
            <a:noFill/>
          </p:spPr>
          <p:txBody>
            <a:bodyPr wrap="non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Mobile</a:t>
              </a:r>
            </a:p>
          </p:txBody>
        </p:sp>
        <p:pic>
          <p:nvPicPr>
            <p:cNvPr id="40" name="Graphic 39">
              <a:extLst>
                <a:ext uri="{FF2B5EF4-FFF2-40B4-BE49-F238E27FC236}">
                  <a16:creationId xmlns:a16="http://schemas.microsoft.com/office/drawing/2014/main" id="{8C0FABC2-4238-43BD-9506-86B5F95FA79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563457" y="3795954"/>
              <a:ext cx="726853" cy="708032"/>
            </a:xfrm>
            <a:prstGeom prst="rect">
              <a:avLst/>
            </a:prstGeom>
          </p:spPr>
        </p:pic>
        <p:sp>
          <p:nvSpPr>
            <p:cNvPr id="34" name="TextBox 33">
              <a:extLst>
                <a:ext uri="{FF2B5EF4-FFF2-40B4-BE49-F238E27FC236}">
                  <a16:creationId xmlns:a16="http://schemas.microsoft.com/office/drawing/2014/main" id="{66C24973-FB36-4CB7-913E-55FE5E2EA952}"/>
                </a:ext>
                <a:ext uri="{C183D7F6-B498-43B3-948B-1728B52AA6E4}">
                  <adec:decorative xmlns:adec="http://schemas.microsoft.com/office/drawing/2017/decorative" val="1"/>
                </a:ext>
              </a:extLst>
            </p:cNvPr>
            <p:cNvSpPr txBox="1"/>
            <p:nvPr/>
          </p:nvSpPr>
          <p:spPr>
            <a:xfrm>
              <a:off x="723834" y="4459977"/>
              <a:ext cx="1024127" cy="584775"/>
            </a:xfrm>
            <a:prstGeom prst="rect">
              <a:avLst/>
            </a:prstGeom>
            <a:noFill/>
          </p:spPr>
          <p:txBody>
            <a:bodyPr wrap="non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Internet </a:t>
              </a:r>
              <a:br>
                <a:rPr lang="en-US" sz="1600" kern="1200" dirty="0">
                  <a:solidFill>
                    <a:srgbClr val="000000"/>
                  </a:solidFill>
                  <a:ea typeface="Amazon Ember Light" panose="020B0403020204020204" pitchFamily="34" charset="0"/>
                  <a:cs typeface="Amazon Ember Light" panose="020B0403020204020204" pitchFamily="34" charset="0"/>
                </a:rPr>
              </a:br>
              <a:r>
                <a:rPr lang="en-US" sz="1600" kern="1200" dirty="0">
                  <a:solidFill>
                    <a:srgbClr val="000000"/>
                  </a:solidFill>
                  <a:ea typeface="Amazon Ember Light" panose="020B0403020204020204" pitchFamily="34" charset="0"/>
                  <a:cs typeface="Amazon Ember Light" panose="020B0403020204020204" pitchFamily="34" charset="0"/>
                </a:rPr>
                <a:t>of Things</a:t>
              </a:r>
            </a:p>
          </p:txBody>
        </p:sp>
        <p:pic>
          <p:nvPicPr>
            <p:cNvPr id="41" name="Graphic 40">
              <a:extLst>
                <a:ext uri="{FF2B5EF4-FFF2-40B4-BE49-F238E27FC236}">
                  <a16:creationId xmlns:a16="http://schemas.microsoft.com/office/drawing/2014/main" id="{9CCE4B49-9479-4457-91A8-35E93ACA297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2471" y="3795954"/>
              <a:ext cx="726853" cy="708032"/>
            </a:xfrm>
            <a:prstGeom prst="rect">
              <a:avLst/>
            </a:prstGeom>
          </p:spPr>
        </p:pic>
        <p:pic>
          <p:nvPicPr>
            <p:cNvPr id="22" name="Graphic 21">
              <a:extLst>
                <a:ext uri="{FF2B5EF4-FFF2-40B4-BE49-F238E27FC236}">
                  <a16:creationId xmlns:a16="http://schemas.microsoft.com/office/drawing/2014/main" id="{5ACF59DB-8F9A-48FE-B180-E14F8F83A73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63457" y="1226282"/>
              <a:ext cx="726853" cy="708032"/>
            </a:xfrm>
            <a:prstGeom prst="rect">
              <a:avLst/>
            </a:prstGeom>
          </p:spPr>
        </p:pic>
        <p:sp>
          <p:nvSpPr>
            <p:cNvPr id="23" name="TextBox 22">
              <a:extLst>
                <a:ext uri="{FF2B5EF4-FFF2-40B4-BE49-F238E27FC236}">
                  <a16:creationId xmlns:a16="http://schemas.microsoft.com/office/drawing/2014/main" id="{970CF5FF-F040-48FF-A950-76231EAFDD24}"/>
                </a:ext>
                <a:ext uri="{C183D7F6-B498-43B3-948B-1728B52AA6E4}">
                  <adec:decorative xmlns:adec="http://schemas.microsoft.com/office/drawing/2017/decorative" val="1"/>
                </a:ext>
              </a:extLst>
            </p:cNvPr>
            <p:cNvSpPr txBox="1"/>
            <p:nvPr/>
          </p:nvSpPr>
          <p:spPr>
            <a:xfrm>
              <a:off x="10418571" y="1892293"/>
              <a:ext cx="1016625" cy="338554"/>
            </a:xfrm>
            <a:prstGeom prst="rect">
              <a:avLst/>
            </a:prstGeom>
            <a:noFill/>
          </p:spPr>
          <p:txBody>
            <a:bodyPr wrap="non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Compute</a:t>
              </a:r>
            </a:p>
          </p:txBody>
        </p:sp>
        <p:pic>
          <p:nvPicPr>
            <p:cNvPr id="30" name="Graphic 29">
              <a:extLst>
                <a:ext uri="{FF2B5EF4-FFF2-40B4-BE49-F238E27FC236}">
                  <a16:creationId xmlns:a16="http://schemas.microsoft.com/office/drawing/2014/main" id="{BFF91D77-2C34-442A-9CCF-659E2B57C60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2471" y="1226282"/>
              <a:ext cx="726853" cy="708032"/>
            </a:xfrm>
            <a:prstGeom prst="rect">
              <a:avLst/>
            </a:prstGeom>
          </p:spPr>
        </p:pic>
        <p:sp>
          <p:nvSpPr>
            <p:cNvPr id="31" name="TextBox 30">
              <a:extLst>
                <a:ext uri="{FF2B5EF4-FFF2-40B4-BE49-F238E27FC236}">
                  <a16:creationId xmlns:a16="http://schemas.microsoft.com/office/drawing/2014/main" id="{CD480D35-9445-4C6E-971C-0B6FF27446BE}"/>
                </a:ext>
                <a:ext uri="{C183D7F6-B498-43B3-948B-1728B52AA6E4}">
                  <adec:decorative xmlns:adec="http://schemas.microsoft.com/office/drawing/2017/decorative" val="1"/>
                </a:ext>
              </a:extLst>
            </p:cNvPr>
            <p:cNvSpPr txBox="1"/>
            <p:nvPr/>
          </p:nvSpPr>
          <p:spPr>
            <a:xfrm>
              <a:off x="733998" y="1895241"/>
              <a:ext cx="1003801" cy="338554"/>
            </a:xfrm>
            <a:prstGeom prst="rect">
              <a:avLst/>
            </a:prstGeom>
            <a:noFill/>
          </p:spPr>
          <p:txBody>
            <a:bodyPr wrap="non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Analytics</a:t>
              </a:r>
            </a:p>
          </p:txBody>
        </p:sp>
        <p:sp>
          <p:nvSpPr>
            <p:cNvPr id="36" name="TextBox 35">
              <a:extLst>
                <a:ext uri="{FF2B5EF4-FFF2-40B4-BE49-F238E27FC236}">
                  <a16:creationId xmlns:a16="http://schemas.microsoft.com/office/drawing/2014/main" id="{DB1B3266-2555-43EB-AC7A-9550108148FA}"/>
                </a:ext>
                <a:ext uri="{C183D7F6-B498-43B3-948B-1728B52AA6E4}">
                  <adec:decorative xmlns:adec="http://schemas.microsoft.com/office/drawing/2017/decorative" val="1"/>
                </a:ext>
              </a:extLst>
            </p:cNvPr>
            <p:cNvSpPr txBox="1"/>
            <p:nvPr/>
          </p:nvSpPr>
          <p:spPr>
            <a:xfrm>
              <a:off x="3889355" y="4478092"/>
              <a:ext cx="1838965" cy="584775"/>
            </a:xfrm>
            <a:prstGeom prst="rect">
              <a:avLst/>
            </a:prstGeom>
            <a:noFill/>
          </p:spPr>
          <p:txBody>
            <a:bodyPr wrap="non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Management and </a:t>
              </a:r>
              <a:br>
                <a:rPr lang="en-US" sz="1600" kern="1200" dirty="0">
                  <a:solidFill>
                    <a:srgbClr val="000000"/>
                  </a:solidFill>
                  <a:ea typeface="Amazon Ember Light" panose="020B0403020204020204" pitchFamily="34" charset="0"/>
                  <a:cs typeface="Amazon Ember Light" panose="020B0403020204020204" pitchFamily="34" charset="0"/>
                </a:rPr>
              </a:br>
              <a:r>
                <a:rPr lang="en-US" sz="1600" kern="1200" dirty="0">
                  <a:solidFill>
                    <a:srgbClr val="000000"/>
                  </a:solidFill>
                  <a:ea typeface="Amazon Ember Light" panose="020B0403020204020204" pitchFamily="34" charset="0"/>
                  <a:cs typeface="Amazon Ember Light" panose="020B0403020204020204" pitchFamily="34" charset="0"/>
                </a:rPr>
                <a:t>Governance</a:t>
              </a:r>
            </a:p>
          </p:txBody>
        </p:sp>
        <p:pic>
          <p:nvPicPr>
            <p:cNvPr id="46" name="Graphic 45">
              <a:extLst>
                <a:ext uri="{FF2B5EF4-FFF2-40B4-BE49-F238E27FC236}">
                  <a16:creationId xmlns:a16="http://schemas.microsoft.com/office/drawing/2014/main" id="{B4E14D40-B48E-4CC2-8499-58B2477D85D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445410" y="3795954"/>
              <a:ext cx="726853" cy="708032"/>
            </a:xfrm>
            <a:prstGeom prst="rect">
              <a:avLst/>
            </a:prstGeom>
          </p:spPr>
        </p:pic>
        <p:pic>
          <p:nvPicPr>
            <p:cNvPr id="24" name="Graphic 23">
              <a:extLst>
                <a:ext uri="{FF2B5EF4-FFF2-40B4-BE49-F238E27FC236}">
                  <a16:creationId xmlns:a16="http://schemas.microsoft.com/office/drawing/2014/main" id="{E356DDF8-6319-4787-AA90-C7EEA009751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705020" y="5111309"/>
              <a:ext cx="726853" cy="708032"/>
            </a:xfrm>
            <a:prstGeom prst="rect">
              <a:avLst/>
            </a:prstGeom>
          </p:spPr>
        </p:pic>
        <p:sp>
          <p:nvSpPr>
            <p:cNvPr id="25" name="TextBox 24">
              <a:extLst>
                <a:ext uri="{FF2B5EF4-FFF2-40B4-BE49-F238E27FC236}">
                  <a16:creationId xmlns:a16="http://schemas.microsoft.com/office/drawing/2014/main" id="{F8897D01-9B02-4480-A482-C607893138B6}"/>
                </a:ext>
                <a:ext uri="{C183D7F6-B498-43B3-948B-1728B52AA6E4}">
                  <adec:decorative xmlns:adec="http://schemas.microsoft.com/office/drawing/2017/decorative" val="1"/>
                </a:ext>
              </a:extLst>
            </p:cNvPr>
            <p:cNvSpPr txBox="1"/>
            <p:nvPr/>
          </p:nvSpPr>
          <p:spPr>
            <a:xfrm>
              <a:off x="8617041" y="5783259"/>
              <a:ext cx="902811" cy="338554"/>
            </a:xfrm>
            <a:prstGeom prst="rect">
              <a:avLst/>
            </a:prstGeom>
            <a:noFill/>
          </p:spPr>
          <p:txBody>
            <a:bodyPr wrap="non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Storage</a:t>
              </a:r>
            </a:p>
          </p:txBody>
        </p:sp>
        <p:sp>
          <p:nvSpPr>
            <p:cNvPr id="35" name="TextBox 34">
              <a:extLst>
                <a:ext uri="{FF2B5EF4-FFF2-40B4-BE49-F238E27FC236}">
                  <a16:creationId xmlns:a16="http://schemas.microsoft.com/office/drawing/2014/main" id="{6CB940ED-E182-4845-AE19-8960602EE7FD}"/>
                </a:ext>
                <a:ext uri="{C183D7F6-B498-43B3-948B-1728B52AA6E4}">
                  <adec:decorative xmlns:adec="http://schemas.microsoft.com/office/drawing/2017/decorative" val="1"/>
                </a:ext>
              </a:extLst>
            </p:cNvPr>
            <p:cNvSpPr txBox="1"/>
            <p:nvPr/>
          </p:nvSpPr>
          <p:spPr>
            <a:xfrm>
              <a:off x="6062691" y="3124162"/>
              <a:ext cx="1648977" cy="338554"/>
            </a:xfrm>
            <a:prstGeom prst="rect">
              <a:avLst/>
            </a:prstGeom>
            <a:noFill/>
          </p:spPr>
          <p:txBody>
            <a:bodyPr wrap="non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Developer Tools</a:t>
              </a:r>
            </a:p>
          </p:txBody>
        </p:sp>
        <p:pic>
          <p:nvPicPr>
            <p:cNvPr id="45" name="Graphic 44">
              <a:extLst>
                <a:ext uri="{FF2B5EF4-FFF2-40B4-BE49-F238E27FC236}">
                  <a16:creationId xmlns:a16="http://schemas.microsoft.com/office/drawing/2014/main" id="{693F8DC6-C582-4941-9AD2-3F30DCEEBBC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523753" y="2450078"/>
              <a:ext cx="726853" cy="708032"/>
            </a:xfrm>
            <a:prstGeom prst="rect">
              <a:avLst/>
            </a:prstGeom>
          </p:spPr>
        </p:pic>
        <p:sp>
          <p:nvSpPr>
            <p:cNvPr id="37" name="TextBox 36">
              <a:extLst>
                <a:ext uri="{FF2B5EF4-FFF2-40B4-BE49-F238E27FC236}">
                  <a16:creationId xmlns:a16="http://schemas.microsoft.com/office/drawing/2014/main" id="{8A8AEC52-D7C1-4E29-990F-5CA8ED949072}"/>
                </a:ext>
                <a:ext uri="{C183D7F6-B498-43B3-948B-1728B52AA6E4}">
                  <adec:decorative xmlns:adec="http://schemas.microsoft.com/office/drawing/2017/decorative" val="1"/>
                </a:ext>
              </a:extLst>
            </p:cNvPr>
            <p:cNvSpPr txBox="1"/>
            <p:nvPr/>
          </p:nvSpPr>
          <p:spPr>
            <a:xfrm>
              <a:off x="5907663" y="5764704"/>
              <a:ext cx="1959034" cy="584775"/>
            </a:xfrm>
            <a:prstGeom prst="rect">
              <a:avLst/>
            </a:prstGeom>
            <a:noFill/>
          </p:spPr>
          <p:txBody>
            <a:bodyPr wrap="square" lIns="0" rIns="0"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Security, Identity, </a:t>
              </a:r>
              <a:r>
                <a:rPr lang="en-US" sz="1600" dirty="0">
                  <a:solidFill>
                    <a:srgbClr val="000000"/>
                  </a:solidFill>
                  <a:ea typeface="Amazon Ember Light" panose="020B0403020204020204" pitchFamily="34" charset="0"/>
                  <a:cs typeface="Amazon Ember Light" panose="020B0403020204020204" pitchFamily="34" charset="0"/>
                </a:rPr>
                <a:t>and</a:t>
              </a:r>
              <a:r>
                <a:rPr lang="en-US" sz="1600" kern="1200" dirty="0">
                  <a:solidFill>
                    <a:srgbClr val="000000"/>
                  </a:solidFill>
                  <a:ea typeface="Amazon Ember Light" panose="020B0403020204020204" pitchFamily="34" charset="0"/>
                  <a:cs typeface="Amazon Ember Light" panose="020B0403020204020204" pitchFamily="34" charset="0"/>
                </a:rPr>
                <a:t> Compliance</a:t>
              </a:r>
            </a:p>
          </p:txBody>
        </p:sp>
        <p:pic>
          <p:nvPicPr>
            <p:cNvPr id="47" name="Graphic 46">
              <a:extLst>
                <a:ext uri="{FF2B5EF4-FFF2-40B4-BE49-F238E27FC236}">
                  <a16:creationId xmlns:a16="http://schemas.microsoft.com/office/drawing/2014/main" id="{20219465-2930-4222-8CB2-BCCC8F2F380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523753" y="5111309"/>
              <a:ext cx="726853" cy="708032"/>
            </a:xfrm>
            <a:prstGeom prst="rect">
              <a:avLst/>
            </a:prstGeom>
          </p:spPr>
        </p:pic>
        <p:pic>
          <p:nvPicPr>
            <p:cNvPr id="26" name="Graphic 25">
              <a:extLst>
                <a:ext uri="{FF2B5EF4-FFF2-40B4-BE49-F238E27FC236}">
                  <a16:creationId xmlns:a16="http://schemas.microsoft.com/office/drawing/2014/main" id="{CD490A6D-3B43-4E2E-8037-798CD75403A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445410" y="2450078"/>
              <a:ext cx="726853" cy="708032"/>
            </a:xfrm>
            <a:prstGeom prst="rect">
              <a:avLst/>
            </a:prstGeom>
          </p:spPr>
        </p:pic>
        <p:sp>
          <p:nvSpPr>
            <p:cNvPr id="27" name="TextBox 26">
              <a:extLst>
                <a:ext uri="{FF2B5EF4-FFF2-40B4-BE49-F238E27FC236}">
                  <a16:creationId xmlns:a16="http://schemas.microsoft.com/office/drawing/2014/main" id="{7FDD4960-C8B5-489C-82A0-9CA33CC5BBB5}"/>
                </a:ext>
                <a:ext uri="{C183D7F6-B498-43B3-948B-1728B52AA6E4}">
                  <adec:decorative xmlns:adec="http://schemas.microsoft.com/office/drawing/2017/decorative" val="1"/>
                </a:ext>
              </a:extLst>
            </p:cNvPr>
            <p:cNvSpPr txBox="1"/>
            <p:nvPr/>
          </p:nvSpPr>
          <p:spPr>
            <a:xfrm>
              <a:off x="4278083" y="3120188"/>
              <a:ext cx="1061509" cy="338554"/>
            </a:xfrm>
            <a:prstGeom prst="rect">
              <a:avLst/>
            </a:prstGeom>
            <a:noFill/>
          </p:spPr>
          <p:txBody>
            <a:bodyPr wrap="non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Database</a:t>
              </a:r>
            </a:p>
          </p:txBody>
        </p:sp>
        <p:sp>
          <p:nvSpPr>
            <p:cNvPr id="32" name="TextBox 31">
              <a:extLst>
                <a:ext uri="{FF2B5EF4-FFF2-40B4-BE49-F238E27FC236}">
                  <a16:creationId xmlns:a16="http://schemas.microsoft.com/office/drawing/2014/main" id="{AE20C2D3-E886-4EB3-A672-17CF83D8C99F}"/>
                </a:ext>
                <a:ext uri="{C183D7F6-B498-43B3-948B-1728B52AA6E4}">
                  <adec:decorative xmlns:adec="http://schemas.microsoft.com/office/drawing/2017/decorative" val="1"/>
                </a:ext>
              </a:extLst>
            </p:cNvPr>
            <p:cNvSpPr txBox="1"/>
            <p:nvPr/>
          </p:nvSpPr>
          <p:spPr>
            <a:xfrm>
              <a:off x="8424682" y="1890422"/>
              <a:ext cx="1287532" cy="584775"/>
            </a:xfrm>
            <a:prstGeom prst="rect">
              <a:avLst/>
            </a:prstGeom>
            <a:noFill/>
          </p:spPr>
          <p:txBody>
            <a:bodyPr wrap="non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Business </a:t>
              </a:r>
              <a:br>
                <a:rPr lang="en-US" sz="1600" kern="1200" dirty="0">
                  <a:solidFill>
                    <a:srgbClr val="000000"/>
                  </a:solidFill>
                  <a:ea typeface="Amazon Ember Light" panose="020B0403020204020204" pitchFamily="34" charset="0"/>
                  <a:cs typeface="Amazon Ember Light" panose="020B0403020204020204" pitchFamily="34" charset="0"/>
                </a:rPr>
              </a:br>
              <a:r>
                <a:rPr lang="en-US" sz="1600" kern="1200" dirty="0">
                  <a:solidFill>
                    <a:srgbClr val="000000"/>
                  </a:solidFill>
                  <a:ea typeface="Amazon Ember Light" panose="020B0403020204020204" pitchFamily="34" charset="0"/>
                  <a:cs typeface="Amazon Ember Light" panose="020B0403020204020204" pitchFamily="34" charset="0"/>
                </a:rPr>
                <a:t>Applications</a:t>
              </a:r>
            </a:p>
          </p:txBody>
        </p:sp>
        <p:pic>
          <p:nvPicPr>
            <p:cNvPr id="39" name="Graphic 38">
              <a:extLst>
                <a:ext uri="{FF2B5EF4-FFF2-40B4-BE49-F238E27FC236}">
                  <a16:creationId xmlns:a16="http://schemas.microsoft.com/office/drawing/2014/main" id="{79E2A1C7-B65E-4107-BBA7-6CBFA140D29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705020" y="1226282"/>
              <a:ext cx="726853" cy="708032"/>
            </a:xfrm>
            <a:prstGeom prst="rect">
              <a:avLst/>
            </a:prstGeom>
          </p:spPr>
        </p:pic>
        <p:pic>
          <p:nvPicPr>
            <p:cNvPr id="57" name="Graphic 56">
              <a:extLst>
                <a:ext uri="{FF2B5EF4-FFF2-40B4-BE49-F238E27FC236}">
                  <a16:creationId xmlns:a16="http://schemas.microsoft.com/office/drawing/2014/main" id="{3CABFD0E-BB49-4FF3-AF90-7E596AB84EA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2738408" y="3795954"/>
              <a:ext cx="726853" cy="708032"/>
            </a:xfrm>
            <a:prstGeom prst="rect">
              <a:avLst/>
            </a:prstGeom>
          </p:spPr>
        </p:pic>
        <p:sp>
          <p:nvSpPr>
            <p:cNvPr id="59" name="TextBox 58">
              <a:extLst>
                <a:ext uri="{FF2B5EF4-FFF2-40B4-BE49-F238E27FC236}">
                  <a16:creationId xmlns:a16="http://schemas.microsoft.com/office/drawing/2014/main" id="{D2E5BF37-DC18-4CB9-B30F-433B74CDAE9C}"/>
                </a:ext>
                <a:ext uri="{C183D7F6-B498-43B3-948B-1728B52AA6E4}">
                  <adec:decorative xmlns:adec="http://schemas.microsoft.com/office/drawing/2017/decorative" val="1"/>
                </a:ext>
              </a:extLst>
            </p:cNvPr>
            <p:cNvSpPr txBox="1"/>
            <p:nvPr/>
          </p:nvSpPr>
          <p:spPr>
            <a:xfrm>
              <a:off x="2374633" y="4463956"/>
              <a:ext cx="1411841" cy="584775"/>
            </a:xfrm>
            <a:prstGeom prst="rect">
              <a:avLst/>
            </a:prstGeom>
            <a:noFill/>
          </p:spPr>
          <p:txBody>
            <a:bodyPr wrap="squar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Machine Learning</a:t>
              </a:r>
            </a:p>
          </p:txBody>
        </p:sp>
        <p:pic>
          <p:nvPicPr>
            <p:cNvPr id="58" name="Graphic 57">
              <a:extLst>
                <a:ext uri="{FF2B5EF4-FFF2-40B4-BE49-F238E27FC236}">
                  <a16:creationId xmlns:a16="http://schemas.microsoft.com/office/drawing/2014/main" id="{E115ADA5-4FD3-634B-9CEB-C2ACD1B686F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23753" y="1226282"/>
              <a:ext cx="726853" cy="708032"/>
            </a:xfrm>
            <a:prstGeom prst="rect">
              <a:avLst/>
            </a:prstGeom>
          </p:spPr>
        </p:pic>
        <p:sp>
          <p:nvSpPr>
            <p:cNvPr id="60" name="TextBox 59">
              <a:extLst>
                <a:ext uri="{FF2B5EF4-FFF2-40B4-BE49-F238E27FC236}">
                  <a16:creationId xmlns:a16="http://schemas.microsoft.com/office/drawing/2014/main" id="{25B36EFC-4DE3-884A-8A21-A73020518C07}"/>
                </a:ext>
                <a:ext uri="{C183D7F6-B498-43B3-948B-1728B52AA6E4}">
                  <adec:decorative xmlns:adec="http://schemas.microsoft.com/office/drawing/2017/decorative" val="1"/>
                </a:ext>
              </a:extLst>
            </p:cNvPr>
            <p:cNvSpPr txBox="1"/>
            <p:nvPr/>
          </p:nvSpPr>
          <p:spPr>
            <a:xfrm>
              <a:off x="6300320" y="1887244"/>
              <a:ext cx="1173719" cy="338554"/>
            </a:xfrm>
            <a:prstGeom prst="rect">
              <a:avLst/>
            </a:prstGeom>
            <a:noFill/>
          </p:spPr>
          <p:txBody>
            <a:bodyPr wrap="non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Blockchain</a:t>
              </a:r>
            </a:p>
          </p:txBody>
        </p:sp>
        <p:pic>
          <p:nvPicPr>
            <p:cNvPr id="61" name="Graphic 60">
              <a:extLst>
                <a:ext uri="{FF2B5EF4-FFF2-40B4-BE49-F238E27FC236}">
                  <a16:creationId xmlns:a16="http://schemas.microsoft.com/office/drawing/2014/main" id="{D0BCA487-74F6-C448-9FDA-0F8E56EC7E3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2738408" y="1226282"/>
              <a:ext cx="726853" cy="708032"/>
            </a:xfrm>
            <a:prstGeom prst="rect">
              <a:avLst/>
            </a:prstGeom>
          </p:spPr>
        </p:pic>
        <p:sp>
          <p:nvSpPr>
            <p:cNvPr id="62" name="TextBox 61">
              <a:extLst>
                <a:ext uri="{FF2B5EF4-FFF2-40B4-BE49-F238E27FC236}">
                  <a16:creationId xmlns:a16="http://schemas.microsoft.com/office/drawing/2014/main" id="{404286D4-4E11-6544-9882-BCA37CD2F21C}"/>
                </a:ext>
                <a:ext uri="{C183D7F6-B498-43B3-948B-1728B52AA6E4}">
                  <adec:decorative xmlns:adec="http://schemas.microsoft.com/office/drawing/2017/decorative" val="1"/>
                </a:ext>
              </a:extLst>
            </p:cNvPr>
            <p:cNvSpPr txBox="1"/>
            <p:nvPr/>
          </p:nvSpPr>
          <p:spPr>
            <a:xfrm>
              <a:off x="2509366" y="1885548"/>
              <a:ext cx="1184940" cy="584775"/>
            </a:xfrm>
            <a:prstGeom prst="rect">
              <a:avLst/>
            </a:prstGeom>
            <a:noFill/>
          </p:spPr>
          <p:txBody>
            <a:bodyPr wrap="non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Application</a:t>
              </a:r>
            </a:p>
            <a:p>
              <a:pPr algn="ctr" rtl="0">
                <a:defRPr/>
              </a:pPr>
              <a:r>
                <a:rPr lang="en-US" sz="1600" dirty="0">
                  <a:solidFill>
                    <a:srgbClr val="000000"/>
                  </a:solidFill>
                  <a:ea typeface="Amazon Ember Light" panose="020B0403020204020204" pitchFamily="34" charset="0"/>
                  <a:cs typeface="Amazon Ember Light" panose="020B0403020204020204" pitchFamily="34" charset="0"/>
                </a:rPr>
                <a:t>Integration</a:t>
              </a:r>
              <a:endParaRPr lang="en-US" sz="1600" kern="1200" dirty="0">
                <a:solidFill>
                  <a:srgbClr val="000000"/>
                </a:solidFill>
                <a:ea typeface="Amazon Ember Light" panose="020B0403020204020204" pitchFamily="34" charset="0"/>
                <a:cs typeface="Amazon Ember Light" panose="020B0403020204020204" pitchFamily="34" charset="0"/>
              </a:endParaRPr>
            </a:p>
          </p:txBody>
        </p:sp>
        <p:pic>
          <p:nvPicPr>
            <p:cNvPr id="63" name="Graphic 62">
              <a:extLst>
                <a:ext uri="{FF2B5EF4-FFF2-40B4-BE49-F238E27FC236}">
                  <a16:creationId xmlns:a16="http://schemas.microsoft.com/office/drawing/2014/main" id="{C9962C28-472E-184B-8D92-C45F606D97E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4445410" y="1226282"/>
              <a:ext cx="726853" cy="708032"/>
            </a:xfrm>
            <a:prstGeom prst="rect">
              <a:avLst/>
            </a:prstGeom>
          </p:spPr>
        </p:pic>
        <p:sp>
          <p:nvSpPr>
            <p:cNvPr id="64" name="TextBox 63">
              <a:extLst>
                <a:ext uri="{FF2B5EF4-FFF2-40B4-BE49-F238E27FC236}">
                  <a16:creationId xmlns:a16="http://schemas.microsoft.com/office/drawing/2014/main" id="{F2355A63-AF06-304C-AEA6-A7E601F2930E}"/>
                </a:ext>
                <a:ext uri="{C183D7F6-B498-43B3-948B-1728B52AA6E4}">
                  <adec:decorative xmlns:adec="http://schemas.microsoft.com/office/drawing/2017/decorative" val="1"/>
                </a:ext>
              </a:extLst>
            </p:cNvPr>
            <p:cNvSpPr txBox="1"/>
            <p:nvPr/>
          </p:nvSpPr>
          <p:spPr>
            <a:xfrm>
              <a:off x="4204346" y="1893873"/>
              <a:ext cx="1208985" cy="338554"/>
            </a:xfrm>
            <a:prstGeom prst="rect">
              <a:avLst/>
            </a:prstGeom>
            <a:noFill/>
          </p:spPr>
          <p:txBody>
            <a:bodyPr wrap="non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AR </a:t>
              </a:r>
              <a:r>
                <a:rPr lang="en-US" sz="1600" dirty="0">
                  <a:solidFill>
                    <a:srgbClr val="000000"/>
                  </a:solidFill>
                  <a:ea typeface="Amazon Ember Light" panose="020B0403020204020204" pitchFamily="34" charset="0"/>
                  <a:cs typeface="Amazon Ember Light" panose="020B0403020204020204" pitchFamily="34" charset="0"/>
                </a:rPr>
                <a:t>and </a:t>
              </a:r>
              <a:r>
                <a:rPr lang="en-US" sz="1600" kern="1200" dirty="0">
                  <a:solidFill>
                    <a:srgbClr val="000000"/>
                  </a:solidFill>
                  <a:ea typeface="Amazon Ember Light" panose="020B0403020204020204" pitchFamily="34" charset="0"/>
                  <a:cs typeface="Amazon Ember Light" panose="020B0403020204020204" pitchFamily="34" charset="0"/>
                </a:rPr>
                <a:t>VR</a:t>
              </a:r>
            </a:p>
          </p:txBody>
        </p:sp>
        <p:pic>
          <p:nvPicPr>
            <p:cNvPr id="71" name="Graphic 70">
              <a:extLst>
                <a:ext uri="{FF2B5EF4-FFF2-40B4-BE49-F238E27FC236}">
                  <a16:creationId xmlns:a16="http://schemas.microsoft.com/office/drawing/2014/main" id="{93DAA41C-C974-AD47-A53C-1039F8E2DBC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8705020" y="2450078"/>
              <a:ext cx="726853" cy="708032"/>
            </a:xfrm>
            <a:prstGeom prst="rect">
              <a:avLst/>
            </a:prstGeom>
          </p:spPr>
        </p:pic>
        <p:sp>
          <p:nvSpPr>
            <p:cNvPr id="72" name="TextBox 71">
              <a:extLst>
                <a:ext uri="{FF2B5EF4-FFF2-40B4-BE49-F238E27FC236}">
                  <a16:creationId xmlns:a16="http://schemas.microsoft.com/office/drawing/2014/main" id="{3692D3A0-CABC-3440-84AD-881EF14C1585}"/>
                </a:ext>
                <a:ext uri="{C183D7F6-B498-43B3-948B-1728B52AA6E4}">
                  <adec:decorative xmlns:adec="http://schemas.microsoft.com/office/drawing/2017/decorative" val="1"/>
                </a:ext>
              </a:extLst>
            </p:cNvPr>
            <p:cNvSpPr txBox="1"/>
            <p:nvPr/>
          </p:nvSpPr>
          <p:spPr>
            <a:xfrm>
              <a:off x="8480786" y="3118048"/>
              <a:ext cx="1175322" cy="584775"/>
            </a:xfrm>
            <a:prstGeom prst="rect">
              <a:avLst/>
            </a:prstGeom>
            <a:noFill/>
          </p:spPr>
          <p:txBody>
            <a:bodyPr wrap="non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End User </a:t>
              </a:r>
            </a:p>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Computing</a:t>
              </a:r>
            </a:p>
          </p:txBody>
        </p:sp>
        <p:pic>
          <p:nvPicPr>
            <p:cNvPr id="74" name="Graphic 73">
              <a:extLst>
                <a:ext uri="{FF2B5EF4-FFF2-40B4-BE49-F238E27FC236}">
                  <a16:creationId xmlns:a16="http://schemas.microsoft.com/office/drawing/2014/main" id="{FDF3D634-D03D-164F-A9B6-811A7201F79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523753" y="3795954"/>
              <a:ext cx="726853" cy="708032"/>
            </a:xfrm>
            <a:prstGeom prst="rect">
              <a:avLst/>
            </a:prstGeom>
          </p:spPr>
        </p:pic>
        <p:sp>
          <p:nvSpPr>
            <p:cNvPr id="76" name="TextBox 75">
              <a:extLst>
                <a:ext uri="{FF2B5EF4-FFF2-40B4-BE49-F238E27FC236}">
                  <a16:creationId xmlns:a16="http://schemas.microsoft.com/office/drawing/2014/main" id="{B37499C4-85AB-1643-B309-6C6C773B623F}"/>
                </a:ext>
                <a:ext uri="{C183D7F6-B498-43B3-948B-1728B52AA6E4}">
                  <adec:decorative xmlns:adec="http://schemas.microsoft.com/office/drawing/2017/decorative" val="1"/>
                </a:ext>
              </a:extLst>
            </p:cNvPr>
            <p:cNvSpPr txBox="1"/>
            <p:nvPr/>
          </p:nvSpPr>
          <p:spPr>
            <a:xfrm>
              <a:off x="6094335" y="4471445"/>
              <a:ext cx="1585690" cy="338554"/>
            </a:xfrm>
            <a:prstGeom prst="rect">
              <a:avLst/>
            </a:prstGeom>
            <a:noFill/>
          </p:spPr>
          <p:txBody>
            <a:bodyPr wrap="non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Media Services</a:t>
              </a:r>
            </a:p>
          </p:txBody>
        </p:sp>
        <p:pic>
          <p:nvPicPr>
            <p:cNvPr id="77" name="Graphic 76">
              <a:extLst>
                <a:ext uri="{FF2B5EF4-FFF2-40B4-BE49-F238E27FC236}">
                  <a16:creationId xmlns:a16="http://schemas.microsoft.com/office/drawing/2014/main" id="{A9FD4A75-9442-7545-BE2D-9637B4E802E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8705020" y="3795954"/>
              <a:ext cx="726853" cy="708032"/>
            </a:xfrm>
            <a:prstGeom prst="rect">
              <a:avLst/>
            </a:prstGeom>
          </p:spPr>
        </p:pic>
        <p:sp>
          <p:nvSpPr>
            <p:cNvPr id="78" name="TextBox 77">
              <a:extLst>
                <a:ext uri="{FF2B5EF4-FFF2-40B4-BE49-F238E27FC236}">
                  <a16:creationId xmlns:a16="http://schemas.microsoft.com/office/drawing/2014/main" id="{192EABF2-A4D4-2447-AC15-7BE6FFEB2316}"/>
                </a:ext>
                <a:ext uri="{C183D7F6-B498-43B3-948B-1728B52AA6E4}">
                  <adec:decorative xmlns:adec="http://schemas.microsoft.com/office/drawing/2017/decorative" val="1"/>
                </a:ext>
              </a:extLst>
            </p:cNvPr>
            <p:cNvSpPr txBox="1"/>
            <p:nvPr/>
          </p:nvSpPr>
          <p:spPr>
            <a:xfrm>
              <a:off x="8326096" y="4479944"/>
              <a:ext cx="1484701" cy="584775"/>
            </a:xfrm>
            <a:prstGeom prst="rect">
              <a:avLst/>
            </a:prstGeom>
            <a:noFill/>
          </p:spPr>
          <p:txBody>
            <a:bodyPr wrap="none" rtlCol="0">
              <a:spAutoFit/>
            </a:bodyPr>
            <a:lstStyle/>
            <a:p>
              <a:pPr algn="ctr" rtl="0">
                <a:defRPr/>
              </a:pPr>
              <a:r>
                <a:rPr lang="en-US" sz="1600" dirty="0">
                  <a:solidFill>
                    <a:srgbClr val="000000"/>
                  </a:solidFill>
                  <a:ea typeface="Amazon Ember Light" panose="020B0403020204020204" pitchFamily="34" charset="0"/>
                  <a:cs typeface="Amazon Ember Light" panose="020B0403020204020204" pitchFamily="34" charset="0"/>
                </a:rPr>
                <a:t>Migration and</a:t>
              </a:r>
              <a:r>
                <a:rPr lang="en-US" sz="1600" kern="1200" dirty="0">
                  <a:solidFill>
                    <a:srgbClr val="000000"/>
                  </a:solidFill>
                  <a:ea typeface="Amazon Ember Light" panose="020B0403020204020204" pitchFamily="34" charset="0"/>
                  <a:cs typeface="Amazon Ember Light" panose="020B0403020204020204" pitchFamily="34" charset="0"/>
                </a:rPr>
                <a:t> </a:t>
              </a:r>
            </a:p>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Transfer</a:t>
              </a:r>
            </a:p>
          </p:txBody>
        </p:sp>
        <p:pic>
          <p:nvPicPr>
            <p:cNvPr id="80" name="Graphic 79">
              <a:extLst>
                <a:ext uri="{FF2B5EF4-FFF2-40B4-BE49-F238E27FC236}">
                  <a16:creationId xmlns:a16="http://schemas.microsoft.com/office/drawing/2014/main" id="{E2B8BEDD-83DC-7340-BEE5-007FB8658AB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10563457" y="2450078"/>
              <a:ext cx="726853" cy="708032"/>
            </a:xfrm>
            <a:prstGeom prst="rect">
              <a:avLst/>
            </a:prstGeom>
          </p:spPr>
        </p:pic>
        <p:sp>
          <p:nvSpPr>
            <p:cNvPr id="81" name="TextBox 80">
              <a:extLst>
                <a:ext uri="{FF2B5EF4-FFF2-40B4-BE49-F238E27FC236}">
                  <a16:creationId xmlns:a16="http://schemas.microsoft.com/office/drawing/2014/main" id="{FE2E7497-1FDC-0145-B2D7-2BB113820948}"/>
                </a:ext>
                <a:ext uri="{C183D7F6-B498-43B3-948B-1728B52AA6E4}">
                  <adec:decorative xmlns:adec="http://schemas.microsoft.com/office/drawing/2017/decorative" val="1"/>
                </a:ext>
              </a:extLst>
            </p:cNvPr>
            <p:cNvSpPr txBox="1"/>
            <p:nvPr/>
          </p:nvSpPr>
          <p:spPr>
            <a:xfrm>
              <a:off x="10311587" y="3127363"/>
              <a:ext cx="1230594" cy="338554"/>
            </a:xfrm>
            <a:prstGeom prst="rect">
              <a:avLst/>
            </a:prstGeom>
            <a:noFill/>
          </p:spPr>
          <p:txBody>
            <a:bodyPr wrap="non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Game Tech</a:t>
              </a:r>
            </a:p>
          </p:txBody>
        </p:sp>
        <p:pic>
          <p:nvPicPr>
            <p:cNvPr id="84" name="Graphic 83">
              <a:extLst>
                <a:ext uri="{FF2B5EF4-FFF2-40B4-BE49-F238E27FC236}">
                  <a16:creationId xmlns:a16="http://schemas.microsoft.com/office/drawing/2014/main" id="{76CC1574-4316-8745-88E7-3574F726783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4445410" y="5111309"/>
              <a:ext cx="726853" cy="708032"/>
            </a:xfrm>
            <a:prstGeom prst="rect">
              <a:avLst/>
            </a:prstGeom>
          </p:spPr>
        </p:pic>
        <p:sp>
          <p:nvSpPr>
            <p:cNvPr id="85" name="TextBox 84">
              <a:extLst>
                <a:ext uri="{FF2B5EF4-FFF2-40B4-BE49-F238E27FC236}">
                  <a16:creationId xmlns:a16="http://schemas.microsoft.com/office/drawing/2014/main" id="{FC1AE6D1-1709-DB47-ACAF-728627BE89DC}"/>
                </a:ext>
                <a:ext uri="{C183D7F6-B498-43B3-948B-1728B52AA6E4}">
                  <adec:decorative xmlns:adec="http://schemas.microsoft.com/office/drawing/2017/decorative" val="1"/>
                </a:ext>
              </a:extLst>
            </p:cNvPr>
            <p:cNvSpPr txBox="1"/>
            <p:nvPr/>
          </p:nvSpPr>
          <p:spPr>
            <a:xfrm>
              <a:off x="4352622" y="5800937"/>
              <a:ext cx="912429" cy="338554"/>
            </a:xfrm>
            <a:prstGeom prst="rect">
              <a:avLst/>
            </a:prstGeom>
            <a:noFill/>
          </p:spPr>
          <p:txBody>
            <a:bodyPr wrap="non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Satellite</a:t>
              </a:r>
            </a:p>
          </p:txBody>
        </p:sp>
        <p:pic>
          <p:nvPicPr>
            <p:cNvPr id="87" name="Graphic 86">
              <a:extLst>
                <a:ext uri="{FF2B5EF4-FFF2-40B4-BE49-F238E27FC236}">
                  <a16:creationId xmlns:a16="http://schemas.microsoft.com/office/drawing/2014/main" id="{2B0359D4-DCEE-9C46-85B9-EF49B7C5B03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2738408" y="2450078"/>
              <a:ext cx="726853" cy="708032"/>
            </a:xfrm>
            <a:prstGeom prst="rect">
              <a:avLst/>
            </a:prstGeom>
          </p:spPr>
        </p:pic>
        <p:sp>
          <p:nvSpPr>
            <p:cNvPr id="88" name="TextBox 87">
              <a:extLst>
                <a:ext uri="{FF2B5EF4-FFF2-40B4-BE49-F238E27FC236}">
                  <a16:creationId xmlns:a16="http://schemas.microsoft.com/office/drawing/2014/main" id="{E236F9FE-3225-8A45-9D6B-F8A8FEDF5E43}"/>
                </a:ext>
                <a:ext uri="{C183D7F6-B498-43B3-948B-1728B52AA6E4}">
                  <adec:decorative xmlns:adec="http://schemas.microsoft.com/office/drawing/2017/decorative" val="1"/>
                </a:ext>
              </a:extLst>
            </p:cNvPr>
            <p:cNvSpPr txBox="1"/>
            <p:nvPr/>
          </p:nvSpPr>
          <p:spPr>
            <a:xfrm>
              <a:off x="2428413" y="3104490"/>
              <a:ext cx="1346844" cy="584775"/>
            </a:xfrm>
            <a:prstGeom prst="rect">
              <a:avLst/>
            </a:prstGeom>
            <a:noFill/>
          </p:spPr>
          <p:txBody>
            <a:bodyPr wrap="non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Customer </a:t>
              </a:r>
              <a:br>
                <a:rPr lang="en-US" sz="1600" kern="1200" dirty="0">
                  <a:solidFill>
                    <a:srgbClr val="000000"/>
                  </a:solidFill>
                  <a:ea typeface="Amazon Ember Light" panose="020B0403020204020204" pitchFamily="34" charset="0"/>
                  <a:cs typeface="Amazon Ember Light" panose="020B0403020204020204" pitchFamily="34" charset="0"/>
                </a:rPr>
              </a:br>
              <a:r>
                <a:rPr lang="en-US" sz="1600" kern="1200" dirty="0">
                  <a:solidFill>
                    <a:srgbClr val="000000"/>
                  </a:solidFill>
                  <a:ea typeface="Amazon Ember Light" panose="020B0403020204020204" pitchFamily="34" charset="0"/>
                  <a:cs typeface="Amazon Ember Light" panose="020B0403020204020204" pitchFamily="34" charset="0"/>
                </a:rPr>
                <a:t>Engagement</a:t>
              </a:r>
            </a:p>
          </p:txBody>
        </p:sp>
        <p:pic>
          <p:nvPicPr>
            <p:cNvPr id="91" name="Graphic 90">
              <a:extLst>
                <a:ext uri="{FF2B5EF4-FFF2-40B4-BE49-F238E27FC236}">
                  <a16:creationId xmlns:a16="http://schemas.microsoft.com/office/drawing/2014/main" id="{5849C4D0-7B51-A14F-8E95-A7A74E09D33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872471" y="2450078"/>
              <a:ext cx="726853" cy="708032"/>
            </a:xfrm>
            <a:prstGeom prst="rect">
              <a:avLst/>
            </a:prstGeom>
          </p:spPr>
        </p:pic>
        <p:sp>
          <p:nvSpPr>
            <p:cNvPr id="92" name="TextBox 91">
              <a:extLst>
                <a:ext uri="{FF2B5EF4-FFF2-40B4-BE49-F238E27FC236}">
                  <a16:creationId xmlns:a16="http://schemas.microsoft.com/office/drawing/2014/main" id="{9DBF4F11-9E41-514B-BC18-3125833A47B4}"/>
                </a:ext>
                <a:ext uri="{C183D7F6-B498-43B3-948B-1728B52AA6E4}">
                  <adec:decorative xmlns:adec="http://schemas.microsoft.com/office/drawing/2017/decorative" val="1"/>
                </a:ext>
              </a:extLst>
            </p:cNvPr>
            <p:cNvSpPr txBox="1"/>
            <p:nvPr/>
          </p:nvSpPr>
          <p:spPr>
            <a:xfrm>
              <a:off x="544842" y="3106809"/>
              <a:ext cx="1382110" cy="584775"/>
            </a:xfrm>
            <a:prstGeom prst="rect">
              <a:avLst/>
            </a:prstGeom>
            <a:noFill/>
          </p:spPr>
          <p:txBody>
            <a:bodyPr wrap="non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Cost </a:t>
              </a:r>
              <a:br>
                <a:rPr lang="en-US" sz="1600" kern="1200" dirty="0">
                  <a:solidFill>
                    <a:srgbClr val="000000"/>
                  </a:solidFill>
                  <a:ea typeface="Amazon Ember Light" panose="020B0403020204020204" pitchFamily="34" charset="0"/>
                  <a:cs typeface="Amazon Ember Light" panose="020B0403020204020204" pitchFamily="34" charset="0"/>
                </a:rPr>
              </a:br>
              <a:r>
                <a:rPr lang="en-US" sz="1600" kern="1200" dirty="0">
                  <a:solidFill>
                    <a:srgbClr val="000000"/>
                  </a:solidFill>
                  <a:ea typeface="Amazon Ember Light" panose="020B0403020204020204" pitchFamily="34" charset="0"/>
                  <a:cs typeface="Amazon Ember Light" panose="020B0403020204020204" pitchFamily="34" charset="0"/>
                </a:rPr>
                <a:t>Management</a:t>
              </a:r>
            </a:p>
          </p:txBody>
        </p:sp>
        <p:sp>
          <p:nvSpPr>
            <p:cNvPr id="96" name="Rectangle 95">
              <a:extLst>
                <a:ext uri="{FF2B5EF4-FFF2-40B4-BE49-F238E27FC236}">
                  <a16:creationId xmlns:a16="http://schemas.microsoft.com/office/drawing/2014/main" id="{724E1064-3771-FA45-A869-F78924D20C6A}"/>
                </a:ext>
                <a:ext uri="{C183D7F6-B498-43B3-948B-1728B52AA6E4}">
                  <adec:decorative xmlns:adec="http://schemas.microsoft.com/office/drawing/2017/decorative" val="1"/>
                </a:ext>
              </a:extLst>
            </p:cNvPr>
            <p:cNvSpPr/>
            <p:nvPr/>
          </p:nvSpPr>
          <p:spPr>
            <a:xfrm>
              <a:off x="9918798" y="1218195"/>
              <a:ext cx="2016172" cy="1226188"/>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p>
          </p:txBody>
        </p:sp>
        <p:sp>
          <p:nvSpPr>
            <p:cNvPr id="97" name="Rectangle 96">
              <a:extLst>
                <a:ext uri="{FF2B5EF4-FFF2-40B4-BE49-F238E27FC236}">
                  <a16:creationId xmlns:a16="http://schemas.microsoft.com/office/drawing/2014/main" id="{99540499-7213-0347-97B1-E1F61767D82D}"/>
                </a:ext>
                <a:ext uri="{C183D7F6-B498-43B3-948B-1728B52AA6E4}">
                  <adec:decorative xmlns:adec="http://schemas.microsoft.com/office/drawing/2017/decorative" val="1"/>
                </a:ext>
              </a:extLst>
            </p:cNvPr>
            <p:cNvSpPr/>
            <p:nvPr/>
          </p:nvSpPr>
          <p:spPr>
            <a:xfrm>
              <a:off x="3800752" y="2424016"/>
              <a:ext cx="2016172" cy="1226188"/>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p>
          </p:txBody>
        </p:sp>
        <p:sp>
          <p:nvSpPr>
            <p:cNvPr id="98" name="Rectangle 97">
              <a:extLst>
                <a:ext uri="{FF2B5EF4-FFF2-40B4-BE49-F238E27FC236}">
                  <a16:creationId xmlns:a16="http://schemas.microsoft.com/office/drawing/2014/main" id="{B314A9FB-27A8-8E46-A1C5-A50639E56263}"/>
                </a:ext>
                <a:ext uri="{C183D7F6-B498-43B3-948B-1728B52AA6E4}">
                  <adec:decorative xmlns:adec="http://schemas.microsoft.com/office/drawing/2017/decorative" val="1"/>
                </a:ext>
              </a:extLst>
            </p:cNvPr>
            <p:cNvSpPr/>
            <p:nvPr/>
          </p:nvSpPr>
          <p:spPr>
            <a:xfrm>
              <a:off x="227812" y="2429206"/>
              <a:ext cx="2016172" cy="1226188"/>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solidFill>
                  <a:schemeClr val="tx1"/>
                </a:solidFill>
              </a:endParaRPr>
            </a:p>
          </p:txBody>
        </p:sp>
        <p:sp>
          <p:nvSpPr>
            <p:cNvPr id="100" name="Rectangle 99">
              <a:extLst>
                <a:ext uri="{FF2B5EF4-FFF2-40B4-BE49-F238E27FC236}">
                  <a16:creationId xmlns:a16="http://schemas.microsoft.com/office/drawing/2014/main" id="{6F2C8F17-9ED4-FB4F-845C-10F2364DC4E3}"/>
                </a:ext>
                <a:ext uri="{C183D7F6-B498-43B3-948B-1728B52AA6E4}">
                  <adec:decorative xmlns:adec="http://schemas.microsoft.com/office/drawing/2017/decorative" val="1"/>
                </a:ext>
              </a:extLst>
            </p:cNvPr>
            <p:cNvSpPr/>
            <p:nvPr/>
          </p:nvSpPr>
          <p:spPr>
            <a:xfrm>
              <a:off x="227812" y="5116450"/>
              <a:ext cx="2016172" cy="1226188"/>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p>
          </p:txBody>
        </p:sp>
        <p:sp>
          <p:nvSpPr>
            <p:cNvPr id="101" name="Rectangle 100">
              <a:extLst>
                <a:ext uri="{FF2B5EF4-FFF2-40B4-BE49-F238E27FC236}">
                  <a16:creationId xmlns:a16="http://schemas.microsoft.com/office/drawing/2014/main" id="{65FD5D28-50D8-344A-AACB-BD38101686FC}"/>
                </a:ext>
                <a:ext uri="{C183D7F6-B498-43B3-948B-1728B52AA6E4}">
                  <adec:decorative xmlns:adec="http://schemas.microsoft.com/office/drawing/2017/decorative" val="1"/>
                </a:ext>
              </a:extLst>
            </p:cNvPr>
            <p:cNvSpPr/>
            <p:nvPr/>
          </p:nvSpPr>
          <p:spPr>
            <a:xfrm>
              <a:off x="5879094" y="5120796"/>
              <a:ext cx="2016172" cy="1226188"/>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p>
          </p:txBody>
        </p:sp>
        <p:sp>
          <p:nvSpPr>
            <p:cNvPr id="102" name="Rectangle 101">
              <a:extLst>
                <a:ext uri="{FF2B5EF4-FFF2-40B4-BE49-F238E27FC236}">
                  <a16:creationId xmlns:a16="http://schemas.microsoft.com/office/drawing/2014/main" id="{3D59AB44-15C9-DA47-A4C9-87D8560542DF}"/>
                </a:ext>
                <a:ext uri="{C183D7F6-B498-43B3-948B-1728B52AA6E4}">
                  <adec:decorative xmlns:adec="http://schemas.microsoft.com/office/drawing/2017/decorative" val="1"/>
                </a:ext>
              </a:extLst>
            </p:cNvPr>
            <p:cNvSpPr/>
            <p:nvPr/>
          </p:nvSpPr>
          <p:spPr>
            <a:xfrm>
              <a:off x="8060361" y="5130162"/>
              <a:ext cx="2016172" cy="1226188"/>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p>
          </p:txBody>
        </p:sp>
        <p:pic>
          <p:nvPicPr>
            <p:cNvPr id="103" name="Graphic 102">
              <a:extLst>
                <a:ext uri="{FF2B5EF4-FFF2-40B4-BE49-F238E27FC236}">
                  <a16:creationId xmlns:a16="http://schemas.microsoft.com/office/drawing/2014/main" id="{5C507252-74D0-604D-9FAD-68677C42BA8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2738408" y="5111309"/>
              <a:ext cx="726853" cy="708032"/>
            </a:xfrm>
            <a:prstGeom prst="rect">
              <a:avLst/>
            </a:prstGeom>
          </p:spPr>
        </p:pic>
        <p:sp>
          <p:nvSpPr>
            <p:cNvPr id="104" name="TextBox 103">
              <a:extLst>
                <a:ext uri="{FF2B5EF4-FFF2-40B4-BE49-F238E27FC236}">
                  <a16:creationId xmlns:a16="http://schemas.microsoft.com/office/drawing/2014/main" id="{5F651800-958E-7444-9606-DF8A840194B7}"/>
                </a:ext>
                <a:ext uri="{C183D7F6-B498-43B3-948B-1728B52AA6E4}">
                  <adec:decorative xmlns:adec="http://schemas.microsoft.com/office/drawing/2017/decorative" val="1"/>
                </a:ext>
              </a:extLst>
            </p:cNvPr>
            <p:cNvSpPr txBox="1"/>
            <p:nvPr/>
          </p:nvSpPr>
          <p:spPr>
            <a:xfrm>
              <a:off x="2611157" y="5800937"/>
              <a:ext cx="981358" cy="338554"/>
            </a:xfrm>
            <a:prstGeom prst="rect">
              <a:avLst/>
            </a:prstGeom>
            <a:noFill/>
          </p:spPr>
          <p:txBody>
            <a:bodyPr wrap="none" rtlCol="0">
              <a:spAutoFit/>
            </a:bodyPr>
            <a:lstStyle/>
            <a:p>
              <a:pPr algn="ctr" rtl="0">
                <a:defRPr/>
              </a:pPr>
              <a:r>
                <a:rPr lang="en-US" sz="1600" kern="1200" dirty="0">
                  <a:solidFill>
                    <a:srgbClr val="000000"/>
                  </a:solidFill>
                  <a:ea typeface="Amazon Ember Light" panose="020B0403020204020204" pitchFamily="34" charset="0"/>
                  <a:cs typeface="Amazon Ember Light" panose="020B0403020204020204" pitchFamily="34" charset="0"/>
                </a:rPr>
                <a:t>Robotics</a:t>
              </a:r>
            </a:p>
          </p:txBody>
        </p:sp>
        <p:sp>
          <p:nvSpPr>
            <p:cNvPr id="105" name="Rectangle 104">
              <a:extLst>
                <a:ext uri="{FF2B5EF4-FFF2-40B4-BE49-F238E27FC236}">
                  <a16:creationId xmlns:a16="http://schemas.microsoft.com/office/drawing/2014/main" id="{47FB867A-CA2E-3E4D-9333-F8B974D99311}"/>
                </a:ext>
                <a:ext uri="{C183D7F6-B498-43B3-948B-1728B52AA6E4}">
                  <adec:decorative xmlns:adec="http://schemas.microsoft.com/office/drawing/2017/decorative" val="1"/>
                </a:ext>
              </a:extLst>
            </p:cNvPr>
            <p:cNvSpPr/>
            <p:nvPr/>
          </p:nvSpPr>
          <p:spPr>
            <a:xfrm>
              <a:off x="3800752" y="3780158"/>
              <a:ext cx="2016172" cy="1226188"/>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p>
          </p:txBody>
        </p:sp>
      </p:grpSp>
    </p:spTree>
    <p:custDataLst>
      <p:tags r:id="rId1"/>
    </p:custDataLst>
    <p:extLst>
      <p:ext uri="{BB962C8B-B14F-4D97-AF65-F5344CB8AC3E}">
        <p14:creationId xmlns:p14="http://schemas.microsoft.com/office/powerpoint/2010/main" val="20790840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3A82F6-8118-3DD8-9681-1B6AD92D9B80}"/>
              </a:ext>
            </a:extLst>
          </p:cNvPr>
          <p:cNvSpPr>
            <a:spLocks noGrp="1"/>
          </p:cNvSpPr>
          <p:nvPr>
            <p:ph type="sldNum" sz="quarter" idx="20"/>
          </p:nvPr>
        </p:nvSpPr>
        <p:spPr>
          <a:xfrm>
            <a:off x="11469389" y="6568410"/>
            <a:ext cx="484261" cy="265176"/>
          </a:xfrm>
          <a:prstGeom prst="rect">
            <a:avLst/>
          </a:prstGeom>
        </p:spPr>
        <p:txBody>
          <a:bodyPr vert="horz" lIns="0" tIns="72000" rIns="0" bIns="0" rtlCol="0" anchor="t" anchorCtr="0"/>
          <a:lstStyle>
            <a:defPPr>
              <a:defRPr lang="de-DE"/>
            </a:defPPr>
            <a:lvl1pPr algn="r" rtl="0" fontAlgn="base">
              <a:spcBef>
                <a:spcPct val="0"/>
              </a:spcBef>
              <a:spcAft>
                <a:spcPct val="0"/>
              </a:spcAft>
              <a:defRPr sz="1100" kern="1200">
                <a:solidFill>
                  <a:schemeClr val="tx2"/>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930176A1-BCF0-4712-97A6-6B495F55390B}" type="slidenum">
              <a:rPr lang="en-US" smtClean="0"/>
              <a:pPr/>
              <a:t>48</a:t>
            </a:fld>
            <a:endParaRPr lang="en-US"/>
          </a:p>
        </p:txBody>
      </p:sp>
      <p:sp>
        <p:nvSpPr>
          <p:cNvPr id="2" name="Title 1">
            <a:extLst>
              <a:ext uri="{FF2B5EF4-FFF2-40B4-BE49-F238E27FC236}">
                <a16:creationId xmlns:a16="http://schemas.microsoft.com/office/drawing/2014/main" id="{150887DF-8CBE-D149-A015-D6837BDC28A3}"/>
              </a:ext>
            </a:extLst>
          </p:cNvPr>
          <p:cNvSpPr>
            <a:spLocks noGrp="1"/>
          </p:cNvSpPr>
          <p:nvPr>
            <p:ph type="title"/>
          </p:nvPr>
        </p:nvSpPr>
        <p:spPr/>
        <p:txBody>
          <a:bodyPr/>
          <a:lstStyle/>
          <a:p>
            <a:r>
              <a:rPr lang="en-US" dirty="0"/>
              <a:t>Storage</a:t>
            </a:r>
          </a:p>
        </p:txBody>
      </p:sp>
      <p:sp>
        <p:nvSpPr>
          <p:cNvPr id="22" name="TextBox 21">
            <a:extLst>
              <a:ext uri="{FF2B5EF4-FFF2-40B4-BE49-F238E27FC236}">
                <a16:creationId xmlns:a16="http://schemas.microsoft.com/office/drawing/2014/main" id="{175EBD76-33FF-C249-857A-D5B03B431E46}"/>
              </a:ext>
            </a:extLst>
          </p:cNvPr>
          <p:cNvSpPr txBox="1"/>
          <p:nvPr/>
        </p:nvSpPr>
        <p:spPr>
          <a:xfrm>
            <a:off x="7504431" y="1767841"/>
            <a:ext cx="2887329" cy="461665"/>
          </a:xfrm>
          <a:prstGeom prst="rect">
            <a:avLst/>
          </a:prstGeom>
          <a:noFill/>
        </p:spPr>
        <p:txBody>
          <a:bodyPr wrap="none" rtlCol="0">
            <a:spAutoFit/>
          </a:bodyPr>
          <a:lstStyle/>
          <a:p>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AWS storage </a:t>
            </a:r>
            <a:r>
              <a:rPr lang="en-US" sz="2400" dirty="0">
                <a:latin typeface="Amazon Ember" panose="020B0603020204020204" pitchFamily="34" charset="0"/>
                <a:ea typeface="Amazon Ember" panose="020B0603020204020204" pitchFamily="34" charset="0"/>
                <a:cs typeface="Amazon Ember" panose="020B0603020204020204" pitchFamily="34" charset="0"/>
              </a:rPr>
              <a:t>services</a:t>
            </a:r>
          </a:p>
        </p:txBody>
      </p:sp>
      <p:sp>
        <p:nvSpPr>
          <p:cNvPr id="25" name="TextBox 24">
            <a:extLst>
              <a:ext uri="{FF2B5EF4-FFF2-40B4-BE49-F238E27FC236}">
                <a16:creationId xmlns:a16="http://schemas.microsoft.com/office/drawing/2014/main" id="{DB05E0FA-65E7-8948-82FB-DEF1ABDA01B1}"/>
              </a:ext>
            </a:extLst>
          </p:cNvPr>
          <p:cNvSpPr txBox="1"/>
          <p:nvPr/>
        </p:nvSpPr>
        <p:spPr>
          <a:xfrm>
            <a:off x="6983827" y="3811993"/>
            <a:ext cx="1975088"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Elastic Block Store (Amazon EBS)</a:t>
            </a:r>
          </a:p>
        </p:txBody>
      </p:sp>
      <p:sp>
        <p:nvSpPr>
          <p:cNvPr id="26" name="TextBox 25">
            <a:extLst>
              <a:ext uri="{FF2B5EF4-FFF2-40B4-BE49-F238E27FC236}">
                <a16:creationId xmlns:a16="http://schemas.microsoft.com/office/drawing/2014/main" id="{5815BD1B-544F-2E4B-9156-EE3B009596B7}"/>
              </a:ext>
            </a:extLst>
          </p:cNvPr>
          <p:cNvSpPr txBox="1"/>
          <p:nvPr/>
        </p:nvSpPr>
        <p:spPr>
          <a:xfrm>
            <a:off x="9065304" y="3824184"/>
            <a:ext cx="1946816" cy="830997"/>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Elastic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File System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(Amazon EFS)</a:t>
            </a:r>
          </a:p>
        </p:txBody>
      </p:sp>
      <p:sp>
        <p:nvSpPr>
          <p:cNvPr id="30" name="TextBox 29">
            <a:extLst>
              <a:ext uri="{FF2B5EF4-FFF2-40B4-BE49-F238E27FC236}">
                <a16:creationId xmlns:a16="http://schemas.microsoft.com/office/drawing/2014/main" id="{77B8B150-4F32-1A44-A83C-6A4B24ACB6ED}"/>
              </a:ext>
            </a:extLst>
          </p:cNvPr>
          <p:cNvSpPr txBox="1"/>
          <p:nvPr/>
        </p:nvSpPr>
        <p:spPr>
          <a:xfrm>
            <a:off x="4698338" y="3811993"/>
            <a:ext cx="2303123"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Simple Storage Service (Amazon S3)</a:t>
            </a:r>
          </a:p>
        </p:txBody>
      </p:sp>
      <p:grpSp>
        <p:nvGrpSpPr>
          <p:cNvPr id="5" name="Group 4">
            <a:extLst>
              <a:ext uri="{FF2B5EF4-FFF2-40B4-BE49-F238E27FC236}">
                <a16:creationId xmlns:a16="http://schemas.microsoft.com/office/drawing/2014/main" id="{55A8CB0C-C993-B2CD-5C2B-60C1B9EF2652}"/>
              </a:ext>
              <a:ext uri="{C183D7F6-B498-43B3-948B-1728B52AA6E4}">
                <adec:decorative xmlns:adec="http://schemas.microsoft.com/office/drawing/2017/decorative" val="1"/>
              </a:ext>
            </a:extLst>
          </p:cNvPr>
          <p:cNvGrpSpPr/>
          <p:nvPr/>
        </p:nvGrpSpPr>
        <p:grpSpPr>
          <a:xfrm>
            <a:off x="5513794" y="1645920"/>
            <a:ext cx="4896396" cy="4003040"/>
            <a:chOff x="5507444" y="1645920"/>
            <a:chExt cx="4896396" cy="4003040"/>
          </a:xfrm>
        </p:grpSpPr>
        <p:pic>
          <p:nvPicPr>
            <p:cNvPr id="23" name="Graphic 22">
              <a:extLst>
                <a:ext uri="{FF2B5EF4-FFF2-40B4-BE49-F238E27FC236}">
                  <a16:creationId xmlns:a16="http://schemas.microsoft.com/office/drawing/2014/main" id="{F5AD848D-096D-AD48-A30B-8B76641E39A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04724" y="1645920"/>
              <a:ext cx="952500" cy="952500"/>
            </a:xfrm>
            <a:prstGeom prst="rect">
              <a:avLst/>
            </a:prstGeom>
          </p:spPr>
        </p:pic>
        <p:pic>
          <p:nvPicPr>
            <p:cNvPr id="27" name="Graphic 26">
              <a:extLst>
                <a:ext uri="{FF2B5EF4-FFF2-40B4-BE49-F238E27FC236}">
                  <a16:creationId xmlns:a16="http://schemas.microsoft.com/office/drawing/2014/main" id="{0770DF43-F769-9740-9FF7-040471A010B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30162" y="3108960"/>
              <a:ext cx="711200" cy="711200"/>
            </a:xfrm>
            <a:prstGeom prst="rect">
              <a:avLst/>
            </a:prstGeom>
          </p:spPr>
        </p:pic>
        <p:pic>
          <p:nvPicPr>
            <p:cNvPr id="28" name="Graphic 27">
              <a:extLst>
                <a:ext uri="{FF2B5EF4-FFF2-40B4-BE49-F238E27FC236}">
                  <a16:creationId xmlns:a16="http://schemas.microsoft.com/office/drawing/2014/main" id="{F4C2B7D8-41E8-AB4E-A0FC-0DFC8AE5E36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92640" y="3108960"/>
              <a:ext cx="711200" cy="711200"/>
            </a:xfrm>
            <a:prstGeom prst="rect">
              <a:avLst/>
            </a:prstGeom>
          </p:spPr>
        </p:pic>
        <p:pic>
          <p:nvPicPr>
            <p:cNvPr id="29" name="Graphic 28">
              <a:extLst>
                <a:ext uri="{FF2B5EF4-FFF2-40B4-BE49-F238E27FC236}">
                  <a16:creationId xmlns:a16="http://schemas.microsoft.com/office/drawing/2014/main" id="{F28C9015-696E-B64C-AB86-98805962E1C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07444" y="3108960"/>
              <a:ext cx="711200" cy="711200"/>
            </a:xfrm>
            <a:prstGeom prst="rect">
              <a:avLst/>
            </a:prstGeom>
          </p:spPr>
        </p:pic>
        <p:pic>
          <p:nvPicPr>
            <p:cNvPr id="31" name="Graphic 30">
              <a:extLst>
                <a:ext uri="{FF2B5EF4-FFF2-40B4-BE49-F238E27FC236}">
                  <a16:creationId xmlns:a16="http://schemas.microsoft.com/office/drawing/2014/main" id="{95687B1B-A788-4749-B9D8-7CC5B452420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634069" y="4937760"/>
              <a:ext cx="711200" cy="711200"/>
            </a:xfrm>
            <a:prstGeom prst="rect">
              <a:avLst/>
            </a:prstGeom>
          </p:spPr>
        </p:pic>
      </p:grpSp>
      <p:sp>
        <p:nvSpPr>
          <p:cNvPr id="32" name="TextBox 31">
            <a:extLst>
              <a:ext uri="{FF2B5EF4-FFF2-40B4-BE49-F238E27FC236}">
                <a16:creationId xmlns:a16="http://schemas.microsoft.com/office/drawing/2014/main" id="{66B140F6-4831-9244-9196-77012FEA7B09}"/>
              </a:ext>
            </a:extLst>
          </p:cNvPr>
          <p:cNvSpPr txBox="1"/>
          <p:nvPr/>
        </p:nvSpPr>
        <p:spPr>
          <a:xfrm>
            <a:off x="5832875" y="5659466"/>
            <a:ext cx="2301904" cy="830997"/>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Simple Storage Service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Glacier</a:t>
            </a:r>
          </a:p>
        </p:txBody>
      </p:sp>
      <p:pic>
        <p:nvPicPr>
          <p:cNvPr id="36" name="Picture 35">
            <a:extLst>
              <a:ext uri="{FF2B5EF4-FFF2-40B4-BE49-F238E27FC236}">
                <a16:creationId xmlns:a16="http://schemas.microsoft.com/office/drawing/2014/main" id="{1016A4DB-0173-2445-A6C9-B54A39F67EF5}"/>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554990" y="1645920"/>
            <a:ext cx="3657600" cy="2743200"/>
          </a:xfrm>
          <a:prstGeom prst="rect">
            <a:avLst/>
          </a:prstGeom>
        </p:spPr>
      </p:pic>
      <p:sp>
        <p:nvSpPr>
          <p:cNvPr id="37" name="Footer Placeholder 3">
            <a:extLst>
              <a:ext uri="{FF2B5EF4-FFF2-40B4-BE49-F238E27FC236}">
                <a16:creationId xmlns:a16="http://schemas.microsoft.com/office/drawing/2014/main" id="{8FB6F866-474F-6942-9BCE-AD7FBF7BE088}"/>
              </a:ext>
              <a:ext uri="{C183D7F6-B498-43B3-948B-1728B52AA6E4}">
                <adec:decorative xmlns:adec="http://schemas.microsoft.com/office/drawing/2017/decorative" val="1"/>
              </a:ext>
            </a:extLst>
          </p:cNvPr>
          <p:cNvSpPr txBox="1">
            <a:spLocks/>
          </p:cNvSpPr>
          <p:nvPr/>
        </p:nvSpPr>
        <p:spPr>
          <a:xfrm>
            <a:off x="425451" y="4463772"/>
            <a:ext cx="4055556" cy="179217"/>
          </a:xfrm>
          <a:prstGeom prst="rect">
            <a:avLst/>
          </a:prstGeom>
        </p:spPr>
        <p:txBody>
          <a:bodyPr vert="horz" lIns="91440" tIns="45720" rIns="91440" bIns="45720" rtlCol="0" anchor="ctr"/>
          <a:lstStyle>
            <a:defPPr>
              <a:defRPr lang="en-US"/>
            </a:defPPr>
            <a:lvl1pPr marL="0" algn="l"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Photo from https://</a:t>
            </a:r>
            <a:r>
              <a:rPr lang="en-US" dirty="0" err="1"/>
              <a:t>www.pexels.com</a:t>
            </a:r>
            <a:r>
              <a:rPr lang="en-US" dirty="0"/>
              <a:t>/photo/black-and-grey-device-159282/</a:t>
            </a:r>
          </a:p>
        </p:txBody>
      </p:sp>
    </p:spTree>
    <p:custDataLst>
      <p:tags r:id="rId1"/>
    </p:custDataLst>
    <p:extLst>
      <p:ext uri="{BB962C8B-B14F-4D97-AF65-F5344CB8AC3E}">
        <p14:creationId xmlns:p14="http://schemas.microsoft.com/office/powerpoint/2010/main" val="9663400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001D3DC-FEC8-1019-BB99-69D1C224CB2F}"/>
              </a:ext>
            </a:extLst>
          </p:cNvPr>
          <p:cNvSpPr>
            <a:spLocks noGrp="1"/>
          </p:cNvSpPr>
          <p:nvPr>
            <p:ph type="sldNum" sz="quarter" idx="20"/>
          </p:nvPr>
        </p:nvSpPr>
        <p:spPr>
          <a:xfrm>
            <a:off x="11469389" y="6568410"/>
            <a:ext cx="484261" cy="265176"/>
          </a:xfrm>
          <a:prstGeom prst="rect">
            <a:avLst/>
          </a:prstGeom>
        </p:spPr>
        <p:txBody>
          <a:bodyPr vert="horz" lIns="0" tIns="72000" rIns="0" bIns="0" rtlCol="0" anchor="t" anchorCtr="0"/>
          <a:lstStyle>
            <a:defPPr>
              <a:defRPr lang="de-DE"/>
            </a:defPPr>
            <a:lvl1pPr algn="r" rtl="0" fontAlgn="base">
              <a:spcBef>
                <a:spcPct val="0"/>
              </a:spcBef>
              <a:spcAft>
                <a:spcPct val="0"/>
              </a:spcAft>
              <a:defRPr sz="1100" kern="1200">
                <a:solidFill>
                  <a:schemeClr val="tx2"/>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930176A1-BCF0-4712-97A6-6B495F55390B}" type="slidenum">
              <a:rPr lang="en-US" smtClean="0"/>
              <a:pPr/>
              <a:t>49</a:t>
            </a:fld>
            <a:endParaRPr lang="en-US"/>
          </a:p>
        </p:txBody>
      </p:sp>
      <p:sp>
        <p:nvSpPr>
          <p:cNvPr id="2" name="Title 1">
            <a:extLst>
              <a:ext uri="{FF2B5EF4-FFF2-40B4-BE49-F238E27FC236}">
                <a16:creationId xmlns:a16="http://schemas.microsoft.com/office/drawing/2014/main" id="{8022C665-1496-E04B-9833-4210992DF353}"/>
              </a:ext>
            </a:extLst>
          </p:cNvPr>
          <p:cNvSpPr>
            <a:spLocks noGrp="1"/>
          </p:cNvSpPr>
          <p:nvPr>
            <p:ph type="title"/>
          </p:nvPr>
        </p:nvSpPr>
        <p:spPr/>
        <p:txBody>
          <a:bodyPr/>
          <a:lstStyle/>
          <a:p>
            <a:r>
              <a:rPr lang="en-US" dirty="0"/>
              <a:t>Compute Services</a:t>
            </a:r>
          </a:p>
        </p:txBody>
      </p:sp>
      <p:sp>
        <p:nvSpPr>
          <p:cNvPr id="24" name="TextBox 23">
            <a:extLst>
              <a:ext uri="{FF2B5EF4-FFF2-40B4-BE49-F238E27FC236}">
                <a16:creationId xmlns:a16="http://schemas.microsoft.com/office/drawing/2014/main" id="{9B76C446-310D-D844-BD03-DEB6DCF1FF8F}"/>
              </a:ext>
            </a:extLst>
          </p:cNvPr>
          <p:cNvSpPr txBox="1"/>
          <p:nvPr/>
        </p:nvSpPr>
        <p:spPr>
          <a:xfrm>
            <a:off x="7523211" y="1767841"/>
            <a:ext cx="3100529" cy="461665"/>
          </a:xfrm>
          <a:prstGeom prst="rect">
            <a:avLst/>
          </a:prstGeom>
          <a:noFill/>
        </p:spPr>
        <p:txBody>
          <a:bodyPr wrap="none" rtlCol="0">
            <a:spAutoFit/>
          </a:bodyPr>
          <a:lstStyle/>
          <a:p>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AWS Compute </a:t>
            </a:r>
            <a:r>
              <a:rPr lang="en-US" sz="2400" dirty="0">
                <a:latin typeface="Amazon Ember" panose="020B0603020204020204" pitchFamily="34" charset="0"/>
                <a:ea typeface="Amazon Ember" panose="020B0603020204020204" pitchFamily="34" charset="0"/>
                <a:cs typeface="Amazon Ember" panose="020B0603020204020204" pitchFamily="34" charset="0"/>
              </a:rPr>
              <a:t>services</a:t>
            </a:r>
          </a:p>
        </p:txBody>
      </p:sp>
      <p:sp>
        <p:nvSpPr>
          <p:cNvPr id="6" name="TextBox 5">
            <a:extLst>
              <a:ext uri="{FF2B5EF4-FFF2-40B4-BE49-F238E27FC236}">
                <a16:creationId xmlns:a16="http://schemas.microsoft.com/office/drawing/2014/main" id="{73E783F2-02D4-E640-B7D7-06500347C1CA}"/>
              </a:ext>
            </a:extLst>
          </p:cNvPr>
          <p:cNvSpPr txBox="1"/>
          <p:nvPr/>
        </p:nvSpPr>
        <p:spPr>
          <a:xfrm>
            <a:off x="5120454" y="3833271"/>
            <a:ext cx="1513305"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EC2</a:t>
            </a:r>
          </a:p>
        </p:txBody>
      </p:sp>
      <p:sp>
        <p:nvSpPr>
          <p:cNvPr id="9" name="TextBox 8">
            <a:extLst>
              <a:ext uri="{FF2B5EF4-FFF2-40B4-BE49-F238E27FC236}">
                <a16:creationId xmlns:a16="http://schemas.microsoft.com/office/drawing/2014/main" id="{2134AB42-E5B9-534F-91C3-CC6235D69904}"/>
              </a:ext>
            </a:extLst>
          </p:cNvPr>
          <p:cNvSpPr txBox="1"/>
          <p:nvPr/>
        </p:nvSpPr>
        <p:spPr>
          <a:xfrm>
            <a:off x="6866336" y="3821999"/>
            <a:ext cx="1352391"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EC2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Auto Scaling</a:t>
            </a:r>
          </a:p>
        </p:txBody>
      </p:sp>
      <p:sp>
        <p:nvSpPr>
          <p:cNvPr id="11" name="TextBox 10">
            <a:extLst>
              <a:ext uri="{FF2B5EF4-FFF2-40B4-BE49-F238E27FC236}">
                <a16:creationId xmlns:a16="http://schemas.microsoft.com/office/drawing/2014/main" id="{305E3A61-31C5-CF4E-95BD-700D125AEE04}"/>
              </a:ext>
            </a:extLst>
          </p:cNvPr>
          <p:cNvSpPr txBox="1"/>
          <p:nvPr/>
        </p:nvSpPr>
        <p:spPr>
          <a:xfrm>
            <a:off x="8293925" y="3789561"/>
            <a:ext cx="1828060" cy="830997"/>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Elastic Container Service (Amazon ECS)</a:t>
            </a:r>
          </a:p>
        </p:txBody>
      </p:sp>
      <p:sp>
        <p:nvSpPr>
          <p:cNvPr id="13" name="TextBox 12">
            <a:extLst>
              <a:ext uri="{FF2B5EF4-FFF2-40B4-BE49-F238E27FC236}">
                <a16:creationId xmlns:a16="http://schemas.microsoft.com/office/drawing/2014/main" id="{7FF9B5EE-18FB-7E40-A786-5E3182319AD9}"/>
              </a:ext>
            </a:extLst>
          </p:cNvPr>
          <p:cNvSpPr txBox="1"/>
          <p:nvPr/>
        </p:nvSpPr>
        <p:spPr>
          <a:xfrm>
            <a:off x="5200912" y="5642360"/>
            <a:ext cx="1352391"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Elastic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Beanstalk</a:t>
            </a:r>
          </a:p>
        </p:txBody>
      </p:sp>
      <p:sp>
        <p:nvSpPr>
          <p:cNvPr id="15" name="TextBox 14">
            <a:extLst>
              <a:ext uri="{FF2B5EF4-FFF2-40B4-BE49-F238E27FC236}">
                <a16:creationId xmlns:a16="http://schemas.microsoft.com/office/drawing/2014/main" id="{B1410AB9-7F99-4F43-89CA-988B0920A106}"/>
              </a:ext>
            </a:extLst>
          </p:cNvPr>
          <p:cNvSpPr txBox="1"/>
          <p:nvPr/>
        </p:nvSpPr>
        <p:spPr>
          <a:xfrm>
            <a:off x="6866335" y="5674588"/>
            <a:ext cx="1352391"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Lambda</a:t>
            </a:r>
          </a:p>
        </p:txBody>
      </p:sp>
      <p:sp>
        <p:nvSpPr>
          <p:cNvPr id="17" name="TextBox 16">
            <a:extLst>
              <a:ext uri="{FF2B5EF4-FFF2-40B4-BE49-F238E27FC236}">
                <a16:creationId xmlns:a16="http://schemas.microsoft.com/office/drawing/2014/main" id="{8FE0FDC4-1758-FA49-8759-2D569358BBA4}"/>
              </a:ext>
            </a:extLst>
          </p:cNvPr>
          <p:cNvSpPr txBox="1"/>
          <p:nvPr/>
        </p:nvSpPr>
        <p:spPr>
          <a:xfrm>
            <a:off x="8179911" y="5664438"/>
            <a:ext cx="1994145" cy="830997"/>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Elastic Kubernetes Service (Amazon EKS)</a:t>
            </a:r>
            <a:endParaRPr lang="en-US" sz="1200"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28" name="Picture 27">
            <a:extLst>
              <a:ext uri="{FF2B5EF4-FFF2-40B4-BE49-F238E27FC236}">
                <a16:creationId xmlns:a16="http://schemas.microsoft.com/office/drawing/2014/main" id="{F95B9AD2-D45D-524D-9466-71B826040B67}"/>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54991" y="1645920"/>
            <a:ext cx="3775587" cy="2560320"/>
          </a:xfrm>
          <a:prstGeom prst="rect">
            <a:avLst/>
          </a:prstGeom>
        </p:spPr>
      </p:pic>
      <p:sp>
        <p:nvSpPr>
          <p:cNvPr id="29" name="Footer Placeholder 3">
            <a:extLst>
              <a:ext uri="{FF2B5EF4-FFF2-40B4-BE49-F238E27FC236}">
                <a16:creationId xmlns:a16="http://schemas.microsoft.com/office/drawing/2014/main" id="{A47F20A5-7E8A-1F42-BA35-AE435D152481}"/>
              </a:ext>
              <a:ext uri="{C183D7F6-B498-43B3-948B-1728B52AA6E4}">
                <adec:decorative xmlns:adec="http://schemas.microsoft.com/office/drawing/2017/decorative" val="1"/>
              </a:ext>
            </a:extLst>
          </p:cNvPr>
          <p:cNvSpPr txBox="1">
            <a:spLocks/>
          </p:cNvSpPr>
          <p:nvPr/>
        </p:nvSpPr>
        <p:spPr>
          <a:xfrm>
            <a:off x="487010" y="4206240"/>
            <a:ext cx="4196781" cy="463930"/>
          </a:xfrm>
          <a:prstGeom prst="rect">
            <a:avLst/>
          </a:prstGeom>
        </p:spPr>
        <p:txBody>
          <a:bodyPr vert="horz" lIns="91440" tIns="45720" rIns="91440" bIns="45720" rtlCol="0" anchor="ctr"/>
          <a:lstStyle>
            <a:defPPr>
              <a:defRPr lang="en-US"/>
            </a:defPPr>
            <a:lvl1pPr marL="0" algn="l"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Photo from https://</a:t>
            </a:r>
            <a:r>
              <a:rPr lang="en-US" dirty="0" err="1"/>
              <a:t>www.pexels.com</a:t>
            </a:r>
            <a:r>
              <a:rPr lang="en-US" dirty="0"/>
              <a:t>/photo/technology-computer-lines-board-50711/</a:t>
            </a:r>
          </a:p>
        </p:txBody>
      </p:sp>
      <p:sp>
        <p:nvSpPr>
          <p:cNvPr id="26" name="TextBox 25">
            <a:extLst>
              <a:ext uri="{FF2B5EF4-FFF2-40B4-BE49-F238E27FC236}">
                <a16:creationId xmlns:a16="http://schemas.microsoft.com/office/drawing/2014/main" id="{7B65081C-4504-6541-9B6A-EF386C3DD8D3}"/>
              </a:ext>
            </a:extLst>
          </p:cNvPr>
          <p:cNvSpPr txBox="1"/>
          <p:nvPr/>
        </p:nvSpPr>
        <p:spPr>
          <a:xfrm>
            <a:off x="10204004" y="3833272"/>
            <a:ext cx="1859765"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EC2 Container Registry</a:t>
            </a:r>
          </a:p>
        </p:txBody>
      </p:sp>
      <p:sp>
        <p:nvSpPr>
          <p:cNvPr id="30" name="TextBox 29">
            <a:extLst>
              <a:ext uri="{FF2B5EF4-FFF2-40B4-BE49-F238E27FC236}">
                <a16:creationId xmlns:a16="http://schemas.microsoft.com/office/drawing/2014/main" id="{FE7CEDAE-DE31-644E-A34E-3A2669C8510A}"/>
              </a:ext>
            </a:extLst>
          </p:cNvPr>
          <p:cNvSpPr txBox="1"/>
          <p:nvPr/>
        </p:nvSpPr>
        <p:spPr>
          <a:xfrm>
            <a:off x="10346691" y="5697840"/>
            <a:ext cx="1352391"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a:t>
            </a:r>
            <a:r>
              <a:rPr lang="en-US" sz="1600" dirty="0" err="1">
                <a:latin typeface="Amazon Ember" panose="020B0603020204020204" pitchFamily="34" charset="0"/>
                <a:ea typeface="Amazon Ember" panose="020B0603020204020204" pitchFamily="34" charset="0"/>
                <a:cs typeface="Amazon Ember" panose="020B0603020204020204" pitchFamily="34" charset="0"/>
              </a:rPr>
              <a:t>Fargate</a:t>
            </a:r>
            <a:endParaRPr lang="en-US" sz="1600" dirty="0">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8" name="Group 7">
            <a:extLst>
              <a:ext uri="{FF2B5EF4-FFF2-40B4-BE49-F238E27FC236}">
                <a16:creationId xmlns:a16="http://schemas.microsoft.com/office/drawing/2014/main" id="{FFD36E2B-481C-1D88-6057-AD817D9EDEC9}"/>
              </a:ext>
              <a:ext uri="{C183D7F6-B498-43B3-948B-1728B52AA6E4}">
                <adec:decorative xmlns:adec="http://schemas.microsoft.com/office/drawing/2017/decorative" val="1"/>
              </a:ext>
            </a:extLst>
          </p:cNvPr>
          <p:cNvGrpSpPr/>
          <p:nvPr/>
        </p:nvGrpSpPr>
        <p:grpSpPr>
          <a:xfrm>
            <a:off x="5490536" y="1645920"/>
            <a:ext cx="5955787" cy="4028668"/>
            <a:chOff x="5484185" y="1645920"/>
            <a:chExt cx="5955787" cy="4028668"/>
          </a:xfrm>
        </p:grpSpPr>
        <p:pic>
          <p:nvPicPr>
            <p:cNvPr id="5" name="Graphic 4">
              <a:extLst>
                <a:ext uri="{FF2B5EF4-FFF2-40B4-BE49-F238E27FC236}">
                  <a16:creationId xmlns:a16="http://schemas.microsoft.com/office/drawing/2014/main" id="{467476B8-F9E0-204D-9D5F-CF449329187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83680" y="1645920"/>
              <a:ext cx="952500" cy="952500"/>
            </a:xfrm>
            <a:prstGeom prst="rect">
              <a:avLst/>
            </a:prstGeom>
          </p:spPr>
        </p:pic>
        <p:pic>
          <p:nvPicPr>
            <p:cNvPr id="7" name="Graphic 6">
              <a:extLst>
                <a:ext uri="{FF2B5EF4-FFF2-40B4-BE49-F238E27FC236}">
                  <a16:creationId xmlns:a16="http://schemas.microsoft.com/office/drawing/2014/main" id="{07C8713D-BF19-814C-A7A6-88AB7C2F7BF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86400" y="3108960"/>
              <a:ext cx="711200" cy="711200"/>
            </a:xfrm>
            <a:prstGeom prst="rect">
              <a:avLst/>
            </a:prstGeom>
          </p:spPr>
        </p:pic>
        <p:pic>
          <p:nvPicPr>
            <p:cNvPr id="10" name="Graphic 9">
              <a:extLst>
                <a:ext uri="{FF2B5EF4-FFF2-40B4-BE49-F238E27FC236}">
                  <a16:creationId xmlns:a16="http://schemas.microsoft.com/office/drawing/2014/main" id="{B83AC237-52BF-1D42-A9AA-92AED9A9113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49609" y="3108960"/>
              <a:ext cx="711200" cy="711200"/>
            </a:xfrm>
            <a:prstGeom prst="rect">
              <a:avLst/>
            </a:prstGeom>
          </p:spPr>
        </p:pic>
        <p:pic>
          <p:nvPicPr>
            <p:cNvPr id="12" name="Graphic 11">
              <a:extLst>
                <a:ext uri="{FF2B5EF4-FFF2-40B4-BE49-F238E27FC236}">
                  <a16:creationId xmlns:a16="http://schemas.microsoft.com/office/drawing/2014/main" id="{AB85EAA8-3311-5D47-AF6F-A69CB790277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815033" y="3108960"/>
              <a:ext cx="711200" cy="711200"/>
            </a:xfrm>
            <a:prstGeom prst="rect">
              <a:avLst/>
            </a:prstGeom>
          </p:spPr>
        </p:pic>
        <p:pic>
          <p:nvPicPr>
            <p:cNvPr id="14" name="Graphic 13">
              <a:extLst>
                <a:ext uri="{FF2B5EF4-FFF2-40B4-BE49-F238E27FC236}">
                  <a16:creationId xmlns:a16="http://schemas.microsoft.com/office/drawing/2014/main" id="{D18A85BB-3AAC-9642-AEC9-2EF03139119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484185" y="4937760"/>
              <a:ext cx="711200" cy="711200"/>
            </a:xfrm>
            <a:prstGeom prst="rect">
              <a:avLst/>
            </a:prstGeom>
          </p:spPr>
        </p:pic>
        <p:pic>
          <p:nvPicPr>
            <p:cNvPr id="16" name="Graphic 15">
              <a:extLst>
                <a:ext uri="{FF2B5EF4-FFF2-40B4-BE49-F238E27FC236}">
                  <a16:creationId xmlns:a16="http://schemas.microsoft.com/office/drawing/2014/main" id="{6AEFBB74-E736-3141-AE1E-936FF86B566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149609" y="4937760"/>
              <a:ext cx="711200" cy="711200"/>
            </a:xfrm>
            <a:prstGeom prst="rect">
              <a:avLst/>
            </a:prstGeom>
          </p:spPr>
        </p:pic>
        <p:pic>
          <p:nvPicPr>
            <p:cNvPr id="18" name="Graphic 17">
              <a:extLst>
                <a:ext uri="{FF2B5EF4-FFF2-40B4-BE49-F238E27FC236}">
                  <a16:creationId xmlns:a16="http://schemas.microsoft.com/office/drawing/2014/main" id="{0FFE239B-41D2-0549-AB6C-2F8FFC05E9E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815033" y="4937760"/>
              <a:ext cx="711200" cy="711200"/>
            </a:xfrm>
            <a:prstGeom prst="rect">
              <a:avLst/>
            </a:prstGeom>
          </p:spPr>
        </p:pic>
        <p:pic>
          <p:nvPicPr>
            <p:cNvPr id="27" name="Graphic 26">
              <a:extLst>
                <a:ext uri="{FF2B5EF4-FFF2-40B4-BE49-F238E27FC236}">
                  <a16:creationId xmlns:a16="http://schemas.microsoft.com/office/drawing/2014/main" id="{18997595-C48E-754B-A7AF-5F93BA7B74F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728772" y="3108960"/>
              <a:ext cx="711200" cy="711200"/>
            </a:xfrm>
            <a:prstGeom prst="rect">
              <a:avLst/>
            </a:prstGeom>
          </p:spPr>
        </p:pic>
        <p:pic>
          <p:nvPicPr>
            <p:cNvPr id="31" name="Graphic 30">
              <a:extLst>
                <a:ext uri="{FF2B5EF4-FFF2-40B4-BE49-F238E27FC236}">
                  <a16:creationId xmlns:a16="http://schemas.microsoft.com/office/drawing/2014/main" id="{CF61E6DB-5A07-E54A-BF98-CD97D72D9F4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685448" y="4963388"/>
              <a:ext cx="711200" cy="711200"/>
            </a:xfrm>
            <a:prstGeom prst="rect">
              <a:avLst/>
            </a:prstGeom>
          </p:spPr>
        </p:pic>
      </p:grpSp>
    </p:spTree>
    <p:custDataLst>
      <p:tags r:id="rId1"/>
    </p:custDataLst>
    <p:extLst>
      <p:ext uri="{BB962C8B-B14F-4D97-AF65-F5344CB8AC3E}">
        <p14:creationId xmlns:p14="http://schemas.microsoft.com/office/powerpoint/2010/main" val="608807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F6EDAE2-DD84-0741-8437-A782FBC8E5AF}"/>
              </a:ext>
            </a:extLst>
          </p:cNvPr>
          <p:cNvSpPr>
            <a:spLocks noGrp="1"/>
          </p:cNvSpPr>
          <p:nvPr>
            <p:ph type="sldNum" sz="quarter" idx="20"/>
          </p:nvPr>
        </p:nvSpPr>
        <p:spPr>
          <a:xfrm>
            <a:off x="11469389" y="6568410"/>
            <a:ext cx="484261" cy="265176"/>
          </a:xfrm>
          <a:prstGeom prst="rect">
            <a:avLst/>
          </a:prstGeom>
        </p:spPr>
        <p:txBody>
          <a:bodyPr vert="horz" lIns="0" tIns="72000" rIns="0" bIns="0" rtlCol="0" anchor="t" anchorCtr="0"/>
          <a:lstStyle>
            <a:defPPr>
              <a:defRPr lang="de-DE"/>
            </a:defPPr>
            <a:lvl1pPr algn="r" rtl="0" fontAlgn="base">
              <a:spcBef>
                <a:spcPct val="0"/>
              </a:spcBef>
              <a:spcAft>
                <a:spcPct val="0"/>
              </a:spcAft>
              <a:defRPr sz="1100" kern="1200">
                <a:solidFill>
                  <a:schemeClr val="tx2"/>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930176A1-BCF0-4712-97A6-6B495F55390B}" type="slidenum">
              <a:rPr lang="en-US" smtClean="0"/>
              <a:pPr/>
              <a:t>50</a:t>
            </a:fld>
            <a:endParaRPr lang="en-US"/>
          </a:p>
        </p:txBody>
      </p:sp>
      <p:sp>
        <p:nvSpPr>
          <p:cNvPr id="2" name="Title 1">
            <a:extLst>
              <a:ext uri="{FF2B5EF4-FFF2-40B4-BE49-F238E27FC236}">
                <a16:creationId xmlns:a16="http://schemas.microsoft.com/office/drawing/2014/main" id="{BA344AC1-0E26-F949-B275-265A0C4F157F}"/>
              </a:ext>
            </a:extLst>
          </p:cNvPr>
          <p:cNvSpPr>
            <a:spLocks noGrp="1"/>
          </p:cNvSpPr>
          <p:nvPr>
            <p:ph type="title"/>
          </p:nvPr>
        </p:nvSpPr>
        <p:spPr/>
        <p:txBody>
          <a:bodyPr/>
          <a:lstStyle/>
          <a:p>
            <a:r>
              <a:rPr lang="en-US" dirty="0"/>
              <a:t>Databases</a:t>
            </a:r>
          </a:p>
        </p:txBody>
      </p:sp>
      <p:sp>
        <p:nvSpPr>
          <p:cNvPr id="23" name="TextBox 22">
            <a:extLst>
              <a:ext uri="{FF2B5EF4-FFF2-40B4-BE49-F238E27FC236}">
                <a16:creationId xmlns:a16="http://schemas.microsoft.com/office/drawing/2014/main" id="{EBC4E005-B8AD-0C41-9D04-B965E9E6DCE1}"/>
              </a:ext>
            </a:extLst>
          </p:cNvPr>
          <p:cNvSpPr txBox="1"/>
          <p:nvPr/>
        </p:nvSpPr>
        <p:spPr>
          <a:xfrm>
            <a:off x="7492239" y="1767841"/>
            <a:ext cx="3130985" cy="461665"/>
          </a:xfrm>
          <a:prstGeom prst="rect">
            <a:avLst/>
          </a:prstGeom>
          <a:noFill/>
        </p:spPr>
        <p:txBody>
          <a:bodyPr wrap="none" rtlCol="0">
            <a:spAutoFit/>
          </a:bodyPr>
          <a:lstStyle/>
          <a:p>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AWS Database </a:t>
            </a:r>
            <a:r>
              <a:rPr lang="en-US" sz="2400" dirty="0">
                <a:latin typeface="Amazon Ember" panose="020B0603020204020204" pitchFamily="34" charset="0"/>
                <a:ea typeface="Amazon Ember" panose="020B0603020204020204" pitchFamily="34" charset="0"/>
                <a:cs typeface="Amazon Ember" panose="020B0603020204020204" pitchFamily="34" charset="0"/>
              </a:rPr>
              <a:t>services</a:t>
            </a:r>
          </a:p>
        </p:txBody>
      </p:sp>
      <p:sp>
        <p:nvSpPr>
          <p:cNvPr id="25" name="TextBox 24">
            <a:extLst>
              <a:ext uri="{FF2B5EF4-FFF2-40B4-BE49-F238E27FC236}">
                <a16:creationId xmlns:a16="http://schemas.microsoft.com/office/drawing/2014/main" id="{9E3B7899-2698-8649-9ED8-099DFA657624}"/>
              </a:ext>
            </a:extLst>
          </p:cNvPr>
          <p:cNvSpPr txBox="1"/>
          <p:nvPr/>
        </p:nvSpPr>
        <p:spPr>
          <a:xfrm>
            <a:off x="4875054" y="3818579"/>
            <a:ext cx="1947581"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Relational Database Service</a:t>
            </a:r>
          </a:p>
        </p:txBody>
      </p:sp>
      <p:sp>
        <p:nvSpPr>
          <p:cNvPr id="27" name="TextBox 26">
            <a:extLst>
              <a:ext uri="{FF2B5EF4-FFF2-40B4-BE49-F238E27FC236}">
                <a16:creationId xmlns:a16="http://schemas.microsoft.com/office/drawing/2014/main" id="{E76A11BC-CE21-2E43-8B1D-9EDFB69F8E0F}"/>
              </a:ext>
            </a:extLst>
          </p:cNvPr>
          <p:cNvSpPr txBox="1"/>
          <p:nvPr/>
        </p:nvSpPr>
        <p:spPr>
          <a:xfrm>
            <a:off x="7163846" y="3818578"/>
            <a:ext cx="1657401"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Aurora</a:t>
            </a:r>
          </a:p>
        </p:txBody>
      </p:sp>
      <p:sp>
        <p:nvSpPr>
          <p:cNvPr id="29" name="TextBox 28">
            <a:extLst>
              <a:ext uri="{FF2B5EF4-FFF2-40B4-BE49-F238E27FC236}">
                <a16:creationId xmlns:a16="http://schemas.microsoft.com/office/drawing/2014/main" id="{B64A410A-048B-0245-908E-E61AB4B3A32A}"/>
              </a:ext>
            </a:extLst>
          </p:cNvPr>
          <p:cNvSpPr txBox="1"/>
          <p:nvPr/>
        </p:nvSpPr>
        <p:spPr>
          <a:xfrm>
            <a:off x="6270346" y="5491580"/>
            <a:ext cx="1506552"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DynamoDB</a:t>
            </a:r>
          </a:p>
        </p:txBody>
      </p:sp>
      <p:sp>
        <p:nvSpPr>
          <p:cNvPr id="31" name="TextBox 30">
            <a:extLst>
              <a:ext uri="{FF2B5EF4-FFF2-40B4-BE49-F238E27FC236}">
                <a16:creationId xmlns:a16="http://schemas.microsoft.com/office/drawing/2014/main" id="{C48EE7FB-79B1-8E40-AC10-BB13CCBE0961}"/>
              </a:ext>
            </a:extLst>
          </p:cNvPr>
          <p:cNvSpPr txBox="1"/>
          <p:nvPr/>
        </p:nvSpPr>
        <p:spPr>
          <a:xfrm>
            <a:off x="9209113" y="3843168"/>
            <a:ext cx="1657401"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Redshift</a:t>
            </a:r>
          </a:p>
        </p:txBody>
      </p:sp>
      <p:grpSp>
        <p:nvGrpSpPr>
          <p:cNvPr id="5" name="Group 4">
            <a:extLst>
              <a:ext uri="{FF2B5EF4-FFF2-40B4-BE49-F238E27FC236}">
                <a16:creationId xmlns:a16="http://schemas.microsoft.com/office/drawing/2014/main" id="{FE361AFC-1C4A-F22B-0E61-E0209EFA9D74}"/>
              </a:ext>
              <a:ext uri="{C183D7F6-B498-43B3-948B-1728B52AA6E4}">
                <adec:decorative xmlns:adec="http://schemas.microsoft.com/office/drawing/2017/decorative" val="1"/>
              </a:ext>
            </a:extLst>
          </p:cNvPr>
          <p:cNvGrpSpPr/>
          <p:nvPr/>
        </p:nvGrpSpPr>
        <p:grpSpPr>
          <a:xfrm>
            <a:off x="5492750" y="1645921"/>
            <a:ext cx="4917440" cy="3822651"/>
            <a:chOff x="5486400" y="1645920"/>
            <a:chExt cx="4917440" cy="3822651"/>
          </a:xfrm>
        </p:grpSpPr>
        <p:pic>
          <p:nvPicPr>
            <p:cNvPr id="24" name="Graphic 23">
              <a:extLst>
                <a:ext uri="{FF2B5EF4-FFF2-40B4-BE49-F238E27FC236}">
                  <a16:creationId xmlns:a16="http://schemas.microsoft.com/office/drawing/2014/main" id="{1F56F32F-009F-C945-B93B-3160EE4ADA2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83680" y="1645920"/>
              <a:ext cx="952500" cy="952500"/>
            </a:xfrm>
            <a:prstGeom prst="rect">
              <a:avLst/>
            </a:prstGeom>
          </p:spPr>
        </p:pic>
        <p:pic>
          <p:nvPicPr>
            <p:cNvPr id="26" name="Graphic 25">
              <a:extLst>
                <a:ext uri="{FF2B5EF4-FFF2-40B4-BE49-F238E27FC236}">
                  <a16:creationId xmlns:a16="http://schemas.microsoft.com/office/drawing/2014/main" id="{10E4F61B-9CA4-4143-9D46-0CDA64F4308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86400" y="3108960"/>
              <a:ext cx="711200" cy="711200"/>
            </a:xfrm>
            <a:prstGeom prst="rect">
              <a:avLst/>
            </a:prstGeom>
          </p:spPr>
        </p:pic>
        <p:pic>
          <p:nvPicPr>
            <p:cNvPr id="28" name="Graphic 27">
              <a:extLst>
                <a:ext uri="{FF2B5EF4-FFF2-40B4-BE49-F238E27FC236}">
                  <a16:creationId xmlns:a16="http://schemas.microsoft.com/office/drawing/2014/main" id="{C99C7997-E425-9744-9A2D-E3E62A0470D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32192" y="3108960"/>
              <a:ext cx="711200" cy="711200"/>
            </a:xfrm>
            <a:prstGeom prst="rect">
              <a:avLst/>
            </a:prstGeom>
          </p:spPr>
        </p:pic>
        <p:pic>
          <p:nvPicPr>
            <p:cNvPr id="30" name="Graphic 29">
              <a:extLst>
                <a:ext uri="{FF2B5EF4-FFF2-40B4-BE49-F238E27FC236}">
                  <a16:creationId xmlns:a16="http://schemas.microsoft.com/office/drawing/2014/main" id="{B9F850C2-16F8-514E-B346-BFC0BE5F6F1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85134" y="4757371"/>
              <a:ext cx="711200" cy="711200"/>
            </a:xfrm>
            <a:prstGeom prst="rect">
              <a:avLst/>
            </a:prstGeom>
          </p:spPr>
        </p:pic>
        <p:pic>
          <p:nvPicPr>
            <p:cNvPr id="32" name="Graphic 31">
              <a:extLst>
                <a:ext uri="{FF2B5EF4-FFF2-40B4-BE49-F238E27FC236}">
                  <a16:creationId xmlns:a16="http://schemas.microsoft.com/office/drawing/2014/main" id="{FFED9F67-019A-2D4B-B61E-C0C81535BFB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692640" y="3108960"/>
              <a:ext cx="711200" cy="711200"/>
            </a:xfrm>
            <a:prstGeom prst="rect">
              <a:avLst/>
            </a:prstGeom>
          </p:spPr>
        </p:pic>
      </p:grpSp>
      <p:pic>
        <p:nvPicPr>
          <p:cNvPr id="39" name="Picture 38">
            <a:extLst>
              <a:ext uri="{FF2B5EF4-FFF2-40B4-BE49-F238E27FC236}">
                <a16:creationId xmlns:a16="http://schemas.microsoft.com/office/drawing/2014/main" id="{16662EF0-FCD1-024C-95E4-8DF782F721D4}"/>
              </a:ext>
              <a:ext uri="{C183D7F6-B498-43B3-948B-1728B52AA6E4}">
                <adec:decorative xmlns:adec="http://schemas.microsoft.com/office/drawing/2017/decorative" val="1"/>
              </a:ext>
            </a:extLst>
          </p:cNvPr>
          <p:cNvPicPr>
            <a:picLocks noChangeAspect="1"/>
          </p:cNvPicPr>
          <p:nvPr/>
        </p:nvPicPr>
        <p:blipFill rotWithShape="1">
          <a:blip r:embed="rId9"/>
          <a:srcRect r="69426"/>
          <a:stretch/>
        </p:blipFill>
        <p:spPr>
          <a:xfrm>
            <a:off x="558914" y="1635542"/>
            <a:ext cx="3200976" cy="4328715"/>
          </a:xfrm>
          <a:prstGeom prst="rect">
            <a:avLst/>
          </a:prstGeom>
        </p:spPr>
      </p:pic>
      <p:sp>
        <p:nvSpPr>
          <p:cNvPr id="40" name="Footer Placeholder 3">
            <a:extLst>
              <a:ext uri="{FF2B5EF4-FFF2-40B4-BE49-F238E27FC236}">
                <a16:creationId xmlns:a16="http://schemas.microsoft.com/office/drawing/2014/main" id="{32AFDBBA-C83B-9949-AE68-D04BCEC80960}"/>
              </a:ext>
              <a:ext uri="{C183D7F6-B498-43B3-948B-1728B52AA6E4}">
                <adec:decorative xmlns:adec="http://schemas.microsoft.com/office/drawing/2017/decorative" val="1"/>
              </a:ext>
            </a:extLst>
          </p:cNvPr>
          <p:cNvSpPr txBox="1">
            <a:spLocks/>
          </p:cNvSpPr>
          <p:nvPr/>
        </p:nvSpPr>
        <p:spPr>
          <a:xfrm>
            <a:off x="499033" y="5889144"/>
            <a:ext cx="4027635" cy="390306"/>
          </a:xfrm>
          <a:prstGeom prst="rect">
            <a:avLst/>
          </a:prstGeom>
        </p:spPr>
        <p:txBody>
          <a:bodyPr vert="horz" lIns="91440" tIns="45720" rIns="91440" bIns="45720" rtlCol="0" anchor="ctr"/>
          <a:lstStyle>
            <a:defPPr>
              <a:defRPr lang="en-US"/>
            </a:defPPr>
            <a:lvl1pPr marL="0" algn="l"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Photo from https://aws.amazon.com/compliance/data-center/data-centers/</a:t>
            </a:r>
          </a:p>
        </p:txBody>
      </p:sp>
    </p:spTree>
    <p:custDataLst>
      <p:tags r:id="rId1"/>
    </p:custDataLst>
    <p:extLst>
      <p:ext uri="{BB962C8B-B14F-4D97-AF65-F5344CB8AC3E}">
        <p14:creationId xmlns:p14="http://schemas.microsoft.com/office/powerpoint/2010/main" val="17881995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B1F344-8D3E-9188-59F3-1A4CA8140A38}"/>
              </a:ext>
            </a:extLst>
          </p:cNvPr>
          <p:cNvSpPr>
            <a:spLocks noGrp="1"/>
          </p:cNvSpPr>
          <p:nvPr>
            <p:ph type="sldNum" sz="quarter" idx="20"/>
          </p:nvPr>
        </p:nvSpPr>
        <p:spPr>
          <a:xfrm>
            <a:off x="11469389" y="6568410"/>
            <a:ext cx="484261" cy="265176"/>
          </a:xfrm>
          <a:prstGeom prst="rect">
            <a:avLst/>
          </a:prstGeom>
        </p:spPr>
        <p:txBody>
          <a:bodyPr vert="horz" lIns="0" tIns="72000" rIns="0" bIns="0" rtlCol="0" anchor="t" anchorCtr="0"/>
          <a:lstStyle>
            <a:defPPr>
              <a:defRPr lang="de-DE"/>
            </a:defPPr>
            <a:lvl1pPr algn="r" rtl="0" fontAlgn="base">
              <a:spcBef>
                <a:spcPct val="0"/>
              </a:spcBef>
              <a:spcAft>
                <a:spcPct val="0"/>
              </a:spcAft>
              <a:defRPr sz="1100" kern="1200">
                <a:solidFill>
                  <a:schemeClr val="tx2"/>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930176A1-BCF0-4712-97A6-6B495F55390B}" type="slidenum">
              <a:rPr lang="en-US" smtClean="0"/>
              <a:pPr/>
              <a:t>51</a:t>
            </a:fld>
            <a:endParaRPr lang="en-US"/>
          </a:p>
        </p:txBody>
      </p:sp>
      <p:sp>
        <p:nvSpPr>
          <p:cNvPr id="2" name="Title 1">
            <a:extLst>
              <a:ext uri="{FF2B5EF4-FFF2-40B4-BE49-F238E27FC236}">
                <a16:creationId xmlns:a16="http://schemas.microsoft.com/office/drawing/2014/main" id="{E8C4FD52-EA54-004E-8361-0551952C0DF6}"/>
              </a:ext>
            </a:extLst>
          </p:cNvPr>
          <p:cNvSpPr>
            <a:spLocks noGrp="1"/>
          </p:cNvSpPr>
          <p:nvPr>
            <p:ph type="title"/>
          </p:nvPr>
        </p:nvSpPr>
        <p:spPr>
          <a:xfrm>
            <a:off x="346049" y="1031239"/>
            <a:ext cx="9493490" cy="492443"/>
          </a:xfrm>
        </p:spPr>
        <p:txBody>
          <a:bodyPr/>
          <a:lstStyle/>
          <a:p>
            <a:r>
              <a:rPr lang="en-US" dirty="0"/>
              <a:t>Network und Content Delivery</a:t>
            </a:r>
          </a:p>
        </p:txBody>
      </p:sp>
      <p:sp>
        <p:nvSpPr>
          <p:cNvPr id="23" name="TextBox 22">
            <a:extLst>
              <a:ext uri="{FF2B5EF4-FFF2-40B4-BE49-F238E27FC236}">
                <a16:creationId xmlns:a16="http://schemas.microsoft.com/office/drawing/2014/main" id="{E5356EDA-D0E9-D543-BBEB-1E67954F4427}"/>
              </a:ext>
            </a:extLst>
          </p:cNvPr>
          <p:cNvSpPr txBox="1"/>
          <p:nvPr/>
        </p:nvSpPr>
        <p:spPr>
          <a:xfrm>
            <a:off x="7480047" y="1755649"/>
            <a:ext cx="3890809" cy="830997"/>
          </a:xfrm>
          <a:prstGeom prst="rect">
            <a:avLst/>
          </a:prstGeom>
          <a:noFill/>
        </p:spPr>
        <p:txBody>
          <a:bodyPr wrap="none" rtlCol="0">
            <a:spAutoFit/>
          </a:bodyPr>
          <a:lstStyle/>
          <a:p>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AWS networking </a:t>
            </a:r>
            <a:b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and content delivery </a:t>
            </a:r>
            <a:r>
              <a:rPr lang="en-US" sz="2400" dirty="0">
                <a:latin typeface="Amazon Ember" panose="020B0603020204020204" pitchFamily="34" charset="0"/>
                <a:ea typeface="Amazon Ember" panose="020B0603020204020204" pitchFamily="34" charset="0"/>
                <a:cs typeface="Amazon Ember" panose="020B0603020204020204" pitchFamily="34" charset="0"/>
              </a:rPr>
              <a:t>services</a:t>
            </a:r>
          </a:p>
        </p:txBody>
      </p:sp>
      <p:sp>
        <p:nvSpPr>
          <p:cNvPr id="25" name="TextBox 24">
            <a:extLst>
              <a:ext uri="{FF2B5EF4-FFF2-40B4-BE49-F238E27FC236}">
                <a16:creationId xmlns:a16="http://schemas.microsoft.com/office/drawing/2014/main" id="{6E9905E2-07ED-564F-8908-1A665E099B63}"/>
              </a:ext>
            </a:extLst>
          </p:cNvPr>
          <p:cNvSpPr txBox="1"/>
          <p:nvPr/>
        </p:nvSpPr>
        <p:spPr>
          <a:xfrm>
            <a:off x="4954779" y="3826115"/>
            <a:ext cx="1750977"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VPC</a:t>
            </a:r>
          </a:p>
        </p:txBody>
      </p:sp>
      <p:sp>
        <p:nvSpPr>
          <p:cNvPr id="27" name="TextBox 26">
            <a:extLst>
              <a:ext uri="{FF2B5EF4-FFF2-40B4-BE49-F238E27FC236}">
                <a16:creationId xmlns:a16="http://schemas.microsoft.com/office/drawing/2014/main" id="{4DDCCA6A-3A71-D94B-A074-14CD390BB5B9}"/>
              </a:ext>
            </a:extLst>
          </p:cNvPr>
          <p:cNvSpPr txBox="1"/>
          <p:nvPr/>
        </p:nvSpPr>
        <p:spPr>
          <a:xfrm>
            <a:off x="6779632" y="3837650"/>
            <a:ext cx="1593038"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Elastic Load Balancing</a:t>
            </a:r>
          </a:p>
        </p:txBody>
      </p:sp>
      <p:sp>
        <p:nvSpPr>
          <p:cNvPr id="29" name="TextBox 28">
            <a:extLst>
              <a:ext uri="{FF2B5EF4-FFF2-40B4-BE49-F238E27FC236}">
                <a16:creationId xmlns:a16="http://schemas.microsoft.com/office/drawing/2014/main" id="{DF4762DA-0EB5-CC46-91E8-BE5AEF003C36}"/>
              </a:ext>
            </a:extLst>
          </p:cNvPr>
          <p:cNvSpPr txBox="1"/>
          <p:nvPr/>
        </p:nvSpPr>
        <p:spPr>
          <a:xfrm>
            <a:off x="6846409" y="5670423"/>
            <a:ext cx="1435100"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Direct Connect</a:t>
            </a:r>
          </a:p>
        </p:txBody>
      </p:sp>
      <p:sp>
        <p:nvSpPr>
          <p:cNvPr id="31" name="TextBox 30">
            <a:extLst>
              <a:ext uri="{FF2B5EF4-FFF2-40B4-BE49-F238E27FC236}">
                <a16:creationId xmlns:a16="http://schemas.microsoft.com/office/drawing/2014/main" id="{BFE014C5-9B15-3B46-892D-34A95CEBFD93}"/>
              </a:ext>
            </a:extLst>
          </p:cNvPr>
          <p:cNvSpPr txBox="1"/>
          <p:nvPr/>
        </p:nvSpPr>
        <p:spPr>
          <a:xfrm>
            <a:off x="8620238" y="3836626"/>
            <a:ext cx="1219301"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CloudFront</a:t>
            </a:r>
          </a:p>
        </p:txBody>
      </p:sp>
      <p:sp>
        <p:nvSpPr>
          <p:cNvPr id="33" name="TextBox 32">
            <a:extLst>
              <a:ext uri="{FF2B5EF4-FFF2-40B4-BE49-F238E27FC236}">
                <a16:creationId xmlns:a16="http://schemas.microsoft.com/office/drawing/2014/main" id="{9C493014-3FC4-AD47-864B-53707B90E57D}"/>
              </a:ext>
            </a:extLst>
          </p:cNvPr>
          <p:cNvSpPr txBox="1"/>
          <p:nvPr/>
        </p:nvSpPr>
        <p:spPr>
          <a:xfrm>
            <a:off x="5306227" y="5661153"/>
            <a:ext cx="1101600"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Route 53</a:t>
            </a:r>
          </a:p>
        </p:txBody>
      </p:sp>
      <p:pic>
        <p:nvPicPr>
          <p:cNvPr id="38" name="Picture 37">
            <a:extLst>
              <a:ext uri="{FF2B5EF4-FFF2-40B4-BE49-F238E27FC236}">
                <a16:creationId xmlns:a16="http://schemas.microsoft.com/office/drawing/2014/main" id="{CF6E1BF3-7EA3-AE41-8837-EE6B4EE69EC9}"/>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12180" y="1684497"/>
            <a:ext cx="2926971" cy="4406900"/>
          </a:xfrm>
          <a:prstGeom prst="rect">
            <a:avLst/>
          </a:prstGeom>
        </p:spPr>
      </p:pic>
      <p:sp>
        <p:nvSpPr>
          <p:cNvPr id="39" name="Footer Placeholder 3">
            <a:extLst>
              <a:ext uri="{FF2B5EF4-FFF2-40B4-BE49-F238E27FC236}">
                <a16:creationId xmlns:a16="http://schemas.microsoft.com/office/drawing/2014/main" id="{E23CFD3D-DBDA-B34F-8CB7-BAF134F84583}"/>
              </a:ext>
              <a:ext uri="{C183D7F6-B498-43B3-948B-1728B52AA6E4}">
                <adec:decorative xmlns:adec="http://schemas.microsoft.com/office/drawing/2017/decorative" val="1"/>
              </a:ext>
            </a:extLst>
          </p:cNvPr>
          <p:cNvSpPr txBox="1">
            <a:spLocks/>
          </p:cNvSpPr>
          <p:nvPr/>
        </p:nvSpPr>
        <p:spPr>
          <a:xfrm>
            <a:off x="559865" y="6037919"/>
            <a:ext cx="3466692" cy="349964"/>
          </a:xfrm>
          <a:prstGeom prst="rect">
            <a:avLst/>
          </a:prstGeom>
        </p:spPr>
        <p:txBody>
          <a:bodyPr vert="horz" lIns="91440" tIns="45720" rIns="91440" bIns="45720" rtlCol="0" anchor="ctr"/>
          <a:lstStyle>
            <a:defPPr>
              <a:defRPr lang="en-US"/>
            </a:defPPr>
            <a:lvl1pPr marL="0" algn="l"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Photo by Umberto on Unsplash</a:t>
            </a:r>
          </a:p>
        </p:txBody>
      </p:sp>
      <p:sp>
        <p:nvSpPr>
          <p:cNvPr id="20" name="TextBox 19">
            <a:extLst>
              <a:ext uri="{FF2B5EF4-FFF2-40B4-BE49-F238E27FC236}">
                <a16:creationId xmlns:a16="http://schemas.microsoft.com/office/drawing/2014/main" id="{BB6A90D6-F30F-AC46-92B3-61AC98C64B2A}"/>
              </a:ext>
            </a:extLst>
          </p:cNvPr>
          <p:cNvSpPr txBox="1"/>
          <p:nvPr/>
        </p:nvSpPr>
        <p:spPr>
          <a:xfrm>
            <a:off x="10155368" y="3838120"/>
            <a:ext cx="1506552"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Transit </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Gateway </a:t>
            </a:r>
          </a:p>
        </p:txBody>
      </p:sp>
      <p:grpSp>
        <p:nvGrpSpPr>
          <p:cNvPr id="5" name="Group 4">
            <a:extLst>
              <a:ext uri="{FF2B5EF4-FFF2-40B4-BE49-F238E27FC236}">
                <a16:creationId xmlns:a16="http://schemas.microsoft.com/office/drawing/2014/main" id="{688DDBB1-2C35-CC60-851C-79604A41FC77}"/>
              </a:ext>
              <a:ext uri="{C183D7F6-B498-43B3-948B-1728B52AA6E4}">
                <adec:decorative xmlns:adec="http://schemas.microsoft.com/office/drawing/2017/decorative" val="1"/>
              </a:ext>
            </a:extLst>
          </p:cNvPr>
          <p:cNvGrpSpPr/>
          <p:nvPr/>
        </p:nvGrpSpPr>
        <p:grpSpPr>
          <a:xfrm>
            <a:off x="5492751" y="1645920"/>
            <a:ext cx="5777333" cy="4024502"/>
            <a:chOff x="5486400" y="1645920"/>
            <a:chExt cx="5777333" cy="4024502"/>
          </a:xfrm>
        </p:grpSpPr>
        <p:pic>
          <p:nvPicPr>
            <p:cNvPr id="24" name="Graphic 23">
              <a:extLst>
                <a:ext uri="{FF2B5EF4-FFF2-40B4-BE49-F238E27FC236}">
                  <a16:creationId xmlns:a16="http://schemas.microsoft.com/office/drawing/2014/main" id="{7F926598-9E96-E847-994F-B834679FFC7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83680" y="1645920"/>
              <a:ext cx="952500" cy="952500"/>
            </a:xfrm>
            <a:prstGeom prst="rect">
              <a:avLst/>
            </a:prstGeom>
          </p:spPr>
        </p:pic>
        <p:pic>
          <p:nvPicPr>
            <p:cNvPr id="26" name="Graphic 25">
              <a:extLst>
                <a:ext uri="{FF2B5EF4-FFF2-40B4-BE49-F238E27FC236}">
                  <a16:creationId xmlns:a16="http://schemas.microsoft.com/office/drawing/2014/main" id="{CAD9B01B-163A-EC40-92E4-31AD2D66A35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86400" y="3108960"/>
              <a:ext cx="711200" cy="711200"/>
            </a:xfrm>
            <a:prstGeom prst="rect">
              <a:avLst/>
            </a:prstGeom>
          </p:spPr>
        </p:pic>
        <p:pic>
          <p:nvPicPr>
            <p:cNvPr id="28" name="Graphic 27">
              <a:extLst>
                <a:ext uri="{FF2B5EF4-FFF2-40B4-BE49-F238E27FC236}">
                  <a16:creationId xmlns:a16="http://schemas.microsoft.com/office/drawing/2014/main" id="{CFE589AE-51B0-B744-BC69-AA0AD82CAE3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02009" y="3108960"/>
              <a:ext cx="711200" cy="711200"/>
            </a:xfrm>
            <a:prstGeom prst="rect">
              <a:avLst/>
            </a:prstGeom>
          </p:spPr>
        </p:pic>
        <p:pic>
          <p:nvPicPr>
            <p:cNvPr id="30" name="Graphic 29">
              <a:extLst>
                <a:ext uri="{FF2B5EF4-FFF2-40B4-BE49-F238E27FC236}">
                  <a16:creationId xmlns:a16="http://schemas.microsoft.com/office/drawing/2014/main" id="{586BB71A-AF7C-0D4B-A13C-F3CD6CBD75B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202009" y="4937760"/>
              <a:ext cx="711200" cy="711200"/>
            </a:xfrm>
            <a:prstGeom prst="rect">
              <a:avLst/>
            </a:prstGeom>
          </p:spPr>
        </p:pic>
        <p:pic>
          <p:nvPicPr>
            <p:cNvPr id="32" name="Graphic 31">
              <a:extLst>
                <a:ext uri="{FF2B5EF4-FFF2-40B4-BE49-F238E27FC236}">
                  <a16:creationId xmlns:a16="http://schemas.microsoft.com/office/drawing/2014/main" id="{CFD68B82-8B8A-5A40-9379-F23C1414535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877271" y="3108960"/>
              <a:ext cx="711200" cy="711200"/>
            </a:xfrm>
            <a:prstGeom prst="rect">
              <a:avLst/>
            </a:prstGeom>
          </p:spPr>
        </p:pic>
        <p:pic>
          <p:nvPicPr>
            <p:cNvPr id="34" name="Graphic 33">
              <a:extLst>
                <a:ext uri="{FF2B5EF4-FFF2-40B4-BE49-F238E27FC236}">
                  <a16:creationId xmlns:a16="http://schemas.microsoft.com/office/drawing/2014/main" id="{D687CA4C-B1EE-C446-A6F7-09C9BB5A050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486400" y="4937760"/>
              <a:ext cx="711200" cy="711200"/>
            </a:xfrm>
            <a:prstGeom prst="rect">
              <a:avLst/>
            </a:prstGeom>
          </p:spPr>
        </p:pic>
        <p:pic>
          <p:nvPicPr>
            <p:cNvPr id="21" name="Graphic 20">
              <a:extLst>
                <a:ext uri="{FF2B5EF4-FFF2-40B4-BE49-F238E27FC236}">
                  <a16:creationId xmlns:a16="http://schemas.microsoft.com/office/drawing/2014/main" id="{D33BED01-7717-1444-8C79-A9411878D1D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552533" y="3108960"/>
              <a:ext cx="711200" cy="711200"/>
            </a:xfrm>
            <a:prstGeom prst="rect">
              <a:avLst/>
            </a:prstGeom>
          </p:spPr>
        </p:pic>
        <p:pic>
          <p:nvPicPr>
            <p:cNvPr id="35" name="Graphic 34">
              <a:extLst>
                <a:ext uri="{FF2B5EF4-FFF2-40B4-BE49-F238E27FC236}">
                  <a16:creationId xmlns:a16="http://schemas.microsoft.com/office/drawing/2014/main" id="{606FA208-1F74-F944-BE39-C7EE59DAE4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881335" y="4959222"/>
              <a:ext cx="711200" cy="711200"/>
            </a:xfrm>
            <a:prstGeom prst="rect">
              <a:avLst/>
            </a:prstGeom>
          </p:spPr>
        </p:pic>
      </p:grpSp>
      <p:sp>
        <p:nvSpPr>
          <p:cNvPr id="22" name="TextBox 21">
            <a:extLst>
              <a:ext uri="{FF2B5EF4-FFF2-40B4-BE49-F238E27FC236}">
                <a16:creationId xmlns:a16="http://schemas.microsoft.com/office/drawing/2014/main" id="{1520BDD8-4D66-1745-BFB7-B9478795EEF6}"/>
              </a:ext>
            </a:extLst>
          </p:cNvPr>
          <p:cNvSpPr txBox="1"/>
          <p:nvPr/>
        </p:nvSpPr>
        <p:spPr>
          <a:xfrm>
            <a:off x="8507701" y="5670422"/>
            <a:ext cx="1435100"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VPN</a:t>
            </a:r>
          </a:p>
        </p:txBody>
      </p:sp>
    </p:spTree>
    <p:custDataLst>
      <p:tags r:id="rId1"/>
    </p:custDataLst>
    <p:extLst>
      <p:ext uri="{BB962C8B-B14F-4D97-AF65-F5344CB8AC3E}">
        <p14:creationId xmlns:p14="http://schemas.microsoft.com/office/powerpoint/2010/main" val="37687167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6226730-FC88-F7B7-A7A6-2B5006A8F2C0}"/>
              </a:ext>
            </a:extLst>
          </p:cNvPr>
          <p:cNvSpPr>
            <a:spLocks noGrp="1"/>
          </p:cNvSpPr>
          <p:nvPr>
            <p:ph type="sldNum" sz="quarter" idx="20"/>
          </p:nvPr>
        </p:nvSpPr>
        <p:spPr>
          <a:xfrm>
            <a:off x="11469389" y="6568410"/>
            <a:ext cx="484261" cy="265176"/>
          </a:xfrm>
          <a:prstGeom prst="rect">
            <a:avLst/>
          </a:prstGeom>
        </p:spPr>
        <p:txBody>
          <a:bodyPr vert="horz" lIns="0" tIns="72000" rIns="0" bIns="0" rtlCol="0" anchor="t" anchorCtr="0"/>
          <a:lstStyle>
            <a:defPPr>
              <a:defRPr lang="de-DE"/>
            </a:defPPr>
            <a:lvl1pPr algn="r" rtl="0" fontAlgn="base">
              <a:spcBef>
                <a:spcPct val="0"/>
              </a:spcBef>
              <a:spcAft>
                <a:spcPct val="0"/>
              </a:spcAft>
              <a:defRPr sz="1100" kern="1200">
                <a:solidFill>
                  <a:schemeClr val="tx2"/>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930176A1-BCF0-4712-97A6-6B495F55390B}" type="slidenum">
              <a:rPr lang="en-US" smtClean="0"/>
              <a:pPr/>
              <a:t>52</a:t>
            </a:fld>
            <a:endParaRPr lang="en-US"/>
          </a:p>
        </p:txBody>
      </p:sp>
      <p:sp>
        <p:nvSpPr>
          <p:cNvPr id="2" name="Title 1">
            <a:extLst>
              <a:ext uri="{FF2B5EF4-FFF2-40B4-BE49-F238E27FC236}">
                <a16:creationId xmlns:a16="http://schemas.microsoft.com/office/drawing/2014/main" id="{4BDAC32F-D250-5F41-941A-82FBF44637A0}"/>
              </a:ext>
            </a:extLst>
          </p:cNvPr>
          <p:cNvSpPr>
            <a:spLocks noGrp="1"/>
          </p:cNvSpPr>
          <p:nvPr>
            <p:ph type="title"/>
          </p:nvPr>
        </p:nvSpPr>
        <p:spPr/>
        <p:txBody>
          <a:bodyPr>
            <a:normAutofit/>
          </a:bodyPr>
          <a:lstStyle/>
          <a:p>
            <a:r>
              <a:rPr lang="en-US" dirty="0"/>
              <a:t>Security and IAM</a:t>
            </a:r>
          </a:p>
        </p:txBody>
      </p:sp>
      <p:sp>
        <p:nvSpPr>
          <p:cNvPr id="23" name="TextBox 22">
            <a:extLst>
              <a:ext uri="{FF2B5EF4-FFF2-40B4-BE49-F238E27FC236}">
                <a16:creationId xmlns:a16="http://schemas.microsoft.com/office/drawing/2014/main" id="{22030BD9-372D-BF44-B65F-49EEF2E9460A}"/>
              </a:ext>
            </a:extLst>
          </p:cNvPr>
          <p:cNvSpPr txBox="1"/>
          <p:nvPr/>
        </p:nvSpPr>
        <p:spPr>
          <a:xfrm>
            <a:off x="7467855" y="1743457"/>
            <a:ext cx="3260829" cy="830997"/>
          </a:xfrm>
          <a:prstGeom prst="rect">
            <a:avLst/>
          </a:prstGeom>
          <a:noFill/>
        </p:spPr>
        <p:txBody>
          <a:bodyPr wrap="none" rtlCol="0">
            <a:spAutoFit/>
          </a:bodyPr>
          <a:lstStyle/>
          <a:p>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AWS security, identity, </a:t>
            </a:r>
            <a:b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and compliance </a:t>
            </a:r>
            <a:r>
              <a:rPr lang="en-US" sz="2400" dirty="0">
                <a:latin typeface="Amazon Ember" panose="020B0603020204020204" pitchFamily="34" charset="0"/>
                <a:ea typeface="Amazon Ember" panose="020B0603020204020204" pitchFamily="34" charset="0"/>
                <a:cs typeface="Amazon Ember" panose="020B0603020204020204" pitchFamily="34" charset="0"/>
              </a:rPr>
              <a:t>services</a:t>
            </a:r>
          </a:p>
        </p:txBody>
      </p:sp>
      <p:sp>
        <p:nvSpPr>
          <p:cNvPr id="18" name="TextBox 17">
            <a:extLst>
              <a:ext uri="{FF2B5EF4-FFF2-40B4-BE49-F238E27FC236}">
                <a16:creationId xmlns:a16="http://schemas.microsoft.com/office/drawing/2014/main" id="{4237CD4F-DDD2-E047-8D7C-DC51A40D9ADE}"/>
              </a:ext>
            </a:extLst>
          </p:cNvPr>
          <p:cNvSpPr txBox="1"/>
          <p:nvPr/>
        </p:nvSpPr>
        <p:spPr>
          <a:xfrm>
            <a:off x="4620005" y="3839607"/>
            <a:ext cx="2436634"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Identity and Access Management (IAM)</a:t>
            </a:r>
          </a:p>
        </p:txBody>
      </p:sp>
      <p:sp>
        <p:nvSpPr>
          <p:cNvPr id="37" name="TextBox 36">
            <a:extLst>
              <a:ext uri="{FF2B5EF4-FFF2-40B4-BE49-F238E27FC236}">
                <a16:creationId xmlns:a16="http://schemas.microsoft.com/office/drawing/2014/main" id="{F8C1BB0D-46E0-794A-B244-471E3AFC1E35}"/>
              </a:ext>
            </a:extLst>
          </p:cNvPr>
          <p:cNvSpPr txBox="1"/>
          <p:nvPr/>
        </p:nvSpPr>
        <p:spPr>
          <a:xfrm>
            <a:off x="7193810" y="3840728"/>
            <a:ext cx="1532612"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Organizations</a:t>
            </a:r>
          </a:p>
        </p:txBody>
      </p:sp>
      <p:sp>
        <p:nvSpPr>
          <p:cNvPr id="25" name="TextBox 24">
            <a:extLst>
              <a:ext uri="{FF2B5EF4-FFF2-40B4-BE49-F238E27FC236}">
                <a16:creationId xmlns:a16="http://schemas.microsoft.com/office/drawing/2014/main" id="{D255EC4C-DE4C-B842-8C31-3AFBCA46EF23}"/>
              </a:ext>
            </a:extLst>
          </p:cNvPr>
          <p:cNvSpPr txBox="1"/>
          <p:nvPr/>
        </p:nvSpPr>
        <p:spPr>
          <a:xfrm>
            <a:off x="8973564" y="3834553"/>
            <a:ext cx="1877147"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Cognito</a:t>
            </a:r>
          </a:p>
        </p:txBody>
      </p:sp>
      <p:sp>
        <p:nvSpPr>
          <p:cNvPr id="27" name="TextBox 26">
            <a:extLst>
              <a:ext uri="{FF2B5EF4-FFF2-40B4-BE49-F238E27FC236}">
                <a16:creationId xmlns:a16="http://schemas.microsoft.com/office/drawing/2014/main" id="{3F37E38F-9995-1B4F-992F-2DF28D769921}"/>
              </a:ext>
            </a:extLst>
          </p:cNvPr>
          <p:cNvSpPr txBox="1"/>
          <p:nvPr/>
        </p:nvSpPr>
        <p:spPr>
          <a:xfrm>
            <a:off x="5065079" y="5672612"/>
            <a:ext cx="1556958"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Artifact</a:t>
            </a:r>
          </a:p>
        </p:txBody>
      </p:sp>
      <p:sp>
        <p:nvSpPr>
          <p:cNvPr id="20" name="TextBox 19">
            <a:extLst>
              <a:ext uri="{FF2B5EF4-FFF2-40B4-BE49-F238E27FC236}">
                <a16:creationId xmlns:a16="http://schemas.microsoft.com/office/drawing/2014/main" id="{2E964499-FF55-5645-9782-4FDB3A512644}"/>
              </a:ext>
            </a:extLst>
          </p:cNvPr>
          <p:cNvSpPr txBox="1"/>
          <p:nvPr/>
        </p:nvSpPr>
        <p:spPr>
          <a:xfrm>
            <a:off x="7178736" y="5648961"/>
            <a:ext cx="1556958" cy="830997"/>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Key </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Management Service </a:t>
            </a:r>
          </a:p>
        </p:txBody>
      </p:sp>
      <p:sp>
        <p:nvSpPr>
          <p:cNvPr id="29" name="TextBox 28">
            <a:extLst>
              <a:ext uri="{FF2B5EF4-FFF2-40B4-BE49-F238E27FC236}">
                <a16:creationId xmlns:a16="http://schemas.microsoft.com/office/drawing/2014/main" id="{696CA4BB-0C08-224E-9EBD-9D1240E68942}"/>
              </a:ext>
            </a:extLst>
          </p:cNvPr>
          <p:cNvSpPr txBox="1"/>
          <p:nvPr/>
        </p:nvSpPr>
        <p:spPr>
          <a:xfrm>
            <a:off x="9109274" y="5672612"/>
            <a:ext cx="1556958"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Shield</a:t>
            </a:r>
          </a:p>
        </p:txBody>
      </p:sp>
      <p:pic>
        <p:nvPicPr>
          <p:cNvPr id="36" name="Picture 35">
            <a:extLst>
              <a:ext uri="{FF2B5EF4-FFF2-40B4-BE49-F238E27FC236}">
                <a16:creationId xmlns:a16="http://schemas.microsoft.com/office/drawing/2014/main" id="{01DC9424-4559-374A-A8F8-36434D740361}"/>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54991" y="1645921"/>
            <a:ext cx="4065877" cy="2621187"/>
          </a:xfrm>
          <a:prstGeom prst="rect">
            <a:avLst/>
          </a:prstGeom>
        </p:spPr>
      </p:pic>
      <p:sp>
        <p:nvSpPr>
          <p:cNvPr id="38" name="Footer Placeholder 3">
            <a:extLst>
              <a:ext uri="{FF2B5EF4-FFF2-40B4-BE49-F238E27FC236}">
                <a16:creationId xmlns:a16="http://schemas.microsoft.com/office/drawing/2014/main" id="{F34DB7BB-F766-2144-AEF7-185AFF30D613}"/>
              </a:ext>
              <a:ext uri="{C183D7F6-B498-43B3-948B-1728B52AA6E4}">
                <adec:decorative xmlns:adec="http://schemas.microsoft.com/office/drawing/2017/decorative" val="1"/>
              </a:ext>
            </a:extLst>
          </p:cNvPr>
          <p:cNvSpPr txBox="1">
            <a:spLocks/>
          </p:cNvSpPr>
          <p:nvPr/>
        </p:nvSpPr>
        <p:spPr>
          <a:xfrm>
            <a:off x="474219" y="4294090"/>
            <a:ext cx="3786877" cy="182563"/>
          </a:xfrm>
          <a:prstGeom prst="rect">
            <a:avLst/>
          </a:prstGeom>
        </p:spPr>
        <p:txBody>
          <a:bodyPr vert="horz" lIns="91440" tIns="45720" rIns="91440" bIns="45720" rtlCol="0" anchor="ctr"/>
          <a:lstStyle>
            <a:defPPr>
              <a:defRPr lang="en-US"/>
            </a:defPPr>
            <a:lvl1pPr marL="0" algn="l"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Photo by Paweł Czerwiński on Unsplash</a:t>
            </a:r>
            <a:endParaRPr lang="en-US" sz="700" dirty="0"/>
          </a:p>
        </p:txBody>
      </p:sp>
      <p:grpSp>
        <p:nvGrpSpPr>
          <p:cNvPr id="5" name="Group 4">
            <a:extLst>
              <a:ext uri="{FF2B5EF4-FFF2-40B4-BE49-F238E27FC236}">
                <a16:creationId xmlns:a16="http://schemas.microsoft.com/office/drawing/2014/main" id="{5D3A12A7-A5C2-AAB6-FCEA-C1C909D6CB1D}"/>
              </a:ext>
              <a:ext uri="{C183D7F6-B498-43B3-948B-1728B52AA6E4}">
                <adec:decorative xmlns:adec="http://schemas.microsoft.com/office/drawing/2017/decorative" val="1"/>
              </a:ext>
            </a:extLst>
          </p:cNvPr>
          <p:cNvGrpSpPr/>
          <p:nvPr/>
        </p:nvGrpSpPr>
        <p:grpSpPr>
          <a:xfrm>
            <a:off x="5492751" y="1645920"/>
            <a:ext cx="4790695" cy="4003040"/>
            <a:chOff x="5486400" y="1645920"/>
            <a:chExt cx="4790695" cy="4003040"/>
          </a:xfrm>
        </p:grpSpPr>
        <p:pic>
          <p:nvPicPr>
            <p:cNvPr id="19" name="Graphic 18">
              <a:extLst>
                <a:ext uri="{FF2B5EF4-FFF2-40B4-BE49-F238E27FC236}">
                  <a16:creationId xmlns:a16="http://schemas.microsoft.com/office/drawing/2014/main" id="{C3651C94-FFC1-B84E-8B82-105D697D109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86400" y="3108960"/>
              <a:ext cx="711200" cy="711200"/>
            </a:xfrm>
            <a:prstGeom prst="rect">
              <a:avLst/>
            </a:prstGeom>
          </p:spPr>
        </p:pic>
        <p:pic>
          <p:nvPicPr>
            <p:cNvPr id="21" name="Graphic 20">
              <a:extLst>
                <a:ext uri="{FF2B5EF4-FFF2-40B4-BE49-F238E27FC236}">
                  <a16:creationId xmlns:a16="http://schemas.microsoft.com/office/drawing/2014/main" id="{C92F0947-4C87-9747-A97A-8CBAE3A2346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89520" y="4937760"/>
              <a:ext cx="711200" cy="711200"/>
            </a:xfrm>
            <a:prstGeom prst="rect">
              <a:avLst/>
            </a:prstGeom>
          </p:spPr>
        </p:pic>
        <p:pic>
          <p:nvPicPr>
            <p:cNvPr id="24" name="Graphic 23">
              <a:extLst>
                <a:ext uri="{FF2B5EF4-FFF2-40B4-BE49-F238E27FC236}">
                  <a16:creationId xmlns:a16="http://schemas.microsoft.com/office/drawing/2014/main" id="{69454258-DF60-2E40-9E12-4E3D4334B38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83680" y="1645920"/>
              <a:ext cx="952500" cy="952500"/>
            </a:xfrm>
            <a:prstGeom prst="rect">
              <a:avLst/>
            </a:prstGeom>
          </p:spPr>
        </p:pic>
        <p:pic>
          <p:nvPicPr>
            <p:cNvPr id="39" name="Graphic 38">
              <a:extLst>
                <a:ext uri="{FF2B5EF4-FFF2-40B4-BE49-F238E27FC236}">
                  <a16:creationId xmlns:a16="http://schemas.microsoft.com/office/drawing/2014/main" id="{6CA9F843-0747-5140-A93F-583D8D790C2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585974" y="3108960"/>
              <a:ext cx="711200" cy="711200"/>
            </a:xfrm>
            <a:prstGeom prst="rect">
              <a:avLst/>
            </a:prstGeom>
          </p:spPr>
        </p:pic>
        <p:pic>
          <p:nvPicPr>
            <p:cNvPr id="26" name="Graphic 25">
              <a:extLst>
                <a:ext uri="{FF2B5EF4-FFF2-40B4-BE49-F238E27FC236}">
                  <a16:creationId xmlns:a16="http://schemas.microsoft.com/office/drawing/2014/main" id="{0A2ED26C-7FDF-A844-A960-E49D40792AB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565895" y="3108960"/>
              <a:ext cx="711200" cy="711200"/>
            </a:xfrm>
            <a:prstGeom prst="rect">
              <a:avLst/>
            </a:prstGeom>
          </p:spPr>
        </p:pic>
        <p:pic>
          <p:nvPicPr>
            <p:cNvPr id="28" name="Graphic 27">
              <a:extLst>
                <a:ext uri="{FF2B5EF4-FFF2-40B4-BE49-F238E27FC236}">
                  <a16:creationId xmlns:a16="http://schemas.microsoft.com/office/drawing/2014/main" id="{005B8AD2-8F85-904B-82A2-D523CB21A22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486400" y="4937760"/>
              <a:ext cx="711200" cy="711200"/>
            </a:xfrm>
            <a:prstGeom prst="rect">
              <a:avLst/>
            </a:prstGeom>
          </p:spPr>
        </p:pic>
        <p:pic>
          <p:nvPicPr>
            <p:cNvPr id="30" name="Graphic 29">
              <a:extLst>
                <a:ext uri="{FF2B5EF4-FFF2-40B4-BE49-F238E27FC236}">
                  <a16:creationId xmlns:a16="http://schemas.microsoft.com/office/drawing/2014/main" id="{A9D6DDE6-3D10-E049-825A-051F08239A8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565895" y="4937760"/>
              <a:ext cx="711200" cy="711200"/>
            </a:xfrm>
            <a:prstGeom prst="rect">
              <a:avLst/>
            </a:prstGeom>
          </p:spPr>
        </p:pic>
      </p:grpSp>
    </p:spTree>
    <p:custDataLst>
      <p:tags r:id="rId1"/>
    </p:custDataLst>
    <p:extLst>
      <p:ext uri="{BB962C8B-B14F-4D97-AF65-F5344CB8AC3E}">
        <p14:creationId xmlns:p14="http://schemas.microsoft.com/office/powerpoint/2010/main" val="8003610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C70FE95-CDCE-444E-9B31-12513BB771C7}"/>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53</a:t>
            </a:fld>
            <a:endParaRPr lang="en-US" dirty="0"/>
          </a:p>
        </p:txBody>
      </p:sp>
      <p:sp>
        <p:nvSpPr>
          <p:cNvPr id="2" name="Title 1">
            <a:extLst>
              <a:ext uri="{FF2B5EF4-FFF2-40B4-BE49-F238E27FC236}">
                <a16:creationId xmlns:a16="http://schemas.microsoft.com/office/drawing/2014/main" id="{A1A2BA8A-2129-EE44-BF70-0DD8C3A22C6B}"/>
              </a:ext>
            </a:extLst>
          </p:cNvPr>
          <p:cNvSpPr>
            <a:spLocks noGrp="1"/>
          </p:cNvSpPr>
          <p:nvPr>
            <p:ph type="title"/>
          </p:nvPr>
        </p:nvSpPr>
        <p:spPr/>
        <p:txBody>
          <a:bodyPr>
            <a:normAutofit/>
          </a:bodyPr>
          <a:lstStyle/>
          <a:p>
            <a:r>
              <a:rPr lang="en-US" dirty="0"/>
              <a:t>Management und Governance</a:t>
            </a:r>
          </a:p>
        </p:txBody>
      </p:sp>
      <p:sp>
        <p:nvSpPr>
          <p:cNvPr id="23" name="TextBox 22">
            <a:extLst>
              <a:ext uri="{FF2B5EF4-FFF2-40B4-BE49-F238E27FC236}">
                <a16:creationId xmlns:a16="http://schemas.microsoft.com/office/drawing/2014/main" id="{16BCC26F-97D9-1248-9B74-EAE0AED4BC60}"/>
              </a:ext>
            </a:extLst>
          </p:cNvPr>
          <p:cNvSpPr txBox="1"/>
          <p:nvPr/>
        </p:nvSpPr>
        <p:spPr>
          <a:xfrm>
            <a:off x="7468176" y="1756612"/>
            <a:ext cx="3183885" cy="830997"/>
          </a:xfrm>
          <a:prstGeom prst="rect">
            <a:avLst/>
          </a:prstGeom>
          <a:noFill/>
        </p:spPr>
        <p:txBody>
          <a:bodyPr wrap="none" rtlCol="0">
            <a:spAutoFit/>
          </a:bodyPr>
          <a:lstStyle/>
          <a:p>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AWS management and </a:t>
            </a:r>
          </a:p>
          <a:p>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governance </a:t>
            </a:r>
            <a:r>
              <a:rPr lang="en-US" sz="2400" dirty="0">
                <a:latin typeface="Amazon Ember" panose="020B0603020204020204" pitchFamily="34" charset="0"/>
                <a:ea typeface="Amazon Ember" panose="020B0603020204020204" pitchFamily="34" charset="0"/>
                <a:cs typeface="Amazon Ember" panose="020B0603020204020204" pitchFamily="34" charset="0"/>
              </a:rPr>
              <a:t>services</a:t>
            </a:r>
          </a:p>
        </p:txBody>
      </p:sp>
      <p:sp>
        <p:nvSpPr>
          <p:cNvPr id="16" name="TextBox 15">
            <a:extLst>
              <a:ext uri="{FF2B5EF4-FFF2-40B4-BE49-F238E27FC236}">
                <a16:creationId xmlns:a16="http://schemas.microsoft.com/office/drawing/2014/main" id="{9C758EC6-70BA-AD4A-97E2-F8AC43A0E541}"/>
              </a:ext>
            </a:extLst>
          </p:cNvPr>
          <p:cNvSpPr txBox="1"/>
          <p:nvPr/>
        </p:nvSpPr>
        <p:spPr>
          <a:xfrm>
            <a:off x="4931080" y="3836400"/>
            <a:ext cx="1893922"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Management Console</a:t>
            </a:r>
          </a:p>
        </p:txBody>
      </p:sp>
      <p:sp>
        <p:nvSpPr>
          <p:cNvPr id="14" name="TextBox 13">
            <a:extLst>
              <a:ext uri="{FF2B5EF4-FFF2-40B4-BE49-F238E27FC236}">
                <a16:creationId xmlns:a16="http://schemas.microsoft.com/office/drawing/2014/main" id="{11763954-0406-9C4A-A38D-4CF454878E9A}"/>
              </a:ext>
            </a:extLst>
          </p:cNvPr>
          <p:cNvSpPr txBox="1"/>
          <p:nvPr/>
        </p:nvSpPr>
        <p:spPr>
          <a:xfrm>
            <a:off x="6850883" y="3834888"/>
            <a:ext cx="1359131"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Config</a:t>
            </a:r>
          </a:p>
        </p:txBody>
      </p:sp>
      <p:sp>
        <p:nvSpPr>
          <p:cNvPr id="6" name="TextBox 5">
            <a:extLst>
              <a:ext uri="{FF2B5EF4-FFF2-40B4-BE49-F238E27FC236}">
                <a16:creationId xmlns:a16="http://schemas.microsoft.com/office/drawing/2014/main" id="{D964D7DB-132C-9648-8402-E5670A709AE6}"/>
              </a:ext>
            </a:extLst>
          </p:cNvPr>
          <p:cNvSpPr txBox="1"/>
          <p:nvPr/>
        </p:nvSpPr>
        <p:spPr>
          <a:xfrm>
            <a:off x="8456457" y="3814943"/>
            <a:ext cx="1359131"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CloudWatch</a:t>
            </a:r>
          </a:p>
        </p:txBody>
      </p:sp>
      <p:sp>
        <p:nvSpPr>
          <p:cNvPr id="7" name="TextBox 6">
            <a:extLst>
              <a:ext uri="{FF2B5EF4-FFF2-40B4-BE49-F238E27FC236}">
                <a16:creationId xmlns:a16="http://schemas.microsoft.com/office/drawing/2014/main" id="{13761F13-5E8E-D046-BB83-8F52BCD62CFB}"/>
              </a:ext>
            </a:extLst>
          </p:cNvPr>
          <p:cNvSpPr txBox="1"/>
          <p:nvPr/>
        </p:nvSpPr>
        <p:spPr>
          <a:xfrm>
            <a:off x="10154664" y="3814943"/>
            <a:ext cx="1506552"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Auto Scaling</a:t>
            </a:r>
          </a:p>
        </p:txBody>
      </p:sp>
      <p:sp>
        <p:nvSpPr>
          <p:cNvPr id="12" name="TextBox 11">
            <a:extLst>
              <a:ext uri="{FF2B5EF4-FFF2-40B4-BE49-F238E27FC236}">
                <a16:creationId xmlns:a16="http://schemas.microsoft.com/office/drawing/2014/main" id="{09D07F57-01BC-2C46-A09A-E6D7DEAF0212}"/>
              </a:ext>
            </a:extLst>
          </p:cNvPr>
          <p:cNvSpPr txBox="1"/>
          <p:nvPr/>
        </p:nvSpPr>
        <p:spPr>
          <a:xfrm>
            <a:off x="5020859" y="5650699"/>
            <a:ext cx="1712699"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Command </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Line Interface</a:t>
            </a:r>
          </a:p>
        </p:txBody>
      </p:sp>
      <p:sp>
        <p:nvSpPr>
          <p:cNvPr id="18" name="TextBox 17">
            <a:extLst>
              <a:ext uri="{FF2B5EF4-FFF2-40B4-BE49-F238E27FC236}">
                <a16:creationId xmlns:a16="http://schemas.microsoft.com/office/drawing/2014/main" id="{4A98BAB5-A45E-0E4A-A83D-AD7F47F3C663}"/>
              </a:ext>
            </a:extLst>
          </p:cNvPr>
          <p:cNvSpPr txBox="1"/>
          <p:nvPr/>
        </p:nvSpPr>
        <p:spPr>
          <a:xfrm>
            <a:off x="6844610" y="5686502"/>
            <a:ext cx="1357122"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Trusted </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Advisor</a:t>
            </a:r>
          </a:p>
        </p:txBody>
      </p:sp>
      <p:sp>
        <p:nvSpPr>
          <p:cNvPr id="20" name="TextBox 19">
            <a:extLst>
              <a:ext uri="{FF2B5EF4-FFF2-40B4-BE49-F238E27FC236}">
                <a16:creationId xmlns:a16="http://schemas.microsoft.com/office/drawing/2014/main" id="{D9CC2CD7-28CC-7A4D-8887-32BE6D184A0C}"/>
              </a:ext>
            </a:extLst>
          </p:cNvPr>
          <p:cNvSpPr txBox="1"/>
          <p:nvPr/>
        </p:nvSpPr>
        <p:spPr>
          <a:xfrm>
            <a:off x="8278899" y="5683565"/>
            <a:ext cx="1712699"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Well-</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Architected Tool </a:t>
            </a:r>
          </a:p>
        </p:txBody>
      </p:sp>
      <p:sp>
        <p:nvSpPr>
          <p:cNvPr id="8" name="TextBox 7">
            <a:extLst>
              <a:ext uri="{FF2B5EF4-FFF2-40B4-BE49-F238E27FC236}">
                <a16:creationId xmlns:a16="http://schemas.microsoft.com/office/drawing/2014/main" id="{E71E6A68-F283-F44E-BD0F-835FE3811D61}"/>
              </a:ext>
            </a:extLst>
          </p:cNvPr>
          <p:cNvSpPr txBox="1"/>
          <p:nvPr/>
        </p:nvSpPr>
        <p:spPr>
          <a:xfrm>
            <a:off x="10042066" y="5687055"/>
            <a:ext cx="1619150"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CloudTrail</a:t>
            </a:r>
          </a:p>
        </p:txBody>
      </p:sp>
      <p:sp>
        <p:nvSpPr>
          <p:cNvPr id="25" name="TextBox 24">
            <a:extLst>
              <a:ext uri="{FF2B5EF4-FFF2-40B4-BE49-F238E27FC236}">
                <a16:creationId xmlns:a16="http://schemas.microsoft.com/office/drawing/2014/main" id="{651E9760-37EE-4742-949F-F2FE2C53802E}"/>
              </a:ext>
              <a:ext uri="{C183D7F6-B498-43B3-948B-1728B52AA6E4}">
                <adec:decorative xmlns:adec="http://schemas.microsoft.com/office/drawing/2017/decorative" val="1"/>
              </a:ext>
            </a:extLst>
          </p:cNvPr>
          <p:cNvSpPr txBox="1"/>
          <p:nvPr/>
        </p:nvSpPr>
        <p:spPr>
          <a:xfrm>
            <a:off x="554990" y="4437019"/>
            <a:ext cx="1846980" cy="230832"/>
          </a:xfrm>
          <a:prstGeom prst="rect">
            <a:avLst/>
          </a:prstGeom>
          <a:noFill/>
        </p:spPr>
        <p:txBody>
          <a:bodyPr wrap="none" rtlCol="0">
            <a:spAutoFit/>
          </a:bodyPr>
          <a:lstStyle/>
          <a:p>
            <a:r>
              <a:rPr lang="en-US" sz="900" dirty="0">
                <a:solidFill>
                  <a:schemeClr val="bg1">
                    <a:lumMod val="6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Photo by Marta Branco from Pexels</a:t>
            </a:r>
          </a:p>
        </p:txBody>
      </p:sp>
      <p:grpSp>
        <p:nvGrpSpPr>
          <p:cNvPr id="3" name="Group 2">
            <a:extLst>
              <a:ext uri="{FF2B5EF4-FFF2-40B4-BE49-F238E27FC236}">
                <a16:creationId xmlns:a16="http://schemas.microsoft.com/office/drawing/2014/main" id="{1527605D-D163-1409-E41C-16A52F2BC311}"/>
              </a:ext>
              <a:ext uri="{C183D7F6-B498-43B3-948B-1728B52AA6E4}">
                <adec:decorative xmlns:adec="http://schemas.microsoft.com/office/drawing/2017/decorative" val="1"/>
              </a:ext>
            </a:extLst>
          </p:cNvPr>
          <p:cNvGrpSpPr/>
          <p:nvPr/>
        </p:nvGrpSpPr>
        <p:grpSpPr>
          <a:xfrm>
            <a:off x="5541409" y="3108960"/>
            <a:ext cx="5740377" cy="2540000"/>
            <a:chOff x="5535058" y="3108960"/>
            <a:chExt cx="5740377" cy="2540000"/>
          </a:xfrm>
        </p:grpSpPr>
        <p:pic>
          <p:nvPicPr>
            <p:cNvPr id="9" name="Graphic 8">
              <a:extLst>
                <a:ext uri="{FF2B5EF4-FFF2-40B4-BE49-F238E27FC236}">
                  <a16:creationId xmlns:a16="http://schemas.microsoft.com/office/drawing/2014/main" id="{F3FF6B72-C858-5A44-A833-CC192B74293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99567" y="3108960"/>
              <a:ext cx="711200" cy="711200"/>
            </a:xfrm>
            <a:prstGeom prst="rect">
              <a:avLst/>
            </a:prstGeom>
          </p:spPr>
        </p:pic>
        <p:pic>
          <p:nvPicPr>
            <p:cNvPr id="10" name="Graphic 9">
              <a:extLst>
                <a:ext uri="{FF2B5EF4-FFF2-40B4-BE49-F238E27FC236}">
                  <a16:creationId xmlns:a16="http://schemas.microsoft.com/office/drawing/2014/main" id="{1B6C0BF0-9CF6-414A-B2DC-0DEDD2C690D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564235" y="3108960"/>
              <a:ext cx="711200" cy="711200"/>
            </a:xfrm>
            <a:prstGeom prst="rect">
              <a:avLst/>
            </a:prstGeom>
          </p:spPr>
        </p:pic>
        <p:pic>
          <p:nvPicPr>
            <p:cNvPr id="11" name="Graphic 10">
              <a:extLst>
                <a:ext uri="{FF2B5EF4-FFF2-40B4-BE49-F238E27FC236}">
                  <a16:creationId xmlns:a16="http://schemas.microsoft.com/office/drawing/2014/main" id="{B9D8BC08-9C16-3944-89AA-1F894A611C0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89692" y="4937760"/>
              <a:ext cx="711200" cy="711200"/>
            </a:xfrm>
            <a:prstGeom prst="rect">
              <a:avLst/>
            </a:prstGeom>
          </p:spPr>
        </p:pic>
        <p:pic>
          <p:nvPicPr>
            <p:cNvPr id="13" name="Graphic 12">
              <a:extLst>
                <a:ext uri="{FF2B5EF4-FFF2-40B4-BE49-F238E27FC236}">
                  <a16:creationId xmlns:a16="http://schemas.microsoft.com/office/drawing/2014/main" id="{63A13CDB-14D7-3649-80EF-3DF23E67EFF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35058" y="4937760"/>
              <a:ext cx="711200" cy="711200"/>
            </a:xfrm>
            <a:prstGeom prst="rect">
              <a:avLst/>
            </a:prstGeom>
          </p:spPr>
        </p:pic>
        <p:pic>
          <p:nvPicPr>
            <p:cNvPr id="15" name="Graphic 14">
              <a:extLst>
                <a:ext uri="{FF2B5EF4-FFF2-40B4-BE49-F238E27FC236}">
                  <a16:creationId xmlns:a16="http://schemas.microsoft.com/office/drawing/2014/main" id="{C7D0D9FA-AEA2-BB4B-8BBF-90B1B8A6086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92772" y="3108960"/>
              <a:ext cx="711200" cy="711200"/>
            </a:xfrm>
            <a:prstGeom prst="rect">
              <a:avLst/>
            </a:prstGeom>
          </p:spPr>
        </p:pic>
        <p:pic>
          <p:nvPicPr>
            <p:cNvPr id="17" name="Graphic 16">
              <a:extLst>
                <a:ext uri="{FF2B5EF4-FFF2-40B4-BE49-F238E27FC236}">
                  <a16:creationId xmlns:a16="http://schemas.microsoft.com/office/drawing/2014/main" id="{158BEA10-3C84-2A4B-A68C-80DDFF4ADBB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535058" y="3108960"/>
              <a:ext cx="711200" cy="711200"/>
            </a:xfrm>
            <a:prstGeom prst="rect">
              <a:avLst/>
            </a:prstGeom>
          </p:spPr>
        </p:pic>
        <p:pic>
          <p:nvPicPr>
            <p:cNvPr id="19" name="Graphic 18">
              <a:extLst>
                <a:ext uri="{FF2B5EF4-FFF2-40B4-BE49-F238E27FC236}">
                  <a16:creationId xmlns:a16="http://schemas.microsoft.com/office/drawing/2014/main" id="{342B86BF-B4C2-A84D-A401-09AEFF65F58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180580" y="4937760"/>
              <a:ext cx="711200" cy="711200"/>
            </a:xfrm>
            <a:prstGeom prst="rect">
              <a:avLst/>
            </a:prstGeom>
          </p:spPr>
        </p:pic>
        <p:pic>
          <p:nvPicPr>
            <p:cNvPr id="21" name="Graphic 20">
              <a:extLst>
                <a:ext uri="{FF2B5EF4-FFF2-40B4-BE49-F238E27FC236}">
                  <a16:creationId xmlns:a16="http://schemas.microsoft.com/office/drawing/2014/main" id="{CEB35706-B695-174A-B1C4-224C18E4857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738717" y="4937760"/>
              <a:ext cx="711200" cy="711200"/>
            </a:xfrm>
            <a:prstGeom prst="rect">
              <a:avLst/>
            </a:prstGeom>
          </p:spPr>
        </p:pic>
      </p:grpSp>
      <p:pic>
        <p:nvPicPr>
          <p:cNvPr id="22" name="Graphic 21">
            <a:extLst>
              <a:ext uri="{FF2B5EF4-FFF2-40B4-BE49-F238E27FC236}">
                <a16:creationId xmlns:a16="http://schemas.microsoft.com/office/drawing/2014/main" id="{2BEB6DE2-7097-D440-B2C8-8287CB70DD2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590030" y="1645920"/>
            <a:ext cx="952500" cy="952500"/>
          </a:xfrm>
          <a:prstGeom prst="rect">
            <a:avLst/>
          </a:prstGeom>
        </p:spPr>
      </p:pic>
      <p:pic>
        <p:nvPicPr>
          <p:cNvPr id="27" name="Picture 26">
            <a:extLst>
              <a:ext uri="{FF2B5EF4-FFF2-40B4-BE49-F238E27FC236}">
                <a16:creationId xmlns:a16="http://schemas.microsoft.com/office/drawing/2014/main" id="{2A483946-9C9A-0E4E-9EFE-D3FF9F13D5A5}"/>
              </a:ext>
              <a:ext uri="{C183D7F6-B498-43B3-948B-1728B52AA6E4}">
                <adec:decorative xmlns:adec="http://schemas.microsoft.com/office/drawing/2017/decorative" val="1"/>
              </a:ext>
            </a:extLst>
          </p:cNvPr>
          <p:cNvPicPr>
            <a:picLocks noChangeAspect="1"/>
          </p:cNvPicPr>
          <p:nvPr/>
        </p:nvPicPr>
        <p:blipFill>
          <a:blip r:embed="rId13"/>
          <a:stretch>
            <a:fillRect/>
          </a:stretch>
        </p:blipFill>
        <p:spPr>
          <a:xfrm>
            <a:off x="554990" y="1645921"/>
            <a:ext cx="4186648" cy="2791099"/>
          </a:xfrm>
          <a:prstGeom prst="rect">
            <a:avLst/>
          </a:prstGeom>
        </p:spPr>
      </p:pic>
    </p:spTree>
    <p:custDataLst>
      <p:tags r:id="rId1"/>
    </p:custDataLst>
    <p:extLst>
      <p:ext uri="{BB962C8B-B14F-4D97-AF65-F5344CB8AC3E}">
        <p14:creationId xmlns:p14="http://schemas.microsoft.com/office/powerpoint/2010/main" val="14879089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4CA33DE3-86A4-8BC9-82F9-F1335EC4EABA}"/>
              </a:ext>
            </a:extLst>
          </p:cNvPr>
          <p:cNvSpPr>
            <a:spLocks noGrp="1"/>
          </p:cNvSpPr>
          <p:nvPr>
            <p:ph type="sldNum" sz="quarter" idx="20"/>
          </p:nvPr>
        </p:nvSpPr>
        <p:spPr/>
        <p:txBody>
          <a:bodyPr/>
          <a:lstStyle/>
          <a:p>
            <a:fld id="{930176A1-BCF0-4712-97A6-6B495F55390B}" type="slidenum">
              <a:rPr lang="en-US" smtClean="0"/>
              <a:pPr/>
              <a:t>54</a:t>
            </a:fld>
            <a:endParaRPr lang="en-US" dirty="0"/>
          </a:p>
        </p:txBody>
      </p:sp>
      <p:sp>
        <p:nvSpPr>
          <p:cNvPr id="2" name="Title 1">
            <a:extLst>
              <a:ext uri="{FF2B5EF4-FFF2-40B4-BE49-F238E27FC236}">
                <a16:creationId xmlns:a16="http://schemas.microsoft.com/office/drawing/2014/main" id="{09E8FD3F-CBFB-41E2-AF81-91EBFE8C50F5}"/>
              </a:ext>
            </a:extLst>
          </p:cNvPr>
          <p:cNvSpPr>
            <a:spLocks noGrp="1"/>
          </p:cNvSpPr>
          <p:nvPr>
            <p:ph type="title"/>
          </p:nvPr>
        </p:nvSpPr>
        <p:spPr/>
        <p:txBody>
          <a:bodyPr/>
          <a:lstStyle/>
          <a:p>
            <a:r>
              <a:rPr lang="en-US" dirty="0">
                <a:latin typeface="+mj-lt"/>
              </a:rPr>
              <a:t>Example of a simple cloud architecture</a:t>
            </a:r>
          </a:p>
        </p:txBody>
      </p:sp>
      <p:grpSp>
        <p:nvGrpSpPr>
          <p:cNvPr id="8" name="Group 7" descr="Example of using networking, compute, database, and storage services to build a database application.">
            <a:extLst>
              <a:ext uri="{FF2B5EF4-FFF2-40B4-BE49-F238E27FC236}">
                <a16:creationId xmlns:a16="http://schemas.microsoft.com/office/drawing/2014/main" id="{EE28191F-A973-401E-9D90-B4BE67FF8C1B}"/>
              </a:ext>
              <a:ext uri="{C183D7F6-B498-43B3-948B-1728B52AA6E4}">
                <adec:decorative xmlns:adec="http://schemas.microsoft.com/office/drawing/2017/decorative" val="0"/>
              </a:ext>
            </a:extLst>
          </p:cNvPr>
          <p:cNvGrpSpPr/>
          <p:nvPr/>
        </p:nvGrpSpPr>
        <p:grpSpPr>
          <a:xfrm>
            <a:off x="1151502" y="1301311"/>
            <a:ext cx="9901699" cy="4917175"/>
            <a:chOff x="794764" y="1301310"/>
            <a:chExt cx="9901699" cy="4917175"/>
          </a:xfrm>
        </p:grpSpPr>
        <p:pic>
          <p:nvPicPr>
            <p:cNvPr id="6" name="Graphic 5">
              <a:extLst>
                <a:ext uri="{FF2B5EF4-FFF2-40B4-BE49-F238E27FC236}">
                  <a16:creationId xmlns:a16="http://schemas.microsoft.com/office/drawing/2014/main" id="{66FD1442-407B-4BFB-B2A0-0FB98D4EB6A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0601" y="1301310"/>
              <a:ext cx="952500" cy="952500"/>
            </a:xfrm>
            <a:prstGeom prst="rect">
              <a:avLst/>
            </a:prstGeom>
          </p:spPr>
        </p:pic>
        <p:sp>
          <p:nvSpPr>
            <p:cNvPr id="7" name="TextBox 6">
              <a:extLst>
                <a:ext uri="{FF2B5EF4-FFF2-40B4-BE49-F238E27FC236}">
                  <a16:creationId xmlns:a16="http://schemas.microsoft.com/office/drawing/2014/main" id="{6D7DA2B9-91A9-4201-9F32-0C359425C8E4}"/>
                </a:ext>
              </a:extLst>
            </p:cNvPr>
            <p:cNvSpPr txBox="1"/>
            <p:nvPr/>
          </p:nvSpPr>
          <p:spPr>
            <a:xfrm>
              <a:off x="2772540" y="2257885"/>
              <a:ext cx="1443702" cy="369332"/>
            </a:xfrm>
            <a:prstGeom prst="rect">
              <a:avLst/>
            </a:prstGeom>
            <a:noFill/>
          </p:spPr>
          <p:txBody>
            <a:bodyPr wrap="square" rtlCol="0">
              <a:spAutoFit/>
            </a:bodyPr>
            <a:lstStyle/>
            <a:p>
              <a:pPr algn="ctr" rtl="0">
                <a:defRPr/>
              </a:pPr>
              <a:r>
                <a:rPr lang="en-US"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Networking</a:t>
              </a:r>
            </a:p>
          </p:txBody>
        </p:sp>
        <p:pic>
          <p:nvPicPr>
            <p:cNvPr id="9" name="Graphic 8">
              <a:extLst>
                <a:ext uri="{FF2B5EF4-FFF2-40B4-BE49-F238E27FC236}">
                  <a16:creationId xmlns:a16="http://schemas.microsoft.com/office/drawing/2014/main" id="{3B6B548C-BE7F-4711-8980-D2ABC6A1F51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66154" y="1301310"/>
              <a:ext cx="952500" cy="952500"/>
            </a:xfrm>
            <a:prstGeom prst="rect">
              <a:avLst/>
            </a:prstGeom>
          </p:spPr>
        </p:pic>
        <p:sp>
          <p:nvSpPr>
            <p:cNvPr id="10" name="TextBox 9">
              <a:extLst>
                <a:ext uri="{FF2B5EF4-FFF2-40B4-BE49-F238E27FC236}">
                  <a16:creationId xmlns:a16="http://schemas.microsoft.com/office/drawing/2014/main" id="{68B16038-2838-473F-9DF0-13646BD3395D}"/>
                </a:ext>
              </a:extLst>
            </p:cNvPr>
            <p:cNvSpPr txBox="1"/>
            <p:nvPr/>
          </p:nvSpPr>
          <p:spPr>
            <a:xfrm>
              <a:off x="4969937" y="2257885"/>
              <a:ext cx="1144933" cy="369332"/>
            </a:xfrm>
            <a:prstGeom prst="rect">
              <a:avLst/>
            </a:prstGeom>
            <a:noFill/>
          </p:spPr>
          <p:txBody>
            <a:bodyPr wrap="square" rtlCol="0">
              <a:spAutoFit/>
            </a:bodyPr>
            <a:lstStyle/>
            <a:p>
              <a:pPr algn="ctr" rtl="0">
                <a:defRPr/>
              </a:pPr>
              <a:r>
                <a:rPr lang="en-US"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Compute</a:t>
              </a:r>
            </a:p>
          </p:txBody>
        </p:sp>
        <p:pic>
          <p:nvPicPr>
            <p:cNvPr id="12" name="Graphic 11">
              <a:extLst>
                <a:ext uri="{FF2B5EF4-FFF2-40B4-BE49-F238E27FC236}">
                  <a16:creationId xmlns:a16="http://schemas.microsoft.com/office/drawing/2014/main" id="{2204760B-6A9F-4804-B82A-067D078D6C5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37259" y="1301310"/>
              <a:ext cx="952500" cy="952500"/>
            </a:xfrm>
            <a:prstGeom prst="rect">
              <a:avLst/>
            </a:prstGeom>
          </p:spPr>
        </p:pic>
        <p:sp>
          <p:nvSpPr>
            <p:cNvPr id="13" name="TextBox 12">
              <a:extLst>
                <a:ext uri="{FF2B5EF4-FFF2-40B4-BE49-F238E27FC236}">
                  <a16:creationId xmlns:a16="http://schemas.microsoft.com/office/drawing/2014/main" id="{629255DF-90FD-49EA-84C4-C10823A017A7}"/>
                </a:ext>
              </a:extLst>
            </p:cNvPr>
            <p:cNvSpPr txBox="1"/>
            <p:nvPr/>
          </p:nvSpPr>
          <p:spPr>
            <a:xfrm>
              <a:off x="8964323" y="2259279"/>
              <a:ext cx="1453307" cy="367938"/>
            </a:xfrm>
            <a:prstGeom prst="rect">
              <a:avLst/>
            </a:prstGeom>
            <a:noFill/>
          </p:spPr>
          <p:txBody>
            <a:bodyPr wrap="square" rtlCol="0">
              <a:spAutoFit/>
            </a:bodyPr>
            <a:lstStyle/>
            <a:p>
              <a:pPr algn="ctr" rtl="0">
                <a:defRPr/>
              </a:pPr>
              <a:r>
                <a:rPr lang="en-US"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Storage</a:t>
              </a:r>
            </a:p>
          </p:txBody>
        </p:sp>
        <p:pic>
          <p:nvPicPr>
            <p:cNvPr id="15" name="Graphic 14">
              <a:extLst>
                <a:ext uri="{FF2B5EF4-FFF2-40B4-BE49-F238E27FC236}">
                  <a16:creationId xmlns:a16="http://schemas.microsoft.com/office/drawing/2014/main" id="{1EA8B760-09F9-4C07-80E2-5E9BE45EE36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51707" y="1301310"/>
              <a:ext cx="952500" cy="952500"/>
            </a:xfrm>
            <a:prstGeom prst="rect">
              <a:avLst/>
            </a:prstGeom>
          </p:spPr>
        </p:pic>
        <p:sp>
          <p:nvSpPr>
            <p:cNvPr id="16" name="TextBox 15">
              <a:extLst>
                <a:ext uri="{FF2B5EF4-FFF2-40B4-BE49-F238E27FC236}">
                  <a16:creationId xmlns:a16="http://schemas.microsoft.com/office/drawing/2014/main" id="{0903E13C-B166-4FB5-A80E-D349611AFBFD}"/>
                </a:ext>
              </a:extLst>
            </p:cNvPr>
            <p:cNvSpPr txBox="1"/>
            <p:nvPr/>
          </p:nvSpPr>
          <p:spPr>
            <a:xfrm>
              <a:off x="6944954" y="2257885"/>
              <a:ext cx="1370493" cy="369332"/>
            </a:xfrm>
            <a:prstGeom prst="rect">
              <a:avLst/>
            </a:prstGeom>
            <a:noFill/>
          </p:spPr>
          <p:txBody>
            <a:bodyPr wrap="square" rtlCol="0">
              <a:spAutoFit/>
            </a:bodyPr>
            <a:lstStyle/>
            <a:p>
              <a:pPr algn="ctr" rtl="0">
                <a:defRPr/>
              </a:pPr>
              <a:r>
                <a:rPr lang="en-US" kern="12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Database</a:t>
              </a:r>
            </a:p>
          </p:txBody>
        </p:sp>
        <p:sp>
          <p:nvSpPr>
            <p:cNvPr id="17" name="Rectangle 16">
              <a:extLst>
                <a:ext uri="{FF2B5EF4-FFF2-40B4-BE49-F238E27FC236}">
                  <a16:creationId xmlns:a16="http://schemas.microsoft.com/office/drawing/2014/main" id="{0D5CD7F0-37D1-4531-B60C-4D5215F02C57}"/>
                </a:ext>
              </a:extLst>
            </p:cNvPr>
            <p:cNvSpPr/>
            <p:nvPr/>
          </p:nvSpPr>
          <p:spPr>
            <a:xfrm>
              <a:off x="2772540" y="2812682"/>
              <a:ext cx="7923923" cy="3405803"/>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defRPr/>
              </a:pPr>
              <a:r>
                <a:rPr lang="en-US" sz="1600" dirty="0">
                  <a:latin typeface="Amazon Ember" panose="020B0603020204020204" pitchFamily="34" charset="0"/>
                  <a:ea typeface="Amazon Ember" panose="020B0603020204020204" pitchFamily="34" charset="0"/>
                  <a:cs typeface="Amazon Ember" panose="020B0603020204020204" pitchFamily="34" charset="0"/>
                </a:rPr>
                <a:t> AWS Cloud</a:t>
              </a:r>
            </a:p>
          </p:txBody>
        </p:sp>
        <p:pic>
          <p:nvPicPr>
            <p:cNvPr id="18" name="Graphic 17">
              <a:extLst>
                <a:ext uri="{FF2B5EF4-FFF2-40B4-BE49-F238E27FC236}">
                  <a16:creationId xmlns:a16="http://schemas.microsoft.com/office/drawing/2014/main" id="{080E9020-0A30-4F73-8E8A-3357C9138AB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775620" y="2812683"/>
              <a:ext cx="457200" cy="457200"/>
            </a:xfrm>
            <a:prstGeom prst="rect">
              <a:avLst/>
            </a:prstGeom>
          </p:spPr>
        </p:pic>
        <p:sp>
          <p:nvSpPr>
            <p:cNvPr id="23" name="Rectangle 22">
              <a:extLst>
                <a:ext uri="{FF2B5EF4-FFF2-40B4-BE49-F238E27FC236}">
                  <a16:creationId xmlns:a16="http://schemas.microsoft.com/office/drawing/2014/main" id="{0591F826-D142-42ED-8D40-C1F1FBE6BAC3}"/>
                </a:ext>
              </a:extLst>
            </p:cNvPr>
            <p:cNvSpPr/>
            <p:nvPr/>
          </p:nvSpPr>
          <p:spPr>
            <a:xfrm>
              <a:off x="3255179" y="3282241"/>
              <a:ext cx="7227658" cy="2774260"/>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defRPr/>
              </a:pPr>
              <a:r>
                <a:rPr lang="en-US" sz="1600" dirty="0">
                  <a:ln w="0"/>
                  <a:solidFill>
                    <a:srgbClr val="1D8900"/>
                  </a:solidFill>
                  <a:latin typeface="Amazon Ember" panose="020B0603020204020204" pitchFamily="34" charset="0"/>
                  <a:ea typeface="Amazon Ember" panose="020B0603020204020204" pitchFamily="34" charset="0"/>
                  <a:cs typeface="Amazon Ember" panose="020B0603020204020204" pitchFamily="34" charset="0"/>
                </a:rPr>
                <a:t> Virtual Private Cloud (VPC)</a:t>
              </a:r>
            </a:p>
          </p:txBody>
        </p:sp>
        <p:pic>
          <p:nvPicPr>
            <p:cNvPr id="24" name="Graphic 23">
              <a:extLst>
                <a:ext uri="{FF2B5EF4-FFF2-40B4-BE49-F238E27FC236}">
                  <a16:creationId xmlns:a16="http://schemas.microsoft.com/office/drawing/2014/main" id="{FF350E5C-F804-4798-81DF-817CD48F69F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255179" y="3282241"/>
              <a:ext cx="457200" cy="457200"/>
            </a:xfrm>
            <a:prstGeom prst="rect">
              <a:avLst/>
            </a:prstGeom>
          </p:spPr>
        </p:pic>
        <p:pic>
          <p:nvPicPr>
            <p:cNvPr id="29" name="Graphic 28">
              <a:extLst>
                <a:ext uri="{FF2B5EF4-FFF2-40B4-BE49-F238E27FC236}">
                  <a16:creationId xmlns:a16="http://schemas.microsoft.com/office/drawing/2014/main" id="{F29CE053-CF12-4DDF-A4C3-32EA575C060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86925" y="4975351"/>
              <a:ext cx="711200" cy="711200"/>
            </a:xfrm>
            <a:prstGeom prst="rect">
              <a:avLst/>
            </a:prstGeom>
          </p:spPr>
        </p:pic>
        <p:pic>
          <p:nvPicPr>
            <p:cNvPr id="30" name="Graphic 29">
              <a:extLst>
                <a:ext uri="{FF2B5EF4-FFF2-40B4-BE49-F238E27FC236}">
                  <a16:creationId xmlns:a16="http://schemas.microsoft.com/office/drawing/2014/main" id="{185B85A8-13FC-4472-BE31-6B11DA4CB75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341793" y="4100090"/>
              <a:ext cx="711200" cy="711200"/>
            </a:xfrm>
            <a:prstGeom prst="rect">
              <a:avLst/>
            </a:prstGeom>
          </p:spPr>
        </p:pic>
        <p:pic>
          <p:nvPicPr>
            <p:cNvPr id="32" name="Graphic 31">
              <a:extLst>
                <a:ext uri="{FF2B5EF4-FFF2-40B4-BE49-F238E27FC236}">
                  <a16:creationId xmlns:a16="http://schemas.microsoft.com/office/drawing/2014/main" id="{4A5AA60E-F38E-42DB-A27B-FD38DDBAE81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272357" y="3483154"/>
              <a:ext cx="711200" cy="711200"/>
            </a:xfrm>
            <a:prstGeom prst="rect">
              <a:avLst/>
            </a:prstGeom>
          </p:spPr>
        </p:pic>
        <p:sp>
          <p:nvSpPr>
            <p:cNvPr id="33" name="TextBox 32">
              <a:extLst>
                <a:ext uri="{FF2B5EF4-FFF2-40B4-BE49-F238E27FC236}">
                  <a16:creationId xmlns:a16="http://schemas.microsoft.com/office/drawing/2014/main" id="{7E2CC8AB-6B67-4F2F-8414-E9D77F61151A}"/>
                </a:ext>
              </a:extLst>
            </p:cNvPr>
            <p:cNvSpPr txBox="1"/>
            <p:nvPr/>
          </p:nvSpPr>
          <p:spPr>
            <a:xfrm>
              <a:off x="4865897" y="5686551"/>
              <a:ext cx="1353256" cy="369332"/>
            </a:xfrm>
            <a:prstGeom prst="rect">
              <a:avLst/>
            </a:prstGeom>
            <a:noFill/>
          </p:spPr>
          <p:txBody>
            <a:bodyPr wrap="non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Amazon EC2</a:t>
              </a:r>
            </a:p>
          </p:txBody>
        </p:sp>
        <p:sp>
          <p:nvSpPr>
            <p:cNvPr id="34" name="TextBox 33">
              <a:extLst>
                <a:ext uri="{FF2B5EF4-FFF2-40B4-BE49-F238E27FC236}">
                  <a16:creationId xmlns:a16="http://schemas.microsoft.com/office/drawing/2014/main" id="{F3F9D232-26E2-482D-8C35-1A549AE464C5}"/>
                </a:ext>
              </a:extLst>
            </p:cNvPr>
            <p:cNvSpPr txBox="1"/>
            <p:nvPr/>
          </p:nvSpPr>
          <p:spPr>
            <a:xfrm>
              <a:off x="8953257" y="4811290"/>
              <a:ext cx="1520505" cy="369332"/>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Amazon S3</a:t>
              </a:r>
            </a:p>
          </p:txBody>
        </p:sp>
        <p:sp>
          <p:nvSpPr>
            <p:cNvPr id="36" name="TextBox 35">
              <a:extLst>
                <a:ext uri="{FF2B5EF4-FFF2-40B4-BE49-F238E27FC236}">
                  <a16:creationId xmlns:a16="http://schemas.microsoft.com/office/drawing/2014/main" id="{5A6E8371-09BC-4FA3-BE2D-5CB9C2A50585}"/>
                </a:ext>
              </a:extLst>
            </p:cNvPr>
            <p:cNvSpPr txBox="1"/>
            <p:nvPr/>
          </p:nvSpPr>
          <p:spPr>
            <a:xfrm>
              <a:off x="6920486" y="4161380"/>
              <a:ext cx="1428614" cy="646331"/>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Amazon </a:t>
              </a:r>
              <a:br>
                <a:rPr lang="en-US" dirty="0">
                  <a:latin typeface="Amazon Ember" panose="020B0603020204020204" pitchFamily="34" charset="0"/>
                  <a:ea typeface="Amazon Ember" panose="020B0603020204020204" pitchFamily="34" charset="0"/>
                  <a:cs typeface="Amazon Ember" panose="020B0603020204020204" pitchFamily="34" charset="0"/>
                </a:rPr>
              </a:br>
              <a:r>
                <a:rPr lang="en-US" dirty="0">
                  <a:latin typeface="Amazon Ember" panose="020B0603020204020204" pitchFamily="34" charset="0"/>
                  <a:ea typeface="Amazon Ember" panose="020B0603020204020204" pitchFamily="34" charset="0"/>
                  <a:cs typeface="Amazon Ember" panose="020B0603020204020204" pitchFamily="34" charset="0"/>
                </a:rPr>
                <a:t>DynamoDB</a:t>
              </a:r>
            </a:p>
          </p:txBody>
        </p:sp>
        <p:cxnSp>
          <p:nvCxnSpPr>
            <p:cNvPr id="38" name="Straight Arrow Connector 37">
              <a:extLst>
                <a:ext uri="{FF2B5EF4-FFF2-40B4-BE49-F238E27FC236}">
                  <a16:creationId xmlns:a16="http://schemas.microsoft.com/office/drawing/2014/main" id="{870516C5-5C22-4683-9AEE-2522427A4E36}"/>
                </a:ext>
                <a:ext uri="{C183D7F6-B498-43B3-948B-1728B52AA6E4}">
                  <adec:decorative xmlns:adec="http://schemas.microsoft.com/office/drawing/2017/decorative" val="1"/>
                </a:ext>
              </a:extLst>
            </p:cNvPr>
            <p:cNvCxnSpPr>
              <a:cxnSpLocks/>
              <a:stCxn id="29" idx="3"/>
              <a:endCxn id="30" idx="1"/>
            </p:cNvCxnSpPr>
            <p:nvPr/>
          </p:nvCxnSpPr>
          <p:spPr>
            <a:xfrm flipV="1">
              <a:off x="5898125" y="4455690"/>
              <a:ext cx="3443668" cy="875261"/>
            </a:xfrm>
            <a:prstGeom prst="bentConnector3">
              <a:avLst>
                <a:gd name="adj1" fmla="val 7268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9002414-8136-4D0B-9324-F648316F0539}"/>
                </a:ext>
                <a:ext uri="{C183D7F6-B498-43B3-948B-1728B52AA6E4}">
                  <adec:decorative xmlns:adec="http://schemas.microsoft.com/office/drawing/2017/decorative" val="1"/>
                </a:ext>
              </a:extLst>
            </p:cNvPr>
            <p:cNvCxnSpPr>
              <a:cxnSpLocks/>
              <a:endCxn id="32" idx="1"/>
            </p:cNvCxnSpPr>
            <p:nvPr/>
          </p:nvCxnSpPr>
          <p:spPr>
            <a:xfrm flipV="1">
              <a:off x="5898125" y="3838754"/>
              <a:ext cx="1374232" cy="1234739"/>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482EB9F-66FE-4DC5-8404-7D787456B0BB}"/>
                </a:ext>
                <a:ext uri="{C183D7F6-B498-43B3-948B-1728B52AA6E4}">
                  <adec:decorative xmlns:adec="http://schemas.microsoft.com/office/drawing/2017/decorative" val="1"/>
                </a:ext>
              </a:extLst>
            </p:cNvPr>
            <p:cNvCxnSpPr>
              <a:cxnSpLocks/>
              <a:stCxn id="10" idx="2"/>
              <a:endCxn id="29" idx="0"/>
            </p:cNvCxnSpPr>
            <p:nvPr/>
          </p:nvCxnSpPr>
          <p:spPr>
            <a:xfrm>
              <a:off x="5542404" y="2627217"/>
              <a:ext cx="121" cy="234813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F26E5D5-D526-4ED1-B820-B8A57B39DCA8}"/>
                </a:ext>
                <a:ext uri="{C183D7F6-B498-43B3-948B-1728B52AA6E4}">
                  <adec:decorative xmlns:adec="http://schemas.microsoft.com/office/drawing/2017/decorative" val="1"/>
                </a:ext>
              </a:extLst>
            </p:cNvPr>
            <p:cNvCxnSpPr>
              <a:cxnSpLocks/>
              <a:stCxn id="13" idx="2"/>
              <a:endCxn id="30" idx="0"/>
            </p:cNvCxnSpPr>
            <p:nvPr/>
          </p:nvCxnSpPr>
          <p:spPr>
            <a:xfrm>
              <a:off x="9690977" y="2627217"/>
              <a:ext cx="6416" cy="147287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37E45215-4F46-4821-91CA-7FDDAD823804}"/>
                </a:ext>
                <a:ext uri="{C183D7F6-B498-43B3-948B-1728B52AA6E4}">
                  <adec:decorative xmlns:adec="http://schemas.microsoft.com/office/drawing/2017/decorative" val="1"/>
                </a:ext>
              </a:extLst>
            </p:cNvPr>
            <p:cNvCxnSpPr>
              <a:cxnSpLocks/>
              <a:stCxn id="16" idx="2"/>
              <a:endCxn id="32" idx="0"/>
            </p:cNvCxnSpPr>
            <p:nvPr/>
          </p:nvCxnSpPr>
          <p:spPr>
            <a:xfrm flipH="1">
              <a:off x="7627957" y="2627217"/>
              <a:ext cx="2244" cy="85593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23ED1D0-FC50-4C4E-A6DF-91B4CC71003A}"/>
                </a:ext>
                <a:ext uri="{C183D7F6-B498-43B3-948B-1728B52AA6E4}">
                  <adec:decorative xmlns:adec="http://schemas.microsoft.com/office/drawing/2017/decorative" val="1"/>
                </a:ext>
              </a:extLst>
            </p:cNvPr>
            <p:cNvCxnSpPr>
              <a:cxnSpLocks/>
              <a:stCxn id="7" idx="2"/>
              <a:endCxn id="24" idx="0"/>
            </p:cNvCxnSpPr>
            <p:nvPr/>
          </p:nvCxnSpPr>
          <p:spPr>
            <a:xfrm flipH="1">
              <a:off x="3483779" y="2627217"/>
              <a:ext cx="10612" cy="65502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A827D655-ACE8-44C4-87F2-C2D45977FD28}"/>
                </a:ext>
                <a:ext uri="{C183D7F6-B498-43B3-948B-1728B52AA6E4}">
                  <adec:decorative xmlns:adec="http://schemas.microsoft.com/office/drawing/2017/decorative" val="1"/>
                </a:ext>
              </a:extLst>
            </p:cNvPr>
            <p:cNvCxnSpPr>
              <a:cxnSpLocks/>
              <a:stCxn id="66" idx="1"/>
              <a:endCxn id="24" idx="1"/>
            </p:cNvCxnSpPr>
            <p:nvPr/>
          </p:nvCxnSpPr>
          <p:spPr>
            <a:xfrm flipV="1">
              <a:off x="1735796" y="3510841"/>
              <a:ext cx="1519383" cy="75317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66" name="Graphic 65">
              <a:extLst>
                <a:ext uri="{FF2B5EF4-FFF2-40B4-BE49-F238E27FC236}">
                  <a16:creationId xmlns:a16="http://schemas.microsoft.com/office/drawing/2014/main" id="{23365992-A5A0-493E-A5E8-D35AF13DA0C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flipH="1">
              <a:off x="794764" y="3806812"/>
              <a:ext cx="941032" cy="914400"/>
            </a:xfrm>
            <a:prstGeom prst="rect">
              <a:avLst/>
            </a:prstGeom>
          </p:spPr>
        </p:pic>
        <p:sp>
          <p:nvSpPr>
            <p:cNvPr id="72" name="TextBox 71">
              <a:extLst>
                <a:ext uri="{FF2B5EF4-FFF2-40B4-BE49-F238E27FC236}">
                  <a16:creationId xmlns:a16="http://schemas.microsoft.com/office/drawing/2014/main" id="{4FF0EA7C-F038-4A60-B77D-5C4D2336A34E}"/>
                </a:ext>
              </a:extLst>
            </p:cNvPr>
            <p:cNvSpPr txBox="1"/>
            <p:nvPr/>
          </p:nvSpPr>
          <p:spPr>
            <a:xfrm>
              <a:off x="895627" y="4726529"/>
              <a:ext cx="707245" cy="369332"/>
            </a:xfrm>
            <a:prstGeom prst="rect">
              <a:avLst/>
            </a:prstGeom>
            <a:noFill/>
          </p:spPr>
          <p:txBody>
            <a:bodyPr wrap="none" rtlCol="0">
              <a:spAutoFit/>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Users</a:t>
              </a:r>
            </a:p>
          </p:txBody>
        </p:sp>
        <p:cxnSp>
          <p:nvCxnSpPr>
            <p:cNvPr id="52" name="Straight Arrow Connector 51">
              <a:extLst>
                <a:ext uri="{FF2B5EF4-FFF2-40B4-BE49-F238E27FC236}">
                  <a16:creationId xmlns:a16="http://schemas.microsoft.com/office/drawing/2014/main" id="{BE40324B-3CFF-314A-B44F-6995B56C78C9}"/>
                </a:ext>
                <a:ext uri="{C183D7F6-B498-43B3-948B-1728B52AA6E4}">
                  <adec:decorative xmlns:adec="http://schemas.microsoft.com/office/drawing/2017/decorative" val="1"/>
                </a:ext>
              </a:extLst>
            </p:cNvPr>
            <p:cNvCxnSpPr>
              <a:cxnSpLocks/>
              <a:stCxn id="24" idx="2"/>
              <a:endCxn id="29" idx="1"/>
            </p:cNvCxnSpPr>
            <p:nvPr/>
          </p:nvCxnSpPr>
          <p:spPr>
            <a:xfrm rot="16200000" flipH="1">
              <a:off x="3539597" y="3683623"/>
              <a:ext cx="1591510" cy="170314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5296069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AUDIO_ID" val="763"/>
  <p:tag name="ARTICULATE_USED_LAYOUT" val="3"/>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2392</TotalTime>
  <Words>8166</Words>
  <Application>Microsoft Macintosh PowerPoint</Application>
  <PresentationFormat>Custom</PresentationFormat>
  <Paragraphs>758</Paragraphs>
  <Slides>54</Slides>
  <Notes>31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54</vt:i4>
      </vt:variant>
    </vt:vector>
  </HeadingPairs>
  <TitlesOfParts>
    <vt:vector size="65" baseType="lpstr">
      <vt:lpstr>Amazon Ember</vt:lpstr>
      <vt:lpstr>Amazon Ember Light</vt:lpstr>
      <vt:lpstr>Amazon Ember Medium</vt:lpstr>
      <vt:lpstr>Aptos</vt:lpstr>
      <vt:lpstr>arial</vt:lpstr>
      <vt:lpstr>arial</vt:lpstr>
      <vt:lpstr>Calibri</vt:lpstr>
      <vt:lpstr>Helvetica Neue</vt:lpstr>
      <vt:lpstr>Segoe UI</vt:lpstr>
      <vt:lpstr>Trebuchet MS</vt:lpstr>
      <vt:lpstr>Office Theme</vt:lpstr>
      <vt:lpstr>Digital Technologies  Distributed Systems,Basic Infrastructure, and Cloud Computing</vt:lpstr>
      <vt:lpstr>From Sequential Processing to Distributed Systems</vt:lpstr>
      <vt:lpstr>Enabling Technology: Virtualisation</vt:lpstr>
      <vt:lpstr>Why Virtualization?</vt:lpstr>
      <vt:lpstr>Meet Docker</vt:lpstr>
      <vt:lpstr>Containerization vs. Hypervisor</vt:lpstr>
      <vt:lpstr>Deployment Types</vt:lpstr>
      <vt:lpstr>What is Infrastructure as Code?</vt:lpstr>
      <vt:lpstr>From Monoliths to Microservices</vt:lpstr>
      <vt:lpstr>Orchestrator as interface between application as code and running application</vt:lpstr>
      <vt:lpstr>Meet Kubernetes</vt:lpstr>
      <vt:lpstr>Towards Event-Driven Applications</vt:lpstr>
      <vt:lpstr>Example Architecture Event-Driven Design</vt:lpstr>
      <vt:lpstr>Resilience</vt:lpstr>
      <vt:lpstr>Diagnosability</vt:lpstr>
      <vt:lpstr>PowerPoint Presentation</vt:lpstr>
      <vt:lpstr>High Level Data Architecture at Zalando</vt:lpstr>
      <vt:lpstr>Definition Cloud Computing</vt:lpstr>
      <vt:lpstr>Architectural need</vt:lpstr>
      <vt:lpstr>Origins of AWS</vt:lpstr>
      <vt:lpstr>Problems persisted</vt:lpstr>
      <vt:lpstr>Infrastructure as software</vt:lpstr>
      <vt:lpstr>Traditional Model</vt:lpstr>
      <vt:lpstr>Cloud Computing Model</vt:lpstr>
      <vt:lpstr>Cloud Service Models</vt:lpstr>
      <vt:lpstr>Cloud Computing Deployment Models</vt:lpstr>
      <vt:lpstr>AWS vs. traditional deployment comparison</vt:lpstr>
      <vt:lpstr>Cloud Computing Advantages</vt:lpstr>
      <vt:lpstr>Cloud Computing Advantages</vt:lpstr>
      <vt:lpstr>Economies of scale</vt:lpstr>
      <vt:lpstr>Greater speed and agility</vt:lpstr>
      <vt:lpstr>No data centers necessary anymore</vt:lpstr>
      <vt:lpstr>Global reach within minutes</vt:lpstr>
      <vt:lpstr>AWS Global Infrastructure</vt:lpstr>
      <vt:lpstr>AWS Regions</vt:lpstr>
      <vt:lpstr>How to select a region?</vt:lpstr>
      <vt:lpstr>Availability Zones</vt:lpstr>
      <vt:lpstr>AWS Data Centers</vt:lpstr>
      <vt:lpstr>AWS infrastructure features </vt:lpstr>
      <vt:lpstr>AWS shared responsibility model</vt:lpstr>
      <vt:lpstr>AWS responsibility: Security of the cloud</vt:lpstr>
      <vt:lpstr>Customer responsibility: Security in the cloud</vt:lpstr>
      <vt:lpstr>Service Characteristics and Responsibilities (1 of 2)</vt:lpstr>
      <vt:lpstr>Service Characteristics and Responsibilities (2 of 2)</vt:lpstr>
      <vt:lpstr>AWS Service Categories</vt:lpstr>
      <vt:lpstr>AWS Foundational Services</vt:lpstr>
      <vt:lpstr>AWS Service Categories</vt:lpstr>
      <vt:lpstr>Storage</vt:lpstr>
      <vt:lpstr>Compute Services</vt:lpstr>
      <vt:lpstr>Databases</vt:lpstr>
      <vt:lpstr>Network und Content Delivery</vt:lpstr>
      <vt:lpstr>Security and IAM</vt:lpstr>
      <vt:lpstr>Management und Governance</vt:lpstr>
      <vt:lpstr>Example of a simple cloud architecture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dc:title>
  <dc:creator>Thomas Hupperich</dc:creator>
  <cp:lastModifiedBy>Schlesinger, Sebastian</cp:lastModifiedBy>
  <cp:revision>2</cp:revision>
  <dcterms:created xsi:type="dcterms:W3CDTF">2023-01-30T17:03:51Z</dcterms:created>
  <dcterms:modified xsi:type="dcterms:W3CDTF">2026-10-15T20:39:33Z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2023-01-30T00:00:00Z</vt:filetime>
  </property>
  <property fmtid="{D5CDD505-2E9C-101B-9397-08002B2CF9AE}" pid="3" name="Creator">
    <vt:lpwstr>Adobe Acrobat Pro (64-bit) 22.3.20314</vt:lpwstr>
  </property>
  <property fmtid="{D5CDD505-2E9C-101B-9397-08002B2CF9AE}" pid="4" name="LastSaved">
    <vt:filetime>2023-01-30T00:00:00Z</vt:filetime>
  </property>
  <property fmtid="{D5CDD505-2E9C-101B-9397-08002B2CF9AE}" pid="5" name="Producer">
    <vt:lpwstr>Adobe Acrobat Pro (64-bit) 22.3.20314</vt:lpwstr>
  </property>
</Properties>
</file>