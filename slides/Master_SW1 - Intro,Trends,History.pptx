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1"/>
  </p:sldMasterIdLst>
  <p:notesMasterIdLst>
    <p:notesMasterId r:id="rId35"/>
  </p:notesMasterIdLst>
  <p:handoutMasterIdLst>
    <p:handoutMasterId r:id="rId36"/>
  </p:handoutMasterIdLst>
  <p:sldIdLst>
    <p:sldId id="357" r:id="rId2"/>
    <p:sldId id="399" r:id="rId3"/>
    <p:sldId id="400" r:id="rId4"/>
    <p:sldId id="444" r:id="rId5"/>
    <p:sldId id="799" r:id="rId6"/>
    <p:sldId id="445" r:id="rId7"/>
    <p:sldId id="792" r:id="rId8"/>
    <p:sldId id="793" r:id="rId9"/>
    <p:sldId id="794" r:id="rId10"/>
    <p:sldId id="795" r:id="rId11"/>
    <p:sldId id="800" r:id="rId12"/>
    <p:sldId id="796" r:id="rId13"/>
    <p:sldId id="797" r:id="rId14"/>
    <p:sldId id="386" r:id="rId15"/>
    <p:sldId id="390" r:id="rId16"/>
    <p:sldId id="802" r:id="rId17"/>
    <p:sldId id="798" r:id="rId18"/>
    <p:sldId id="803" r:id="rId19"/>
    <p:sldId id="404" r:id="rId20"/>
    <p:sldId id="405" r:id="rId21"/>
    <p:sldId id="411" r:id="rId22"/>
    <p:sldId id="413" r:id="rId23"/>
    <p:sldId id="406" r:id="rId24"/>
    <p:sldId id="407" r:id="rId25"/>
    <p:sldId id="801" r:id="rId26"/>
    <p:sldId id="410" r:id="rId27"/>
    <p:sldId id="804" r:id="rId28"/>
    <p:sldId id="805" r:id="rId29"/>
    <p:sldId id="806" r:id="rId30"/>
    <p:sldId id="398" r:id="rId31"/>
    <p:sldId id="427" r:id="rId32"/>
    <p:sldId id="471" r:id="rId33"/>
    <p:sldId id="807" r:id="rId34"/>
  </p:sldIdLst>
  <p:sldSz cx="12192000" cy="6858000"/>
  <p:notesSz cx="6794500" cy="9931400"/>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orient="horz" pos="1253" userDrawn="1">
          <p15:clr>
            <a:srgbClr val="A4A3A4"/>
          </p15:clr>
        </p15:guide>
        <p15:guide id="3" orient="horz" pos="482" userDrawn="1">
          <p15:clr>
            <a:srgbClr val="A4A3A4"/>
          </p15:clr>
        </p15:guide>
        <p15:guide id="4" orient="horz" pos="3748" userDrawn="1">
          <p15:clr>
            <a:srgbClr val="A4A3A4"/>
          </p15:clr>
        </p15:guide>
        <p15:guide id="5" orient="horz" pos="1366" userDrawn="1">
          <p15:clr>
            <a:srgbClr val="A4A3A4"/>
          </p15:clr>
        </p15:guide>
        <p15:guide id="6" pos="887" userDrawn="1">
          <p15:clr>
            <a:srgbClr val="A4A3A4"/>
          </p15:clr>
        </p15:guide>
        <p15:guide id="7" pos="6732" userDrawn="1">
          <p15:clr>
            <a:srgbClr val="A4A3A4"/>
          </p15:clr>
        </p15:guide>
        <p15:guide id="8" pos="8345" userDrawn="1">
          <p15:clr>
            <a:srgbClr val="A4A3A4"/>
          </p15:clr>
        </p15:guide>
        <p15:guide id="9" pos="9556" userDrawn="1">
          <p15:clr>
            <a:srgbClr val="A4A3A4"/>
          </p15:clr>
        </p15:guide>
        <p15:guide id="10" pos="684" userDrawn="1">
          <p15:clr>
            <a:srgbClr val="A4A3A4"/>
          </p15:clr>
        </p15:guide>
        <p15:guide id="11" pos="9756" userDrawn="1">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0C2F"/>
    <a:srgbClr val="EB8ABA"/>
    <a:srgbClr val="00BC7B"/>
    <a:srgbClr val="FF9F00"/>
    <a:srgbClr val="A0A0A0"/>
    <a:srgbClr val="661326"/>
    <a:srgbClr val="B4B4B4"/>
    <a:srgbClr val="C8C8C8"/>
    <a:srgbClr val="6F6F6F"/>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D9F136-DEFA-064E-9B38-6844B5F0F794}" v="16" dt="2026-10-07T19:09:25.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85"/>
    <p:restoredTop sz="94658"/>
  </p:normalViewPr>
  <p:slideViewPr>
    <p:cSldViewPr snapToGrid="0">
      <p:cViewPr varScale="1">
        <p:scale>
          <a:sx n="116" d="100"/>
          <a:sy n="116" d="100"/>
        </p:scale>
        <p:origin x="224" y="272"/>
      </p:cViewPr>
      <p:guideLst>
        <p:guide orient="horz" pos="1026"/>
        <p:guide orient="horz" pos="1253"/>
        <p:guide orient="horz" pos="482"/>
        <p:guide orient="horz" pos="3748"/>
        <p:guide orient="horz" pos="1366"/>
        <p:guide pos="887"/>
        <p:guide pos="6732"/>
        <p:guide pos="8345"/>
        <p:guide pos="9556"/>
        <p:guide pos="684"/>
        <p:guide pos="9756"/>
      </p:guideLst>
    </p:cSldViewPr>
  </p:slideViewPr>
  <p:notesTextViewPr>
    <p:cViewPr>
      <p:scale>
        <a:sx n="1" d="1"/>
        <a:sy n="1" d="1"/>
      </p:scale>
      <p:origin x="0" y="0"/>
    </p:cViewPr>
  </p:notesTextViewPr>
  <p:notesViewPr>
    <p:cSldViewPr snapToGrid="0">
      <p:cViewPr>
        <p:scale>
          <a:sx n="1" d="2"/>
          <a:sy n="1" d="2"/>
        </p:scale>
        <p:origin x="0" y="0"/>
      </p:cViewPr>
      <p:guideLst>
        <p:guide orient="horz" pos="3128"/>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lesinger, Sebastian" userId="d814e6c9-e9fb-4b77-84f7-ccd8aa3529bb" providerId="ADAL" clId="{6D2FDA67-24CA-54D8-B1B4-CE061F2DAD41}"/>
    <pc:docChg chg="addSld delSld modSld">
      <pc:chgData name="Schlesinger, Sebastian" userId="d814e6c9-e9fb-4b77-84f7-ccd8aa3529bb" providerId="ADAL" clId="{6D2FDA67-24CA-54D8-B1B4-CE061F2DAD41}" dt="2026-10-07T19:09:25.192" v="210" actId="1076"/>
      <pc:docMkLst>
        <pc:docMk/>
      </pc:docMkLst>
      <pc:sldChg chg="del">
        <pc:chgData name="Schlesinger, Sebastian" userId="d814e6c9-e9fb-4b77-84f7-ccd8aa3529bb" providerId="ADAL" clId="{6D2FDA67-24CA-54D8-B1B4-CE061F2DAD41}" dt="2026-10-07T18:56:54.596" v="0" actId="2696"/>
        <pc:sldMkLst>
          <pc:docMk/>
          <pc:sldMk cId="2290171167" sldId="351"/>
        </pc:sldMkLst>
      </pc:sldChg>
      <pc:sldChg chg="modSp mod">
        <pc:chgData name="Schlesinger, Sebastian" userId="d814e6c9-e9fb-4b77-84f7-ccd8aa3529bb" providerId="ADAL" clId="{6D2FDA67-24CA-54D8-B1B4-CE061F2DAD41}" dt="2026-10-07T19:06:29.484" v="171" actId="20577"/>
        <pc:sldMkLst>
          <pc:docMk/>
          <pc:sldMk cId="495357155" sldId="357"/>
        </pc:sldMkLst>
        <pc:spChg chg="mod">
          <ac:chgData name="Schlesinger, Sebastian" userId="d814e6c9-e9fb-4b77-84f7-ccd8aa3529bb" providerId="ADAL" clId="{6D2FDA67-24CA-54D8-B1B4-CE061F2DAD41}" dt="2026-10-07T18:57:20.603" v="84" actId="20577"/>
          <ac:spMkLst>
            <pc:docMk/>
            <pc:sldMk cId="495357155" sldId="357"/>
            <ac:spMk id="4" creationId="{00000000-0000-0000-0000-000000000000}"/>
          </ac:spMkLst>
        </pc:spChg>
        <pc:spChg chg="mod">
          <ac:chgData name="Schlesinger, Sebastian" userId="d814e6c9-e9fb-4b77-84f7-ccd8aa3529bb" providerId="ADAL" clId="{6D2FDA67-24CA-54D8-B1B4-CE061F2DAD41}" dt="2026-10-07T19:06:29.484" v="171" actId="20577"/>
          <ac:spMkLst>
            <pc:docMk/>
            <pc:sldMk cId="495357155" sldId="357"/>
            <ac:spMk id="6" creationId="{00000000-0000-0000-0000-000000000000}"/>
          </ac:spMkLst>
        </pc:spChg>
      </pc:sldChg>
      <pc:sldChg chg="del">
        <pc:chgData name="Schlesinger, Sebastian" userId="d814e6c9-e9fb-4b77-84f7-ccd8aa3529bb" providerId="ADAL" clId="{6D2FDA67-24CA-54D8-B1B4-CE061F2DAD41}" dt="2026-10-07T18:57:28.740" v="86" actId="2696"/>
        <pc:sldMkLst>
          <pc:docMk/>
          <pc:sldMk cId="1935494770" sldId="378"/>
        </pc:sldMkLst>
      </pc:sldChg>
      <pc:sldChg chg="add del">
        <pc:chgData name="Schlesinger, Sebastian" userId="d814e6c9-e9fb-4b77-84f7-ccd8aa3529bb" providerId="ADAL" clId="{6D2FDA67-24CA-54D8-B1B4-CE061F2DAD41}" dt="2026-10-07T18:58:01.480" v="97"/>
        <pc:sldMkLst>
          <pc:docMk/>
          <pc:sldMk cId="3353014130" sldId="386"/>
        </pc:sldMkLst>
      </pc:sldChg>
      <pc:sldChg chg="add del">
        <pc:chgData name="Schlesinger, Sebastian" userId="d814e6c9-e9fb-4b77-84f7-ccd8aa3529bb" providerId="ADAL" clId="{6D2FDA67-24CA-54D8-B1B4-CE061F2DAD41}" dt="2026-10-07T18:58:01.480" v="97"/>
        <pc:sldMkLst>
          <pc:docMk/>
          <pc:sldMk cId="1949702015" sldId="390"/>
        </pc:sldMkLst>
      </pc:sldChg>
      <pc:sldChg chg="add del">
        <pc:chgData name="Schlesinger, Sebastian" userId="d814e6c9-e9fb-4b77-84f7-ccd8aa3529bb" providerId="ADAL" clId="{6D2FDA67-24CA-54D8-B1B4-CE061F2DAD41}" dt="2026-10-07T18:58:45.160" v="113"/>
        <pc:sldMkLst>
          <pc:docMk/>
          <pc:sldMk cId="2023623318" sldId="398"/>
        </pc:sldMkLst>
      </pc:sldChg>
      <pc:sldChg chg="add del">
        <pc:chgData name="Schlesinger, Sebastian" userId="d814e6c9-e9fb-4b77-84f7-ccd8aa3529bb" providerId="ADAL" clId="{6D2FDA67-24CA-54D8-B1B4-CE061F2DAD41}" dt="2026-10-07T18:58:01.480" v="97"/>
        <pc:sldMkLst>
          <pc:docMk/>
          <pc:sldMk cId="235768101" sldId="399"/>
        </pc:sldMkLst>
      </pc:sldChg>
      <pc:sldChg chg="modSp add del">
        <pc:chgData name="Schlesinger, Sebastian" userId="d814e6c9-e9fb-4b77-84f7-ccd8aa3529bb" providerId="ADAL" clId="{6D2FDA67-24CA-54D8-B1B4-CE061F2DAD41}" dt="2026-10-07T19:06:36.440" v="172" actId="1076"/>
        <pc:sldMkLst>
          <pc:docMk/>
          <pc:sldMk cId="3918027199" sldId="400"/>
        </pc:sldMkLst>
        <pc:spChg chg="mod">
          <ac:chgData name="Schlesinger, Sebastian" userId="d814e6c9-e9fb-4b77-84f7-ccd8aa3529bb" providerId="ADAL" clId="{6D2FDA67-24CA-54D8-B1B4-CE061F2DAD41}" dt="2026-10-07T19:06:36.440" v="172" actId="1076"/>
          <ac:spMkLst>
            <pc:docMk/>
            <pc:sldMk cId="3918027199" sldId="400"/>
            <ac:spMk id="3" creationId="{3EC7000B-16DC-0EA9-6DBD-37E53D6E6884}"/>
          </ac:spMkLst>
        </pc:spChg>
      </pc:sldChg>
      <pc:sldChg chg="del">
        <pc:chgData name="Schlesinger, Sebastian" userId="d814e6c9-e9fb-4b77-84f7-ccd8aa3529bb" providerId="ADAL" clId="{6D2FDA67-24CA-54D8-B1B4-CE061F2DAD41}" dt="2026-10-07T18:57:56.213" v="94" actId="2696"/>
        <pc:sldMkLst>
          <pc:docMk/>
          <pc:sldMk cId="2133374001" sldId="401"/>
        </pc:sldMkLst>
      </pc:sldChg>
      <pc:sldChg chg="del">
        <pc:chgData name="Schlesinger, Sebastian" userId="d814e6c9-e9fb-4b77-84f7-ccd8aa3529bb" providerId="ADAL" clId="{6D2FDA67-24CA-54D8-B1B4-CE061F2DAD41}" dt="2026-10-07T18:58:39.349" v="110" actId="2696"/>
        <pc:sldMkLst>
          <pc:docMk/>
          <pc:sldMk cId="1037533742" sldId="403"/>
        </pc:sldMkLst>
      </pc:sldChg>
      <pc:sldChg chg="add del">
        <pc:chgData name="Schlesinger, Sebastian" userId="d814e6c9-e9fb-4b77-84f7-ccd8aa3529bb" providerId="ADAL" clId="{6D2FDA67-24CA-54D8-B1B4-CE061F2DAD41}" dt="2026-10-07T18:58:45.160" v="113"/>
        <pc:sldMkLst>
          <pc:docMk/>
          <pc:sldMk cId="2686679204" sldId="404"/>
        </pc:sldMkLst>
      </pc:sldChg>
      <pc:sldChg chg="add del">
        <pc:chgData name="Schlesinger, Sebastian" userId="d814e6c9-e9fb-4b77-84f7-ccd8aa3529bb" providerId="ADAL" clId="{6D2FDA67-24CA-54D8-B1B4-CE061F2DAD41}" dt="2026-10-07T18:58:45.160" v="113"/>
        <pc:sldMkLst>
          <pc:docMk/>
          <pc:sldMk cId="32347726" sldId="405"/>
        </pc:sldMkLst>
      </pc:sldChg>
      <pc:sldChg chg="add del">
        <pc:chgData name="Schlesinger, Sebastian" userId="d814e6c9-e9fb-4b77-84f7-ccd8aa3529bb" providerId="ADAL" clId="{6D2FDA67-24CA-54D8-B1B4-CE061F2DAD41}" dt="2026-10-07T18:58:45.160" v="113"/>
        <pc:sldMkLst>
          <pc:docMk/>
          <pc:sldMk cId="2384525125" sldId="406"/>
        </pc:sldMkLst>
      </pc:sldChg>
      <pc:sldChg chg="add del">
        <pc:chgData name="Schlesinger, Sebastian" userId="d814e6c9-e9fb-4b77-84f7-ccd8aa3529bb" providerId="ADAL" clId="{6D2FDA67-24CA-54D8-B1B4-CE061F2DAD41}" dt="2026-10-07T18:58:45.160" v="113"/>
        <pc:sldMkLst>
          <pc:docMk/>
          <pc:sldMk cId="3736502416" sldId="407"/>
        </pc:sldMkLst>
      </pc:sldChg>
      <pc:sldChg chg="del">
        <pc:chgData name="Schlesinger, Sebastian" userId="d814e6c9-e9fb-4b77-84f7-ccd8aa3529bb" providerId="ADAL" clId="{6D2FDA67-24CA-54D8-B1B4-CE061F2DAD41}" dt="2026-10-07T18:58:39.323" v="105" actId="2696"/>
        <pc:sldMkLst>
          <pc:docMk/>
          <pc:sldMk cId="48017531" sldId="408"/>
        </pc:sldMkLst>
      </pc:sldChg>
      <pc:sldChg chg="add del">
        <pc:chgData name="Schlesinger, Sebastian" userId="d814e6c9-e9fb-4b77-84f7-ccd8aa3529bb" providerId="ADAL" clId="{6D2FDA67-24CA-54D8-B1B4-CE061F2DAD41}" dt="2026-10-07T18:58:45.160" v="113"/>
        <pc:sldMkLst>
          <pc:docMk/>
          <pc:sldMk cId="1501166138" sldId="410"/>
        </pc:sldMkLst>
      </pc:sldChg>
      <pc:sldChg chg="add del">
        <pc:chgData name="Schlesinger, Sebastian" userId="d814e6c9-e9fb-4b77-84f7-ccd8aa3529bb" providerId="ADAL" clId="{6D2FDA67-24CA-54D8-B1B4-CE061F2DAD41}" dt="2026-10-07T18:58:45.160" v="113"/>
        <pc:sldMkLst>
          <pc:docMk/>
          <pc:sldMk cId="3677453344" sldId="411"/>
        </pc:sldMkLst>
      </pc:sldChg>
      <pc:sldChg chg="del">
        <pc:chgData name="Schlesinger, Sebastian" userId="d814e6c9-e9fb-4b77-84f7-ccd8aa3529bb" providerId="ADAL" clId="{6D2FDA67-24CA-54D8-B1B4-CE061F2DAD41}" dt="2026-10-07T18:58:39.328" v="109" actId="2696"/>
        <pc:sldMkLst>
          <pc:docMk/>
          <pc:sldMk cId="1312857623" sldId="412"/>
        </pc:sldMkLst>
      </pc:sldChg>
      <pc:sldChg chg="modSp add del">
        <pc:chgData name="Schlesinger, Sebastian" userId="d814e6c9-e9fb-4b77-84f7-ccd8aa3529bb" providerId="ADAL" clId="{6D2FDA67-24CA-54D8-B1B4-CE061F2DAD41}" dt="2026-10-07T19:09:08.125" v="208" actId="1076"/>
        <pc:sldMkLst>
          <pc:docMk/>
          <pc:sldMk cId="3967508071" sldId="413"/>
        </pc:sldMkLst>
        <pc:spChg chg="mod">
          <ac:chgData name="Schlesinger, Sebastian" userId="d814e6c9-e9fb-4b77-84f7-ccd8aa3529bb" providerId="ADAL" clId="{6D2FDA67-24CA-54D8-B1B4-CE061F2DAD41}" dt="2026-10-07T19:09:08.125" v="208" actId="1076"/>
          <ac:spMkLst>
            <pc:docMk/>
            <pc:sldMk cId="3967508071" sldId="413"/>
            <ac:spMk id="2" creationId="{E0BB378E-573D-6AED-DB19-50CF9170017C}"/>
          </ac:spMkLst>
        </pc:spChg>
      </pc:sldChg>
      <pc:sldChg chg="modSp add del">
        <pc:chgData name="Schlesinger, Sebastian" userId="d814e6c9-e9fb-4b77-84f7-ccd8aa3529bb" providerId="ADAL" clId="{6D2FDA67-24CA-54D8-B1B4-CE061F2DAD41}" dt="2026-10-07T19:09:25.192" v="210" actId="1076"/>
        <pc:sldMkLst>
          <pc:docMk/>
          <pc:sldMk cId="723631594" sldId="427"/>
        </pc:sldMkLst>
        <pc:spChg chg="mod">
          <ac:chgData name="Schlesinger, Sebastian" userId="d814e6c9-e9fb-4b77-84f7-ccd8aa3529bb" providerId="ADAL" clId="{6D2FDA67-24CA-54D8-B1B4-CE061F2DAD41}" dt="2026-10-07T19:09:22.492" v="209" actId="1076"/>
          <ac:spMkLst>
            <pc:docMk/>
            <pc:sldMk cId="723631594" sldId="427"/>
            <ac:spMk id="2" creationId="{598D4418-BDD4-6572-2D34-AA5568AB55A6}"/>
          </ac:spMkLst>
        </pc:spChg>
        <pc:spChg chg="mod">
          <ac:chgData name="Schlesinger, Sebastian" userId="d814e6c9-e9fb-4b77-84f7-ccd8aa3529bb" providerId="ADAL" clId="{6D2FDA67-24CA-54D8-B1B4-CE061F2DAD41}" dt="2026-10-07T19:09:25.192" v="210" actId="1076"/>
          <ac:spMkLst>
            <pc:docMk/>
            <pc:sldMk cId="723631594" sldId="427"/>
            <ac:spMk id="3" creationId="{7994E881-D2E6-C524-EA03-B845B1C2F698}"/>
          </ac:spMkLst>
        </pc:spChg>
      </pc:sldChg>
      <pc:sldChg chg="del">
        <pc:chgData name="Schlesinger, Sebastian" userId="d814e6c9-e9fb-4b77-84f7-ccd8aa3529bb" providerId="ADAL" clId="{6D2FDA67-24CA-54D8-B1B4-CE061F2DAD41}" dt="2026-10-07T18:58:39.328" v="108" actId="2696"/>
        <pc:sldMkLst>
          <pc:docMk/>
          <pc:sldMk cId="4248463981" sldId="428"/>
        </pc:sldMkLst>
      </pc:sldChg>
      <pc:sldChg chg="add del">
        <pc:chgData name="Schlesinger, Sebastian" userId="d814e6c9-e9fb-4b77-84f7-ccd8aa3529bb" providerId="ADAL" clId="{6D2FDA67-24CA-54D8-B1B4-CE061F2DAD41}" dt="2026-10-07T18:58:01.480" v="97"/>
        <pc:sldMkLst>
          <pc:docMk/>
          <pc:sldMk cId="337831820" sldId="444"/>
        </pc:sldMkLst>
      </pc:sldChg>
      <pc:sldChg chg="add del">
        <pc:chgData name="Schlesinger, Sebastian" userId="d814e6c9-e9fb-4b77-84f7-ccd8aa3529bb" providerId="ADAL" clId="{6D2FDA67-24CA-54D8-B1B4-CE061F2DAD41}" dt="2026-10-07T18:58:01.480" v="97"/>
        <pc:sldMkLst>
          <pc:docMk/>
          <pc:sldMk cId="5089591" sldId="445"/>
        </pc:sldMkLst>
      </pc:sldChg>
      <pc:sldChg chg="add del">
        <pc:chgData name="Schlesinger, Sebastian" userId="d814e6c9-e9fb-4b77-84f7-ccd8aa3529bb" providerId="ADAL" clId="{6D2FDA67-24CA-54D8-B1B4-CE061F2DAD41}" dt="2026-10-07T18:58:45.160" v="113"/>
        <pc:sldMkLst>
          <pc:docMk/>
          <pc:sldMk cId="3452689881" sldId="471"/>
        </pc:sldMkLst>
      </pc:sldChg>
      <pc:sldChg chg="del">
        <pc:chgData name="Schlesinger, Sebastian" userId="d814e6c9-e9fb-4b77-84f7-ccd8aa3529bb" providerId="ADAL" clId="{6D2FDA67-24CA-54D8-B1B4-CE061F2DAD41}" dt="2026-10-07T18:58:39.316" v="99" actId="2696"/>
        <pc:sldMkLst>
          <pc:docMk/>
          <pc:sldMk cId="3019029778" sldId="472"/>
        </pc:sldMkLst>
      </pc:sldChg>
      <pc:sldChg chg="del">
        <pc:chgData name="Schlesinger, Sebastian" userId="d814e6c9-e9fb-4b77-84f7-ccd8aa3529bb" providerId="ADAL" clId="{6D2FDA67-24CA-54D8-B1B4-CE061F2DAD41}" dt="2026-10-07T18:58:52.196" v="115" actId="2696"/>
        <pc:sldMkLst>
          <pc:docMk/>
          <pc:sldMk cId="2971101637" sldId="474"/>
        </pc:sldMkLst>
      </pc:sldChg>
      <pc:sldChg chg="del">
        <pc:chgData name="Schlesinger, Sebastian" userId="d814e6c9-e9fb-4b77-84f7-ccd8aa3529bb" providerId="ADAL" clId="{6D2FDA67-24CA-54D8-B1B4-CE061F2DAD41}" dt="2026-10-07T18:58:52.197" v="116" actId="2696"/>
        <pc:sldMkLst>
          <pc:docMk/>
          <pc:sldMk cId="2344769523" sldId="475"/>
        </pc:sldMkLst>
      </pc:sldChg>
      <pc:sldChg chg="del">
        <pc:chgData name="Schlesinger, Sebastian" userId="d814e6c9-e9fb-4b77-84f7-ccd8aa3529bb" providerId="ADAL" clId="{6D2FDA67-24CA-54D8-B1B4-CE061F2DAD41}" dt="2026-10-07T18:57:23.815" v="85" actId="2696"/>
        <pc:sldMkLst>
          <pc:docMk/>
          <pc:sldMk cId="1168864891" sldId="476"/>
        </pc:sldMkLst>
      </pc:sldChg>
      <pc:sldChg chg="del">
        <pc:chgData name="Schlesinger, Sebastian" userId="d814e6c9-e9fb-4b77-84f7-ccd8aa3529bb" providerId="ADAL" clId="{6D2FDA67-24CA-54D8-B1B4-CE061F2DAD41}" dt="2026-10-07T18:57:28.745" v="87" actId="2696"/>
        <pc:sldMkLst>
          <pc:docMk/>
          <pc:sldMk cId="246448908" sldId="477"/>
        </pc:sldMkLst>
      </pc:sldChg>
      <pc:sldChg chg="del">
        <pc:chgData name="Schlesinger, Sebastian" userId="d814e6c9-e9fb-4b77-84f7-ccd8aa3529bb" providerId="ADAL" clId="{6D2FDA67-24CA-54D8-B1B4-CE061F2DAD41}" dt="2026-10-07T18:57:59.924" v="96" actId="2696"/>
        <pc:sldMkLst>
          <pc:docMk/>
          <pc:sldMk cId="3041099112" sldId="478"/>
        </pc:sldMkLst>
      </pc:sldChg>
      <pc:sldChg chg="del">
        <pc:chgData name="Schlesinger, Sebastian" userId="d814e6c9-e9fb-4b77-84f7-ccd8aa3529bb" providerId="ADAL" clId="{6D2FDA67-24CA-54D8-B1B4-CE061F2DAD41}" dt="2026-10-07T18:58:52.196" v="114" actId="2696"/>
        <pc:sldMkLst>
          <pc:docMk/>
          <pc:sldMk cId="2183728844" sldId="479"/>
        </pc:sldMkLst>
      </pc:sldChg>
      <pc:sldChg chg="del">
        <pc:chgData name="Schlesinger, Sebastian" userId="d814e6c9-e9fb-4b77-84f7-ccd8aa3529bb" providerId="ADAL" clId="{6D2FDA67-24CA-54D8-B1B4-CE061F2DAD41}" dt="2026-10-07T18:58:52.201" v="117" actId="2696"/>
        <pc:sldMkLst>
          <pc:docMk/>
          <pc:sldMk cId="2985875160" sldId="480"/>
        </pc:sldMkLst>
      </pc:sldChg>
      <pc:sldChg chg="del">
        <pc:chgData name="Schlesinger, Sebastian" userId="d814e6c9-e9fb-4b77-84f7-ccd8aa3529bb" providerId="ADAL" clId="{6D2FDA67-24CA-54D8-B1B4-CE061F2DAD41}" dt="2026-10-07T18:57:31.490" v="88" actId="2696"/>
        <pc:sldMkLst>
          <pc:docMk/>
          <pc:sldMk cId="4016704997" sldId="481"/>
        </pc:sldMkLst>
      </pc:sldChg>
      <pc:sldChg chg="add">
        <pc:chgData name="Schlesinger, Sebastian" userId="d814e6c9-e9fb-4b77-84f7-ccd8aa3529bb" providerId="ADAL" clId="{6D2FDA67-24CA-54D8-B1B4-CE061F2DAD41}" dt="2026-10-07T18:58:01.480" v="97"/>
        <pc:sldMkLst>
          <pc:docMk/>
          <pc:sldMk cId="3956233659" sldId="792"/>
        </pc:sldMkLst>
      </pc:sldChg>
      <pc:sldChg chg="modSp add mod">
        <pc:chgData name="Schlesinger, Sebastian" userId="d814e6c9-e9fb-4b77-84f7-ccd8aa3529bb" providerId="ADAL" clId="{6D2FDA67-24CA-54D8-B1B4-CE061F2DAD41}" dt="2026-10-07T19:08:32.392" v="204" actId="1076"/>
        <pc:sldMkLst>
          <pc:docMk/>
          <pc:sldMk cId="3623777770" sldId="793"/>
        </pc:sldMkLst>
        <pc:spChg chg="mod">
          <ac:chgData name="Schlesinger, Sebastian" userId="d814e6c9-e9fb-4b77-84f7-ccd8aa3529bb" providerId="ADAL" clId="{6D2FDA67-24CA-54D8-B1B4-CE061F2DAD41}" dt="2026-10-07T19:08:32.392" v="204" actId="1076"/>
          <ac:spMkLst>
            <pc:docMk/>
            <pc:sldMk cId="3623777770" sldId="793"/>
            <ac:spMk id="5" creationId="{701C2857-95B0-5256-0843-9222714287CC}"/>
          </ac:spMkLst>
        </pc:spChg>
      </pc:sldChg>
      <pc:sldChg chg="modSp add mod">
        <pc:chgData name="Schlesinger, Sebastian" userId="d814e6c9-e9fb-4b77-84f7-ccd8aa3529bb" providerId="ADAL" clId="{6D2FDA67-24CA-54D8-B1B4-CE061F2DAD41}" dt="2026-10-07T19:08:24.325" v="203" actId="1076"/>
        <pc:sldMkLst>
          <pc:docMk/>
          <pc:sldMk cId="115997261" sldId="794"/>
        </pc:sldMkLst>
        <pc:spChg chg="mod">
          <ac:chgData name="Schlesinger, Sebastian" userId="d814e6c9-e9fb-4b77-84f7-ccd8aa3529bb" providerId="ADAL" clId="{6D2FDA67-24CA-54D8-B1B4-CE061F2DAD41}" dt="2026-10-07T19:08:12.074" v="198" actId="1076"/>
          <ac:spMkLst>
            <pc:docMk/>
            <pc:sldMk cId="115997261" sldId="794"/>
            <ac:spMk id="2" creationId="{6A1F0E34-2583-40FA-86DC-2D2F8D4913EE}"/>
          </ac:spMkLst>
        </pc:spChg>
        <pc:spChg chg="mod">
          <ac:chgData name="Schlesinger, Sebastian" userId="d814e6c9-e9fb-4b77-84f7-ccd8aa3529bb" providerId="ADAL" clId="{6D2FDA67-24CA-54D8-B1B4-CE061F2DAD41}" dt="2026-10-07T19:08:19.954" v="202" actId="404"/>
          <ac:spMkLst>
            <pc:docMk/>
            <pc:sldMk cId="115997261" sldId="794"/>
            <ac:spMk id="3" creationId="{1DCB4949-6907-3C85-B26B-845F8EDDFAB3}"/>
          </ac:spMkLst>
        </pc:spChg>
        <pc:spChg chg="mod">
          <ac:chgData name="Schlesinger, Sebastian" userId="d814e6c9-e9fb-4b77-84f7-ccd8aa3529bb" providerId="ADAL" clId="{6D2FDA67-24CA-54D8-B1B4-CE061F2DAD41}" dt="2026-10-07T19:08:24.325" v="203" actId="1076"/>
          <ac:spMkLst>
            <pc:docMk/>
            <pc:sldMk cId="115997261" sldId="794"/>
            <ac:spMk id="4" creationId="{ACCB68F0-2C3D-4F65-68D9-A868A2EC8F38}"/>
          </ac:spMkLst>
        </pc:spChg>
      </pc:sldChg>
      <pc:sldChg chg="modSp add mod">
        <pc:chgData name="Schlesinger, Sebastian" userId="d814e6c9-e9fb-4b77-84f7-ccd8aa3529bb" providerId="ADAL" clId="{6D2FDA67-24CA-54D8-B1B4-CE061F2DAD41}" dt="2026-10-07T19:08:39.808" v="205" actId="1076"/>
        <pc:sldMkLst>
          <pc:docMk/>
          <pc:sldMk cId="326868251" sldId="795"/>
        </pc:sldMkLst>
        <pc:spChg chg="mod">
          <ac:chgData name="Schlesinger, Sebastian" userId="d814e6c9-e9fb-4b77-84f7-ccd8aa3529bb" providerId="ADAL" clId="{6D2FDA67-24CA-54D8-B1B4-CE061F2DAD41}" dt="2026-10-07T19:08:39.808" v="205" actId="1076"/>
          <ac:spMkLst>
            <pc:docMk/>
            <pc:sldMk cId="326868251" sldId="795"/>
            <ac:spMk id="2" creationId="{7D224517-256E-7E87-F831-A0B529406DA2}"/>
          </ac:spMkLst>
        </pc:spChg>
        <pc:spChg chg="mod">
          <ac:chgData name="Schlesinger, Sebastian" userId="d814e6c9-e9fb-4b77-84f7-ccd8aa3529bb" providerId="ADAL" clId="{6D2FDA67-24CA-54D8-B1B4-CE061F2DAD41}" dt="2026-10-07T19:08:04.817" v="197" actId="20577"/>
          <ac:spMkLst>
            <pc:docMk/>
            <pc:sldMk cId="326868251" sldId="795"/>
            <ac:spMk id="3" creationId="{15C1F3F4-9CE0-B19C-5856-1C37EE896D54}"/>
          </ac:spMkLst>
        </pc:spChg>
      </pc:sldChg>
      <pc:sldChg chg="modSp add mod">
        <pc:chgData name="Schlesinger, Sebastian" userId="d814e6c9-e9fb-4b77-84f7-ccd8aa3529bb" providerId="ADAL" clId="{6D2FDA67-24CA-54D8-B1B4-CE061F2DAD41}" dt="2026-10-07T19:07:55.524" v="194" actId="1076"/>
        <pc:sldMkLst>
          <pc:docMk/>
          <pc:sldMk cId="3585562995" sldId="796"/>
        </pc:sldMkLst>
        <pc:spChg chg="mod">
          <ac:chgData name="Schlesinger, Sebastian" userId="d814e6c9-e9fb-4b77-84f7-ccd8aa3529bb" providerId="ADAL" clId="{6D2FDA67-24CA-54D8-B1B4-CE061F2DAD41}" dt="2026-10-07T19:07:55.524" v="194" actId="1076"/>
          <ac:spMkLst>
            <pc:docMk/>
            <pc:sldMk cId="3585562995" sldId="796"/>
            <ac:spMk id="4" creationId="{8FF82CBB-CF9C-BCA3-294C-983F5C1CCD73}"/>
          </ac:spMkLst>
        </pc:spChg>
      </pc:sldChg>
      <pc:sldChg chg="modSp add mod">
        <pc:chgData name="Schlesinger, Sebastian" userId="d814e6c9-e9fb-4b77-84f7-ccd8aa3529bb" providerId="ADAL" clId="{6D2FDA67-24CA-54D8-B1B4-CE061F2DAD41}" dt="2026-10-07T19:07:51.324" v="193" actId="1076"/>
        <pc:sldMkLst>
          <pc:docMk/>
          <pc:sldMk cId="3757956843" sldId="797"/>
        </pc:sldMkLst>
        <pc:spChg chg="mod">
          <ac:chgData name="Schlesinger, Sebastian" userId="d814e6c9-e9fb-4b77-84f7-ccd8aa3529bb" providerId="ADAL" clId="{6D2FDA67-24CA-54D8-B1B4-CE061F2DAD41}" dt="2026-10-07T19:07:48.471" v="192" actId="6549"/>
          <ac:spMkLst>
            <pc:docMk/>
            <pc:sldMk cId="3757956843" sldId="797"/>
            <ac:spMk id="3" creationId="{2DEC894A-11A3-5F75-E842-FE7FF8ECAE47}"/>
          </ac:spMkLst>
        </pc:spChg>
        <pc:picChg chg="mod">
          <ac:chgData name="Schlesinger, Sebastian" userId="d814e6c9-e9fb-4b77-84f7-ccd8aa3529bb" providerId="ADAL" clId="{6D2FDA67-24CA-54D8-B1B4-CE061F2DAD41}" dt="2026-10-07T19:07:51.324" v="193" actId="1076"/>
          <ac:picMkLst>
            <pc:docMk/>
            <pc:sldMk cId="3757956843" sldId="797"/>
            <ac:picMk id="4" creationId="{C349CFA9-BF3A-7C3E-4FD7-1478E75F0FAD}"/>
          </ac:picMkLst>
        </pc:picChg>
      </pc:sldChg>
      <pc:sldChg chg="add">
        <pc:chgData name="Schlesinger, Sebastian" userId="d814e6c9-e9fb-4b77-84f7-ccd8aa3529bb" providerId="ADAL" clId="{6D2FDA67-24CA-54D8-B1B4-CE061F2DAD41}" dt="2026-10-07T18:58:01.480" v="97"/>
        <pc:sldMkLst>
          <pc:docMk/>
          <pc:sldMk cId="4113809851" sldId="798"/>
        </pc:sldMkLst>
      </pc:sldChg>
      <pc:sldChg chg="add">
        <pc:chgData name="Schlesinger, Sebastian" userId="d814e6c9-e9fb-4b77-84f7-ccd8aa3529bb" providerId="ADAL" clId="{6D2FDA67-24CA-54D8-B1B4-CE061F2DAD41}" dt="2026-10-07T18:58:01.480" v="97"/>
        <pc:sldMkLst>
          <pc:docMk/>
          <pc:sldMk cId="52263509" sldId="799"/>
        </pc:sldMkLst>
      </pc:sldChg>
      <pc:sldChg chg="modSp add">
        <pc:chgData name="Schlesinger, Sebastian" userId="d814e6c9-e9fb-4b77-84f7-ccd8aa3529bb" providerId="ADAL" clId="{6D2FDA67-24CA-54D8-B1B4-CE061F2DAD41}" dt="2026-10-07T19:08:44.124" v="206" actId="1076"/>
        <pc:sldMkLst>
          <pc:docMk/>
          <pc:sldMk cId="3087842530" sldId="800"/>
        </pc:sldMkLst>
        <pc:spChg chg="mod">
          <ac:chgData name="Schlesinger, Sebastian" userId="d814e6c9-e9fb-4b77-84f7-ccd8aa3529bb" providerId="ADAL" clId="{6D2FDA67-24CA-54D8-B1B4-CE061F2DAD41}" dt="2026-10-07T19:08:44.124" v="206" actId="1076"/>
          <ac:spMkLst>
            <pc:docMk/>
            <pc:sldMk cId="3087842530" sldId="800"/>
            <ac:spMk id="2" creationId="{C6AD7E1E-78EF-7089-95C9-45B0078FC966}"/>
          </ac:spMkLst>
        </pc:spChg>
      </pc:sldChg>
      <pc:sldChg chg="add">
        <pc:chgData name="Schlesinger, Sebastian" userId="d814e6c9-e9fb-4b77-84f7-ccd8aa3529bb" providerId="ADAL" clId="{6D2FDA67-24CA-54D8-B1B4-CE061F2DAD41}" dt="2026-10-07T18:58:45.160" v="113"/>
        <pc:sldMkLst>
          <pc:docMk/>
          <pc:sldMk cId="2938376071" sldId="801"/>
        </pc:sldMkLst>
      </pc:sldChg>
      <pc:sldChg chg="add">
        <pc:chgData name="Schlesinger, Sebastian" userId="d814e6c9-e9fb-4b77-84f7-ccd8aa3529bb" providerId="ADAL" clId="{6D2FDA67-24CA-54D8-B1B4-CE061F2DAD41}" dt="2026-10-07T18:58:01.480" v="97"/>
        <pc:sldMkLst>
          <pc:docMk/>
          <pc:sldMk cId="830937812" sldId="802"/>
        </pc:sldMkLst>
      </pc:sldChg>
      <pc:sldChg chg="modSp add">
        <pc:chgData name="Schlesinger, Sebastian" userId="d814e6c9-e9fb-4b77-84f7-ccd8aa3529bb" providerId="ADAL" clId="{6D2FDA67-24CA-54D8-B1B4-CE061F2DAD41}" dt="2026-10-07T19:08:57.308" v="207" actId="1076"/>
        <pc:sldMkLst>
          <pc:docMk/>
          <pc:sldMk cId="2837576611" sldId="803"/>
        </pc:sldMkLst>
        <pc:spChg chg="mod">
          <ac:chgData name="Schlesinger, Sebastian" userId="d814e6c9-e9fb-4b77-84f7-ccd8aa3529bb" providerId="ADAL" clId="{6D2FDA67-24CA-54D8-B1B4-CE061F2DAD41}" dt="2026-10-07T19:08:57.308" v="207" actId="1076"/>
          <ac:spMkLst>
            <pc:docMk/>
            <pc:sldMk cId="2837576611" sldId="803"/>
            <ac:spMk id="2" creationId="{12D2212A-A950-8411-62EF-6853E15EA01D}"/>
          </ac:spMkLst>
        </pc:spChg>
      </pc:sldChg>
      <pc:sldChg chg="add">
        <pc:chgData name="Schlesinger, Sebastian" userId="d814e6c9-e9fb-4b77-84f7-ccd8aa3529bb" providerId="ADAL" clId="{6D2FDA67-24CA-54D8-B1B4-CE061F2DAD41}" dt="2026-10-07T18:58:45.160" v="113"/>
        <pc:sldMkLst>
          <pc:docMk/>
          <pc:sldMk cId="1411481666" sldId="804"/>
        </pc:sldMkLst>
      </pc:sldChg>
      <pc:sldChg chg="add">
        <pc:chgData name="Schlesinger, Sebastian" userId="d814e6c9-e9fb-4b77-84f7-ccd8aa3529bb" providerId="ADAL" clId="{6D2FDA67-24CA-54D8-B1B4-CE061F2DAD41}" dt="2026-10-07T18:58:45.160" v="113"/>
        <pc:sldMkLst>
          <pc:docMk/>
          <pc:sldMk cId="1139236768" sldId="805"/>
        </pc:sldMkLst>
      </pc:sldChg>
      <pc:sldChg chg="add">
        <pc:chgData name="Schlesinger, Sebastian" userId="d814e6c9-e9fb-4b77-84f7-ccd8aa3529bb" providerId="ADAL" clId="{6D2FDA67-24CA-54D8-B1B4-CE061F2DAD41}" dt="2026-10-07T18:58:45.160" v="113"/>
        <pc:sldMkLst>
          <pc:docMk/>
          <pc:sldMk cId="3110274614" sldId="806"/>
        </pc:sldMkLst>
      </pc:sldChg>
      <pc:sldChg chg="add">
        <pc:chgData name="Schlesinger, Sebastian" userId="d814e6c9-e9fb-4b77-84f7-ccd8aa3529bb" providerId="ADAL" clId="{6D2FDA67-24CA-54D8-B1B4-CE061F2DAD41}" dt="2026-10-07T19:07:13.218" v="173"/>
        <pc:sldMkLst>
          <pc:docMk/>
          <pc:sldMk cId="4065880971" sldId="8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defTabSz="911866">
              <a:defRPr sz="1200"/>
            </a:lvl1pPr>
          </a:lstStyle>
          <a:p>
            <a:pPr>
              <a:defRPr/>
            </a:pPr>
            <a:endParaRPr lang="de-DE"/>
          </a:p>
        </p:txBody>
      </p:sp>
      <p:sp>
        <p:nvSpPr>
          <p:cNvPr id="21507" name="Rectangle 3"/>
          <p:cNvSpPr>
            <a:spLocks noGrp="1" noChangeArrowheads="1"/>
          </p:cNvSpPr>
          <p:nvPr>
            <p:ph type="dt" sz="quarter" idx="1"/>
          </p:nvPr>
        </p:nvSpPr>
        <p:spPr bwMode="auto">
          <a:xfrm>
            <a:off x="384789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algn="r" defTabSz="911866">
              <a:defRPr sz="1200"/>
            </a:lvl1pPr>
          </a:lstStyle>
          <a:p>
            <a:pPr>
              <a:defRPr/>
            </a:pPr>
            <a:fld id="{1AF14A10-99AE-4120-9323-6CE7BBE3976A}" type="datetime4">
              <a:rPr lang="en-GB"/>
              <a:pPr>
                <a:defRPr/>
              </a:pPr>
              <a:t>7 October 2026</a:t>
            </a:fld>
            <a:endParaRPr lang="de-DE"/>
          </a:p>
        </p:txBody>
      </p:sp>
      <p:sp>
        <p:nvSpPr>
          <p:cNvPr id="21508" name="Rectangle 4"/>
          <p:cNvSpPr>
            <a:spLocks noGrp="1" noChangeArrowheads="1"/>
          </p:cNvSpPr>
          <p:nvPr>
            <p:ph type="ftr" sz="quarter" idx="2"/>
          </p:nvPr>
        </p:nvSpPr>
        <p:spPr bwMode="auto">
          <a:xfrm>
            <a:off x="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defTabSz="911866">
              <a:defRPr sz="1200"/>
            </a:lvl1pPr>
          </a:lstStyle>
          <a:p>
            <a:pPr>
              <a:defRPr/>
            </a:pPr>
            <a:endParaRPr lang="de-DE"/>
          </a:p>
        </p:txBody>
      </p:sp>
      <p:sp>
        <p:nvSpPr>
          <p:cNvPr id="21509" name="Rectangle 5"/>
          <p:cNvSpPr>
            <a:spLocks noGrp="1" noChangeArrowheads="1"/>
          </p:cNvSpPr>
          <p:nvPr>
            <p:ph type="sldNum" sz="quarter" idx="3"/>
          </p:nvPr>
        </p:nvSpPr>
        <p:spPr bwMode="auto">
          <a:xfrm>
            <a:off x="384789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algn="r" defTabSz="911866">
              <a:defRPr sz="1200"/>
            </a:lvl1pPr>
          </a:lstStyle>
          <a:p>
            <a:pPr>
              <a:defRPr/>
            </a:pPr>
            <a:fld id="{DB03FF46-B441-4521-8D2C-1B4B52A8D75C}" type="slidenum">
              <a:rPr lang="de-DE"/>
              <a:pPr>
                <a:defRPr/>
              </a:pPr>
              <a:t>‹#›</a:t>
            </a:fld>
            <a:endParaRPr lang="de-DE"/>
          </a:p>
        </p:txBody>
      </p:sp>
    </p:spTree>
    <p:extLst>
      <p:ext uri="{BB962C8B-B14F-4D97-AF65-F5344CB8AC3E}">
        <p14:creationId xmlns:p14="http://schemas.microsoft.com/office/powerpoint/2010/main" val="40337704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defTabSz="911866">
              <a:defRPr sz="1200"/>
            </a:lvl1pPr>
          </a:lstStyle>
          <a:p>
            <a:pPr>
              <a:defRPr/>
            </a:pPr>
            <a:endParaRPr lang="de-DE"/>
          </a:p>
        </p:txBody>
      </p:sp>
      <p:sp>
        <p:nvSpPr>
          <p:cNvPr id="23555" name="Rectangle 3"/>
          <p:cNvSpPr>
            <a:spLocks noGrp="1" noChangeArrowheads="1"/>
          </p:cNvSpPr>
          <p:nvPr>
            <p:ph type="dt" idx="1"/>
          </p:nvPr>
        </p:nvSpPr>
        <p:spPr bwMode="auto">
          <a:xfrm>
            <a:off x="384789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algn="r" defTabSz="911866">
              <a:defRPr sz="1200"/>
            </a:lvl1pPr>
          </a:lstStyle>
          <a:p>
            <a:pPr>
              <a:defRPr/>
            </a:pPr>
            <a:fld id="{D267AC1B-09BC-43E5-9AA7-F5ABF6F8E08F}" type="datetime4">
              <a:rPr lang="en-GB"/>
              <a:pPr>
                <a:defRPr/>
              </a:pPr>
              <a:t>7 October 2026</a:t>
            </a:fld>
            <a:endParaRPr lang="de-DE"/>
          </a:p>
        </p:txBody>
      </p:sp>
      <p:sp>
        <p:nvSpPr>
          <p:cNvPr id="25604" name="Rectangle 4"/>
          <p:cNvSpPr>
            <a:spLocks noGrp="1" noRot="1" noChangeAspect="1" noChangeArrowheads="1" noTextEdit="1"/>
          </p:cNvSpPr>
          <p:nvPr>
            <p:ph type="sldImg" idx="2"/>
          </p:nvPr>
        </p:nvSpPr>
        <p:spPr bwMode="auto">
          <a:xfrm>
            <a:off x="87313" y="744538"/>
            <a:ext cx="6618287" cy="37242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679133" y="4718214"/>
            <a:ext cx="5436235" cy="4469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23558" name="Rectangle 6"/>
          <p:cNvSpPr>
            <a:spLocks noGrp="1" noChangeArrowheads="1"/>
          </p:cNvSpPr>
          <p:nvPr>
            <p:ph type="ftr" sz="quarter" idx="4"/>
          </p:nvPr>
        </p:nvSpPr>
        <p:spPr bwMode="auto">
          <a:xfrm>
            <a:off x="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defTabSz="911866">
              <a:defRPr sz="1200"/>
            </a:lvl1pPr>
          </a:lstStyle>
          <a:p>
            <a:pPr>
              <a:defRPr/>
            </a:pPr>
            <a:endParaRPr lang="de-DE"/>
          </a:p>
        </p:txBody>
      </p:sp>
      <p:sp>
        <p:nvSpPr>
          <p:cNvPr id="23559" name="Rectangle 7"/>
          <p:cNvSpPr>
            <a:spLocks noGrp="1" noChangeArrowheads="1"/>
          </p:cNvSpPr>
          <p:nvPr>
            <p:ph type="sldNum" sz="quarter" idx="5"/>
          </p:nvPr>
        </p:nvSpPr>
        <p:spPr bwMode="auto">
          <a:xfrm>
            <a:off x="384789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algn="r" defTabSz="911866">
              <a:defRPr sz="1200"/>
            </a:lvl1pPr>
          </a:lstStyle>
          <a:p>
            <a:pPr>
              <a:defRPr/>
            </a:pPr>
            <a:fld id="{B57844BD-24B7-46FF-891B-10CD66679B94}" type="slidenum">
              <a:rPr lang="de-DE"/>
              <a:pPr>
                <a:defRPr/>
              </a:pPr>
              <a:t>‹#›</a:t>
            </a:fld>
            <a:endParaRPr lang="de-DE"/>
          </a:p>
        </p:txBody>
      </p:sp>
    </p:spTree>
    <p:extLst>
      <p:ext uri="{BB962C8B-B14F-4D97-AF65-F5344CB8AC3E}">
        <p14:creationId xmlns:p14="http://schemas.microsoft.com/office/powerpoint/2010/main" val="19858433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Z3 und ENIAC </a:t>
            </a:r>
            <a:r>
              <a:rPr lang="en-US" err="1"/>
              <a:t>noch</a:t>
            </a:r>
            <a:r>
              <a:rPr lang="en-US"/>
              <a:t> </a:t>
            </a:r>
            <a:r>
              <a:rPr lang="en-US" err="1"/>
              <a:t>mit</a:t>
            </a:r>
            <a:r>
              <a:rPr lang="en-US"/>
              <a:t> R</a:t>
            </a:r>
            <a:r>
              <a:rPr lang="de-DE"/>
              <a:t>ö</a:t>
            </a:r>
            <a:r>
              <a:rPr lang="en-US" err="1"/>
              <a:t>hren</a:t>
            </a:r>
            <a:r>
              <a:rPr lang="en-US"/>
              <a:t> und </a:t>
            </a:r>
            <a:r>
              <a:rPr lang="en-US" err="1"/>
              <a:t>Relais</a:t>
            </a:r>
            <a:endParaRPr lang="en-US"/>
          </a:p>
          <a:p>
            <a:endParaRPr lang="en-US"/>
          </a:p>
        </p:txBody>
      </p:sp>
      <p:sp>
        <p:nvSpPr>
          <p:cNvPr id="4" name="Slide Number Placeholder 3"/>
          <p:cNvSpPr>
            <a:spLocks noGrp="1"/>
          </p:cNvSpPr>
          <p:nvPr>
            <p:ph type="sldNum" sz="quarter" idx="5"/>
          </p:nvPr>
        </p:nvSpPr>
        <p:spPr/>
        <p:txBody>
          <a:bodyPr/>
          <a:lstStyle/>
          <a:p>
            <a:pPr>
              <a:defRPr/>
            </a:pPr>
            <a:fld id="{B57844BD-24B7-46FF-891B-10CD66679B94}" type="slidenum">
              <a:rPr lang="de-DE" smtClean="0"/>
              <a:pPr>
                <a:defRPr/>
              </a:pPr>
              <a:t>20</a:t>
            </a:fld>
            <a:endParaRPr lang="de-DE"/>
          </a:p>
        </p:txBody>
      </p:sp>
    </p:spTree>
    <p:extLst>
      <p:ext uri="{BB962C8B-B14F-4D97-AF65-F5344CB8AC3E}">
        <p14:creationId xmlns:p14="http://schemas.microsoft.com/office/powerpoint/2010/main" val="719722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1990 – Cluster-Systeme: Da Server hohe Anforderungen an das Leistungsvermögen und die Ausfallsicherheit der Rechner stellen, setzt man als Server-Maschinen Multiprozessoren ein oder man verbindet zwei oder mehrere Rechner zu einem Cluster (Traube, Bündel, Schwarm), so dass sie wie eine einzige virtuelle Maschine agieren. Ein Load </a:t>
            </a:r>
            <a:r>
              <a:rPr lang="de-DE" err="1"/>
              <a:t>Balancing</a:t>
            </a:r>
            <a:r>
              <a:rPr lang="de-DE"/>
              <a:t> Cluster verteilt durch ein Lastausgleich-Frontend die Arbeitslast auf mehrere Backend-Server. Solch ein Cluster von Computern wird auch als Server-Farm bezeichnet. Bei einem High Performance Computing (HPC) Cluster parallelisiert und partitioniert man die Aufgaben und verteilt sie auf die mehreren Knoten eines Clusters und erreicht durch die parallele Abarbeitung eine schnellere Bearbeitung der Gesamtaufgabe. Zur Erhöhung der Ausfallsicherheit und Steigerung der Verfügbarkeit von Server dienen High </a:t>
            </a:r>
            <a:r>
              <a:rPr lang="de-DE" err="1"/>
              <a:t>Availability</a:t>
            </a:r>
            <a:r>
              <a:rPr lang="de-DE"/>
              <a:t> (HA) Cluster. Ein HA-Cluster ist ein System aus mehreren Computern, die sich über spezielle Verbindungen über ihre Einsatzbereitschaft verständigen. Fällt ein System aus, so werden alle Prozesse an das andere System übergeben. Im einfachsten Fall steht ein kompletter zweiter Rechner als Reserve zur Verfügung, was natürlich doppelte Hardware- und Softwareinvestitionen verursacht.</a:t>
            </a:r>
          </a:p>
          <a:p>
            <a:endParaRPr lang="de-DE"/>
          </a:p>
          <a:p>
            <a:r>
              <a:rPr lang="de-DE"/>
              <a:t>2000 – </a:t>
            </a:r>
            <a:r>
              <a:rPr lang="de-DE" err="1"/>
              <a:t>Grid</a:t>
            </a:r>
            <a:r>
              <a:rPr lang="de-DE"/>
              <a:t>-Systeme: Das </a:t>
            </a:r>
            <a:r>
              <a:rPr lang="de-DE" err="1"/>
              <a:t>Grid</a:t>
            </a:r>
            <a:r>
              <a:rPr lang="de-DE"/>
              <a:t>-Computing hat zum Ziel, verschiedene IT-Ressourcen in einem Netzwerk zusammenzufassen. Anwender, die in so genannten virtuellen Organisationen zusammengeschlossen sein können, nutzen diese Ressourcen über eine </a:t>
            </a:r>
            <a:r>
              <a:rPr lang="de-DE" err="1"/>
              <a:t>Grid</a:t>
            </a:r>
            <a:r>
              <a:rPr lang="de-DE"/>
              <a:t> Middleware, die zentrale Funktionen in einer serviceorientierten Struktur (SOA) bereitstellt. Ein </a:t>
            </a:r>
            <a:r>
              <a:rPr lang="de-DE" err="1"/>
              <a:t>Rechengrid</a:t>
            </a:r>
            <a:r>
              <a:rPr lang="de-DE"/>
              <a:t> (Computing </a:t>
            </a:r>
            <a:r>
              <a:rPr lang="de-DE" err="1"/>
              <a:t>Grid</a:t>
            </a:r>
            <a:r>
              <a:rPr lang="de-DE"/>
              <a:t>) mit Zugriff auf verteilte Rechenressourcen ist vergleichbar mit dem Power </a:t>
            </a:r>
            <a:r>
              <a:rPr lang="de-DE" err="1"/>
              <a:t>Grid</a:t>
            </a:r>
            <a:r>
              <a:rPr lang="de-DE"/>
              <a:t> (daher auch der Name), also dem Stromnetz: Dazu stellt der Verbraucher von Rechenleistung eine Verbindung zum Rechennetz her, ähnlich wie der Stromverbraucher zum Stromversorgungsnetz. Dort ist alles, was hinter der Steckdose passiert, für den Konsumenten verborgen, er nutzt einfach die angebotene Leistung. Ein </a:t>
            </a:r>
            <a:r>
              <a:rPr lang="de-DE" err="1"/>
              <a:t>Datengrid</a:t>
            </a:r>
            <a:r>
              <a:rPr lang="de-DE"/>
              <a:t> (Data </a:t>
            </a:r>
            <a:r>
              <a:rPr lang="de-DE" err="1"/>
              <a:t>Grid</a:t>
            </a:r>
            <a:r>
              <a:rPr lang="de-DE"/>
              <a:t>), mit Zugriff auf verteilte Datenbanken, kooperiert nicht nur die einzelnen (Hochleistungs-)Computer, um Rechenleistung zur Verfügung zu stellen, sondern auch Datenbestände werden verknüpft. Zugang zu solchen Grids bietet meist ein </a:t>
            </a:r>
            <a:r>
              <a:rPr lang="de-DE" err="1"/>
              <a:t>Grid</a:t>
            </a:r>
            <a:r>
              <a:rPr lang="de-DE"/>
              <a:t>-Portal.</a:t>
            </a:r>
            <a:endParaRPr lang="en-US"/>
          </a:p>
        </p:txBody>
      </p:sp>
      <p:sp>
        <p:nvSpPr>
          <p:cNvPr id="4" name="Slide Number Placeholder 3"/>
          <p:cNvSpPr>
            <a:spLocks noGrp="1"/>
          </p:cNvSpPr>
          <p:nvPr>
            <p:ph type="sldNum" sz="quarter" idx="5"/>
          </p:nvPr>
        </p:nvSpPr>
        <p:spPr/>
        <p:txBody>
          <a:bodyPr/>
          <a:lstStyle/>
          <a:p>
            <a:pPr>
              <a:defRPr/>
            </a:pPr>
            <a:fld id="{B57844BD-24B7-46FF-891B-10CD66679B94}" type="slidenum">
              <a:rPr lang="de-DE" smtClean="0"/>
              <a:pPr>
                <a:defRPr/>
              </a:pPr>
              <a:t>26</a:t>
            </a:fld>
            <a:endParaRPr lang="de-DE"/>
          </a:p>
        </p:txBody>
      </p:sp>
    </p:spTree>
    <p:extLst>
      <p:ext uri="{BB962C8B-B14F-4D97-AF65-F5344CB8AC3E}">
        <p14:creationId xmlns:p14="http://schemas.microsoft.com/office/powerpoint/2010/main" val="4095878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14917" y="2708275"/>
            <a:ext cx="10562167" cy="2880965"/>
          </a:xfrm>
          <a:prstGeom prst="rect">
            <a:avLst/>
          </a:prstGeom>
        </p:spPr>
        <p:txBody>
          <a:bodyPr/>
          <a:lstStyle>
            <a:lvl1pPr>
              <a:lnSpc>
                <a:spcPct val="100000"/>
              </a:lnSpc>
              <a:defRPr sz="4800">
                <a:solidFill>
                  <a:srgbClr val="D50C2F"/>
                </a:solidFill>
              </a:defRPr>
            </a:lvl1pPr>
          </a:lstStyle>
          <a:p>
            <a:r>
              <a:rPr lang="de-DE"/>
              <a:t>Titelmasterformat durch Klicken bearbeiten</a:t>
            </a:r>
          </a:p>
        </p:txBody>
      </p:sp>
    </p:spTree>
    <p:extLst>
      <p:ext uri="{BB962C8B-B14F-4D97-AF65-F5344CB8AC3E}">
        <p14:creationId xmlns:p14="http://schemas.microsoft.com/office/powerpoint/2010/main" val="303226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6"/>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712201" y="296862"/>
            <a:ext cx="2950633" cy="683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p:txBody>
          <a:bodyPr/>
          <a:lstStyle/>
          <a:p>
            <a:r>
              <a:rPr lang="de-DE" noProof="0"/>
              <a:t>Titelmasterformat durch Klicken bearbeiten</a:t>
            </a:r>
          </a:p>
        </p:txBody>
      </p:sp>
      <p:sp>
        <p:nvSpPr>
          <p:cNvPr id="3" name="Inhaltsplatzhalter 2"/>
          <p:cNvSpPr>
            <a:spLocks noGrp="1"/>
          </p:cNvSpPr>
          <p:nvPr>
            <p:ph idx="1"/>
          </p:nvPr>
        </p:nvSpPr>
        <p:spPr/>
        <p:txBody>
          <a:bodyPr bIns="10800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3"/>
          <p:cNvSpPr>
            <a:spLocks noGrp="1"/>
          </p:cNvSpPr>
          <p:nvPr>
            <p:ph type="dt" sz="half" idx="10"/>
          </p:nvPr>
        </p:nvSpPr>
        <p:spPr/>
        <p:txBody>
          <a:bodyPr/>
          <a:lstStyle>
            <a:lvl1pPr>
              <a:defRPr/>
            </a:lvl1pPr>
          </a:lstStyle>
          <a:p>
            <a:pPr>
              <a:defRPr/>
            </a:pPr>
            <a:r>
              <a:rPr lang="de-DE"/>
              <a:t>4. Dezember 2013</a:t>
            </a:r>
          </a:p>
        </p:txBody>
      </p:sp>
      <p:sp>
        <p:nvSpPr>
          <p:cNvPr id="6" name="Fußzeilenplatzhalter 4"/>
          <p:cNvSpPr>
            <a:spLocks noGrp="1"/>
          </p:cNvSpPr>
          <p:nvPr>
            <p:ph type="ftr" sz="quarter" idx="11"/>
          </p:nvPr>
        </p:nvSpPr>
        <p:spPr/>
        <p:txBody>
          <a:bodyPr/>
          <a:lstStyle>
            <a:lvl1pPr>
              <a:defRPr/>
            </a:lvl1pPr>
          </a:lstStyle>
          <a:p>
            <a:pPr>
              <a:defRPr/>
            </a:pPr>
            <a:endParaRPr lang="de-DE"/>
          </a:p>
        </p:txBody>
      </p:sp>
      <p:sp>
        <p:nvSpPr>
          <p:cNvPr id="7" name="Foliennummernplatzhalter 5"/>
          <p:cNvSpPr>
            <a:spLocks noGrp="1"/>
          </p:cNvSpPr>
          <p:nvPr>
            <p:ph type="sldNum" sz="quarter" idx="12"/>
          </p:nvPr>
        </p:nvSpPr>
        <p:spPr/>
        <p:txBody>
          <a:bodyPr/>
          <a:lstStyle>
            <a:lvl1pPr>
              <a:defRPr/>
            </a:lvl1pPr>
          </a:lstStyle>
          <a:p>
            <a:pPr>
              <a:defRPr/>
            </a:pPr>
            <a:fld id="{B412CF81-FBD2-4988-8D72-9A03E2875460}" type="slidenum">
              <a:rPr lang="de-DE"/>
              <a:pPr>
                <a:defRPr/>
              </a:pPr>
              <a:t>‹#›</a:t>
            </a:fld>
            <a:endParaRPr lang="de-DE"/>
          </a:p>
        </p:txBody>
      </p:sp>
    </p:spTree>
    <p:extLst>
      <p:ext uri="{BB962C8B-B14F-4D97-AF65-F5344CB8AC3E}">
        <p14:creationId xmlns:p14="http://schemas.microsoft.com/office/powerpoint/2010/main" val="38989342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elfolie">
    <p:spTree>
      <p:nvGrpSpPr>
        <p:cNvPr id="1" name=""/>
        <p:cNvGrpSpPr/>
        <p:nvPr/>
      </p:nvGrpSpPr>
      <p:grpSpPr>
        <a:xfrm>
          <a:off x="0" y="0"/>
          <a:ext cx="0" cy="0"/>
          <a:chOff x="0" y="0"/>
          <a:chExt cx="0" cy="0"/>
        </a:xfrm>
      </p:grpSpPr>
      <p:pic>
        <p:nvPicPr>
          <p:cNvPr id="4" name="Picture 9" descr="HWR_Logo_farbi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208434" y="222251"/>
            <a:ext cx="357716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6" name="Rectangle 2"/>
          <p:cNvSpPr>
            <a:spLocks noGrp="1" noChangeArrowheads="1"/>
          </p:cNvSpPr>
          <p:nvPr>
            <p:ph type="ctrTitle"/>
          </p:nvPr>
        </p:nvSpPr>
        <p:spPr>
          <a:xfrm>
            <a:off x="203200" y="1219200"/>
            <a:ext cx="11684000" cy="762000"/>
          </a:xfrm>
        </p:spPr>
        <p:txBody>
          <a:bodyPr anchor="t"/>
          <a:lstStyle>
            <a:lvl1pPr>
              <a:defRPr sz="2800"/>
            </a:lvl1pPr>
          </a:lstStyle>
          <a:p>
            <a:pPr lvl="0"/>
            <a:r>
              <a:rPr lang="de-DE" noProof="0"/>
              <a:t>Klicken Sie, um das Titelformat zu bearbeiten</a:t>
            </a:r>
          </a:p>
        </p:txBody>
      </p:sp>
      <p:sp>
        <p:nvSpPr>
          <p:cNvPr id="113667" name="Rectangle 3"/>
          <p:cNvSpPr>
            <a:spLocks noGrp="1" noChangeArrowheads="1"/>
          </p:cNvSpPr>
          <p:nvPr>
            <p:ph type="subTitle" idx="1"/>
          </p:nvPr>
        </p:nvSpPr>
        <p:spPr>
          <a:xfrm>
            <a:off x="203200" y="2057400"/>
            <a:ext cx="11684000" cy="1752600"/>
          </a:xfrm>
        </p:spPr>
        <p:txBody>
          <a:bodyPr/>
          <a:lstStyle>
            <a:lvl1pPr marL="0" indent="0">
              <a:buFont typeface="Wingdings" pitchFamily="2" charset="2"/>
              <a:buNone/>
              <a:defRPr/>
            </a:lvl1pPr>
          </a:lstStyle>
          <a:p>
            <a:pPr lvl="0"/>
            <a:r>
              <a:rPr lang="de-DE" noProof="0"/>
              <a:t>Klicken Sie, um das Format des Untertitelmasters zu bearbeiten</a:t>
            </a:r>
          </a:p>
        </p:txBody>
      </p:sp>
    </p:spTree>
    <p:extLst>
      <p:ext uri="{BB962C8B-B14F-4D97-AF65-F5344CB8AC3E}">
        <p14:creationId xmlns:p14="http://schemas.microsoft.com/office/powerpoint/2010/main" val="33504141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platzhalter 1"/>
          <p:cNvSpPr>
            <a:spLocks noGrp="1"/>
          </p:cNvSpPr>
          <p:nvPr>
            <p:ph type="body" idx="1"/>
          </p:nvPr>
        </p:nvSpPr>
        <p:spPr bwMode="auto">
          <a:xfrm>
            <a:off x="1056217" y="1989138"/>
            <a:ext cx="8879416"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8000" rIns="0" bIns="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1027" name="Titelplatzhalter 2"/>
          <p:cNvSpPr>
            <a:spLocks noGrp="1"/>
          </p:cNvSpPr>
          <p:nvPr>
            <p:ph type="title"/>
          </p:nvPr>
        </p:nvSpPr>
        <p:spPr bwMode="auto">
          <a:xfrm>
            <a:off x="1056217" y="395289"/>
            <a:ext cx="6959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72000" rIns="0" bIns="0" numCol="1" anchor="t" anchorCtr="0" compatLnSpc="1">
            <a:prstTxWarp prst="textNoShape">
              <a:avLst/>
            </a:prstTxWarp>
          </a:bodyPr>
          <a:lstStyle/>
          <a:p>
            <a:pPr lvl="0"/>
            <a:r>
              <a:rPr lang="de-DE" altLang="de-DE"/>
              <a:t>Titelmasterformat durch Klicken bearbeiten</a:t>
            </a:r>
          </a:p>
        </p:txBody>
      </p:sp>
      <p:sp>
        <p:nvSpPr>
          <p:cNvPr id="7" name="Datumsplatzhalter 6"/>
          <p:cNvSpPr>
            <a:spLocks noGrp="1"/>
          </p:cNvSpPr>
          <p:nvPr>
            <p:ph type="dt" sz="half" idx="2"/>
          </p:nvPr>
        </p:nvSpPr>
        <p:spPr>
          <a:xfrm>
            <a:off x="1056218" y="6308726"/>
            <a:ext cx="2398183" cy="365125"/>
          </a:xfrm>
          <a:prstGeom prst="rect">
            <a:avLst/>
          </a:prstGeom>
        </p:spPr>
        <p:txBody>
          <a:bodyPr vert="horz" lIns="0" tIns="72000" rIns="0" bIns="0" rtlCol="0" anchor="t" anchorCtr="0">
            <a:noAutofit/>
          </a:bodyPr>
          <a:lstStyle>
            <a:lvl1pPr algn="l">
              <a:defRPr sz="1200">
                <a:solidFill>
                  <a:schemeClr val="tx1">
                    <a:tint val="75000"/>
                  </a:schemeClr>
                </a:solidFill>
              </a:defRPr>
            </a:lvl1pPr>
          </a:lstStyle>
          <a:p>
            <a:pPr>
              <a:defRPr/>
            </a:pPr>
            <a:r>
              <a:rPr lang="de-DE"/>
              <a:t>04 </a:t>
            </a:r>
            <a:r>
              <a:rPr lang="de-DE" err="1"/>
              <a:t>December</a:t>
            </a:r>
            <a:r>
              <a:rPr lang="de-DE"/>
              <a:t> 2013</a:t>
            </a:r>
          </a:p>
        </p:txBody>
      </p:sp>
      <p:sp>
        <p:nvSpPr>
          <p:cNvPr id="8" name="Fußzeilenplatzhalter 7"/>
          <p:cNvSpPr>
            <a:spLocks noGrp="1"/>
          </p:cNvSpPr>
          <p:nvPr>
            <p:ph type="ftr" sz="quarter" idx="3"/>
          </p:nvPr>
        </p:nvSpPr>
        <p:spPr>
          <a:xfrm>
            <a:off x="4165600" y="6308726"/>
            <a:ext cx="3860800" cy="365125"/>
          </a:xfrm>
          <a:prstGeom prst="rect">
            <a:avLst/>
          </a:prstGeom>
        </p:spPr>
        <p:txBody>
          <a:bodyPr vert="horz" lIns="0" tIns="72000" rIns="0" bIns="0" rtlCol="0" anchor="t" anchorCtr="0"/>
          <a:lstStyle>
            <a:lvl1pPr algn="ctr">
              <a:defRPr sz="1200">
                <a:solidFill>
                  <a:schemeClr val="tx1">
                    <a:tint val="75000"/>
                  </a:schemeClr>
                </a:solidFill>
              </a:defRPr>
            </a:lvl1pPr>
          </a:lstStyle>
          <a:p>
            <a:pPr>
              <a:defRPr/>
            </a:pPr>
            <a:endParaRPr lang="de-DE"/>
          </a:p>
        </p:txBody>
      </p:sp>
      <p:sp>
        <p:nvSpPr>
          <p:cNvPr id="9" name="Foliennummernplatzhalter 8"/>
          <p:cNvSpPr>
            <a:spLocks noGrp="1"/>
          </p:cNvSpPr>
          <p:nvPr>
            <p:ph type="sldNum" sz="quarter" idx="4"/>
          </p:nvPr>
        </p:nvSpPr>
        <p:spPr>
          <a:xfrm>
            <a:off x="8737600" y="6308726"/>
            <a:ext cx="2878667" cy="365125"/>
          </a:xfrm>
          <a:prstGeom prst="rect">
            <a:avLst/>
          </a:prstGeom>
        </p:spPr>
        <p:txBody>
          <a:bodyPr vert="horz" lIns="0" tIns="72000" rIns="0" bIns="0" rtlCol="0" anchor="t" anchorCtr="0"/>
          <a:lstStyle>
            <a:lvl1pPr algn="r">
              <a:defRPr sz="1200">
                <a:solidFill>
                  <a:schemeClr val="tx1">
                    <a:tint val="75000"/>
                  </a:schemeClr>
                </a:solidFill>
              </a:defRPr>
            </a:lvl1pPr>
          </a:lstStyle>
          <a:p>
            <a:pPr>
              <a:defRPr/>
            </a:pPr>
            <a:fld id="{89A20A32-F134-4C99-8D7A-0FE09B6CFF1C}" type="slidenum">
              <a:rPr lang="de-DE"/>
              <a:pPr>
                <a:defRPr/>
              </a:pPr>
              <a:t>‹#›</a:t>
            </a:fld>
            <a:endParaRPr lang="de-DE"/>
          </a:p>
        </p:txBody>
      </p:sp>
    </p:spTree>
  </p:cSld>
  <p:clrMap bg1="lt1" tx1="dk1" bg2="lt2" tx2="dk2" accent1="accent1" accent2="accent2" accent3="accent3" accent4="accent4" accent5="accent5" accent6="accent6" hlink="hlink" folHlink="folHlink"/>
  <p:sldLayoutIdLst>
    <p:sldLayoutId id="2147484012" r:id="rId1"/>
    <p:sldLayoutId id="2147484013" r:id="rId2"/>
    <p:sldLayoutId id="2147484017" r:id="rId3"/>
  </p:sldLayoutIdLst>
  <p:hf hdr="0" ftr="0" dt="0"/>
  <p:txStyles>
    <p:titleStyle>
      <a:lvl1pPr algn="l" rtl="0" eaLnBrk="0" fontAlgn="base" hangingPunct="0">
        <a:spcBef>
          <a:spcPct val="0"/>
        </a:spcBef>
        <a:spcAft>
          <a:spcPct val="0"/>
        </a:spcAft>
        <a:defRPr sz="2400" b="1" kern="1200">
          <a:solidFill>
            <a:srgbClr val="D50C2F"/>
          </a:solidFill>
          <a:latin typeface="Arial" pitchFamily="34" charset="0"/>
          <a:ea typeface="+mj-ea"/>
          <a:cs typeface="Arial" pitchFamily="34" charset="0"/>
        </a:defRPr>
      </a:lvl1pPr>
      <a:lvl2pPr algn="l" rtl="0" eaLnBrk="0" fontAlgn="base" hangingPunct="0">
        <a:spcBef>
          <a:spcPct val="0"/>
        </a:spcBef>
        <a:spcAft>
          <a:spcPct val="0"/>
        </a:spcAft>
        <a:defRPr sz="2400" b="1">
          <a:solidFill>
            <a:srgbClr val="D50C2F"/>
          </a:solidFill>
          <a:latin typeface="Arial" charset="0"/>
          <a:cs typeface="Arial" charset="0"/>
        </a:defRPr>
      </a:lvl2pPr>
      <a:lvl3pPr algn="l" rtl="0" eaLnBrk="0" fontAlgn="base" hangingPunct="0">
        <a:spcBef>
          <a:spcPct val="0"/>
        </a:spcBef>
        <a:spcAft>
          <a:spcPct val="0"/>
        </a:spcAft>
        <a:defRPr sz="2400" b="1">
          <a:solidFill>
            <a:srgbClr val="D50C2F"/>
          </a:solidFill>
          <a:latin typeface="Arial" charset="0"/>
          <a:cs typeface="Arial" charset="0"/>
        </a:defRPr>
      </a:lvl3pPr>
      <a:lvl4pPr algn="l" rtl="0" eaLnBrk="0" fontAlgn="base" hangingPunct="0">
        <a:spcBef>
          <a:spcPct val="0"/>
        </a:spcBef>
        <a:spcAft>
          <a:spcPct val="0"/>
        </a:spcAft>
        <a:defRPr sz="2400" b="1">
          <a:solidFill>
            <a:srgbClr val="D50C2F"/>
          </a:solidFill>
          <a:latin typeface="Arial" charset="0"/>
          <a:cs typeface="Arial" charset="0"/>
        </a:defRPr>
      </a:lvl4pPr>
      <a:lvl5pPr algn="l" rtl="0" eaLnBrk="0" fontAlgn="base" hangingPunct="0">
        <a:spcBef>
          <a:spcPct val="0"/>
        </a:spcBef>
        <a:spcAft>
          <a:spcPct val="0"/>
        </a:spcAft>
        <a:defRPr sz="2400" b="1">
          <a:solidFill>
            <a:srgbClr val="D50C2F"/>
          </a:solidFill>
          <a:latin typeface="Arial" charset="0"/>
          <a:cs typeface="Arial" charset="0"/>
        </a:defRPr>
      </a:lvl5pPr>
      <a:lvl6pPr marL="457200" algn="l" rtl="0" fontAlgn="base">
        <a:spcBef>
          <a:spcPct val="0"/>
        </a:spcBef>
        <a:spcAft>
          <a:spcPct val="0"/>
        </a:spcAft>
        <a:defRPr sz="2400" b="1">
          <a:solidFill>
            <a:srgbClr val="D50C2F"/>
          </a:solidFill>
          <a:latin typeface="Arial" charset="0"/>
          <a:cs typeface="Arial" charset="0"/>
        </a:defRPr>
      </a:lvl6pPr>
      <a:lvl7pPr marL="914400" algn="l" rtl="0" fontAlgn="base">
        <a:spcBef>
          <a:spcPct val="0"/>
        </a:spcBef>
        <a:spcAft>
          <a:spcPct val="0"/>
        </a:spcAft>
        <a:defRPr sz="2400" b="1">
          <a:solidFill>
            <a:srgbClr val="D50C2F"/>
          </a:solidFill>
          <a:latin typeface="Arial" charset="0"/>
          <a:cs typeface="Arial" charset="0"/>
        </a:defRPr>
      </a:lvl7pPr>
      <a:lvl8pPr marL="1371600" algn="l" rtl="0" fontAlgn="base">
        <a:spcBef>
          <a:spcPct val="0"/>
        </a:spcBef>
        <a:spcAft>
          <a:spcPct val="0"/>
        </a:spcAft>
        <a:defRPr sz="2400" b="1">
          <a:solidFill>
            <a:srgbClr val="D50C2F"/>
          </a:solidFill>
          <a:latin typeface="Arial" charset="0"/>
          <a:cs typeface="Arial" charset="0"/>
        </a:defRPr>
      </a:lvl8pPr>
      <a:lvl9pPr marL="1828800" algn="l" rtl="0" fontAlgn="base">
        <a:spcBef>
          <a:spcPct val="0"/>
        </a:spcBef>
        <a:spcAft>
          <a:spcPct val="0"/>
        </a:spcAft>
        <a:defRPr sz="2400" b="1">
          <a:solidFill>
            <a:srgbClr val="D50C2F"/>
          </a:solidFill>
          <a:latin typeface="Arial" charset="0"/>
          <a:cs typeface="Arial" charset="0"/>
        </a:defRPr>
      </a:lvl9pPr>
    </p:titleStyle>
    <p:body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inkedin.com/pulse/since-2000-52-companies-fortune-500-have-vanished-sam-tanha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phys.org/news/2016-08-neuromorphic-mimics-important-brain-feature.html" TargetMode="Externa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liennummernplatzhalter 5"/>
          <p:cNvSpPr>
            <a:spLocks noGrp="1"/>
          </p:cNvSpPr>
          <p:nvPr>
            <p:ph type="sldNum" sz="quarter" idx="12"/>
          </p:nvPr>
        </p:nvSpPr>
        <p:spPr>
          <a:noFill/>
        </p:spPr>
        <p:txBody>
          <a:bodyPr/>
          <a:lstStyle>
            <a:lvl1pPr algn="l" eaLnBrk="0" hangingPunct="0">
              <a:spcAft>
                <a:spcPct val="70000"/>
              </a:spcAft>
              <a:buClr>
                <a:srgbClr val="660033"/>
              </a:buClr>
              <a:buFont typeface="Wingdings" pitchFamily="2" charset="2"/>
              <a:buChar char="§"/>
              <a:defRPr>
                <a:solidFill>
                  <a:schemeClr val="tx1"/>
                </a:solidFill>
                <a:latin typeface="Arial" charset="0"/>
              </a:defRPr>
            </a:lvl1pPr>
            <a:lvl2pPr marL="742950" indent="-285750" algn="l" eaLnBrk="0" hangingPunct="0">
              <a:spcAft>
                <a:spcPct val="40000"/>
              </a:spcAft>
              <a:buClr>
                <a:srgbClr val="660033"/>
              </a:buClr>
              <a:buChar char="-"/>
              <a:defRPr sz="1600">
                <a:solidFill>
                  <a:schemeClr val="tx1"/>
                </a:solidFill>
                <a:latin typeface="Arial" charset="0"/>
              </a:defRPr>
            </a:lvl2pPr>
            <a:lvl3pPr marL="1143000" indent="-228600" algn="l" eaLnBrk="0" hangingPunct="0">
              <a:spcAft>
                <a:spcPct val="40000"/>
              </a:spcAft>
              <a:buClr>
                <a:srgbClr val="660033"/>
              </a:buClr>
              <a:buChar char="-"/>
              <a:defRPr sz="1600">
                <a:solidFill>
                  <a:schemeClr val="tx1"/>
                </a:solidFill>
                <a:latin typeface="Arial" charset="0"/>
              </a:defRPr>
            </a:lvl3pPr>
            <a:lvl4pPr marL="1600200" indent="-228600" algn="l" eaLnBrk="0" hangingPunct="0">
              <a:spcAft>
                <a:spcPct val="40000"/>
              </a:spcAft>
              <a:buClr>
                <a:srgbClr val="660033"/>
              </a:buClr>
              <a:buChar char="-"/>
              <a:defRPr sz="1600">
                <a:solidFill>
                  <a:schemeClr val="tx1"/>
                </a:solidFill>
                <a:latin typeface="Arial" charset="0"/>
              </a:defRPr>
            </a:lvl4pPr>
            <a:lvl5pPr marL="2057400" indent="-228600" algn="l" eaLnBrk="0" hangingPunct="0">
              <a:spcAft>
                <a:spcPct val="40000"/>
              </a:spcAft>
              <a:buClr>
                <a:srgbClr val="660033"/>
              </a:buClr>
              <a:buChar char="-"/>
              <a:defRPr sz="1600">
                <a:solidFill>
                  <a:schemeClr val="tx1"/>
                </a:solidFill>
                <a:latin typeface="Arial" charset="0"/>
              </a:defRPr>
            </a:lvl5pPr>
            <a:lvl6pPr marL="2514600" indent="-228600" eaLnBrk="0" fontAlgn="base" hangingPunct="0">
              <a:spcBef>
                <a:spcPct val="0"/>
              </a:spcBef>
              <a:spcAft>
                <a:spcPct val="40000"/>
              </a:spcAft>
              <a:buClr>
                <a:srgbClr val="660033"/>
              </a:buClr>
              <a:buChar char="-"/>
              <a:defRPr sz="1600">
                <a:solidFill>
                  <a:schemeClr val="tx1"/>
                </a:solidFill>
                <a:latin typeface="Arial" charset="0"/>
              </a:defRPr>
            </a:lvl6pPr>
            <a:lvl7pPr marL="2971800" indent="-228600" eaLnBrk="0" fontAlgn="base" hangingPunct="0">
              <a:spcBef>
                <a:spcPct val="0"/>
              </a:spcBef>
              <a:spcAft>
                <a:spcPct val="40000"/>
              </a:spcAft>
              <a:buClr>
                <a:srgbClr val="660033"/>
              </a:buClr>
              <a:buChar char="-"/>
              <a:defRPr sz="1600">
                <a:solidFill>
                  <a:schemeClr val="tx1"/>
                </a:solidFill>
                <a:latin typeface="Arial" charset="0"/>
              </a:defRPr>
            </a:lvl7pPr>
            <a:lvl8pPr marL="3429000" indent="-228600" eaLnBrk="0" fontAlgn="base" hangingPunct="0">
              <a:spcBef>
                <a:spcPct val="0"/>
              </a:spcBef>
              <a:spcAft>
                <a:spcPct val="40000"/>
              </a:spcAft>
              <a:buClr>
                <a:srgbClr val="660033"/>
              </a:buClr>
              <a:buChar char="-"/>
              <a:defRPr sz="1600">
                <a:solidFill>
                  <a:schemeClr val="tx1"/>
                </a:solidFill>
                <a:latin typeface="Arial" charset="0"/>
              </a:defRPr>
            </a:lvl8pPr>
            <a:lvl9pPr marL="3886200" indent="-228600" eaLnBrk="0" fontAlgn="base" hangingPunct="0">
              <a:spcBef>
                <a:spcPct val="0"/>
              </a:spcBef>
              <a:spcAft>
                <a:spcPct val="40000"/>
              </a:spcAft>
              <a:buClr>
                <a:srgbClr val="660033"/>
              </a:buClr>
              <a:buChar char="-"/>
              <a:defRPr sz="1600">
                <a:solidFill>
                  <a:schemeClr val="tx1"/>
                </a:solidFill>
                <a:latin typeface="Arial" charset="0"/>
              </a:defRPr>
            </a:lvl9pPr>
          </a:lstStyle>
          <a:p>
            <a:pPr algn="r" eaLnBrk="1" hangingPunct="1">
              <a:spcAft>
                <a:spcPct val="0"/>
              </a:spcAft>
              <a:buClrTx/>
              <a:buFontTx/>
              <a:buNone/>
            </a:pPr>
            <a:fld id="{937A068E-0E4F-4B68-B0A8-DF16375442E6}" type="slidenum">
              <a:rPr lang="de-DE" altLang="de-DE" smtClean="0">
                <a:solidFill>
                  <a:srgbClr val="A0A0A0"/>
                </a:solidFill>
              </a:rPr>
              <a:pPr algn="r" eaLnBrk="1" hangingPunct="1">
                <a:spcAft>
                  <a:spcPct val="0"/>
                </a:spcAft>
                <a:buClrTx/>
                <a:buFontTx/>
                <a:buNone/>
              </a:pPr>
              <a:t>1</a:t>
            </a:fld>
            <a:endParaRPr lang="de-DE" altLang="de-DE">
              <a:solidFill>
                <a:srgbClr val="A0A0A0"/>
              </a:solidFill>
            </a:endParaRPr>
          </a:p>
        </p:txBody>
      </p:sp>
      <p:sp>
        <p:nvSpPr>
          <p:cNvPr id="6" name="Rectangle 2"/>
          <p:cNvSpPr txBox="1">
            <a:spLocks noChangeArrowheads="1"/>
          </p:cNvSpPr>
          <p:nvPr/>
        </p:nvSpPr>
        <p:spPr>
          <a:xfrm>
            <a:off x="2193131" y="1996388"/>
            <a:ext cx="7805738" cy="1785104"/>
          </a:xfrm>
          <a:prstGeom prst="rect">
            <a:avLst/>
          </a:prstGeom>
        </p:spPr>
        <p:txBody>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eaLnBrk="1" hangingPunct="1">
              <a:lnSpc>
                <a:spcPts val="4000"/>
              </a:lnSpc>
              <a:spcBef>
                <a:spcPct val="100000"/>
              </a:spcBef>
              <a:buClr>
                <a:schemeClr val="bg1"/>
              </a:buClr>
              <a:buNone/>
              <a:defRPr/>
            </a:pPr>
            <a:r>
              <a:rPr lang="de-DE" sz="3600" b="1" dirty="0">
                <a:solidFill>
                  <a:srgbClr val="D50C2F"/>
                </a:solidFill>
                <a:latin typeface="+mj-lt"/>
              </a:rPr>
              <a:t>Master Digitale Transformation</a:t>
            </a:r>
            <a:br>
              <a:rPr lang="de-DE" sz="3600" b="1" dirty="0">
                <a:solidFill>
                  <a:srgbClr val="D50C2F"/>
                </a:solidFill>
                <a:latin typeface="+mj-lt"/>
              </a:rPr>
            </a:br>
            <a:r>
              <a:rPr lang="de-DE" sz="2800" b="1" dirty="0">
                <a:solidFill>
                  <a:srgbClr val="C00000"/>
                </a:solidFill>
                <a:latin typeface="+mj-lt"/>
              </a:rPr>
              <a:t>Modul Digitale Technologien</a:t>
            </a:r>
            <a:br>
              <a:rPr lang="de-DE" sz="2800" b="1" dirty="0">
                <a:solidFill>
                  <a:srgbClr val="C00000"/>
                </a:solidFill>
                <a:latin typeface="+mj-lt"/>
              </a:rPr>
            </a:br>
            <a:r>
              <a:rPr lang="de-DE" sz="2800" b="1" dirty="0" err="1">
                <a:solidFill>
                  <a:srgbClr val="C00000"/>
                </a:solidFill>
                <a:latin typeface="+mj-lt"/>
              </a:rPr>
              <a:t>Introduction</a:t>
            </a:r>
            <a:r>
              <a:rPr lang="de-DE" sz="2800" b="1" dirty="0">
                <a:solidFill>
                  <a:srgbClr val="C00000"/>
                </a:solidFill>
                <a:latin typeface="+mj-lt"/>
              </a:rPr>
              <a:t> </a:t>
            </a:r>
            <a:r>
              <a:rPr lang="de-DE" sz="2800" b="1" dirty="0" err="1">
                <a:solidFill>
                  <a:srgbClr val="C00000"/>
                </a:solidFill>
                <a:latin typeface="+mj-lt"/>
              </a:rPr>
              <a:t>Digitization</a:t>
            </a:r>
            <a:r>
              <a:rPr lang="de-DE" sz="2800" b="1" dirty="0">
                <a:solidFill>
                  <a:srgbClr val="C00000"/>
                </a:solidFill>
                <a:latin typeface="+mj-lt"/>
              </a:rPr>
              <a:t>, Trends, </a:t>
            </a:r>
            <a:r>
              <a:rPr lang="de-DE" sz="2800" b="1" dirty="0" err="1">
                <a:solidFill>
                  <a:srgbClr val="C00000"/>
                </a:solidFill>
                <a:latin typeface="+mj-lt"/>
              </a:rPr>
              <a:t>History</a:t>
            </a:r>
            <a:endParaRPr lang="de-DE" sz="3600" b="1" dirty="0">
              <a:solidFill>
                <a:srgbClr val="C00000"/>
              </a:solidFill>
              <a:latin typeface="+mj-lt"/>
            </a:endParaRPr>
          </a:p>
        </p:txBody>
      </p:sp>
      <p:sp>
        <p:nvSpPr>
          <p:cNvPr id="4" name="Rechteck 3"/>
          <p:cNvSpPr/>
          <p:nvPr/>
        </p:nvSpPr>
        <p:spPr>
          <a:xfrm>
            <a:off x="3914068" y="4843479"/>
            <a:ext cx="6444716" cy="1169551"/>
          </a:xfrm>
          <a:prstGeom prst="rect">
            <a:avLst/>
          </a:prstGeom>
        </p:spPr>
        <p:txBody>
          <a:bodyPr wrap="square">
            <a:spAutoFit/>
          </a:bodyPr>
          <a:lstStyle/>
          <a:p>
            <a:pPr>
              <a:spcAft>
                <a:spcPts val="600"/>
              </a:spcAft>
            </a:pPr>
            <a:r>
              <a:rPr lang="de-DE" altLang="de-DE" sz="2000" b="1" dirty="0">
                <a:solidFill>
                  <a:srgbClr val="5F5F5F"/>
                </a:solidFill>
              </a:rPr>
              <a:t>Prof. Dr.-Ing. Sebastian Schlesinger</a:t>
            </a:r>
          </a:p>
          <a:p>
            <a:pPr>
              <a:spcAft>
                <a:spcPts val="600"/>
              </a:spcAft>
            </a:pPr>
            <a:r>
              <a:rPr lang="de-DE" altLang="de-DE" sz="2000" dirty="0"/>
              <a:t>Professur für (Wirtschafts-)Informatik</a:t>
            </a:r>
          </a:p>
          <a:p>
            <a:pPr>
              <a:spcAft>
                <a:spcPts val="600"/>
              </a:spcAft>
            </a:pPr>
            <a:r>
              <a:rPr lang="de-DE" altLang="de-DE" sz="2000" dirty="0"/>
              <a:t>Security and Embedded Systems Engineering</a:t>
            </a:r>
          </a:p>
        </p:txBody>
      </p:sp>
    </p:spTree>
    <p:extLst>
      <p:ext uri="{BB962C8B-B14F-4D97-AF65-F5344CB8AC3E}">
        <p14:creationId xmlns:p14="http://schemas.microsoft.com/office/powerpoint/2010/main" val="495357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74653-7973-5810-05B8-43247C2A5EE4}"/>
              </a:ext>
            </a:extLst>
          </p:cNvPr>
          <p:cNvSpPr>
            <a:spLocks noGrp="1"/>
          </p:cNvSpPr>
          <p:nvPr>
            <p:ph type="title"/>
          </p:nvPr>
        </p:nvSpPr>
        <p:spPr/>
        <p:txBody>
          <a:bodyPr/>
          <a:lstStyle/>
          <a:p>
            <a:r>
              <a:rPr lang="en-US"/>
              <a:t>What is Digitization?</a:t>
            </a:r>
          </a:p>
        </p:txBody>
      </p:sp>
      <p:sp>
        <p:nvSpPr>
          <p:cNvPr id="3" name="Content Placeholder 2">
            <a:extLst>
              <a:ext uri="{FF2B5EF4-FFF2-40B4-BE49-F238E27FC236}">
                <a16:creationId xmlns:a16="http://schemas.microsoft.com/office/drawing/2014/main" id="{D9A2A517-DB0D-DB98-A74A-D2AC761ACCAE}"/>
              </a:ext>
            </a:extLst>
          </p:cNvPr>
          <p:cNvSpPr>
            <a:spLocks noGrp="1"/>
          </p:cNvSpPr>
          <p:nvPr>
            <p:ph idx="1"/>
          </p:nvPr>
        </p:nvSpPr>
        <p:spPr>
          <a:xfrm>
            <a:off x="484165" y="1645101"/>
            <a:ext cx="10549061" cy="5025373"/>
          </a:xfrm>
        </p:spPr>
        <p:txBody>
          <a:bodyPr/>
          <a:lstStyle/>
          <a:p>
            <a:pPr marL="285464" indent="-285464">
              <a:lnSpc>
                <a:spcPct val="150000"/>
              </a:lnSpc>
              <a:buFont typeface="Arial" panose="020B0604020202020204" pitchFamily="34" charset="0"/>
              <a:buChar char="•"/>
            </a:pPr>
            <a:r>
              <a:rPr lang="de-DE" sz="1998" dirty="0" err="1"/>
              <a:t>Literally</a:t>
            </a:r>
            <a:r>
              <a:rPr lang="de-DE" sz="1998" dirty="0"/>
              <a:t> </a:t>
            </a:r>
            <a:r>
              <a:rPr lang="de-DE" sz="1998" dirty="0" err="1"/>
              <a:t>idea</a:t>
            </a:r>
            <a:r>
              <a:rPr lang="en-US" sz="1998" dirty="0"/>
              <a:t>: Transformation of analog signals into digital ones, i.e.,</a:t>
            </a:r>
          </a:p>
          <a:p>
            <a:pPr marL="742207" lvl="1" indent="-285464">
              <a:lnSpc>
                <a:spcPct val="150000"/>
              </a:lnSpc>
              <a:buFont typeface="Arial" panose="020B0604020202020204" pitchFamily="34" charset="0"/>
              <a:buChar char="•"/>
            </a:pPr>
            <a:r>
              <a:rPr lang="de-DE" sz="1998" dirty="0" err="1"/>
              <a:t>Finding</a:t>
            </a:r>
            <a:r>
              <a:rPr lang="de-DE" sz="1998" dirty="0"/>
              <a:t> digital </a:t>
            </a:r>
            <a:r>
              <a:rPr lang="de-DE" sz="1998" dirty="0" err="1"/>
              <a:t>representations</a:t>
            </a:r>
            <a:r>
              <a:rPr lang="de-DE" sz="1998" dirty="0"/>
              <a:t> </a:t>
            </a:r>
            <a:r>
              <a:rPr lang="de-DE" sz="1998" dirty="0" err="1"/>
              <a:t>for</a:t>
            </a:r>
            <a:r>
              <a:rPr lang="de-DE" sz="1998" dirty="0"/>
              <a:t> analog </a:t>
            </a:r>
            <a:r>
              <a:rPr lang="de-DE" sz="1998" dirty="0" err="1"/>
              <a:t>information</a:t>
            </a:r>
            <a:r>
              <a:rPr lang="de-DE" sz="1998" dirty="0"/>
              <a:t>, </a:t>
            </a:r>
            <a:r>
              <a:rPr lang="de-DE" sz="1998" dirty="0" err="1"/>
              <a:t>objects</a:t>
            </a:r>
            <a:r>
              <a:rPr lang="de-DE" sz="1998" dirty="0"/>
              <a:t>, </a:t>
            </a:r>
            <a:r>
              <a:rPr lang="de-DE" sz="1998" dirty="0" err="1"/>
              <a:t>or</a:t>
            </a:r>
            <a:r>
              <a:rPr lang="de-DE" sz="1998" dirty="0"/>
              <a:t> </a:t>
            </a:r>
            <a:r>
              <a:rPr lang="de-DE" sz="1998" dirty="0" err="1"/>
              <a:t>events</a:t>
            </a:r>
            <a:endParaRPr lang="en-US" sz="1998" dirty="0"/>
          </a:p>
          <a:p>
            <a:pPr marL="742207" lvl="1" indent="-285464">
              <a:lnSpc>
                <a:spcPct val="150000"/>
              </a:lnSpc>
              <a:buFont typeface="Arial" panose="020B0604020202020204" pitchFamily="34" charset="0"/>
              <a:buChar char="•"/>
            </a:pPr>
            <a:r>
              <a:rPr lang="en-US" sz="1998" dirty="0"/>
              <a:t>Storing digital information, distribute them, and process them</a:t>
            </a:r>
          </a:p>
          <a:p>
            <a:pPr marL="285464" indent="-285464">
              <a:lnSpc>
                <a:spcPct val="150000"/>
              </a:lnSpc>
              <a:buFont typeface="Arial" panose="020B0604020202020204" pitchFamily="34" charset="0"/>
              <a:buChar char="•"/>
            </a:pPr>
            <a:r>
              <a:rPr lang="en-US" sz="1998" dirty="0"/>
              <a:t>nowadays synonymous for digital revolution, transformation</a:t>
            </a:r>
          </a:p>
          <a:p>
            <a:pPr marL="285464" indent="-285464">
              <a:lnSpc>
                <a:spcPct val="150000"/>
              </a:lnSpc>
              <a:buFont typeface="Arial" panose="020B0604020202020204" pitchFamily="34" charset="0"/>
              <a:buChar char="•"/>
            </a:pPr>
            <a:r>
              <a:rPr lang="en-US" sz="1998" dirty="0"/>
              <a:t>Digital change: change processes in society including economy, culture, education, and politics</a:t>
            </a:r>
          </a:p>
          <a:p>
            <a:pPr marL="285464" indent="-285464">
              <a:lnSpc>
                <a:spcPct val="150000"/>
              </a:lnSpc>
              <a:buFont typeface="Arial" panose="020B0604020202020204" pitchFamily="34" charset="0"/>
              <a:buChar char="•"/>
            </a:pPr>
            <a:r>
              <a:rPr lang="en-US" sz="1998" dirty="0"/>
              <a:t>Advantages of Digitization</a:t>
            </a:r>
          </a:p>
          <a:p>
            <a:pPr marL="742207" lvl="1" indent="-285464">
              <a:lnSpc>
                <a:spcPct val="150000"/>
              </a:lnSpc>
              <a:buFont typeface="Arial" panose="020B0604020202020204" pitchFamily="34" charset="0"/>
              <a:buChar char="•"/>
            </a:pPr>
            <a:r>
              <a:rPr lang="en-US" sz="1998" dirty="0"/>
              <a:t>Enables digital, automated processing</a:t>
            </a:r>
          </a:p>
          <a:p>
            <a:pPr marL="742207" lvl="1" indent="-285464">
              <a:lnSpc>
                <a:spcPct val="150000"/>
              </a:lnSpc>
              <a:buFont typeface="Arial" panose="020B0604020202020204" pitchFamily="34" charset="0"/>
              <a:buChar char="•"/>
            </a:pPr>
            <a:r>
              <a:rPr lang="en-US" sz="1998" dirty="0"/>
              <a:t>Machine-based readability and processability</a:t>
            </a:r>
          </a:p>
          <a:p>
            <a:pPr marL="742207" lvl="1" indent="-285464">
              <a:lnSpc>
                <a:spcPct val="150000"/>
              </a:lnSpc>
              <a:buFont typeface="Arial" panose="020B0604020202020204" pitchFamily="34" charset="0"/>
              <a:buChar char="•"/>
            </a:pPr>
            <a:r>
              <a:rPr lang="en-US" sz="1998" dirty="0"/>
              <a:t>scalability</a:t>
            </a:r>
          </a:p>
          <a:p>
            <a:pPr marL="742207" lvl="1" indent="-285464">
              <a:lnSpc>
                <a:spcPct val="150000"/>
              </a:lnSpc>
              <a:buFont typeface="Arial" panose="020B0604020202020204" pitchFamily="34" charset="0"/>
              <a:buChar char="•"/>
            </a:pPr>
            <a:r>
              <a:rPr lang="en-US" sz="1998" dirty="0"/>
              <a:t>automation</a:t>
            </a:r>
          </a:p>
          <a:p>
            <a:pPr>
              <a:lnSpc>
                <a:spcPct val="150000"/>
              </a:lnSpc>
            </a:pPr>
            <a:endParaRPr lang="en-US" sz="1998" dirty="0"/>
          </a:p>
        </p:txBody>
      </p:sp>
      <p:sp>
        <p:nvSpPr>
          <p:cNvPr id="4" name="Slide Number Placeholder 3">
            <a:extLst>
              <a:ext uri="{FF2B5EF4-FFF2-40B4-BE49-F238E27FC236}">
                <a16:creationId xmlns:a16="http://schemas.microsoft.com/office/drawing/2014/main" id="{8D04FF2C-8182-8070-5AC4-7E8DEBDFCBC0}"/>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a:t>
            </a:fld>
            <a:endParaRPr lang="de-DE"/>
          </a:p>
        </p:txBody>
      </p:sp>
    </p:spTree>
    <p:extLst>
      <p:ext uri="{BB962C8B-B14F-4D97-AF65-F5344CB8AC3E}">
        <p14:creationId xmlns:p14="http://schemas.microsoft.com/office/powerpoint/2010/main" val="235768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28A10-03E7-1CB4-0200-1BE5EA5E987A}"/>
              </a:ext>
            </a:extLst>
          </p:cNvPr>
          <p:cNvSpPr>
            <a:spLocks noGrp="1"/>
          </p:cNvSpPr>
          <p:nvPr>
            <p:ph type="title"/>
          </p:nvPr>
        </p:nvSpPr>
        <p:spPr>
          <a:xfrm>
            <a:off x="334683" y="98275"/>
            <a:ext cx="7743282" cy="2459651"/>
          </a:xfrm>
        </p:spPr>
        <p:txBody>
          <a:bodyPr/>
          <a:lstStyle/>
          <a:p>
            <a:r>
              <a:rPr lang="de-DE" dirty="0"/>
              <a:t>Companies live in an </a:t>
            </a:r>
            <a:r>
              <a:rPr lang="de-DE" dirty="0" err="1"/>
              <a:t>ever-changing</a:t>
            </a:r>
            <a:r>
              <a:rPr lang="de-DE" dirty="0"/>
              <a:t> and </a:t>
            </a:r>
            <a:r>
              <a:rPr lang="de-DE" dirty="0" err="1"/>
              <a:t>evolving</a:t>
            </a:r>
            <a:r>
              <a:rPr lang="de-DE" dirty="0"/>
              <a:t> </a:t>
            </a:r>
            <a:r>
              <a:rPr lang="de-DE" dirty="0" err="1"/>
              <a:t>environment</a:t>
            </a:r>
            <a:r>
              <a:rPr lang="de-DE" dirty="0"/>
              <a:t> </a:t>
            </a:r>
            <a:r>
              <a:rPr lang="de-DE" dirty="0" err="1"/>
              <a:t>where</a:t>
            </a:r>
            <a:r>
              <a:rPr lang="de-DE" dirty="0"/>
              <a:t> </a:t>
            </a:r>
            <a:r>
              <a:rPr lang="de-DE" dirty="0" err="1"/>
              <a:t>digitization</a:t>
            </a:r>
            <a:r>
              <a:rPr lang="de-DE" dirty="0"/>
              <a:t> </a:t>
            </a:r>
            <a:r>
              <a:rPr lang="de-DE" dirty="0" err="1"/>
              <a:t>is</a:t>
            </a:r>
            <a:r>
              <a:rPr lang="de-DE" dirty="0"/>
              <a:t> </a:t>
            </a:r>
            <a:r>
              <a:rPr lang="de-DE" dirty="0" err="1"/>
              <a:t>key</a:t>
            </a:r>
            <a:endParaRPr lang="en-US" dirty="0"/>
          </a:p>
        </p:txBody>
      </p:sp>
      <p:sp>
        <p:nvSpPr>
          <p:cNvPr id="3" name="Content Placeholder 2">
            <a:extLst>
              <a:ext uri="{FF2B5EF4-FFF2-40B4-BE49-F238E27FC236}">
                <a16:creationId xmlns:a16="http://schemas.microsoft.com/office/drawing/2014/main" id="{3EC7000B-16DC-0EA9-6DBD-37E53D6E6884}"/>
              </a:ext>
            </a:extLst>
          </p:cNvPr>
          <p:cNvSpPr>
            <a:spLocks noGrp="1"/>
          </p:cNvSpPr>
          <p:nvPr>
            <p:ph idx="1"/>
          </p:nvPr>
        </p:nvSpPr>
        <p:spPr>
          <a:xfrm>
            <a:off x="587821" y="1067767"/>
            <a:ext cx="10549061" cy="4181405"/>
          </a:xfrm>
        </p:spPr>
        <p:txBody>
          <a:bodyPr/>
          <a:lstStyle/>
          <a:p>
            <a:r>
              <a:rPr lang="en-US" dirty="0"/>
              <a:t>52% of Fortune 500 have vanished since 2000</a:t>
            </a:r>
          </a:p>
          <a:p>
            <a:r>
              <a:rPr lang="en-US" dirty="0"/>
              <a:t>Mean life expectancy of a company: </a:t>
            </a:r>
            <a:r>
              <a:rPr lang="en-US" dirty="0" err="1"/>
              <a:t>i</a:t>
            </a:r>
            <a:r>
              <a:rPr lang="de-DE" sz="1998" dirty="0" err="1">
                <a:solidFill>
                  <a:schemeClr val="accent1"/>
                </a:solidFill>
              </a:rPr>
              <a:t>n</a:t>
            </a:r>
            <a:r>
              <a:rPr lang="de-DE" sz="1998" dirty="0">
                <a:solidFill>
                  <a:schemeClr val="accent1"/>
                </a:solidFill>
              </a:rPr>
              <a:t> 1958: 61 </a:t>
            </a:r>
            <a:r>
              <a:rPr lang="de-DE" dirty="0" err="1">
                <a:solidFill>
                  <a:schemeClr val="accent1"/>
                </a:solidFill>
              </a:rPr>
              <a:t>years</a:t>
            </a:r>
            <a:r>
              <a:rPr lang="de-DE" sz="1998" dirty="0">
                <a:solidFill>
                  <a:schemeClr val="accent1"/>
                </a:solidFill>
              </a:rPr>
              <a:t>, in 2015: 15 </a:t>
            </a:r>
            <a:r>
              <a:rPr lang="de-DE" sz="1998" dirty="0" err="1">
                <a:solidFill>
                  <a:schemeClr val="accent1"/>
                </a:solidFill>
              </a:rPr>
              <a:t>years</a:t>
            </a:r>
            <a:endParaRPr lang="en-US" dirty="0"/>
          </a:p>
          <a:p>
            <a:r>
              <a:rPr lang="en-US" dirty="0"/>
              <a:t>Examples for disrupted companies:</a:t>
            </a:r>
          </a:p>
          <a:p>
            <a:pPr marL="742207" lvl="1" indent="-285464">
              <a:buFont typeface="Arial" panose="020B0604020202020204" pitchFamily="34" charset="0"/>
              <a:buChar char="•"/>
            </a:pPr>
            <a:r>
              <a:rPr lang="en-US" dirty="0"/>
              <a:t>Blockbuster (1985-2010): Home video rental service: 2004 84.300 employees, 9.094 </a:t>
            </a:r>
            <a:r>
              <a:rPr lang="de-DE" dirty="0" err="1"/>
              <a:t>branches</a:t>
            </a:r>
            <a:r>
              <a:rPr lang="de-DE" dirty="0"/>
              <a:t>,</a:t>
            </a:r>
            <a:r>
              <a:rPr lang="en-US" dirty="0"/>
              <a:t> 2000 </a:t>
            </a:r>
            <a:r>
              <a:rPr lang="de-DE" dirty="0"/>
              <a:t>Netflix </a:t>
            </a:r>
            <a:r>
              <a:rPr lang="de-DE" dirty="0" err="1"/>
              <a:t>offered</a:t>
            </a:r>
            <a:r>
              <a:rPr lang="de-DE" dirty="0"/>
              <a:t> </a:t>
            </a:r>
            <a:r>
              <a:rPr lang="de-DE" dirty="0" err="1"/>
              <a:t>to</a:t>
            </a:r>
            <a:r>
              <a:rPr lang="de-DE" dirty="0"/>
              <a:t> </a:t>
            </a:r>
            <a:r>
              <a:rPr lang="de-DE" dirty="0" err="1"/>
              <a:t>sell</a:t>
            </a:r>
            <a:r>
              <a:rPr lang="de-DE" dirty="0"/>
              <a:t> ist </a:t>
            </a:r>
            <a:r>
              <a:rPr lang="de-DE" dirty="0" err="1"/>
              <a:t>business</a:t>
            </a:r>
            <a:r>
              <a:rPr lang="de-DE" dirty="0"/>
              <a:t> </a:t>
            </a:r>
            <a:r>
              <a:rPr lang="de-DE" dirty="0" err="1"/>
              <a:t>to</a:t>
            </a:r>
            <a:r>
              <a:rPr lang="de-DE" dirty="0"/>
              <a:t> Blockbuster </a:t>
            </a:r>
            <a:r>
              <a:rPr lang="de-DE" dirty="0" err="1"/>
              <a:t>for</a:t>
            </a:r>
            <a:r>
              <a:rPr lang="de-DE" dirty="0"/>
              <a:t> 50 Mio. $ , CEO was not </a:t>
            </a:r>
            <a:r>
              <a:rPr lang="de-DE" dirty="0" err="1"/>
              <a:t>interested</a:t>
            </a:r>
            <a:r>
              <a:rPr lang="de-DE" dirty="0"/>
              <a:t> </a:t>
            </a:r>
            <a:r>
              <a:rPr lang="de-DE" dirty="0" err="1"/>
              <a:t>because</a:t>
            </a:r>
            <a:r>
              <a:rPr lang="de-DE" dirty="0"/>
              <a:t> he </a:t>
            </a:r>
            <a:r>
              <a:rPr lang="de-DE" dirty="0" err="1"/>
              <a:t>considered</a:t>
            </a:r>
            <a:r>
              <a:rPr lang="de-DE" dirty="0"/>
              <a:t> </a:t>
            </a:r>
            <a:r>
              <a:rPr lang="de-DE" dirty="0" err="1"/>
              <a:t>it</a:t>
            </a:r>
            <a:r>
              <a:rPr lang="de-DE" dirty="0"/>
              <a:t> </a:t>
            </a:r>
            <a:r>
              <a:rPr lang="de-DE" dirty="0" err="1"/>
              <a:t>to</a:t>
            </a:r>
            <a:r>
              <a:rPr lang="de-DE" dirty="0"/>
              <a:t> </a:t>
            </a:r>
            <a:r>
              <a:rPr lang="de-DE" dirty="0" err="1"/>
              <a:t>be</a:t>
            </a:r>
            <a:r>
              <a:rPr lang="de-DE" dirty="0"/>
              <a:t> a </a:t>
            </a:r>
            <a:r>
              <a:rPr lang="en-US" dirty="0"/>
              <a:t>“</a:t>
            </a:r>
            <a:r>
              <a:rPr lang="de-DE" dirty="0" err="1"/>
              <a:t>very</a:t>
            </a:r>
            <a:r>
              <a:rPr lang="de-DE" dirty="0"/>
              <a:t> limited </a:t>
            </a:r>
            <a:r>
              <a:rPr lang="de-DE" dirty="0" err="1"/>
              <a:t>niche</a:t>
            </a:r>
            <a:r>
              <a:rPr lang="de-DE" dirty="0"/>
              <a:t> </a:t>
            </a:r>
            <a:r>
              <a:rPr lang="de-DE" dirty="0" err="1"/>
              <a:t>business</a:t>
            </a:r>
            <a:r>
              <a:rPr lang="en-US" dirty="0"/>
              <a:t>” </a:t>
            </a:r>
            <a:r>
              <a:rPr lang="en-US" dirty="0">
                <a:sym typeface="Wingdings" panose="05000000000000000000" pitchFamily="2" charset="2"/>
              </a:rPr>
              <a:t> </a:t>
            </a:r>
            <a:r>
              <a:rPr lang="de-DE" dirty="0" err="1">
                <a:sym typeface="Wingdings" panose="05000000000000000000" pitchFamily="2" charset="2"/>
              </a:rPr>
              <a:t>underestimated</a:t>
            </a:r>
            <a:r>
              <a:rPr lang="de-DE" dirty="0">
                <a:sym typeface="Wingdings" panose="05000000000000000000" pitchFamily="2" charset="2"/>
              </a:rPr>
              <a:t> </a:t>
            </a:r>
            <a:r>
              <a:rPr lang="de-DE" dirty="0" err="1">
                <a:sym typeface="Wingdings" panose="05000000000000000000" pitchFamily="2" charset="2"/>
              </a:rPr>
              <a:t>effects</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digitization</a:t>
            </a:r>
            <a:endParaRPr lang="en-US" dirty="0"/>
          </a:p>
          <a:p>
            <a:pPr marL="742207" lvl="1" indent="-285464">
              <a:buFont typeface="Arial" panose="020B0604020202020204" pitchFamily="34" charset="0"/>
              <a:buChar char="•"/>
            </a:pPr>
            <a:r>
              <a:rPr lang="en-US" dirty="0"/>
              <a:t>Polaroid (1937-2001): Instant cameras, 2001 </a:t>
            </a:r>
            <a:r>
              <a:rPr lang="en-US" dirty="0" err="1"/>
              <a:t>insolvence</a:t>
            </a:r>
            <a:r>
              <a:rPr lang="en-US" dirty="0"/>
              <a:t> </a:t>
            </a:r>
            <a:r>
              <a:rPr lang="en-US" dirty="0">
                <a:sym typeface="Wingdings" panose="05000000000000000000" pitchFamily="2" charset="2"/>
              </a:rPr>
              <a:t> </a:t>
            </a:r>
            <a:r>
              <a:rPr lang="de-DE" dirty="0" err="1">
                <a:sym typeface="Wingdings" panose="05000000000000000000" pitchFamily="2" charset="2"/>
              </a:rPr>
              <a:t>underestimated</a:t>
            </a:r>
            <a:r>
              <a:rPr lang="de-DE" dirty="0">
                <a:sym typeface="Wingdings" panose="05000000000000000000" pitchFamily="2" charset="2"/>
              </a:rPr>
              <a:t> </a:t>
            </a:r>
            <a:r>
              <a:rPr lang="de-DE" dirty="0" err="1">
                <a:sym typeface="Wingdings" panose="05000000000000000000" pitchFamily="2" charset="2"/>
              </a:rPr>
              <a:t>effects</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digitization</a:t>
            </a:r>
            <a:r>
              <a:rPr lang="de-DE" dirty="0">
                <a:sym typeface="Wingdings" panose="05000000000000000000" pitchFamily="2" charset="2"/>
              </a:rPr>
              <a:t> </a:t>
            </a:r>
            <a:r>
              <a:rPr lang="en-US" dirty="0">
                <a:sym typeface="Wingdings" panose="05000000000000000000" pitchFamily="2" charset="2"/>
              </a:rPr>
              <a:t>(digital photography)</a:t>
            </a:r>
          </a:p>
          <a:p>
            <a:pPr marL="742207" lvl="1" indent="-285464">
              <a:buFont typeface="Arial" panose="020B0604020202020204" pitchFamily="34" charset="0"/>
              <a:buChar char="•"/>
            </a:pPr>
            <a:r>
              <a:rPr lang="en-US" dirty="0">
                <a:sym typeface="Wingdings" panose="05000000000000000000" pitchFamily="2" charset="2"/>
              </a:rPr>
              <a:t>Kodak (1981-2012): various experiments with digital photography, however, never fully supported due to fear of undermining the traditional business; </a:t>
            </a:r>
            <a:r>
              <a:rPr lang="en-US" dirty="0" err="1">
                <a:sym typeface="Wingdings" panose="05000000000000000000" pitchFamily="2" charset="2"/>
              </a:rPr>
              <a:t>ofoto</a:t>
            </a:r>
            <a:r>
              <a:rPr lang="en-US" dirty="0">
                <a:sym typeface="Wingdings" panose="05000000000000000000" pitchFamily="2" charset="2"/>
              </a:rPr>
              <a:t> 2001 bought by Kodak, but instead of developing something like Instagram, used to print pictures</a:t>
            </a:r>
          </a:p>
          <a:p>
            <a:pPr marL="742207" lvl="1" indent="-285464">
              <a:buFont typeface="Arial" panose="020B0604020202020204" pitchFamily="34" charset="0"/>
              <a:buChar char="•"/>
            </a:pPr>
            <a:r>
              <a:rPr lang="de-DE" dirty="0">
                <a:sym typeface="Wingdings" panose="05000000000000000000" pitchFamily="2" charset="2"/>
              </a:rPr>
              <a:t>Toys R </a:t>
            </a:r>
            <a:r>
              <a:rPr lang="de-DE" dirty="0" err="1">
                <a:sym typeface="Wingdings" panose="05000000000000000000" pitchFamily="2" charset="2"/>
              </a:rPr>
              <a:t>Us</a:t>
            </a:r>
            <a:r>
              <a:rPr lang="de-DE" dirty="0">
                <a:sym typeface="Wingdings" panose="05000000000000000000" pitchFamily="2" charset="2"/>
              </a:rPr>
              <a:t> (1948-2017): </a:t>
            </a:r>
            <a:r>
              <a:rPr lang="de-DE" dirty="0" err="1">
                <a:sym typeface="Wingdings" panose="05000000000000000000" pitchFamily="2" charset="2"/>
              </a:rPr>
              <a:t>did</a:t>
            </a:r>
            <a:r>
              <a:rPr lang="de-DE" dirty="0">
                <a:sym typeface="Wingdings" panose="05000000000000000000" pitchFamily="2" charset="2"/>
              </a:rPr>
              <a:t> not </a:t>
            </a:r>
            <a:r>
              <a:rPr lang="de-DE" dirty="0" err="1">
                <a:sym typeface="Wingdings" panose="05000000000000000000" pitchFamily="2" charset="2"/>
              </a:rPr>
              <a:t>develop</a:t>
            </a:r>
            <a:r>
              <a:rPr lang="de-DE" dirty="0">
                <a:sym typeface="Wingdings" panose="05000000000000000000" pitchFamily="2" charset="2"/>
              </a:rPr>
              <a:t> </a:t>
            </a:r>
            <a:r>
              <a:rPr lang="de-DE" dirty="0" err="1">
                <a:sym typeface="Wingdings" panose="05000000000000000000" pitchFamily="2" charset="2"/>
              </a:rPr>
              <a:t>e-commerce</a:t>
            </a:r>
            <a:r>
              <a:rPr lang="en-US" dirty="0">
                <a:sym typeface="Wingdings" panose="05000000000000000000" pitchFamily="2" charset="2"/>
              </a:rPr>
              <a:t>, 2017 (</a:t>
            </a:r>
            <a:r>
              <a:rPr lang="de-DE" dirty="0" err="1">
                <a:sym typeface="Wingdings" panose="05000000000000000000" pitchFamily="2" charset="2"/>
              </a:rPr>
              <a:t>too</a:t>
            </a:r>
            <a:r>
              <a:rPr lang="de-DE" dirty="0">
                <a:sym typeface="Wingdings" panose="05000000000000000000" pitchFamily="2" charset="2"/>
              </a:rPr>
              <a:t> </a:t>
            </a:r>
            <a:r>
              <a:rPr lang="de-DE" dirty="0" err="1">
                <a:sym typeface="Wingdings" panose="05000000000000000000" pitchFamily="2" charset="2"/>
              </a:rPr>
              <a:t>late</a:t>
            </a:r>
            <a:r>
              <a:rPr lang="en-US" dirty="0">
                <a:sym typeface="Wingdings" panose="05000000000000000000" pitchFamily="2" charset="2"/>
              </a:rPr>
              <a:t>) 100 Mio.$ investment </a:t>
            </a:r>
            <a:r>
              <a:rPr lang="de-DE" dirty="0" err="1">
                <a:sym typeface="Wingdings" panose="05000000000000000000" pitchFamily="2" charset="2"/>
              </a:rPr>
              <a:t>to</a:t>
            </a:r>
            <a:r>
              <a:rPr lang="de-DE" dirty="0">
                <a:sym typeface="Wingdings" panose="05000000000000000000" pitchFamily="2" charset="2"/>
              </a:rPr>
              <a:t> </a:t>
            </a:r>
            <a:r>
              <a:rPr lang="de-DE" dirty="0" err="1">
                <a:sym typeface="Wingdings" panose="05000000000000000000" pitchFamily="2" charset="2"/>
              </a:rPr>
              <a:t>achieve</a:t>
            </a:r>
            <a:r>
              <a:rPr lang="de-DE" dirty="0">
                <a:sym typeface="Wingdings" panose="05000000000000000000" pitchFamily="2" charset="2"/>
              </a:rPr>
              <a:t> a turn </a:t>
            </a:r>
            <a:r>
              <a:rPr lang="de-DE" dirty="0" err="1">
                <a:sym typeface="Wingdings" panose="05000000000000000000" pitchFamily="2" charset="2"/>
              </a:rPr>
              <a:t>around</a:t>
            </a:r>
            <a:r>
              <a:rPr lang="de-DE" dirty="0">
                <a:sym typeface="Wingdings" panose="05000000000000000000" pitchFamily="2" charset="2"/>
              </a:rPr>
              <a:t> and </a:t>
            </a:r>
            <a:r>
              <a:rPr lang="de-DE" dirty="0" err="1">
                <a:sym typeface="Wingdings" panose="05000000000000000000" pitchFamily="2" charset="2"/>
              </a:rPr>
              <a:t>develop</a:t>
            </a:r>
            <a:r>
              <a:rPr lang="de-DE" dirty="0">
                <a:sym typeface="Wingdings" panose="05000000000000000000" pitchFamily="2" charset="2"/>
              </a:rPr>
              <a:t> an</a:t>
            </a:r>
            <a:r>
              <a:rPr lang="en-US" dirty="0">
                <a:sym typeface="Wingdings" panose="05000000000000000000" pitchFamily="2" charset="2"/>
              </a:rPr>
              <a:t> E-Commerce shop  </a:t>
            </a:r>
            <a:r>
              <a:rPr lang="de-DE" dirty="0" err="1">
                <a:sym typeface="Wingdings" panose="05000000000000000000" pitchFamily="2" charset="2"/>
              </a:rPr>
              <a:t>underestimated</a:t>
            </a:r>
            <a:r>
              <a:rPr lang="de-DE" dirty="0">
                <a:sym typeface="Wingdings" panose="05000000000000000000" pitchFamily="2" charset="2"/>
              </a:rPr>
              <a:t> </a:t>
            </a:r>
            <a:r>
              <a:rPr lang="de-DE" dirty="0" err="1">
                <a:sym typeface="Wingdings" panose="05000000000000000000" pitchFamily="2" charset="2"/>
              </a:rPr>
              <a:t>effects</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digitization</a:t>
            </a:r>
            <a:endParaRPr lang="en-US" dirty="0">
              <a:sym typeface="Wingdings" panose="05000000000000000000" pitchFamily="2" charset="2"/>
            </a:endParaRPr>
          </a:p>
          <a:p>
            <a:pPr marL="742207" lvl="1" indent="-285464">
              <a:buFont typeface="Arial" panose="020B0604020202020204" pitchFamily="34" charset="0"/>
              <a:buChar char="•"/>
            </a:pPr>
            <a:r>
              <a:rPr lang="en-US" dirty="0">
                <a:sym typeface="Wingdings" panose="05000000000000000000" pitchFamily="2" charset="2"/>
              </a:rPr>
              <a:t>Tower Records (1960 – 2004): Music store (CD, cassettes, DVD etc.)  no match against Spotify, iTunes, and piracy</a:t>
            </a:r>
            <a:endParaRPr lang="de-DE" dirty="0">
              <a:sym typeface="Wingdings" panose="05000000000000000000" pitchFamily="2" charset="2"/>
            </a:endParaRPr>
          </a:p>
        </p:txBody>
      </p:sp>
      <p:sp>
        <p:nvSpPr>
          <p:cNvPr id="4" name="Slide Number Placeholder 3">
            <a:extLst>
              <a:ext uri="{FF2B5EF4-FFF2-40B4-BE49-F238E27FC236}">
                <a16:creationId xmlns:a16="http://schemas.microsoft.com/office/drawing/2014/main" id="{2B618C27-C1EA-1396-00B4-8F2C8FE660FC}"/>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3</a:t>
            </a:fld>
            <a:endParaRPr lang="de-DE"/>
          </a:p>
        </p:txBody>
      </p:sp>
      <p:sp>
        <p:nvSpPr>
          <p:cNvPr id="5" name="TextBox 4">
            <a:extLst>
              <a:ext uri="{FF2B5EF4-FFF2-40B4-BE49-F238E27FC236}">
                <a16:creationId xmlns:a16="http://schemas.microsoft.com/office/drawing/2014/main" id="{72B0DDDE-26F7-AD83-2A74-2FA6B79E61D7}"/>
              </a:ext>
            </a:extLst>
          </p:cNvPr>
          <p:cNvSpPr txBox="1"/>
          <p:nvPr/>
        </p:nvSpPr>
        <p:spPr>
          <a:xfrm>
            <a:off x="587821" y="6266499"/>
            <a:ext cx="10292479" cy="245965"/>
          </a:xfrm>
          <a:prstGeom prst="rect">
            <a:avLst/>
          </a:prstGeom>
          <a:noFill/>
        </p:spPr>
        <p:txBody>
          <a:bodyPr wrap="square" rtlCol="0">
            <a:spAutoFit/>
          </a:bodyPr>
          <a:lstStyle/>
          <a:p>
            <a:r>
              <a:rPr lang="en-US" sz="999" dirty="0"/>
              <a:t>Quelle: </a:t>
            </a:r>
            <a:r>
              <a:rPr lang="en-US" sz="999" dirty="0">
                <a:hlinkClick r:id="rId2"/>
              </a:rPr>
              <a:t>https://www.linkedin.com/pulse/since-2000-52-companies-fortune-500-have-vanished-sam-tanham/</a:t>
            </a:r>
            <a:r>
              <a:rPr lang="en-US" sz="999" dirty="0"/>
              <a:t>, 2021</a:t>
            </a:r>
          </a:p>
        </p:txBody>
      </p:sp>
    </p:spTree>
    <p:extLst>
      <p:ext uri="{BB962C8B-B14F-4D97-AF65-F5344CB8AC3E}">
        <p14:creationId xmlns:p14="http://schemas.microsoft.com/office/powerpoint/2010/main" val="3918027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348CC-6090-AC8D-448B-97CB26C54DAE}"/>
              </a:ext>
            </a:extLst>
          </p:cNvPr>
          <p:cNvSpPr>
            <a:spLocks noGrp="1"/>
          </p:cNvSpPr>
          <p:nvPr>
            <p:ph type="title"/>
          </p:nvPr>
        </p:nvSpPr>
        <p:spPr>
          <a:xfrm>
            <a:off x="345689" y="476913"/>
            <a:ext cx="4059751" cy="983860"/>
          </a:xfrm>
        </p:spPr>
        <p:txBody>
          <a:bodyPr/>
          <a:lstStyle/>
          <a:p>
            <a:r>
              <a:rPr lang="en-US" dirty="0"/>
              <a:t>Spectacular</a:t>
            </a:r>
            <a:r>
              <a:rPr lang="de-DE" dirty="0"/>
              <a:t> </a:t>
            </a:r>
            <a:r>
              <a:rPr lang="de-DE" dirty="0" err="1"/>
              <a:t>Misjudgments</a:t>
            </a:r>
            <a:endParaRPr lang="en-US" dirty="0"/>
          </a:p>
        </p:txBody>
      </p:sp>
      <p:sp>
        <p:nvSpPr>
          <p:cNvPr id="4" name="Slide Number Placeholder 3">
            <a:extLst>
              <a:ext uri="{FF2B5EF4-FFF2-40B4-BE49-F238E27FC236}">
                <a16:creationId xmlns:a16="http://schemas.microsoft.com/office/drawing/2014/main" id="{4C2E9545-5639-F10B-BBF9-9DE1B467D210}"/>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4</a:t>
            </a:fld>
            <a:endParaRPr lang="de-DE"/>
          </a:p>
        </p:txBody>
      </p:sp>
      <p:pic>
        <p:nvPicPr>
          <p:cNvPr id="6" name="Grafik 7">
            <a:extLst>
              <a:ext uri="{FF2B5EF4-FFF2-40B4-BE49-F238E27FC236}">
                <a16:creationId xmlns:a16="http://schemas.microsoft.com/office/drawing/2014/main" id="{E1B169B0-2473-651B-C19B-19210D277C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82245" y="1671692"/>
            <a:ext cx="4996032" cy="4787864"/>
          </a:xfrm>
          <a:prstGeom prst="rect">
            <a:avLst/>
          </a:prstGeom>
        </p:spPr>
      </p:pic>
    </p:spTree>
    <p:extLst>
      <p:ext uri="{BB962C8B-B14F-4D97-AF65-F5344CB8AC3E}">
        <p14:creationId xmlns:p14="http://schemas.microsoft.com/office/powerpoint/2010/main" val="33783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6AD8C-21E8-51CA-86CA-477D1FC91EF0}"/>
              </a:ext>
            </a:extLst>
          </p:cNvPr>
          <p:cNvSpPr>
            <a:spLocks noGrp="1"/>
          </p:cNvSpPr>
          <p:nvPr>
            <p:ph type="title"/>
          </p:nvPr>
        </p:nvSpPr>
        <p:spPr>
          <a:xfrm>
            <a:off x="345688" y="1033735"/>
            <a:ext cx="7701908" cy="983860"/>
          </a:xfrm>
        </p:spPr>
        <p:txBody>
          <a:bodyPr/>
          <a:lstStyle/>
          <a:p>
            <a:r>
              <a:rPr lang="en-DE" dirty="0"/>
              <a:t>Social Change in the Digital Era</a:t>
            </a:r>
          </a:p>
        </p:txBody>
      </p:sp>
      <p:pic>
        <p:nvPicPr>
          <p:cNvPr id="4" name="Picture 2">
            <a:extLst>
              <a:ext uri="{FF2B5EF4-FFF2-40B4-BE49-F238E27FC236}">
                <a16:creationId xmlns:a16="http://schemas.microsoft.com/office/drawing/2014/main" id="{E04111F8-5922-BBE3-A574-0ED4CE0C1C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987" r="11987"/>
          <a:stretch/>
        </p:blipFill>
        <p:spPr bwMode="auto">
          <a:xfrm>
            <a:off x="4276468" y="1677867"/>
            <a:ext cx="3771128" cy="482811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52263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8E17F-BA92-4934-B536-D14778EF55D7}"/>
              </a:ext>
            </a:extLst>
          </p:cNvPr>
          <p:cNvSpPr>
            <a:spLocks noGrp="1"/>
          </p:cNvSpPr>
          <p:nvPr>
            <p:ph type="title"/>
          </p:nvPr>
        </p:nvSpPr>
        <p:spPr>
          <a:xfrm>
            <a:off x="386306" y="298617"/>
            <a:ext cx="4059751" cy="983860"/>
          </a:xfrm>
        </p:spPr>
        <p:txBody>
          <a:bodyPr/>
          <a:lstStyle/>
          <a:p>
            <a:r>
              <a:rPr lang="de-DE" dirty="0" err="1"/>
              <a:t>Some</a:t>
            </a:r>
            <a:r>
              <a:rPr lang="de-DE" dirty="0"/>
              <a:t> Challenges </a:t>
            </a:r>
            <a:r>
              <a:rPr lang="de-DE" dirty="0" err="1"/>
              <a:t>for</a:t>
            </a:r>
            <a:r>
              <a:rPr lang="de-DE" dirty="0"/>
              <a:t> </a:t>
            </a:r>
            <a:r>
              <a:rPr lang="de-DE" dirty="0" err="1"/>
              <a:t>Digitization</a:t>
            </a:r>
            <a:endParaRPr lang="en-US" dirty="0"/>
          </a:p>
        </p:txBody>
      </p:sp>
      <p:sp>
        <p:nvSpPr>
          <p:cNvPr id="4" name="Slide Number Placeholder 3">
            <a:extLst>
              <a:ext uri="{FF2B5EF4-FFF2-40B4-BE49-F238E27FC236}">
                <a16:creationId xmlns:a16="http://schemas.microsoft.com/office/drawing/2014/main" id="{3C15AE9E-DE93-7988-5B14-AF599496EC9C}"/>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6</a:t>
            </a:fld>
            <a:endParaRPr lang="de-DE"/>
          </a:p>
        </p:txBody>
      </p:sp>
      <mc:AlternateContent xmlns:mc="http://schemas.openxmlformats.org/markup-compatibility/2006" xmlns:a14="http://schemas.microsoft.com/office/drawing/2010/main">
        <mc:Choice Requires="a14">
          <p:sp>
            <p:nvSpPr>
              <p:cNvPr id="5" name="Textfeld 5">
                <a:extLst>
                  <a:ext uri="{FF2B5EF4-FFF2-40B4-BE49-F238E27FC236}">
                    <a16:creationId xmlns:a16="http://schemas.microsoft.com/office/drawing/2014/main" id="{C2F94838-8B1E-76BC-B772-BB068C438A6A}"/>
                  </a:ext>
                </a:extLst>
              </p:cNvPr>
              <p:cNvSpPr txBox="1"/>
              <p:nvPr/>
            </p:nvSpPr>
            <p:spPr bwMode="ltGray">
              <a:xfrm>
                <a:off x="581476" y="1598756"/>
                <a:ext cx="7308471" cy="4940899"/>
              </a:xfrm>
              <a:prstGeom prst="rect">
                <a:avLst/>
              </a:prstGeom>
              <a:noFill/>
              <a:ln w="6350">
                <a:noFill/>
                <a:miter lim="800000"/>
                <a:headEnd/>
                <a:tailEnd/>
              </a:ln>
            </p:spPr>
            <p:txBody>
              <a:bodyPr wrap="square" lIns="100808" tIns="50404" rIns="100808" bIns="50404" rtlCol="0" anchor="t" anchorCtr="0">
                <a:spAutoFit/>
              </a:bodyPr>
              <a:lstStyle/>
              <a:p>
                <a:pPr eaLnBrk="0" hangingPunct="0"/>
                <a:r>
                  <a:rPr lang="de-DE" sz="1399" dirty="0" err="1">
                    <a:solidFill>
                      <a:srgbClr val="FF0000"/>
                    </a:solidFill>
                  </a:rPr>
                  <a:t>Heterogeneous</a:t>
                </a:r>
                <a:r>
                  <a:rPr lang="de-DE" sz="1399" dirty="0">
                    <a:solidFill>
                      <a:srgbClr val="FF0000"/>
                    </a:solidFill>
                  </a:rPr>
                  <a:t> </a:t>
                </a:r>
                <a:r>
                  <a:rPr lang="de-DE" sz="1399" dirty="0" err="1">
                    <a:solidFill>
                      <a:srgbClr val="FF0000"/>
                    </a:solidFill>
                  </a:rPr>
                  <a:t>Architectures</a:t>
                </a:r>
                <a:endParaRPr lang="de-DE" sz="1399" dirty="0">
                  <a:solidFill>
                    <a:srgbClr val="FF0000"/>
                  </a:solidFill>
                </a:endParaRPr>
              </a:p>
              <a:p>
                <a:pPr marL="285464" indent="-285464" eaLnBrk="0" hangingPunct="0">
                  <a:buFont typeface="Symbol" panose="05050102010706020507" pitchFamily="18" charset="2"/>
                  <a:buChar char="-"/>
                </a:pPr>
                <a:r>
                  <a:rPr lang="de-DE" sz="1399" dirty="0"/>
                  <a:t>Many different </a:t>
                </a:r>
                <a:r>
                  <a:rPr lang="de-DE" sz="1399" dirty="0" err="1"/>
                  <a:t>technologies</a:t>
                </a:r>
                <a:endParaRPr lang="de-DE" sz="1399" dirty="0"/>
              </a:p>
              <a:p>
                <a:pPr marL="285464" indent="-285464" eaLnBrk="0" hangingPunct="0">
                  <a:buFont typeface="Symbol" panose="05050102010706020507" pitchFamily="18" charset="2"/>
                  <a:buChar char="-"/>
                </a:pPr>
                <a:r>
                  <a:rPr lang="de-DE" sz="1399" dirty="0" err="1"/>
                  <a:t>Badly</a:t>
                </a:r>
                <a:r>
                  <a:rPr lang="de-DE" sz="1399" dirty="0"/>
                  <a:t> </a:t>
                </a:r>
                <a:r>
                  <a:rPr lang="de-DE" sz="1399" dirty="0" err="1"/>
                  <a:t>documented</a:t>
                </a:r>
                <a:r>
                  <a:rPr lang="de-DE" sz="1399" dirty="0"/>
                  <a:t> code and </a:t>
                </a:r>
                <a:r>
                  <a:rPr lang="de-DE" sz="1399" dirty="0" err="1"/>
                  <a:t>interfaces</a:t>
                </a:r>
                <a:endParaRPr lang="de-DE" sz="1399" dirty="0"/>
              </a:p>
              <a:p>
                <a:pPr marL="285464" indent="-285464" eaLnBrk="0" hangingPunct="0">
                  <a:buFont typeface="Symbol" panose="05050102010706020507" pitchFamily="18" charset="2"/>
                  <a:buChar char="-"/>
                </a:pPr>
                <a:r>
                  <a:rPr lang="de-DE" sz="1399" dirty="0" err="1"/>
                  <a:t>Architectural</a:t>
                </a:r>
                <a:r>
                  <a:rPr lang="de-DE" sz="1399" dirty="0"/>
                  <a:t> </a:t>
                </a:r>
                <a:r>
                  <a:rPr lang="de-DE" sz="1399" dirty="0" err="1"/>
                  <a:t>issues</a:t>
                </a:r>
                <a:r>
                  <a:rPr lang="de-DE" sz="1399" dirty="0"/>
                  <a:t> and </a:t>
                </a:r>
                <a:r>
                  <a:rPr lang="de-DE" sz="1399" dirty="0" err="1"/>
                  <a:t>insufficient</a:t>
                </a:r>
                <a:r>
                  <a:rPr lang="de-DE" sz="1399" dirty="0"/>
                  <a:t> </a:t>
                </a:r>
                <a:r>
                  <a:rPr lang="de-DE" sz="1399" dirty="0" err="1"/>
                  <a:t>implementation</a:t>
                </a:r>
                <a:r>
                  <a:rPr lang="de-DE" sz="1399" dirty="0"/>
                  <a:t> </a:t>
                </a:r>
                <a:r>
                  <a:rPr lang="de-DE" sz="1399" dirty="0" err="1"/>
                  <a:t>of</a:t>
                </a:r>
                <a:r>
                  <a:rPr lang="de-DE" sz="1399" dirty="0"/>
                  <a:t> non-</a:t>
                </a:r>
                <a:r>
                  <a:rPr lang="de-DE" sz="1399" dirty="0" err="1"/>
                  <a:t>functional</a:t>
                </a:r>
                <a:r>
                  <a:rPr lang="de-DE" sz="1399" dirty="0"/>
                  <a:t> </a:t>
                </a:r>
                <a:r>
                  <a:rPr lang="de-DE" sz="1399" dirty="0" err="1"/>
                  <a:t>requirements</a:t>
                </a:r>
                <a:r>
                  <a:rPr lang="de-DE" sz="1399" dirty="0"/>
                  <a:t> (e.g. </a:t>
                </a:r>
                <a:r>
                  <a:rPr lang="de-DE" sz="1399" dirty="0" err="1"/>
                  <a:t>modularization</a:t>
                </a:r>
                <a:r>
                  <a:rPr lang="de-DE" sz="1399" dirty="0"/>
                  <a:t>, </a:t>
                </a:r>
                <a:r>
                  <a:rPr lang="de-DE" sz="1399" dirty="0" err="1"/>
                  <a:t>extandability</a:t>
                </a:r>
                <a:r>
                  <a:rPr lang="de-DE" sz="1399" dirty="0"/>
                  <a:t>)</a:t>
                </a:r>
              </a:p>
              <a:p>
                <a:pPr eaLnBrk="0" hangingPunct="0"/>
                <a:r>
                  <a:rPr lang="de-DE" sz="1399" dirty="0">
                    <a:solidFill>
                      <a:srgbClr val="FF0000"/>
                    </a:solidFill>
                  </a:rPr>
                  <a:t>Fast </a:t>
                </a:r>
                <a:r>
                  <a:rPr lang="de-DE" sz="1399" dirty="0" err="1">
                    <a:solidFill>
                      <a:srgbClr val="FF0000"/>
                    </a:solidFill>
                  </a:rPr>
                  <a:t>changes</a:t>
                </a:r>
                <a:r>
                  <a:rPr lang="de-DE" sz="1399" dirty="0">
                    <a:solidFill>
                      <a:srgbClr val="FF0000"/>
                    </a:solidFill>
                  </a:rPr>
                  <a:t> in </a:t>
                </a:r>
                <a:r>
                  <a:rPr lang="de-DE" sz="1399" dirty="0" err="1">
                    <a:solidFill>
                      <a:srgbClr val="FF0000"/>
                    </a:solidFill>
                  </a:rPr>
                  <a:t>technology</a:t>
                </a:r>
                <a:endParaRPr lang="de-DE" sz="1399" dirty="0">
                  <a:solidFill>
                    <a:srgbClr val="FF0000"/>
                  </a:solidFill>
                </a:endParaRPr>
              </a:p>
              <a:p>
                <a:pPr marL="285464" indent="-285464" eaLnBrk="0" hangingPunct="0">
                  <a:buFont typeface="Symbol" panose="05050102010706020507" pitchFamily="18" charset="2"/>
                  <a:buChar char="-"/>
                </a:pPr>
                <a:r>
                  <a:rPr lang="de-DE" sz="1399" dirty="0"/>
                  <a:t>Computer Science </a:t>
                </a:r>
                <a:r>
                  <a:rPr lang="de-DE" sz="1399" dirty="0" err="1"/>
                  <a:t>underwent</a:t>
                </a:r>
                <a:r>
                  <a:rPr lang="de-DE" sz="1399" dirty="0"/>
                  <a:t> a </a:t>
                </a:r>
                <a:r>
                  <a:rPr lang="de-DE" sz="1399" dirty="0" err="1"/>
                  <a:t>tremendous</a:t>
                </a:r>
                <a:r>
                  <a:rPr lang="de-DE" sz="1399" dirty="0"/>
                  <a:t> </a:t>
                </a:r>
                <a:r>
                  <a:rPr lang="de-DE" sz="1399" dirty="0" err="1"/>
                  <a:t>change</a:t>
                </a:r>
                <a:r>
                  <a:rPr lang="de-DE" sz="1399" dirty="0"/>
                  <a:t> in </a:t>
                </a:r>
                <a:r>
                  <a:rPr lang="de-DE" sz="1399" dirty="0" err="1"/>
                  <a:t>recent</a:t>
                </a:r>
                <a:r>
                  <a:rPr lang="de-DE" sz="1399" dirty="0"/>
                  <a:t> </a:t>
                </a:r>
                <a:r>
                  <a:rPr lang="de-DE" sz="1399" dirty="0" err="1"/>
                  <a:t>past</a:t>
                </a:r>
                <a:r>
                  <a:rPr lang="de-DE" sz="1399" dirty="0"/>
                  <a:t>:</a:t>
                </a:r>
              </a:p>
              <a:p>
                <a:pPr marL="742207" lvl="1" indent="-285464" eaLnBrk="0" hangingPunct="0">
                  <a:buFont typeface="Wingdings" panose="05000000000000000000" pitchFamily="2" charset="2"/>
                  <a:buChar char="§"/>
                </a:pPr>
                <a:r>
                  <a:rPr lang="de-DE" sz="1399" dirty="0"/>
                  <a:t>Software Engineering </a:t>
                </a:r>
                <a:r>
                  <a:rPr lang="de-DE" sz="1399" dirty="0" err="1"/>
                  <a:t>has</a:t>
                </a:r>
                <a:r>
                  <a:rPr lang="de-DE" sz="1399" dirty="0"/>
                  <a:t> </a:t>
                </a:r>
                <a:r>
                  <a:rPr lang="de-DE" sz="1399" dirty="0" err="1"/>
                  <a:t>changed</a:t>
                </a:r>
                <a:r>
                  <a:rPr lang="de-DE" sz="1399" dirty="0"/>
                  <a:t> </a:t>
                </a:r>
                <a:r>
                  <a:rPr lang="de-DE" sz="1399" dirty="0" err="1"/>
                  <a:t>tremendously</a:t>
                </a:r>
                <a:endParaRPr lang="de-DE" sz="1399" dirty="0"/>
              </a:p>
              <a:p>
                <a:pPr marL="742207" lvl="1" indent="-285464" eaLnBrk="0" hangingPunct="0">
                  <a:buFont typeface="Wingdings" panose="05000000000000000000" pitchFamily="2" charset="2"/>
                  <a:buChar char="§"/>
                </a:pPr>
                <a:r>
                  <a:rPr lang="de-DE" sz="1399" dirty="0"/>
                  <a:t>New </a:t>
                </a:r>
                <a:r>
                  <a:rPr lang="de-DE" sz="1399" dirty="0" err="1"/>
                  <a:t>technologies</a:t>
                </a:r>
                <a:r>
                  <a:rPr lang="de-DE" sz="1399" dirty="0"/>
                  <a:t> (e.g. Cloud Computing, </a:t>
                </a:r>
                <a:r>
                  <a:rPr lang="de-DE" sz="1399" dirty="0" err="1"/>
                  <a:t>Artificial</a:t>
                </a:r>
                <a:r>
                  <a:rPr lang="de-DE" sz="1399" dirty="0"/>
                  <a:t> </a:t>
                </a:r>
                <a:r>
                  <a:rPr lang="de-DE" sz="1399" dirty="0" err="1"/>
                  <a:t>Intelligence</a:t>
                </a:r>
                <a:r>
                  <a:rPr lang="de-DE" sz="1399" dirty="0"/>
                  <a:t>, Data Science / Big Data) </a:t>
                </a:r>
                <a:r>
                  <a:rPr lang="de-DE" sz="1399" dirty="0" err="1"/>
                  <a:t>have</a:t>
                </a:r>
                <a:r>
                  <a:rPr lang="de-DE" sz="1399" dirty="0"/>
                  <a:t> </a:t>
                </a:r>
                <a:r>
                  <a:rPr lang="de-DE" sz="1399" dirty="0" err="1"/>
                  <a:t>risen</a:t>
                </a:r>
                <a:r>
                  <a:rPr lang="de-DE" sz="1399" dirty="0"/>
                  <a:t> </a:t>
                </a:r>
                <a:r>
                  <a:rPr lang="de-DE" sz="1399" dirty="0" err="1"/>
                  <a:t>or</a:t>
                </a:r>
                <a:r>
                  <a:rPr lang="de-DE" sz="1399" dirty="0"/>
                  <a:t> </a:t>
                </a:r>
                <a:r>
                  <a:rPr lang="de-DE" sz="1399" dirty="0" err="1"/>
                  <a:t>changed</a:t>
                </a:r>
                <a:r>
                  <a:rPr lang="de-DE" sz="1399" dirty="0"/>
                  <a:t> </a:t>
                </a:r>
                <a:r>
                  <a:rPr lang="de-DE" sz="1399" dirty="0" err="1"/>
                  <a:t>increasingly</a:t>
                </a:r>
                <a:r>
                  <a:rPr lang="de-DE" sz="1399" dirty="0"/>
                  <a:t> </a:t>
                </a:r>
              </a:p>
              <a:p>
                <a:pPr marL="742207" lvl="1" indent="-285464" eaLnBrk="0" hangingPunct="0">
                  <a:buFont typeface="Wingdings" panose="05000000000000000000" pitchFamily="2" charset="2"/>
                  <a:buChar char="§"/>
                </a:pPr>
                <a:r>
                  <a:rPr lang="de-DE" sz="1399" dirty="0"/>
                  <a:t>New </a:t>
                </a:r>
                <a:r>
                  <a:rPr lang="de-DE" sz="1399" dirty="0" err="1"/>
                  <a:t>technologies</a:t>
                </a:r>
                <a:r>
                  <a:rPr lang="de-DE" sz="1399" dirty="0"/>
                  <a:t> and </a:t>
                </a:r>
                <a:r>
                  <a:rPr lang="de-DE" sz="1399" dirty="0" err="1"/>
                  <a:t>demands</a:t>
                </a:r>
                <a:r>
                  <a:rPr lang="de-DE" sz="1399" dirty="0"/>
                  <a:t> </a:t>
                </a:r>
                <a:r>
                  <a:rPr lang="de-DE" sz="1399" dirty="0" err="1"/>
                  <a:t>lead</a:t>
                </a:r>
                <a:r>
                  <a:rPr lang="de-DE" sz="1399" dirty="0"/>
                  <a:t> </a:t>
                </a:r>
                <a:r>
                  <a:rPr lang="de-DE" sz="1399" dirty="0" err="1"/>
                  <a:t>to</a:t>
                </a:r>
                <a:r>
                  <a:rPr lang="de-DE" sz="1399" dirty="0"/>
                  <a:t> </a:t>
                </a:r>
                <a:r>
                  <a:rPr lang="de-DE" sz="1399" dirty="0" err="1"/>
                  <a:t>more</a:t>
                </a:r>
                <a:r>
                  <a:rPr lang="de-DE" sz="1399" dirty="0"/>
                  <a:t> </a:t>
                </a:r>
                <a:r>
                  <a:rPr lang="de-DE" sz="1399" dirty="0" err="1"/>
                  <a:t>complex</a:t>
                </a:r>
                <a:r>
                  <a:rPr lang="de-DE" sz="1399" dirty="0"/>
                  <a:t> </a:t>
                </a:r>
                <a:r>
                  <a:rPr lang="de-DE" sz="1399" dirty="0" err="1"/>
                  <a:t>requirements</a:t>
                </a:r>
                <a:r>
                  <a:rPr lang="de-DE" sz="1399" dirty="0"/>
                  <a:t> </a:t>
                </a:r>
                <a:r>
                  <a:rPr lang="de-DE" sz="1399" dirty="0">
                    <a:sym typeface="Wingdings" panose="05000000000000000000" pitchFamily="2" charset="2"/>
                  </a:rPr>
                  <a:t> </a:t>
                </a:r>
                <a:r>
                  <a:rPr lang="de-DE" sz="1399" dirty="0" err="1">
                    <a:sym typeface="Wingdings" panose="05000000000000000000" pitchFamily="2" charset="2"/>
                  </a:rPr>
                  <a:t>skills</a:t>
                </a:r>
                <a:r>
                  <a:rPr lang="de-DE" sz="1399" dirty="0">
                    <a:sym typeface="Wingdings" panose="05000000000000000000" pitchFamily="2" charset="2"/>
                  </a:rPr>
                  <a:t> and </a:t>
                </a:r>
                <a:r>
                  <a:rPr lang="de-DE" sz="1399" dirty="0" err="1">
                    <a:sym typeface="Wingdings" panose="05000000000000000000" pitchFamily="2" charset="2"/>
                  </a:rPr>
                  <a:t>experience</a:t>
                </a:r>
                <a:r>
                  <a:rPr lang="de-DE" sz="1399" dirty="0">
                    <a:sym typeface="Wingdings" panose="05000000000000000000" pitchFamily="2" charset="2"/>
                  </a:rPr>
                  <a:t> </a:t>
                </a:r>
                <a:r>
                  <a:rPr lang="de-DE" sz="1399" dirty="0" err="1">
                    <a:sym typeface="Wingdings" panose="05000000000000000000" pitchFamily="2" charset="2"/>
                  </a:rPr>
                  <a:t>required</a:t>
                </a:r>
                <a:endParaRPr lang="de-DE" sz="1399" dirty="0"/>
              </a:p>
              <a:p>
                <a:pPr marL="285464" indent="-285464" eaLnBrk="0" hangingPunct="0">
                  <a:buFont typeface="Symbol" panose="05050102010706020507" pitchFamily="18" charset="2"/>
                  <a:buChar char="-"/>
                </a:pPr>
                <a:r>
                  <a:rPr lang="de-DE" sz="1399" dirty="0"/>
                  <a:t>Lack </a:t>
                </a:r>
                <a:r>
                  <a:rPr lang="de-DE" sz="1399" dirty="0" err="1"/>
                  <a:t>of</a:t>
                </a:r>
                <a:r>
                  <a:rPr lang="de-DE" sz="1399" dirty="0"/>
                  <a:t> </a:t>
                </a:r>
                <a:r>
                  <a:rPr lang="de-DE" sz="1399" dirty="0" err="1"/>
                  <a:t>standardization</a:t>
                </a:r>
                <a:r>
                  <a:rPr lang="de-DE" sz="1399" dirty="0"/>
                  <a:t> and </a:t>
                </a:r>
                <a:r>
                  <a:rPr lang="de-DE" sz="1399" dirty="0" err="1"/>
                  <a:t>quich</a:t>
                </a:r>
                <a:r>
                  <a:rPr lang="de-DE" sz="1399" dirty="0"/>
                  <a:t> </a:t>
                </a:r>
                <a:r>
                  <a:rPr lang="de-DE" sz="1399" dirty="0" err="1"/>
                  <a:t>changes</a:t>
                </a:r>
                <a:r>
                  <a:rPr lang="de-DE" sz="1399" dirty="0"/>
                  <a:t> </a:t>
                </a:r>
                <a:r>
                  <a:rPr lang="de-DE" sz="1399" dirty="0" err="1"/>
                  <a:t>paralyze</a:t>
                </a:r>
                <a:endParaRPr lang="de-DE" sz="1399" dirty="0"/>
              </a:p>
              <a:p>
                <a:pPr eaLnBrk="0" hangingPunct="0"/>
                <a:r>
                  <a:rPr lang="de-DE" sz="1399" dirty="0">
                    <a:solidFill>
                      <a:srgbClr val="FF0000"/>
                    </a:solidFill>
                  </a:rPr>
                  <a:t>Domain Knowledge</a:t>
                </a:r>
              </a:p>
              <a:p>
                <a:pPr eaLnBrk="0" hangingPunct="0"/>
                <a:r>
                  <a:rPr lang="de-DE" sz="1399" dirty="0"/>
                  <a:t>Apart </a:t>
                </a:r>
                <a:r>
                  <a:rPr lang="de-DE" sz="1399" dirty="0" err="1"/>
                  <a:t>from</a:t>
                </a:r>
                <a:r>
                  <a:rPr lang="de-DE" sz="1399" dirty="0"/>
                  <a:t> </a:t>
                </a:r>
                <a:r>
                  <a:rPr lang="de-DE" sz="1399" dirty="0" err="1"/>
                  <a:t>technology</a:t>
                </a:r>
                <a:r>
                  <a:rPr lang="de-DE" sz="1399" dirty="0"/>
                  <a:t>, </a:t>
                </a:r>
                <a:r>
                  <a:rPr lang="de-DE" sz="1399" dirty="0" err="1"/>
                  <a:t>deep</a:t>
                </a:r>
                <a:r>
                  <a:rPr lang="de-DE" sz="1399" dirty="0"/>
                  <a:t> </a:t>
                </a:r>
                <a:r>
                  <a:rPr lang="de-DE" sz="1399" dirty="0" err="1"/>
                  <a:t>domain</a:t>
                </a:r>
                <a:r>
                  <a:rPr lang="de-DE" sz="1399" dirty="0"/>
                  <a:t> </a:t>
                </a:r>
                <a:r>
                  <a:rPr lang="de-DE" sz="1399" dirty="0" err="1"/>
                  <a:t>knowledge</a:t>
                </a:r>
                <a:r>
                  <a:rPr lang="de-DE" sz="1399" dirty="0"/>
                  <a:t> </a:t>
                </a:r>
                <a:r>
                  <a:rPr lang="de-DE" sz="1399" dirty="0" err="1"/>
                  <a:t>is</a:t>
                </a:r>
                <a:r>
                  <a:rPr lang="de-DE" sz="1399" dirty="0"/>
                  <a:t> </a:t>
                </a:r>
                <a:r>
                  <a:rPr lang="de-DE" sz="1399" dirty="0" err="1"/>
                  <a:t>necessary</a:t>
                </a:r>
                <a:endParaRPr lang="de-DE" sz="1399" dirty="0"/>
              </a:p>
              <a:p>
                <a:pPr eaLnBrk="0" hangingPunct="0"/>
                <a:r>
                  <a:rPr lang="de-DE" sz="1399" dirty="0">
                    <a:solidFill>
                      <a:srgbClr val="FF0000"/>
                    </a:solidFill>
                  </a:rPr>
                  <a:t>Communication</a:t>
                </a:r>
              </a:p>
              <a:p>
                <a:pPr marL="285464" indent="-285464" eaLnBrk="0" hangingPunct="0">
                  <a:buFont typeface="Symbol" panose="05050102010706020507" pitchFamily="18" charset="2"/>
                  <a:buChar char="-"/>
                </a:pPr>
                <a:r>
                  <a:rPr lang="de-DE" sz="1399" dirty="0" err="1"/>
                  <a:t>For</a:t>
                </a:r>
                <a:r>
                  <a:rPr lang="de-DE" sz="1399" dirty="0"/>
                  <a:t> </a:t>
                </a:r>
                <a14:m>
                  <m:oMath xmlns:m="http://schemas.openxmlformats.org/officeDocument/2006/math">
                    <m:r>
                      <a:rPr lang="de-DE" sz="1399" i="1">
                        <a:latin typeface="Cambria Math" panose="02040503050406030204" pitchFamily="18" charset="0"/>
                      </a:rPr>
                      <m:t>𝑛</m:t>
                    </m:r>
                  </m:oMath>
                </a14:m>
                <a:r>
                  <a:rPr lang="de-DE" sz="1399" dirty="0"/>
                  <a:t> </a:t>
                </a:r>
                <a:r>
                  <a:rPr lang="de-DE" sz="1399" dirty="0" err="1"/>
                  <a:t>communication</a:t>
                </a:r>
                <a:r>
                  <a:rPr lang="de-DE" sz="1399" dirty="0"/>
                  <a:t> </a:t>
                </a:r>
                <a:r>
                  <a:rPr lang="de-DE" sz="1399" dirty="0" err="1"/>
                  <a:t>participants</a:t>
                </a:r>
                <a:r>
                  <a:rPr lang="de-DE" sz="1399" dirty="0"/>
                  <a:t> </a:t>
                </a:r>
                <a:r>
                  <a:rPr lang="de-DE" sz="1399" dirty="0" err="1"/>
                  <a:t>there</a:t>
                </a:r>
                <a:r>
                  <a:rPr lang="de-DE" sz="1399" dirty="0"/>
                  <a:t> </a:t>
                </a:r>
                <a:r>
                  <a:rPr lang="de-DE" sz="1399" dirty="0" err="1"/>
                  <a:t>are</a:t>
                </a:r>
                <a:r>
                  <a:rPr lang="de-DE" sz="1399" dirty="0"/>
                  <a:t> </a:t>
                </a:r>
                <a14:m>
                  <m:oMath xmlns:m="http://schemas.openxmlformats.org/officeDocument/2006/math">
                    <m:f>
                      <m:fPr>
                        <m:ctrlPr>
                          <a:rPr lang="de-DE" sz="1399" i="1">
                            <a:latin typeface="Cambria Math" panose="02040503050406030204" pitchFamily="18" charset="0"/>
                          </a:rPr>
                        </m:ctrlPr>
                      </m:fPr>
                      <m:num>
                        <m:r>
                          <a:rPr lang="de-DE" sz="1399" i="1">
                            <a:latin typeface="Cambria Math" panose="02040503050406030204" pitchFamily="18" charset="0"/>
                          </a:rPr>
                          <m:t>𝑛</m:t>
                        </m:r>
                        <m:r>
                          <a:rPr lang="de-DE" sz="1399" i="1">
                            <a:latin typeface="Cambria Math" panose="02040503050406030204" pitchFamily="18" charset="0"/>
                          </a:rPr>
                          <m:t>⋅</m:t>
                        </m:r>
                        <m:d>
                          <m:dPr>
                            <m:ctrlPr>
                              <a:rPr lang="de-DE" sz="1399" i="1">
                                <a:latin typeface="Cambria Math" panose="02040503050406030204" pitchFamily="18" charset="0"/>
                              </a:rPr>
                            </m:ctrlPr>
                          </m:dPr>
                          <m:e>
                            <m:r>
                              <a:rPr lang="de-DE" sz="1399" i="1">
                                <a:latin typeface="Cambria Math" panose="02040503050406030204" pitchFamily="18" charset="0"/>
                              </a:rPr>
                              <m:t>𝑛</m:t>
                            </m:r>
                            <m:r>
                              <a:rPr lang="de-DE" sz="1399" i="1">
                                <a:latin typeface="Cambria Math" panose="02040503050406030204" pitchFamily="18" charset="0"/>
                              </a:rPr>
                              <m:t>+1</m:t>
                            </m:r>
                          </m:e>
                        </m:d>
                      </m:num>
                      <m:den>
                        <m:r>
                          <a:rPr lang="de-DE" sz="1399" i="1">
                            <a:latin typeface="Cambria Math" panose="02040503050406030204" pitchFamily="18" charset="0"/>
                          </a:rPr>
                          <m:t>2</m:t>
                        </m:r>
                      </m:den>
                    </m:f>
                  </m:oMath>
                </a14:m>
                <a:r>
                  <a:rPr lang="de-DE" sz="1399" dirty="0"/>
                  <a:t> </a:t>
                </a:r>
                <a:r>
                  <a:rPr lang="de-DE" sz="1399" dirty="0" err="1"/>
                  <a:t>channels</a:t>
                </a:r>
                <a:endParaRPr lang="de-DE" sz="1399" dirty="0"/>
              </a:p>
              <a:p>
                <a:pPr marL="285464" indent="-285464" eaLnBrk="0" hangingPunct="0">
                  <a:buFont typeface="Symbol" panose="05050102010706020507" pitchFamily="18" charset="2"/>
                  <a:buChar char="-"/>
                </a:pPr>
                <a:r>
                  <a:rPr lang="de-DE" sz="1399" dirty="0"/>
                  <a:t>‘</a:t>
                </a:r>
                <a:r>
                  <a:rPr lang="de-DE" sz="1399" dirty="0" err="1"/>
                  <a:t>grown</a:t>
                </a:r>
                <a:r>
                  <a:rPr lang="de-DE" sz="1399" dirty="0"/>
                  <a:t>‘ </a:t>
                </a:r>
                <a:r>
                  <a:rPr lang="de-DE" sz="1399" dirty="0" err="1"/>
                  <a:t>structures</a:t>
                </a:r>
                <a:r>
                  <a:rPr lang="de-DE" sz="1399" dirty="0"/>
                  <a:t> </a:t>
                </a:r>
                <a:r>
                  <a:rPr lang="de-DE" sz="1399" dirty="0" err="1"/>
                  <a:t>complicate</a:t>
                </a:r>
                <a:r>
                  <a:rPr lang="de-DE" sz="1399" dirty="0"/>
                  <a:t> </a:t>
                </a:r>
                <a:r>
                  <a:rPr lang="de-DE" sz="1399" dirty="0" err="1"/>
                  <a:t>changes</a:t>
                </a:r>
                <a:endParaRPr lang="de-DE" sz="1399" dirty="0"/>
              </a:p>
              <a:p>
                <a:pPr marL="285464" indent="-285464" eaLnBrk="0" hangingPunct="0">
                  <a:buFont typeface="Symbol" panose="05050102010706020507" pitchFamily="18" charset="2"/>
                  <a:buChar char="-"/>
                </a:pPr>
                <a:r>
                  <a:rPr lang="de-DE" sz="1399" dirty="0"/>
                  <a:t>Intransparent </a:t>
                </a:r>
                <a:r>
                  <a:rPr lang="de-DE" sz="1399" dirty="0" err="1"/>
                  <a:t>knowledge</a:t>
                </a:r>
                <a:r>
                  <a:rPr lang="de-DE" sz="1399" dirty="0"/>
                  <a:t> </a:t>
                </a:r>
                <a:r>
                  <a:rPr lang="de-DE" sz="1399" dirty="0" err="1"/>
                  <a:t>structures</a:t>
                </a:r>
                <a:r>
                  <a:rPr lang="de-DE" sz="1399" dirty="0"/>
                  <a:t> in </a:t>
                </a:r>
                <a:r>
                  <a:rPr lang="de-DE" sz="1399" dirty="0" err="1"/>
                  <a:t>companies</a:t>
                </a:r>
                <a:endParaRPr lang="de-DE" sz="1399" dirty="0"/>
              </a:p>
              <a:p>
                <a:pPr eaLnBrk="0" hangingPunct="0"/>
                <a:r>
                  <a:rPr lang="de-DE" sz="1399" dirty="0" err="1">
                    <a:solidFill>
                      <a:srgbClr val="FF0000"/>
                    </a:solidFill>
                  </a:rPr>
                  <a:t>Difficulties</a:t>
                </a:r>
                <a:r>
                  <a:rPr lang="de-DE" sz="1399" dirty="0">
                    <a:solidFill>
                      <a:srgbClr val="FF0000"/>
                    </a:solidFill>
                  </a:rPr>
                  <a:t> </a:t>
                </a:r>
                <a:r>
                  <a:rPr lang="de-DE" sz="1399" dirty="0" err="1">
                    <a:solidFill>
                      <a:srgbClr val="FF0000"/>
                    </a:solidFill>
                  </a:rPr>
                  <a:t>related</a:t>
                </a:r>
                <a:r>
                  <a:rPr lang="de-DE" sz="1399" dirty="0">
                    <a:solidFill>
                      <a:srgbClr val="FF0000"/>
                    </a:solidFill>
                  </a:rPr>
                  <a:t> </a:t>
                </a:r>
                <a:r>
                  <a:rPr lang="de-DE" sz="1399" dirty="0" err="1">
                    <a:solidFill>
                      <a:srgbClr val="FF0000"/>
                    </a:solidFill>
                  </a:rPr>
                  <a:t>to</a:t>
                </a:r>
                <a:r>
                  <a:rPr lang="de-DE" sz="1399" dirty="0">
                    <a:solidFill>
                      <a:srgbClr val="FF0000"/>
                    </a:solidFill>
                  </a:rPr>
                  <a:t> </a:t>
                </a:r>
                <a:r>
                  <a:rPr lang="de-DE" sz="1399" dirty="0" err="1">
                    <a:solidFill>
                      <a:srgbClr val="FF0000"/>
                    </a:solidFill>
                  </a:rPr>
                  <a:t>changes</a:t>
                </a:r>
                <a:endParaRPr lang="de-DE" sz="1399" dirty="0">
                  <a:solidFill>
                    <a:srgbClr val="FF0000"/>
                  </a:solidFill>
                </a:endParaRPr>
              </a:p>
              <a:p>
                <a:pPr marL="285464" indent="-285464" eaLnBrk="0" hangingPunct="0">
                  <a:buFont typeface="Symbol" panose="05050102010706020507" pitchFamily="18" charset="2"/>
                  <a:buChar char="-"/>
                </a:pPr>
                <a:r>
                  <a:rPr lang="de-DE" sz="1399" dirty="0" err="1"/>
                  <a:t>Heterogeonous</a:t>
                </a:r>
                <a:r>
                  <a:rPr lang="de-DE" sz="1399" dirty="0"/>
                  <a:t> </a:t>
                </a:r>
                <a:r>
                  <a:rPr lang="de-DE" sz="1399" dirty="0" err="1"/>
                  <a:t>or</a:t>
                </a:r>
                <a:r>
                  <a:rPr lang="de-DE" sz="1399" dirty="0"/>
                  <a:t> lack </a:t>
                </a:r>
                <a:r>
                  <a:rPr lang="de-DE" sz="1399" dirty="0" err="1"/>
                  <a:t>of</a:t>
                </a:r>
                <a:r>
                  <a:rPr lang="de-DE" sz="1399" dirty="0"/>
                  <a:t> </a:t>
                </a:r>
                <a:r>
                  <a:rPr lang="de-DE" sz="1399" dirty="0" err="1"/>
                  <a:t>skills</a:t>
                </a:r>
                <a:endParaRPr lang="de-DE" sz="1399" dirty="0"/>
              </a:p>
              <a:p>
                <a:pPr marL="285464" indent="-285464" eaLnBrk="0" hangingPunct="0">
                  <a:buFont typeface="Symbol" panose="05050102010706020507" pitchFamily="18" charset="2"/>
                  <a:buChar char="-"/>
                </a:pPr>
                <a:r>
                  <a:rPr lang="de-DE" sz="1399" dirty="0"/>
                  <a:t>Change </a:t>
                </a:r>
                <a:r>
                  <a:rPr lang="de-DE" sz="1399" dirty="0" err="1"/>
                  <a:t>aversion</a:t>
                </a:r>
                <a:endParaRPr lang="de-DE" sz="1399" dirty="0"/>
              </a:p>
            </p:txBody>
          </p:sp>
        </mc:Choice>
        <mc:Fallback xmlns="">
          <p:sp>
            <p:nvSpPr>
              <p:cNvPr id="5" name="Textfeld 5">
                <a:extLst>
                  <a:ext uri="{FF2B5EF4-FFF2-40B4-BE49-F238E27FC236}">
                    <a16:creationId xmlns:a16="http://schemas.microsoft.com/office/drawing/2014/main" id="{C2F94838-8B1E-76BC-B772-BB068C438A6A}"/>
                  </a:ext>
                </a:extLst>
              </p:cNvPr>
              <p:cNvSpPr txBox="1">
                <a:spLocks noRot="1" noChangeAspect="1" noMove="1" noResize="1" noEditPoints="1" noAdjustHandles="1" noChangeArrowheads="1" noChangeShapeType="1" noTextEdit="1"/>
              </p:cNvSpPr>
              <p:nvPr/>
            </p:nvSpPr>
            <p:spPr bwMode="ltGray">
              <a:xfrm>
                <a:off x="581476" y="1598756"/>
                <a:ext cx="7308471" cy="4940899"/>
              </a:xfrm>
              <a:prstGeom prst="rect">
                <a:avLst/>
              </a:prstGeom>
              <a:blipFill>
                <a:blip r:embed="rId2"/>
                <a:stretch>
                  <a:fillRect r="-520"/>
                </a:stretch>
              </a:blipFill>
              <a:ln w="6350">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508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C8BB2-6565-C450-569D-0DD93246921B}"/>
              </a:ext>
            </a:extLst>
          </p:cNvPr>
          <p:cNvSpPr>
            <a:spLocks noGrp="1"/>
          </p:cNvSpPr>
          <p:nvPr>
            <p:ph type="title"/>
          </p:nvPr>
        </p:nvSpPr>
        <p:spPr/>
        <p:txBody>
          <a:bodyPr/>
          <a:lstStyle/>
          <a:p>
            <a:r>
              <a:rPr lang="en-DE" dirty="0"/>
              <a:t>Some ”Laws”</a:t>
            </a:r>
          </a:p>
        </p:txBody>
      </p:sp>
      <p:sp>
        <p:nvSpPr>
          <p:cNvPr id="4" name="Inhaltsplatzhalter 2">
            <a:extLst>
              <a:ext uri="{FF2B5EF4-FFF2-40B4-BE49-F238E27FC236}">
                <a16:creationId xmlns:a16="http://schemas.microsoft.com/office/drawing/2014/main" id="{CBE88023-9F3F-7E0A-7D1C-9AF62A28839B}"/>
              </a:ext>
            </a:extLst>
          </p:cNvPr>
          <p:cNvSpPr txBox="1">
            <a:spLocks/>
          </p:cNvSpPr>
          <p:nvPr/>
        </p:nvSpPr>
        <p:spPr>
          <a:xfrm>
            <a:off x="1199837" y="2115540"/>
            <a:ext cx="4585489" cy="473162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buClr>
                <a:srgbClr val="0099CC"/>
              </a:buClr>
            </a:pPr>
            <a:r>
              <a:rPr lang="de-DE" sz="3197" dirty="0">
                <a:latin typeface="Leelawadee" panose="020B0502040204020203" pitchFamily="34" charset="-34"/>
                <a:cs typeface="Leelawadee" panose="020B0502040204020203" pitchFamily="34" charset="-34"/>
              </a:rPr>
              <a:t>„</a:t>
            </a:r>
            <a:r>
              <a:rPr lang="de-DE" sz="3197" dirty="0" err="1">
                <a:latin typeface="Leelawadee" panose="020B0502040204020203" pitchFamily="34" charset="-34"/>
                <a:cs typeface="Leelawadee" panose="020B0502040204020203" pitchFamily="34" charset="-34"/>
              </a:rPr>
              <a:t>Moore‘s</a:t>
            </a:r>
            <a:r>
              <a:rPr lang="de-DE" sz="3197" dirty="0">
                <a:latin typeface="Leelawadee" panose="020B0502040204020203" pitchFamily="34" charset="-34"/>
                <a:cs typeface="Leelawadee" panose="020B0502040204020203" pitchFamily="34" charset="-34"/>
              </a:rPr>
              <a:t> Law“</a:t>
            </a:r>
          </a:p>
          <a:p>
            <a:pPr>
              <a:lnSpc>
                <a:spcPct val="150000"/>
              </a:lnSpc>
              <a:buClr>
                <a:srgbClr val="0099CC"/>
              </a:buClr>
            </a:pPr>
            <a:r>
              <a:rPr lang="de-DE" sz="3197" dirty="0">
                <a:latin typeface="Leelawadee" panose="020B0502040204020203" pitchFamily="34" charset="-34"/>
                <a:cs typeface="Leelawadee" panose="020B0502040204020203" pitchFamily="34" charset="-34"/>
              </a:rPr>
              <a:t>“</a:t>
            </a:r>
            <a:r>
              <a:rPr lang="de-DE" sz="3197" dirty="0" err="1">
                <a:latin typeface="Leelawadee" panose="020B0502040204020203" pitchFamily="34" charset="-34"/>
                <a:cs typeface="Leelawadee" panose="020B0502040204020203" pitchFamily="34" charset="-34"/>
              </a:rPr>
              <a:t>Neven‘s</a:t>
            </a:r>
            <a:r>
              <a:rPr lang="de-DE" sz="3197" dirty="0">
                <a:latin typeface="Leelawadee" panose="020B0502040204020203" pitchFamily="34" charset="-34"/>
                <a:cs typeface="Leelawadee" panose="020B0502040204020203" pitchFamily="34" charset="-34"/>
              </a:rPr>
              <a:t> Law“</a:t>
            </a:r>
          </a:p>
          <a:p>
            <a:pPr>
              <a:lnSpc>
                <a:spcPct val="150000"/>
              </a:lnSpc>
              <a:buClr>
                <a:srgbClr val="0099CC"/>
              </a:buClr>
            </a:pPr>
            <a:r>
              <a:rPr lang="de-DE" sz="3197" dirty="0">
                <a:latin typeface="Leelawadee" panose="020B0502040204020203" pitchFamily="34" charset="-34"/>
                <a:cs typeface="Leelawadee" panose="020B0502040204020203" pitchFamily="34" charset="-34"/>
              </a:rPr>
              <a:t>„</a:t>
            </a:r>
            <a:r>
              <a:rPr lang="de-DE" sz="3197" dirty="0" err="1">
                <a:latin typeface="Leelawadee" panose="020B0502040204020203" pitchFamily="34" charset="-34"/>
                <a:cs typeface="Leelawadee" panose="020B0502040204020203" pitchFamily="34" charset="-34"/>
              </a:rPr>
              <a:t>Amdahl‘s</a:t>
            </a:r>
            <a:r>
              <a:rPr lang="de-DE" sz="3197" dirty="0">
                <a:latin typeface="Leelawadee" panose="020B0502040204020203" pitchFamily="34" charset="-34"/>
                <a:cs typeface="Leelawadee" panose="020B0502040204020203" pitchFamily="34" charset="-34"/>
              </a:rPr>
              <a:t> Law“</a:t>
            </a:r>
          </a:p>
          <a:p>
            <a:pPr>
              <a:lnSpc>
                <a:spcPct val="150000"/>
              </a:lnSpc>
              <a:buClr>
                <a:srgbClr val="0099CC"/>
              </a:buClr>
            </a:pPr>
            <a:r>
              <a:rPr lang="de-DE" sz="3197" dirty="0">
                <a:latin typeface="Leelawadee" panose="020B0502040204020203" pitchFamily="34" charset="-34"/>
                <a:cs typeface="Leelawadee" panose="020B0502040204020203" pitchFamily="34" charset="-34"/>
              </a:rPr>
              <a:t>„</a:t>
            </a:r>
            <a:r>
              <a:rPr lang="de-DE" sz="3197" dirty="0" err="1">
                <a:latin typeface="Leelawadee" panose="020B0502040204020203" pitchFamily="34" charset="-34"/>
                <a:cs typeface="Leelawadee" panose="020B0502040204020203" pitchFamily="34" charset="-34"/>
              </a:rPr>
              <a:t>Gilder‘s</a:t>
            </a:r>
            <a:r>
              <a:rPr lang="de-DE" sz="3197" dirty="0">
                <a:latin typeface="Leelawadee" panose="020B0502040204020203" pitchFamily="34" charset="-34"/>
                <a:cs typeface="Leelawadee" panose="020B0502040204020203" pitchFamily="34" charset="-34"/>
              </a:rPr>
              <a:t> Law“</a:t>
            </a:r>
          </a:p>
          <a:p>
            <a:pPr>
              <a:lnSpc>
                <a:spcPct val="150000"/>
              </a:lnSpc>
              <a:buClr>
                <a:srgbClr val="0099CC"/>
              </a:buClr>
            </a:pPr>
            <a:r>
              <a:rPr lang="de-DE" sz="3197" dirty="0">
                <a:latin typeface="Leelawadee" panose="020B0502040204020203" pitchFamily="34" charset="-34"/>
                <a:cs typeface="Leelawadee" panose="020B0502040204020203" pitchFamily="34" charset="-34"/>
              </a:rPr>
              <a:t>„</a:t>
            </a:r>
            <a:r>
              <a:rPr lang="de-DE" sz="3197" dirty="0" err="1">
                <a:latin typeface="Leelawadee" panose="020B0502040204020203" pitchFamily="34" charset="-34"/>
                <a:cs typeface="Leelawadee" panose="020B0502040204020203" pitchFamily="34" charset="-34"/>
              </a:rPr>
              <a:t>Metcalfe‘s</a:t>
            </a:r>
            <a:r>
              <a:rPr lang="de-DE" sz="3197" dirty="0">
                <a:latin typeface="Leelawadee" panose="020B0502040204020203" pitchFamily="34" charset="-34"/>
                <a:cs typeface="Leelawadee" panose="020B0502040204020203" pitchFamily="34" charset="-34"/>
              </a:rPr>
              <a:t> Law“</a:t>
            </a:r>
          </a:p>
          <a:p>
            <a:pPr>
              <a:lnSpc>
                <a:spcPct val="150000"/>
              </a:lnSpc>
              <a:buClr>
                <a:srgbClr val="0099CC"/>
              </a:buClr>
            </a:pPr>
            <a:endParaRPr lang="de-DE" sz="2398" dirty="0">
              <a:latin typeface="Leelawadee" panose="020B0502040204020203" pitchFamily="34" charset="-34"/>
              <a:cs typeface="Leelawadee" panose="020B0502040204020203" pitchFamily="34" charset="-34"/>
            </a:endParaRPr>
          </a:p>
          <a:p>
            <a:pPr>
              <a:lnSpc>
                <a:spcPct val="150000"/>
              </a:lnSpc>
            </a:pPr>
            <a:endParaRPr lang="en-GB" sz="2398" dirty="0">
              <a:latin typeface="Leelawadee" panose="020B0502040204020203" pitchFamily="34" charset="-34"/>
              <a:cs typeface="Leelawadee" panose="020B0502040204020203" pitchFamily="34" charset="-34"/>
            </a:endParaRPr>
          </a:p>
        </p:txBody>
      </p:sp>
      <p:sp>
        <p:nvSpPr>
          <p:cNvPr id="5" name="Rechteck 2">
            <a:extLst>
              <a:ext uri="{FF2B5EF4-FFF2-40B4-BE49-F238E27FC236}">
                <a16:creationId xmlns:a16="http://schemas.microsoft.com/office/drawing/2014/main" id="{64F3E6BE-677D-1B0B-0468-AD8475FBB526}"/>
              </a:ext>
            </a:extLst>
          </p:cNvPr>
          <p:cNvSpPr/>
          <p:nvPr/>
        </p:nvSpPr>
        <p:spPr>
          <a:xfrm>
            <a:off x="5589748" y="5826831"/>
            <a:ext cx="6089657" cy="399694"/>
          </a:xfrm>
          <a:prstGeom prst="rect">
            <a:avLst/>
          </a:prstGeom>
        </p:spPr>
        <p:txBody>
          <a:bodyPr>
            <a:spAutoFit/>
          </a:bodyPr>
          <a:lstStyle/>
          <a:p>
            <a:pPr algn="l"/>
            <a:r>
              <a:rPr lang="de-DE" sz="999" dirty="0">
                <a:latin typeface="Leelawadee" panose="020B0502040204020203" pitchFamily="34" charset="-34"/>
                <a:cs typeface="Leelawadee" panose="020B0502040204020203" pitchFamily="34" charset="-34"/>
              </a:rPr>
              <a:t>Bildquelle:</a:t>
            </a:r>
          </a:p>
          <a:p>
            <a:pPr algn="l"/>
            <a:r>
              <a:rPr lang="de-DE" sz="999" dirty="0">
                <a:latin typeface="Leelawadee" panose="020B0502040204020203" pitchFamily="34" charset="-34"/>
                <a:cs typeface="Leelawadee" panose="020B0502040204020203" pitchFamily="34" charset="-34"/>
              </a:rPr>
              <a:t>https://www.funds-europe.com/june-2020/sponsored-feature-pandemic-boosts-digitalisation</a:t>
            </a:r>
          </a:p>
        </p:txBody>
      </p:sp>
      <p:pic>
        <p:nvPicPr>
          <p:cNvPr id="6" name="Grafik 10">
            <a:extLst>
              <a:ext uri="{FF2B5EF4-FFF2-40B4-BE49-F238E27FC236}">
                <a16:creationId xmlns:a16="http://schemas.microsoft.com/office/drawing/2014/main" id="{5548DB89-87BF-0BB5-5830-7F9178352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9748" y="1865989"/>
            <a:ext cx="6343392" cy="3958277"/>
          </a:xfrm>
          <a:prstGeom prst="rect">
            <a:avLst/>
          </a:prstGeom>
        </p:spPr>
      </p:pic>
      <p:sp>
        <p:nvSpPr>
          <p:cNvPr id="7" name="Ellipse 6">
            <a:extLst>
              <a:ext uri="{FF2B5EF4-FFF2-40B4-BE49-F238E27FC236}">
                <a16:creationId xmlns:a16="http://schemas.microsoft.com/office/drawing/2014/main" id="{7549FDDE-F2A9-B2F4-35DC-97A88497B830}"/>
              </a:ext>
            </a:extLst>
          </p:cNvPr>
          <p:cNvSpPr/>
          <p:nvPr/>
        </p:nvSpPr>
        <p:spPr bwMode="auto">
          <a:xfrm>
            <a:off x="345689" y="2319720"/>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1</a:t>
            </a:r>
          </a:p>
        </p:txBody>
      </p:sp>
      <p:sp>
        <p:nvSpPr>
          <p:cNvPr id="8" name="Ellipse 9">
            <a:extLst>
              <a:ext uri="{FF2B5EF4-FFF2-40B4-BE49-F238E27FC236}">
                <a16:creationId xmlns:a16="http://schemas.microsoft.com/office/drawing/2014/main" id="{225D4B14-ADFB-C778-9014-1E65E0ACBA16}"/>
              </a:ext>
            </a:extLst>
          </p:cNvPr>
          <p:cNvSpPr/>
          <p:nvPr/>
        </p:nvSpPr>
        <p:spPr bwMode="auto">
          <a:xfrm>
            <a:off x="345689" y="3774995"/>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3</a:t>
            </a:r>
          </a:p>
        </p:txBody>
      </p:sp>
      <p:sp>
        <p:nvSpPr>
          <p:cNvPr id="9" name="Ellipse 11">
            <a:extLst>
              <a:ext uri="{FF2B5EF4-FFF2-40B4-BE49-F238E27FC236}">
                <a16:creationId xmlns:a16="http://schemas.microsoft.com/office/drawing/2014/main" id="{152C2D4B-D5F3-683F-8320-61F6D48D6701}"/>
              </a:ext>
            </a:extLst>
          </p:cNvPr>
          <p:cNvSpPr/>
          <p:nvPr/>
        </p:nvSpPr>
        <p:spPr bwMode="auto">
          <a:xfrm>
            <a:off x="345689" y="4543044"/>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3</a:t>
            </a:r>
          </a:p>
        </p:txBody>
      </p:sp>
      <p:sp>
        <p:nvSpPr>
          <p:cNvPr id="10" name="Ellipse 12">
            <a:extLst>
              <a:ext uri="{FF2B5EF4-FFF2-40B4-BE49-F238E27FC236}">
                <a16:creationId xmlns:a16="http://schemas.microsoft.com/office/drawing/2014/main" id="{318CF22C-8EB9-CDD9-BA77-D8422E72FE3F}"/>
              </a:ext>
            </a:extLst>
          </p:cNvPr>
          <p:cNvSpPr/>
          <p:nvPr/>
        </p:nvSpPr>
        <p:spPr bwMode="auto">
          <a:xfrm>
            <a:off x="345689" y="5311093"/>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4</a:t>
            </a:r>
          </a:p>
        </p:txBody>
      </p:sp>
      <p:sp>
        <p:nvSpPr>
          <p:cNvPr id="11" name="Ellipse 6">
            <a:extLst>
              <a:ext uri="{FF2B5EF4-FFF2-40B4-BE49-F238E27FC236}">
                <a16:creationId xmlns:a16="http://schemas.microsoft.com/office/drawing/2014/main" id="{6A5A0F0C-8ACF-2EE6-E4E9-24A267C12342}"/>
              </a:ext>
            </a:extLst>
          </p:cNvPr>
          <p:cNvSpPr/>
          <p:nvPr/>
        </p:nvSpPr>
        <p:spPr bwMode="auto">
          <a:xfrm>
            <a:off x="345689" y="3047357"/>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2</a:t>
            </a:r>
          </a:p>
        </p:txBody>
      </p:sp>
    </p:spTree>
    <p:extLst>
      <p:ext uri="{BB962C8B-B14F-4D97-AF65-F5344CB8AC3E}">
        <p14:creationId xmlns:p14="http://schemas.microsoft.com/office/powerpoint/2010/main" val="3956233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AD0CC-4CE3-1A3D-62DB-38D46A191F87}"/>
              </a:ext>
            </a:extLst>
          </p:cNvPr>
          <p:cNvSpPr>
            <a:spLocks noGrp="1"/>
          </p:cNvSpPr>
          <p:nvPr>
            <p:ph type="title"/>
          </p:nvPr>
        </p:nvSpPr>
        <p:spPr/>
        <p:txBody>
          <a:bodyPr/>
          <a:lstStyle/>
          <a:p>
            <a:r>
              <a:rPr lang="en-DE" dirty="0"/>
              <a:t>Moore’s Law</a:t>
            </a:r>
          </a:p>
        </p:txBody>
      </p:sp>
      <p:pic>
        <p:nvPicPr>
          <p:cNvPr id="4" name="Bild 4" descr="grafiken-140905 5.pdf">
            <a:extLst>
              <a:ext uri="{FF2B5EF4-FFF2-40B4-BE49-F238E27FC236}">
                <a16:creationId xmlns:a16="http://schemas.microsoft.com/office/drawing/2014/main" id="{6B024AC3-97FD-98D2-1A0C-4BBF3ABA6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5085" y="1896895"/>
            <a:ext cx="8047080" cy="4440545"/>
          </a:xfrm>
          <a:prstGeom prst="rect">
            <a:avLst/>
          </a:prstGeom>
        </p:spPr>
      </p:pic>
      <p:sp>
        <p:nvSpPr>
          <p:cNvPr id="5" name="TextBox 4">
            <a:extLst>
              <a:ext uri="{FF2B5EF4-FFF2-40B4-BE49-F238E27FC236}">
                <a16:creationId xmlns:a16="http://schemas.microsoft.com/office/drawing/2014/main" id="{701C2857-95B0-5256-0843-9222714287CC}"/>
              </a:ext>
            </a:extLst>
          </p:cNvPr>
          <p:cNvSpPr txBox="1"/>
          <p:nvPr/>
        </p:nvSpPr>
        <p:spPr>
          <a:xfrm>
            <a:off x="400773" y="1264411"/>
            <a:ext cx="3319668" cy="5073029"/>
          </a:xfrm>
          <a:prstGeom prst="rect">
            <a:avLst/>
          </a:prstGeom>
          <a:noFill/>
        </p:spPr>
        <p:txBody>
          <a:bodyPr wrap="square" rtlCol="0">
            <a:spAutoFit/>
          </a:bodyPr>
          <a:lstStyle/>
          <a:p>
            <a:r>
              <a:rPr lang="en-GB" dirty="0"/>
              <a:t>Moore’s Law is the observation that the number of transistors on an integrated circuit will double about every two years with minimal rise in cost</a:t>
            </a:r>
          </a:p>
          <a:p>
            <a:r>
              <a:rPr lang="en-GB" dirty="0"/>
              <a:t>Effectively:</a:t>
            </a:r>
          </a:p>
          <a:p>
            <a:pPr marL="285464" indent="-285464">
              <a:buFont typeface="Arial" panose="020B0604020202020204" pitchFamily="34" charset="0"/>
              <a:buChar char="•"/>
            </a:pPr>
            <a:r>
              <a:rPr lang="en-GB" dirty="0"/>
              <a:t>More transistors → more functionality, higher performance (in many cases)</a:t>
            </a:r>
          </a:p>
          <a:p>
            <a:pPr marL="285464" indent="-285464">
              <a:buFont typeface="Arial" panose="020B0604020202020204" pitchFamily="34" charset="0"/>
              <a:buChar char="•"/>
            </a:pPr>
            <a:r>
              <a:rPr lang="en-GB" dirty="0"/>
              <a:t>Lower cost per transistor, over time</a:t>
            </a:r>
          </a:p>
          <a:p>
            <a:pPr marL="285464" indent="-285464">
              <a:buFont typeface="Arial" panose="020B0604020202020204" pitchFamily="34" charset="0"/>
              <a:buChar char="•"/>
            </a:pPr>
            <a:r>
              <a:rPr lang="en-GB" dirty="0"/>
              <a:t>Smaller geometry, finer lithography, improved yield and manufacturing techniques</a:t>
            </a:r>
          </a:p>
          <a:p>
            <a:endParaRPr lang="en-DE" dirty="0"/>
          </a:p>
        </p:txBody>
      </p:sp>
      <p:sp>
        <p:nvSpPr>
          <p:cNvPr id="6" name="Ellipse 9">
            <a:extLst>
              <a:ext uri="{FF2B5EF4-FFF2-40B4-BE49-F238E27FC236}">
                <a16:creationId xmlns:a16="http://schemas.microsoft.com/office/drawing/2014/main" id="{A2660410-FCB5-4CC9-4435-6CCBAAD7FF21}"/>
              </a:ext>
            </a:extLst>
          </p:cNvPr>
          <p:cNvSpPr/>
          <p:nvPr/>
        </p:nvSpPr>
        <p:spPr bwMode="auto">
          <a:xfrm>
            <a:off x="7998059" y="520561"/>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1</a:t>
            </a:r>
          </a:p>
        </p:txBody>
      </p:sp>
    </p:spTree>
    <p:extLst>
      <p:ext uri="{BB962C8B-B14F-4D97-AF65-F5344CB8AC3E}">
        <p14:creationId xmlns:p14="http://schemas.microsoft.com/office/powerpoint/2010/main" val="3623777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E34-2583-40FA-86DC-2D2F8D4913EE}"/>
              </a:ext>
            </a:extLst>
          </p:cNvPr>
          <p:cNvSpPr>
            <a:spLocks noGrp="1"/>
          </p:cNvSpPr>
          <p:nvPr>
            <p:ph type="title"/>
          </p:nvPr>
        </p:nvSpPr>
        <p:spPr>
          <a:xfrm>
            <a:off x="268571" y="285217"/>
            <a:ext cx="6302829" cy="983860"/>
          </a:xfrm>
        </p:spPr>
        <p:txBody>
          <a:bodyPr/>
          <a:lstStyle/>
          <a:p>
            <a:r>
              <a:rPr lang="en-DE" dirty="0"/>
              <a:t>Moore’s Law Discussion</a:t>
            </a:r>
          </a:p>
        </p:txBody>
      </p:sp>
      <p:sp>
        <p:nvSpPr>
          <p:cNvPr id="3" name="Text Placeholder 2">
            <a:extLst>
              <a:ext uri="{FF2B5EF4-FFF2-40B4-BE49-F238E27FC236}">
                <a16:creationId xmlns:a16="http://schemas.microsoft.com/office/drawing/2014/main" id="{1DCB4949-6907-3C85-B26B-845F8EDDFAB3}"/>
              </a:ext>
            </a:extLst>
          </p:cNvPr>
          <p:cNvSpPr>
            <a:spLocks noGrp="1"/>
          </p:cNvSpPr>
          <p:nvPr>
            <p:ph type="body" idx="1"/>
          </p:nvPr>
        </p:nvSpPr>
        <p:spPr>
          <a:xfrm>
            <a:off x="268571" y="804774"/>
            <a:ext cx="11459385" cy="5768009"/>
          </a:xfrm>
        </p:spPr>
        <p:txBody>
          <a:bodyPr/>
          <a:lstStyle/>
          <a:p>
            <a:pPr>
              <a:lnSpc>
                <a:spcPct val="150000"/>
              </a:lnSpc>
            </a:pPr>
            <a:r>
              <a:rPr lang="en-GB" sz="1800" dirty="0"/>
              <a:t>By 2025, Moore’s Law remains influential, though its relevance is challenged by the physical limitations of transistor miniaturization</a:t>
            </a:r>
          </a:p>
          <a:p>
            <a:pPr>
              <a:lnSpc>
                <a:spcPct val="150000"/>
              </a:lnSpc>
            </a:pPr>
            <a:r>
              <a:rPr lang="en-GB" sz="1800" dirty="0">
                <a:solidFill>
                  <a:srgbClr val="0070C0"/>
                </a:solidFill>
              </a:rPr>
              <a:t>Issues</a:t>
            </a:r>
          </a:p>
          <a:p>
            <a:pPr marL="285464" indent="-285464">
              <a:lnSpc>
                <a:spcPct val="150000"/>
              </a:lnSpc>
              <a:buClr>
                <a:schemeClr val="tx1"/>
              </a:buClr>
              <a:buFont typeface="Arial" panose="020B0604020202020204" pitchFamily="34" charset="0"/>
              <a:buChar char="•"/>
            </a:pPr>
            <a:r>
              <a:rPr lang="en-GB" sz="1800" dirty="0">
                <a:solidFill>
                  <a:srgbClr val="00B0F0"/>
                </a:solidFill>
              </a:rPr>
              <a:t>Quantum effects: </a:t>
            </a:r>
            <a:r>
              <a:rPr lang="en-GB" sz="1800" dirty="0"/>
              <a:t>tunnelling effect, leakage current, short-channel effects become significant  ￼</a:t>
            </a:r>
          </a:p>
          <a:p>
            <a:pPr marL="285464" indent="-285464">
              <a:lnSpc>
                <a:spcPct val="150000"/>
              </a:lnSpc>
              <a:buClr>
                <a:schemeClr val="tx1"/>
              </a:buClr>
              <a:buFont typeface="Arial" panose="020B0604020202020204" pitchFamily="34" charset="0"/>
              <a:buChar char="•"/>
            </a:pPr>
            <a:r>
              <a:rPr lang="en-GB" sz="1800" dirty="0">
                <a:solidFill>
                  <a:srgbClr val="00B0F0"/>
                </a:solidFill>
              </a:rPr>
              <a:t>Heat dissipation / power density:</a:t>
            </a:r>
            <a:r>
              <a:rPr lang="en-GB" sz="1800" dirty="0"/>
              <a:t> more power per area, more heat to remove</a:t>
            </a:r>
          </a:p>
          <a:p>
            <a:pPr marL="285464" indent="-285464">
              <a:lnSpc>
                <a:spcPct val="150000"/>
              </a:lnSpc>
              <a:buClr>
                <a:schemeClr val="tx1"/>
              </a:buClr>
              <a:buFont typeface="Arial" panose="020B0604020202020204" pitchFamily="34" charset="0"/>
              <a:buChar char="•"/>
            </a:pPr>
            <a:r>
              <a:rPr lang="en-GB" sz="1800" dirty="0">
                <a:solidFill>
                  <a:srgbClr val="00B0F0"/>
                </a:solidFill>
              </a:rPr>
              <a:t>Lithography / manufacturing complexity: </a:t>
            </a:r>
            <a:r>
              <a:rPr lang="en-GB" sz="1800" dirty="0"/>
              <a:t>The equipment to pattern ever-smaller features becomes extraordinarily expensive (EUV lithography, extreme ultraviolet; mask costs; yield issues)</a:t>
            </a:r>
          </a:p>
          <a:p>
            <a:pPr marL="285464" indent="-285464">
              <a:lnSpc>
                <a:spcPct val="150000"/>
              </a:lnSpc>
              <a:buClr>
                <a:schemeClr val="tx1"/>
              </a:buClr>
              <a:buFont typeface="Arial" panose="020B0604020202020204" pitchFamily="34" charset="0"/>
              <a:buChar char="•"/>
            </a:pPr>
            <a:r>
              <a:rPr lang="en-GB" sz="1800" dirty="0">
                <a:solidFill>
                  <a:srgbClr val="00B0F0"/>
                </a:solidFill>
              </a:rPr>
              <a:t>Diminishing returns: </a:t>
            </a:r>
            <a:r>
              <a:rPr lang="en-GB" sz="1800" dirty="0"/>
              <a:t>Even if transistor count doubles, actual single-thread performance, or cost per performance, may no longer improve as much. Many systems shift to parallelism.  ￼</a:t>
            </a:r>
          </a:p>
          <a:p>
            <a:pPr marL="285464" indent="-285464">
              <a:lnSpc>
                <a:spcPct val="150000"/>
              </a:lnSpc>
              <a:buClr>
                <a:schemeClr val="tx1"/>
              </a:buClr>
              <a:buFont typeface="Arial" panose="020B0604020202020204" pitchFamily="34" charset="0"/>
              <a:buChar char="•"/>
            </a:pPr>
            <a:r>
              <a:rPr lang="en-GB" sz="1800" dirty="0">
                <a:solidFill>
                  <a:srgbClr val="00B0F0"/>
                </a:solidFill>
              </a:rPr>
              <a:t>Dennard Scaling </a:t>
            </a:r>
            <a:r>
              <a:rPr lang="en-GB" sz="1800" dirty="0"/>
              <a:t>stopped</a:t>
            </a:r>
            <a:r>
              <a:rPr lang="en-GB" sz="1800" dirty="0">
                <a:solidFill>
                  <a:srgbClr val="0070C0"/>
                </a:solidFill>
              </a:rPr>
              <a:t> </a:t>
            </a:r>
            <a:r>
              <a:rPr lang="en-GB" sz="1800" dirty="0"/>
              <a:t>working: says that as transistors get smaller, they get more energy-efficient; 2005-2010 it turned out: reducing voltage causes failures, voltage kept constant while transistor count kept rising</a:t>
            </a:r>
          </a:p>
          <a:p>
            <a:pPr>
              <a:lnSpc>
                <a:spcPct val="150000"/>
              </a:lnSpc>
            </a:pPr>
            <a:endParaRPr lang="en-GB" sz="1800" dirty="0"/>
          </a:p>
          <a:p>
            <a:pPr>
              <a:lnSpc>
                <a:spcPct val="150000"/>
              </a:lnSpc>
            </a:pPr>
            <a:endParaRPr lang="en-DE" sz="1800" dirty="0"/>
          </a:p>
        </p:txBody>
      </p:sp>
      <p:sp>
        <p:nvSpPr>
          <p:cNvPr id="4" name="Ellipse 9">
            <a:extLst>
              <a:ext uri="{FF2B5EF4-FFF2-40B4-BE49-F238E27FC236}">
                <a16:creationId xmlns:a16="http://schemas.microsoft.com/office/drawing/2014/main" id="{ACCB68F0-2C3D-4F65-68D9-A868A2EC8F38}"/>
              </a:ext>
            </a:extLst>
          </p:cNvPr>
          <p:cNvSpPr/>
          <p:nvPr/>
        </p:nvSpPr>
        <p:spPr bwMode="auto">
          <a:xfrm>
            <a:off x="5398078" y="263974"/>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1</a:t>
            </a:r>
          </a:p>
        </p:txBody>
      </p:sp>
    </p:spTree>
    <p:extLst>
      <p:ext uri="{BB962C8B-B14F-4D97-AF65-F5344CB8AC3E}">
        <p14:creationId xmlns:p14="http://schemas.microsoft.com/office/powerpoint/2010/main" val="115997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24517-256E-7E87-F831-A0B529406DA2}"/>
              </a:ext>
            </a:extLst>
          </p:cNvPr>
          <p:cNvSpPr>
            <a:spLocks noGrp="1"/>
          </p:cNvSpPr>
          <p:nvPr>
            <p:ph type="title"/>
          </p:nvPr>
        </p:nvSpPr>
        <p:spPr>
          <a:xfrm>
            <a:off x="394172" y="356665"/>
            <a:ext cx="6959600" cy="1354137"/>
          </a:xfrm>
        </p:spPr>
        <p:txBody>
          <a:bodyPr/>
          <a:lstStyle/>
          <a:p>
            <a:r>
              <a:rPr lang="en-DE" dirty="0"/>
              <a:t>Neven’s Law</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5C1F3F4-9CE0-B19C-5856-1C37EE896D54}"/>
                  </a:ext>
                </a:extLst>
              </p:cNvPr>
              <p:cNvSpPr>
                <a:spLocks noGrp="1"/>
              </p:cNvSpPr>
              <p:nvPr>
                <p:ph type="body" idx="1"/>
              </p:nvPr>
            </p:nvSpPr>
            <p:spPr>
              <a:xfrm>
                <a:off x="394172" y="925985"/>
                <a:ext cx="7860473" cy="5006029"/>
              </a:xfrm>
            </p:spPr>
            <p:txBody>
              <a:bodyPr/>
              <a:lstStyle/>
              <a:p>
                <a:r>
                  <a:rPr lang="en-GB" dirty="0"/>
                  <a:t>The performance of quantum computers is improving at a doubly exponential rate relative to classical computers. (Hartmut Neven, director of Google’s Quantum AI Lab, 2019)</a:t>
                </a:r>
              </a:p>
              <a:p>
                <a:r>
                  <a:rPr lang="en-GB" dirty="0"/>
                  <a:t>Discussion</a:t>
                </a:r>
              </a:p>
              <a:p>
                <a:pPr marL="285464" indent="-285464">
                  <a:buFont typeface="Arial" panose="020B0604020202020204" pitchFamily="34" charset="0"/>
                  <a:buChar char="•"/>
                </a:pPr>
                <a:r>
                  <a:rPr lang="en-GB" dirty="0"/>
                  <a:t>Moore’s Law: performance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GB" dirty="0"/>
                  <a:t>, Neven’s Law: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sup>
                    </m:sSup>
                  </m:oMath>
                </a14:m>
                <a:endParaRPr lang="en-GB" dirty="0"/>
              </a:p>
              <a:p>
                <a:pPr marL="285464" indent="-285464">
                  <a:buFont typeface="Arial" panose="020B0604020202020204" pitchFamily="34" charset="0"/>
                  <a:buChar char="•"/>
                </a:pPr>
                <a:r>
                  <a:rPr lang="en-GB" dirty="0"/>
                  <a:t>HOWEVER</a:t>
                </a:r>
              </a:p>
              <a:p>
                <a:pPr marL="742207" lvl="1" indent="-285464">
                  <a:buFont typeface="Arial" panose="020B0604020202020204" pitchFamily="34" charset="0"/>
                  <a:buChar char="•"/>
                </a:pPr>
                <a:r>
                  <a:rPr lang="en-GB" dirty="0"/>
                  <a:t>Only observation in early stages; heuristics rather than physical law</a:t>
                </a:r>
              </a:p>
              <a:p>
                <a:pPr marL="742207" lvl="1" indent="-285464">
                  <a:buFont typeface="Arial" panose="020B0604020202020204" pitchFamily="34" charset="0"/>
                  <a:buChar char="•"/>
                </a:pPr>
                <a:r>
                  <a:rPr lang="en-GB" dirty="0"/>
                  <a:t>Observation: stable qubits increase exponentially and algorithmic improvements likely</a:t>
                </a:r>
              </a:p>
              <a:p>
                <a:pPr marL="742207" lvl="1" indent="-285464">
                  <a:buFont typeface="Arial" panose="020B0604020202020204" pitchFamily="34" charset="0"/>
                  <a:buChar char="•"/>
                </a:pPr>
                <a:r>
                  <a:rPr lang="en-GB" dirty="0"/>
                  <a:t>In 2025, this does not hold completely:</a:t>
                </a:r>
              </a:p>
              <a:p>
                <a:pPr marL="1198950" lvl="2" indent="-285464">
                  <a:buFont typeface="Arial" panose="020B0604020202020204" pitchFamily="34" charset="0"/>
                  <a:buChar char="•"/>
                </a:pPr>
                <a:r>
                  <a:rPr lang="en-GB" dirty="0"/>
                  <a:t>Progression in stable qubits not as exponential as projected</a:t>
                </a:r>
              </a:p>
              <a:p>
                <a:pPr marL="1198950" lvl="2" indent="-285464">
                  <a:buFont typeface="Arial" panose="020B0604020202020204" pitchFamily="34" charset="0"/>
                  <a:buChar char="•"/>
                </a:pPr>
                <a:r>
                  <a:rPr lang="en-GB" dirty="0"/>
                  <a:t>Algorithms – mainly improvements but not many breakthroughs like Shor’s Algorithm</a:t>
                </a:r>
              </a:p>
              <a:p>
                <a:pPr marL="285464" indent="-285464">
                  <a:buFont typeface="Arial" panose="020B0604020202020204" pitchFamily="34" charset="0"/>
                  <a:buChar char="•"/>
                </a:pPr>
                <a:r>
                  <a:rPr lang="en-GB" dirty="0"/>
                  <a:t>Quantum Computing: will have huge impact on specific problem solutions (e.g. prime factoring, simulations of physical environments) but not on classical computing in general</a:t>
                </a:r>
              </a:p>
              <a:p>
                <a:endParaRPr lang="en-DE" dirty="0"/>
              </a:p>
            </p:txBody>
          </p:sp>
        </mc:Choice>
        <mc:Fallback>
          <p:sp>
            <p:nvSpPr>
              <p:cNvPr id="3" name="Text Placeholder 2">
                <a:extLst>
                  <a:ext uri="{FF2B5EF4-FFF2-40B4-BE49-F238E27FC236}">
                    <a16:creationId xmlns:a16="http://schemas.microsoft.com/office/drawing/2014/main" id="{15C1F3F4-9CE0-B19C-5856-1C37EE896D54}"/>
                  </a:ext>
                </a:extLst>
              </p:cNvPr>
              <p:cNvSpPr>
                <a:spLocks noGrp="1" noRot="1" noChangeAspect="1" noMove="1" noResize="1" noEditPoints="1" noAdjustHandles="1" noChangeArrowheads="1" noChangeShapeType="1" noTextEdit="1"/>
              </p:cNvSpPr>
              <p:nvPr>
                <p:ph type="body" idx="1"/>
              </p:nvPr>
            </p:nvSpPr>
            <p:spPr>
              <a:xfrm>
                <a:off x="394172" y="925985"/>
                <a:ext cx="7860473" cy="5006029"/>
              </a:xfrm>
              <a:blipFill>
                <a:blip r:embed="rId2"/>
                <a:stretch>
                  <a:fillRect l="-1939" b="-1565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84A8D4E5-6A37-BF7E-66FA-1D8A18C4DC76}"/>
              </a:ext>
            </a:extLst>
          </p:cNvPr>
          <p:cNvPicPr>
            <a:picLocks noChangeAspect="1"/>
          </p:cNvPicPr>
          <p:nvPr/>
        </p:nvPicPr>
        <p:blipFill>
          <a:blip r:embed="rId3"/>
          <a:stretch>
            <a:fillRect/>
          </a:stretch>
        </p:blipFill>
        <p:spPr>
          <a:xfrm>
            <a:off x="8206543" y="1812681"/>
            <a:ext cx="3639388" cy="4347992"/>
          </a:xfrm>
          <a:prstGeom prst="rect">
            <a:avLst/>
          </a:prstGeom>
        </p:spPr>
      </p:pic>
      <p:sp>
        <p:nvSpPr>
          <p:cNvPr id="6" name="TextBox 5">
            <a:extLst>
              <a:ext uri="{FF2B5EF4-FFF2-40B4-BE49-F238E27FC236}">
                <a16:creationId xmlns:a16="http://schemas.microsoft.com/office/drawing/2014/main" id="{31DD005B-DBE9-CC3F-8F59-FF882A035D50}"/>
              </a:ext>
            </a:extLst>
          </p:cNvPr>
          <p:cNvSpPr txBox="1"/>
          <p:nvPr/>
        </p:nvSpPr>
        <p:spPr>
          <a:xfrm>
            <a:off x="8206543" y="6242549"/>
            <a:ext cx="4388028" cy="245965"/>
          </a:xfrm>
          <a:prstGeom prst="rect">
            <a:avLst/>
          </a:prstGeom>
          <a:noFill/>
        </p:spPr>
        <p:txBody>
          <a:bodyPr wrap="square">
            <a:spAutoFit/>
          </a:bodyPr>
          <a:lstStyle/>
          <a:p>
            <a:r>
              <a:rPr lang="en-DE" sz="999" dirty="0"/>
              <a:t>Source: https://quantumai.google/discover/whatisqc</a:t>
            </a:r>
          </a:p>
        </p:txBody>
      </p:sp>
      <p:sp>
        <p:nvSpPr>
          <p:cNvPr id="7" name="Ellipse 9">
            <a:extLst>
              <a:ext uri="{FF2B5EF4-FFF2-40B4-BE49-F238E27FC236}">
                <a16:creationId xmlns:a16="http://schemas.microsoft.com/office/drawing/2014/main" id="{16122F37-AB4B-32CA-AC9D-515F9EA335C7}"/>
              </a:ext>
            </a:extLst>
          </p:cNvPr>
          <p:cNvSpPr/>
          <p:nvPr/>
        </p:nvSpPr>
        <p:spPr bwMode="auto">
          <a:xfrm>
            <a:off x="7998059" y="520561"/>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2</a:t>
            </a:r>
          </a:p>
        </p:txBody>
      </p:sp>
    </p:spTree>
    <p:extLst>
      <p:ext uri="{BB962C8B-B14F-4D97-AF65-F5344CB8AC3E}">
        <p14:creationId xmlns:p14="http://schemas.microsoft.com/office/powerpoint/2010/main" val="32686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2">
            <a:extLst>
              <a:ext uri="{FF2B5EF4-FFF2-40B4-BE49-F238E27FC236}">
                <a16:creationId xmlns:a16="http://schemas.microsoft.com/office/drawing/2014/main" id="{4AF11727-88F4-2191-6342-E5DCF6052DA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5689" y="1671183"/>
            <a:ext cx="6106264" cy="4772044"/>
          </a:xfrm>
          <a:prstGeom prst="rect">
            <a:avLst/>
          </a:prstGeom>
        </p:spPr>
      </p:pic>
      <p:sp>
        <p:nvSpPr>
          <p:cNvPr id="2" name="Title 1">
            <a:extLst>
              <a:ext uri="{FF2B5EF4-FFF2-40B4-BE49-F238E27FC236}">
                <a16:creationId xmlns:a16="http://schemas.microsoft.com/office/drawing/2014/main" id="{C6AD7E1E-78EF-7089-95C9-45B0078FC966}"/>
              </a:ext>
            </a:extLst>
          </p:cNvPr>
          <p:cNvSpPr>
            <a:spLocks noGrp="1"/>
          </p:cNvSpPr>
          <p:nvPr>
            <p:ph type="title"/>
          </p:nvPr>
        </p:nvSpPr>
        <p:spPr>
          <a:xfrm>
            <a:off x="345689" y="414773"/>
            <a:ext cx="7540031" cy="983860"/>
          </a:xfrm>
        </p:spPr>
        <p:txBody>
          <a:bodyPr/>
          <a:lstStyle/>
          <a:p>
            <a:r>
              <a:rPr lang="en-US" dirty="0"/>
              <a:t>Parallel execution: Amdahl’s Law</a:t>
            </a:r>
          </a:p>
        </p:txBody>
      </p:sp>
      <p:sp>
        <p:nvSpPr>
          <p:cNvPr id="4" name="Slide Number Placeholder 3">
            <a:extLst>
              <a:ext uri="{FF2B5EF4-FFF2-40B4-BE49-F238E27FC236}">
                <a16:creationId xmlns:a16="http://schemas.microsoft.com/office/drawing/2014/main" id="{1AEFFA52-0E86-9239-0496-E9B99FA9E6C4}"/>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11</a:t>
            </a:fld>
            <a:endParaRPr lang="de-DE"/>
          </a:p>
        </p:txBody>
      </p:sp>
      <p:pic>
        <p:nvPicPr>
          <p:cNvPr id="6" name="Picture 28" descr="225px-Amdahl_march_13_2008">
            <a:extLst>
              <a:ext uri="{FF2B5EF4-FFF2-40B4-BE49-F238E27FC236}">
                <a16:creationId xmlns:a16="http://schemas.microsoft.com/office/drawing/2014/main" id="{455C6CDE-3951-6301-E2BF-CF57821ABF9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169590" y="2675913"/>
            <a:ext cx="2140895" cy="32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AutoShape 29">
            <a:extLst>
              <a:ext uri="{FF2B5EF4-FFF2-40B4-BE49-F238E27FC236}">
                <a16:creationId xmlns:a16="http://schemas.microsoft.com/office/drawing/2014/main" id="{07F5A665-A0E0-71B3-CCAC-E02DA91D4064}"/>
              </a:ext>
            </a:extLst>
          </p:cNvPr>
          <p:cNvSpPr>
            <a:spLocks noChangeArrowheads="1"/>
          </p:cNvSpPr>
          <p:nvPr/>
        </p:nvSpPr>
        <p:spPr bwMode="auto">
          <a:xfrm>
            <a:off x="5732157" y="3827475"/>
            <a:ext cx="3501553" cy="1122543"/>
          </a:xfrm>
          <a:prstGeom prst="wedgeRoundRectCallout">
            <a:avLst>
              <a:gd name="adj1" fmla="val 70411"/>
              <a:gd name="adj2" fmla="val -52381"/>
              <a:gd name="adj3" fmla="val 16667"/>
            </a:avLst>
          </a:prstGeom>
          <a:solidFill>
            <a:srgbClr val="CCECFF"/>
          </a:solidFill>
          <a:ln w="28575" cap="sq">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nchor="ctr">
            <a:spAutoFit/>
          </a:bodyPr>
          <a:lstStyle/>
          <a:p>
            <a:pPr>
              <a:defRPr/>
            </a:pPr>
            <a:r>
              <a:rPr lang="en-GB" sz="1998">
                <a:latin typeface="Arial Narrow"/>
                <a:ea typeface="ＭＳ Ｐゴシック" charset="0"/>
                <a:cs typeface="Arial Narrow"/>
              </a:rPr>
              <a:t>If 50% is sequential, the maximum speedup is 2, no matter how many cores you use</a:t>
            </a:r>
            <a:endParaRPr lang="en-US" sz="1998">
              <a:latin typeface="Arial Narrow"/>
              <a:ea typeface="ＭＳ Ｐゴシック" charset="0"/>
              <a:cs typeface="Arial Narrow"/>
            </a:endParaRPr>
          </a:p>
        </p:txBody>
      </p:sp>
      <p:sp>
        <p:nvSpPr>
          <p:cNvPr id="3" name="Ellipse 9">
            <a:extLst>
              <a:ext uri="{FF2B5EF4-FFF2-40B4-BE49-F238E27FC236}">
                <a16:creationId xmlns:a16="http://schemas.microsoft.com/office/drawing/2014/main" id="{62D920EF-98E3-D90A-C5F6-426FEA8B89D7}"/>
              </a:ext>
            </a:extLst>
          </p:cNvPr>
          <p:cNvSpPr/>
          <p:nvPr/>
        </p:nvSpPr>
        <p:spPr bwMode="auto">
          <a:xfrm>
            <a:off x="7998059" y="520561"/>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3</a:t>
            </a:r>
          </a:p>
        </p:txBody>
      </p:sp>
    </p:spTree>
    <p:extLst>
      <p:ext uri="{BB962C8B-B14F-4D97-AF65-F5344CB8AC3E}">
        <p14:creationId xmlns:p14="http://schemas.microsoft.com/office/powerpoint/2010/main" val="3087842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9BA73-80DF-EBEB-C7E4-8CE110BC25AF}"/>
              </a:ext>
            </a:extLst>
          </p:cNvPr>
          <p:cNvSpPr>
            <a:spLocks noGrp="1"/>
          </p:cNvSpPr>
          <p:nvPr>
            <p:ph type="title"/>
          </p:nvPr>
        </p:nvSpPr>
        <p:spPr/>
        <p:txBody>
          <a:bodyPr/>
          <a:lstStyle/>
          <a:p>
            <a:r>
              <a:rPr lang="en-DE" dirty="0"/>
              <a:t>Gilder’s Law</a:t>
            </a:r>
          </a:p>
        </p:txBody>
      </p:sp>
      <p:sp>
        <p:nvSpPr>
          <p:cNvPr id="4" name="Inhaltsplatzhalter 2">
            <a:extLst>
              <a:ext uri="{FF2B5EF4-FFF2-40B4-BE49-F238E27FC236}">
                <a16:creationId xmlns:a16="http://schemas.microsoft.com/office/drawing/2014/main" id="{8FF82CBB-CF9C-BCA3-294C-983F5C1CCD73}"/>
              </a:ext>
            </a:extLst>
          </p:cNvPr>
          <p:cNvSpPr txBox="1">
            <a:spLocks/>
          </p:cNvSpPr>
          <p:nvPr/>
        </p:nvSpPr>
        <p:spPr>
          <a:xfrm>
            <a:off x="225146" y="1302201"/>
            <a:ext cx="4840497" cy="4536161"/>
          </a:xfrm>
          <a:prstGeom prst="rect">
            <a:avLst/>
          </a:prstGeom>
        </p:spPr>
        <p:txBody>
          <a:bodyPr vert="horz" lIns="91345" tIns="45672" rIns="91345" bIns="45672" rtlCol="0">
            <a:noAutofit/>
          </a:bodyPr>
          <a:lstStyle>
            <a:lvl1pPr marL="342900" indent="-3429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633413" indent="-28575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2pPr>
            <a:lvl3pPr marL="85725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3pPr>
            <a:lvl4pPr marL="1095375"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de-DE" sz="1998" dirty="0">
                <a:latin typeface="Leelawadee" panose="020B0502040204020203" pitchFamily="34" charset="-34"/>
                <a:cs typeface="Leelawadee" panose="020B0502040204020203" pitchFamily="34" charset="-34"/>
                <a:sym typeface="Wingdings"/>
              </a:rPr>
              <a:t>The total </a:t>
            </a:r>
            <a:r>
              <a:rPr lang="de-DE" sz="1998" dirty="0" err="1">
                <a:latin typeface="Leelawadee" panose="020B0502040204020203" pitchFamily="34" charset="-34"/>
                <a:cs typeface="Leelawadee" panose="020B0502040204020203" pitchFamily="34" charset="-34"/>
                <a:sym typeface="Wingdings"/>
              </a:rPr>
              <a:t>bandwidth</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of</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communication</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systems</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triples</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every</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twelve</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months</a:t>
            </a:r>
            <a:endParaRPr lang="de-DE" sz="1998" dirty="0">
              <a:latin typeface="Leelawadee" panose="020B0502040204020203" pitchFamily="34" charset="-34"/>
              <a:cs typeface="Leelawadee" panose="020B0502040204020203" pitchFamily="34" charset="-34"/>
              <a:sym typeface="Wingdings"/>
            </a:endParaRPr>
          </a:p>
          <a:p>
            <a:pPr marL="0" indent="0">
              <a:buNone/>
            </a:pPr>
            <a:r>
              <a:rPr lang="de-DE" sz="1998" dirty="0" err="1">
                <a:latin typeface="Leelawadee" panose="020B0502040204020203" pitchFamily="34" charset="-34"/>
                <a:cs typeface="Leelawadee" panose="020B0502040204020203" pitchFamily="34" charset="-34"/>
                <a:sym typeface="Wingdings"/>
              </a:rPr>
              <a:t>or</a:t>
            </a:r>
            <a:endParaRPr lang="de-DE" sz="1998" dirty="0">
              <a:latin typeface="Leelawadee" panose="020B0502040204020203" pitchFamily="34" charset="-34"/>
              <a:cs typeface="Leelawadee" panose="020B0502040204020203" pitchFamily="34" charset="-34"/>
              <a:sym typeface="Wingdings"/>
            </a:endParaRPr>
          </a:p>
          <a:p>
            <a:pPr marL="0" indent="0">
              <a:buNone/>
            </a:pPr>
            <a:r>
              <a:rPr lang="de-DE" sz="1998" dirty="0">
                <a:latin typeface="Leelawadee" panose="020B0502040204020203" pitchFamily="34" charset="-34"/>
                <a:cs typeface="Leelawadee" panose="020B0502040204020203" pitchFamily="34" charset="-34"/>
                <a:sym typeface="Wingdings"/>
              </a:rPr>
              <a:t>The </a:t>
            </a:r>
            <a:r>
              <a:rPr lang="de-DE" sz="1998" dirty="0" err="1">
                <a:latin typeface="Leelawadee" panose="020B0502040204020203" pitchFamily="34" charset="-34"/>
                <a:cs typeface="Leelawadee" panose="020B0502040204020203" pitchFamily="34" charset="-34"/>
                <a:sym typeface="Wingdings"/>
              </a:rPr>
              <a:t>bandwidth</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of</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communication</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networks</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grows</a:t>
            </a:r>
            <a:r>
              <a:rPr lang="de-DE" sz="1998" dirty="0">
                <a:latin typeface="Leelawadee" panose="020B0502040204020203" pitchFamily="34" charset="-34"/>
                <a:cs typeface="Leelawadee" panose="020B0502040204020203" pitchFamily="34" charset="-34"/>
                <a:sym typeface="Wingdings"/>
              </a:rPr>
              <a:t> at least </a:t>
            </a:r>
            <a:r>
              <a:rPr lang="de-DE" sz="1998" dirty="0" err="1">
                <a:latin typeface="Leelawadee" panose="020B0502040204020203" pitchFamily="34" charset="-34"/>
                <a:cs typeface="Leelawadee" panose="020B0502040204020203" pitchFamily="34" charset="-34"/>
                <a:sym typeface="Wingdings"/>
              </a:rPr>
              <a:t>three</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times</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faster</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than</a:t>
            </a:r>
            <a:r>
              <a:rPr lang="de-DE" sz="1998" dirty="0">
                <a:latin typeface="Leelawadee" panose="020B0502040204020203" pitchFamily="34" charset="-34"/>
                <a:cs typeface="Leelawadee" panose="020B0502040204020203" pitchFamily="34" charset="-34"/>
                <a:sym typeface="Wingdings"/>
              </a:rPr>
              <a:t> </a:t>
            </a:r>
            <a:r>
              <a:rPr lang="de-DE" sz="1998" dirty="0" err="1">
                <a:latin typeface="Leelawadee" panose="020B0502040204020203" pitchFamily="34" charset="-34"/>
                <a:cs typeface="Leelawadee" panose="020B0502040204020203" pitchFamily="34" charset="-34"/>
                <a:sym typeface="Wingdings"/>
              </a:rPr>
              <a:t>computing</a:t>
            </a:r>
            <a:r>
              <a:rPr lang="de-DE" sz="1998" dirty="0">
                <a:latin typeface="Leelawadee" panose="020B0502040204020203" pitchFamily="34" charset="-34"/>
                <a:cs typeface="Leelawadee" panose="020B0502040204020203" pitchFamily="34" charset="-34"/>
                <a:sym typeface="Wingdings"/>
              </a:rPr>
              <a:t> power</a:t>
            </a:r>
          </a:p>
          <a:p>
            <a:pPr marL="0" indent="0">
              <a:buNone/>
            </a:pPr>
            <a:endParaRPr lang="de-DE" sz="1998" dirty="0">
              <a:latin typeface="Leelawadee" panose="020B0502040204020203" pitchFamily="34" charset="-34"/>
              <a:cs typeface="Leelawadee" panose="020B0502040204020203" pitchFamily="34" charset="-34"/>
              <a:sym typeface="Wingdings"/>
            </a:endParaRPr>
          </a:p>
          <a:p>
            <a:pPr marL="0" indent="0">
              <a:buNone/>
            </a:pPr>
            <a:r>
              <a:rPr lang="de-DE" sz="1998" dirty="0">
                <a:latin typeface="Leelawadee" panose="020B0502040204020203" pitchFamily="34" charset="-34"/>
                <a:cs typeface="Leelawadee" panose="020B0502040204020203" pitchFamily="34" charset="-34"/>
                <a:sym typeface="Wingdings"/>
              </a:rPr>
              <a:t>So: </a:t>
            </a:r>
          </a:p>
          <a:p>
            <a:r>
              <a:rPr lang="en-GB" sz="1998" dirty="0">
                <a:latin typeface="Leelawadee" panose="020B0502040204020203" pitchFamily="34" charset="-34"/>
                <a:cs typeface="Leelawadee" panose="020B0502040204020203" pitchFamily="34" charset="-34"/>
              </a:rPr>
              <a:t>Moore’s Law → CPUs and chips get faster (computing side).</a:t>
            </a:r>
          </a:p>
          <a:p>
            <a:r>
              <a:rPr lang="en-GB" sz="1998" dirty="0">
                <a:latin typeface="Leelawadee" panose="020B0502040204020203" pitchFamily="34" charset="-34"/>
                <a:cs typeface="Leelawadee" panose="020B0502040204020203" pitchFamily="34" charset="-34"/>
              </a:rPr>
              <a:t>Gilder’s Law → Networks get broader and faster (communication side)</a:t>
            </a:r>
          </a:p>
          <a:p>
            <a:pPr marL="0" indent="0">
              <a:buNone/>
            </a:pPr>
            <a:endParaRPr lang="de-DE" sz="1998" dirty="0">
              <a:latin typeface="Leelawadee" panose="020B0502040204020203" pitchFamily="34" charset="-34"/>
              <a:cs typeface="Leelawadee" panose="020B0502040204020203" pitchFamily="34" charset="-34"/>
              <a:sym typeface="Wingdings"/>
            </a:endParaRPr>
          </a:p>
        </p:txBody>
      </p:sp>
      <p:pic>
        <p:nvPicPr>
          <p:cNvPr id="5" name="Bild 2" descr="grafiken-140905 6.pdf">
            <a:extLst>
              <a:ext uri="{FF2B5EF4-FFF2-40B4-BE49-F238E27FC236}">
                <a16:creationId xmlns:a16="http://schemas.microsoft.com/office/drawing/2014/main" id="{5CBFEE7E-375D-CE48-0FC8-52D373F8B5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629248"/>
            <a:ext cx="5870854" cy="4834821"/>
          </a:xfrm>
          <a:prstGeom prst="rect">
            <a:avLst/>
          </a:prstGeom>
        </p:spPr>
      </p:pic>
      <p:sp>
        <p:nvSpPr>
          <p:cNvPr id="6" name="Ellipse 9">
            <a:extLst>
              <a:ext uri="{FF2B5EF4-FFF2-40B4-BE49-F238E27FC236}">
                <a16:creationId xmlns:a16="http://schemas.microsoft.com/office/drawing/2014/main" id="{EDC594FC-BC39-23D0-EFAC-E2E237CF1436}"/>
              </a:ext>
            </a:extLst>
          </p:cNvPr>
          <p:cNvSpPr/>
          <p:nvPr/>
        </p:nvSpPr>
        <p:spPr bwMode="auto">
          <a:xfrm>
            <a:off x="7998059" y="520561"/>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4</a:t>
            </a:r>
          </a:p>
        </p:txBody>
      </p:sp>
    </p:spTree>
    <p:extLst>
      <p:ext uri="{BB962C8B-B14F-4D97-AF65-F5344CB8AC3E}">
        <p14:creationId xmlns:p14="http://schemas.microsoft.com/office/powerpoint/2010/main" val="3585562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2E06-CA89-8A63-A212-60D56E0D28F7}"/>
              </a:ext>
            </a:extLst>
          </p:cNvPr>
          <p:cNvSpPr>
            <a:spLocks noGrp="1"/>
          </p:cNvSpPr>
          <p:nvPr>
            <p:ph type="title"/>
          </p:nvPr>
        </p:nvSpPr>
        <p:spPr/>
        <p:txBody>
          <a:bodyPr/>
          <a:lstStyle/>
          <a:p>
            <a:r>
              <a:rPr lang="en-DE" dirty="0"/>
              <a:t>Metcalfe’s Law</a:t>
            </a:r>
          </a:p>
        </p:txBody>
      </p:sp>
      <p:sp>
        <p:nvSpPr>
          <p:cNvPr id="3" name="Text Placeholder 2">
            <a:extLst>
              <a:ext uri="{FF2B5EF4-FFF2-40B4-BE49-F238E27FC236}">
                <a16:creationId xmlns:a16="http://schemas.microsoft.com/office/drawing/2014/main" id="{2DEC894A-11A3-5F75-E842-FE7FF8ECAE47}"/>
              </a:ext>
            </a:extLst>
          </p:cNvPr>
          <p:cNvSpPr>
            <a:spLocks noGrp="1"/>
          </p:cNvSpPr>
          <p:nvPr>
            <p:ph type="body" idx="1"/>
          </p:nvPr>
        </p:nvSpPr>
        <p:spPr>
          <a:xfrm>
            <a:off x="286753" y="916616"/>
            <a:ext cx="7190825" cy="4150660"/>
          </a:xfrm>
        </p:spPr>
        <p:txBody>
          <a:bodyPr/>
          <a:lstStyle/>
          <a:p>
            <a:r>
              <a:rPr lang="en-GB" dirty="0"/>
              <a:t>The value of a network is proportional to the square of the number of its connected users.</a:t>
            </a:r>
          </a:p>
          <a:p>
            <a:endParaRPr lang="en-DE" dirty="0"/>
          </a:p>
          <a:p>
            <a:r>
              <a:rPr lang="en-DE" dirty="0"/>
              <a:t>Central idea: Connections between users </a:t>
            </a:r>
            <a:r>
              <a:rPr lang="en-DE"/>
              <a:t>grows </a:t>
            </a:r>
            <a:r>
              <a:rPr lang="de-DE" dirty="0" err="1"/>
              <a:t>quadratically</a:t>
            </a:r>
            <a:endParaRPr lang="en-DE" dirty="0"/>
          </a:p>
          <a:p>
            <a:r>
              <a:rPr lang="en-DE" dirty="0"/>
              <a:t>Helps explain:</a:t>
            </a:r>
          </a:p>
          <a:p>
            <a:pPr marL="285464" indent="-285464">
              <a:buFont typeface="Arial" panose="020B0604020202020204" pitchFamily="34" charset="0"/>
              <a:buChar char="•"/>
            </a:pPr>
            <a:r>
              <a:rPr lang="en-GB" dirty="0"/>
              <a:t>Network effects — why networks become exponentially more valuable as they grow</a:t>
            </a:r>
          </a:p>
          <a:p>
            <a:pPr marL="285464" indent="-285464">
              <a:buFont typeface="Arial" panose="020B0604020202020204" pitchFamily="34" charset="0"/>
              <a:buChar char="•"/>
            </a:pPr>
            <a:r>
              <a:rPr lang="en-GB" dirty="0"/>
              <a:t>The dominance of platforms like Facebook, LinkedIn, X (Twitter), and WhatsApp: once a network reaches critical mass, its value to each user increases so much that it’s hard for competitors to catch up</a:t>
            </a:r>
          </a:p>
          <a:p>
            <a:pPr marL="285464" indent="-285464">
              <a:buFont typeface="Arial" panose="020B0604020202020204" pitchFamily="34" charset="0"/>
              <a:buChar char="•"/>
            </a:pPr>
            <a:r>
              <a:rPr lang="en-GB" dirty="0"/>
              <a:t>The rapid growth of the Internet and social networks in the 1990s–2000s.</a:t>
            </a:r>
            <a:endParaRPr lang="en-DE" dirty="0"/>
          </a:p>
        </p:txBody>
      </p:sp>
      <p:pic>
        <p:nvPicPr>
          <p:cNvPr id="4" name="Grafik 5">
            <a:extLst>
              <a:ext uri="{FF2B5EF4-FFF2-40B4-BE49-F238E27FC236}">
                <a16:creationId xmlns:a16="http://schemas.microsoft.com/office/drawing/2014/main" id="{C349CFA9-BF3A-7C3E-4FD7-1478E75F0FAD}"/>
              </a:ext>
            </a:extLst>
          </p:cNvPr>
          <p:cNvPicPr>
            <a:picLocks noChangeAspect="1"/>
          </p:cNvPicPr>
          <p:nvPr/>
        </p:nvPicPr>
        <p:blipFill>
          <a:blip r:embed="rId2"/>
          <a:stretch>
            <a:fillRect/>
          </a:stretch>
        </p:blipFill>
        <p:spPr>
          <a:xfrm>
            <a:off x="7626232" y="1874698"/>
            <a:ext cx="4279015" cy="3658285"/>
          </a:xfrm>
          <a:prstGeom prst="rect">
            <a:avLst/>
          </a:prstGeom>
        </p:spPr>
      </p:pic>
      <p:sp>
        <p:nvSpPr>
          <p:cNvPr id="5" name="Ellipse 9">
            <a:extLst>
              <a:ext uri="{FF2B5EF4-FFF2-40B4-BE49-F238E27FC236}">
                <a16:creationId xmlns:a16="http://schemas.microsoft.com/office/drawing/2014/main" id="{A6F17684-BDE1-A998-B883-76A1A6BB00BF}"/>
              </a:ext>
            </a:extLst>
          </p:cNvPr>
          <p:cNvSpPr/>
          <p:nvPr/>
        </p:nvSpPr>
        <p:spPr bwMode="auto">
          <a:xfrm>
            <a:off x="7998059" y="520561"/>
            <a:ext cx="513173" cy="513173"/>
          </a:xfrm>
          <a:prstGeom prst="ellipse">
            <a:avLst/>
          </a:prstGeom>
          <a:solidFill>
            <a:srgbClr val="0099CC"/>
          </a:solidFill>
          <a:ln w="38100">
            <a:solidFill>
              <a:schemeClr val="tx1">
                <a:lumMod val="50000"/>
                <a:lumOff val="50000"/>
              </a:schemeClr>
            </a:solid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345" tIns="45672" rIns="91345" bIns="45672" numCol="1" rtlCol="0" anchor="ctr" anchorCtr="0" compatLnSpc="1">
            <a:prstTxWarp prst="textNoShape">
              <a:avLst/>
            </a:prstTxWarp>
          </a:bodyPr>
          <a:lstStyle/>
          <a:p>
            <a:pPr algn="ctr" defTabSz="913486"/>
            <a:r>
              <a:rPr lang="de-DE" sz="2398" dirty="0">
                <a:solidFill>
                  <a:schemeClr val="bg1"/>
                </a:solidFill>
                <a:latin typeface="Leelawadee" panose="020B0502040204020203" pitchFamily="34" charset="-34"/>
                <a:cs typeface="Leelawadee" panose="020B0502040204020203" pitchFamily="34" charset="-34"/>
              </a:rPr>
              <a:t>5</a:t>
            </a:r>
          </a:p>
        </p:txBody>
      </p:sp>
    </p:spTree>
    <p:extLst>
      <p:ext uri="{BB962C8B-B14F-4D97-AF65-F5344CB8AC3E}">
        <p14:creationId xmlns:p14="http://schemas.microsoft.com/office/powerpoint/2010/main" val="375795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7E6F1-0125-ED77-ED28-84D868B3E9EE}"/>
              </a:ext>
            </a:extLst>
          </p:cNvPr>
          <p:cNvSpPr>
            <a:spLocks noGrp="1"/>
          </p:cNvSpPr>
          <p:nvPr>
            <p:ph type="title"/>
          </p:nvPr>
        </p:nvSpPr>
        <p:spPr>
          <a:xfrm>
            <a:off x="213212" y="162372"/>
            <a:ext cx="7075849" cy="491931"/>
          </a:xfrm>
        </p:spPr>
        <p:txBody>
          <a:bodyPr/>
          <a:lstStyle/>
          <a:p>
            <a:r>
              <a:rPr lang="en-DE" dirty="0"/>
              <a:t>Overview </a:t>
            </a:r>
            <a:r>
              <a:rPr lang="en-DE"/>
              <a:t>of some </a:t>
            </a:r>
            <a:r>
              <a:rPr lang="en-DE" dirty="0"/>
              <a:t>developments</a:t>
            </a:r>
          </a:p>
        </p:txBody>
      </p:sp>
      <p:sp>
        <p:nvSpPr>
          <p:cNvPr id="4" name="Slide Number Placeholder 3">
            <a:extLst>
              <a:ext uri="{FF2B5EF4-FFF2-40B4-BE49-F238E27FC236}">
                <a16:creationId xmlns:a16="http://schemas.microsoft.com/office/drawing/2014/main" id="{6BE58746-4901-84AC-B2D9-53E4BB63122D}"/>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14</a:t>
            </a:fld>
            <a:endParaRPr lang="de-DE"/>
          </a:p>
        </p:txBody>
      </p:sp>
      <p:grpSp>
        <p:nvGrpSpPr>
          <p:cNvPr id="3" name="Group 2">
            <a:extLst>
              <a:ext uri="{FF2B5EF4-FFF2-40B4-BE49-F238E27FC236}">
                <a16:creationId xmlns:a16="http://schemas.microsoft.com/office/drawing/2014/main" id="{84BBDCE1-B113-C4BD-D585-BB7AF62E17BF}"/>
              </a:ext>
            </a:extLst>
          </p:cNvPr>
          <p:cNvGrpSpPr/>
          <p:nvPr/>
        </p:nvGrpSpPr>
        <p:grpSpPr>
          <a:xfrm>
            <a:off x="431819" y="1245718"/>
            <a:ext cx="3721990" cy="1354994"/>
            <a:chOff x="425917" y="1243442"/>
            <a:chExt cx="3725867" cy="1356405"/>
          </a:xfrm>
        </p:grpSpPr>
        <p:pic>
          <p:nvPicPr>
            <p:cNvPr id="5" name="Picture 4">
              <a:extLst>
                <a:ext uri="{FF2B5EF4-FFF2-40B4-BE49-F238E27FC236}">
                  <a16:creationId xmlns:a16="http://schemas.microsoft.com/office/drawing/2014/main" id="{3A093053-D21E-70A9-803E-8F43FCA8EC2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5917" y="1243442"/>
              <a:ext cx="578234" cy="833406"/>
            </a:xfrm>
            <a:prstGeom prst="rect">
              <a:avLst/>
            </a:prstGeom>
          </p:spPr>
        </p:pic>
        <p:pic>
          <p:nvPicPr>
            <p:cNvPr id="6" name="Picture 5">
              <a:extLst>
                <a:ext uri="{FF2B5EF4-FFF2-40B4-BE49-F238E27FC236}">
                  <a16:creationId xmlns:a16="http://schemas.microsoft.com/office/drawing/2014/main" id="{863C0F5B-B8D8-0B79-DE50-B316239C88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26081" y="1264769"/>
              <a:ext cx="841497" cy="833406"/>
            </a:xfrm>
            <a:prstGeom prst="rect">
              <a:avLst/>
            </a:prstGeom>
          </p:spPr>
        </p:pic>
        <p:pic>
          <p:nvPicPr>
            <p:cNvPr id="7" name="Picture 6">
              <a:extLst>
                <a:ext uri="{FF2B5EF4-FFF2-40B4-BE49-F238E27FC236}">
                  <a16:creationId xmlns:a16="http://schemas.microsoft.com/office/drawing/2014/main" id="{998AEEA8-B5EE-2E71-59D3-E9ADE3AC53D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1403" y="1992286"/>
              <a:ext cx="841497" cy="607561"/>
            </a:xfrm>
            <a:prstGeom prst="rect">
              <a:avLst/>
            </a:prstGeom>
          </p:spPr>
        </p:pic>
        <p:sp>
          <p:nvSpPr>
            <p:cNvPr id="25" name="TextBox 24">
              <a:extLst>
                <a:ext uri="{FF2B5EF4-FFF2-40B4-BE49-F238E27FC236}">
                  <a16:creationId xmlns:a16="http://schemas.microsoft.com/office/drawing/2014/main" id="{6C813B5D-C400-FFC7-2FA3-835E0E9E33ED}"/>
                </a:ext>
              </a:extLst>
            </p:cNvPr>
            <p:cNvSpPr txBox="1"/>
            <p:nvPr/>
          </p:nvSpPr>
          <p:spPr>
            <a:xfrm>
              <a:off x="2567578" y="1330212"/>
              <a:ext cx="1584206" cy="738664"/>
            </a:xfrm>
            <a:prstGeom prst="rect">
              <a:avLst/>
            </a:prstGeom>
            <a:noFill/>
          </p:spPr>
          <p:txBody>
            <a:bodyPr wrap="square" rtlCol="0">
              <a:spAutoFit/>
            </a:bodyPr>
            <a:lstStyle/>
            <a:p>
              <a:r>
                <a:rPr lang="en-GB" sz="1399" dirty="0"/>
                <a:t>P</a:t>
              </a:r>
              <a:r>
                <a:rPr lang="en-DE" sz="1399" dirty="0"/>
                <a:t>rogramming languages and developments</a:t>
              </a:r>
            </a:p>
          </p:txBody>
        </p:sp>
      </p:grpSp>
      <p:grpSp>
        <p:nvGrpSpPr>
          <p:cNvPr id="9" name="Group 8">
            <a:extLst>
              <a:ext uri="{FF2B5EF4-FFF2-40B4-BE49-F238E27FC236}">
                <a16:creationId xmlns:a16="http://schemas.microsoft.com/office/drawing/2014/main" id="{139780C6-8FB3-8A7E-420D-74E2226F30DF}"/>
              </a:ext>
            </a:extLst>
          </p:cNvPr>
          <p:cNvGrpSpPr/>
          <p:nvPr/>
        </p:nvGrpSpPr>
        <p:grpSpPr>
          <a:xfrm>
            <a:off x="4284985" y="954930"/>
            <a:ext cx="2410078" cy="1744857"/>
            <a:chOff x="4283099" y="952351"/>
            <a:chExt cx="2412588" cy="1746675"/>
          </a:xfrm>
        </p:grpSpPr>
        <p:pic>
          <p:nvPicPr>
            <p:cNvPr id="8" name="Picture 7">
              <a:extLst>
                <a:ext uri="{FF2B5EF4-FFF2-40B4-BE49-F238E27FC236}">
                  <a16:creationId xmlns:a16="http://schemas.microsoft.com/office/drawing/2014/main" id="{F08329B6-84FF-6B2F-CD42-5D55ECA3B99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83099" y="1505354"/>
              <a:ext cx="2412588" cy="1193672"/>
            </a:xfrm>
            <a:prstGeom prst="rect">
              <a:avLst/>
            </a:prstGeom>
          </p:spPr>
        </p:pic>
        <p:sp>
          <p:nvSpPr>
            <p:cNvPr id="26" name="TextBox 25">
              <a:extLst>
                <a:ext uri="{FF2B5EF4-FFF2-40B4-BE49-F238E27FC236}">
                  <a16:creationId xmlns:a16="http://schemas.microsoft.com/office/drawing/2014/main" id="{AD785F2E-ED83-3611-F9FF-D4243F01C0E9}"/>
                </a:ext>
              </a:extLst>
            </p:cNvPr>
            <p:cNvSpPr txBox="1"/>
            <p:nvPr/>
          </p:nvSpPr>
          <p:spPr>
            <a:xfrm>
              <a:off x="4586438" y="952351"/>
              <a:ext cx="2073183" cy="461665"/>
            </a:xfrm>
            <a:prstGeom prst="rect">
              <a:avLst/>
            </a:prstGeom>
            <a:noFill/>
          </p:spPr>
          <p:txBody>
            <a:bodyPr wrap="square" rtlCol="0">
              <a:spAutoFit/>
            </a:bodyPr>
            <a:lstStyle/>
            <a:p>
              <a:r>
                <a:rPr lang="en-DE" sz="1199" dirty="0"/>
                <a:t>Software Engineering Developments</a:t>
              </a:r>
            </a:p>
          </p:txBody>
        </p:sp>
      </p:grpSp>
      <p:grpSp>
        <p:nvGrpSpPr>
          <p:cNvPr id="17" name="Group 16">
            <a:extLst>
              <a:ext uri="{FF2B5EF4-FFF2-40B4-BE49-F238E27FC236}">
                <a16:creationId xmlns:a16="http://schemas.microsoft.com/office/drawing/2014/main" id="{957603E4-FCBF-8B5B-DBA0-FF2171208B4B}"/>
              </a:ext>
            </a:extLst>
          </p:cNvPr>
          <p:cNvGrpSpPr/>
          <p:nvPr/>
        </p:nvGrpSpPr>
        <p:grpSpPr>
          <a:xfrm>
            <a:off x="6879267" y="1046849"/>
            <a:ext cx="5200890" cy="2660821"/>
            <a:chOff x="6880083" y="1044366"/>
            <a:chExt cx="5206308" cy="2663593"/>
          </a:xfrm>
        </p:grpSpPr>
        <p:pic>
          <p:nvPicPr>
            <p:cNvPr id="12" name="Picture 11">
              <a:extLst>
                <a:ext uri="{FF2B5EF4-FFF2-40B4-BE49-F238E27FC236}">
                  <a16:creationId xmlns:a16="http://schemas.microsoft.com/office/drawing/2014/main" id="{6099D179-A67B-0104-50F3-A74708F79D4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80083" y="1381886"/>
              <a:ext cx="1959019" cy="1246435"/>
            </a:xfrm>
            <a:prstGeom prst="rect">
              <a:avLst/>
            </a:prstGeom>
          </p:spPr>
        </p:pic>
        <p:pic>
          <p:nvPicPr>
            <p:cNvPr id="13" name="Picture 12">
              <a:extLst>
                <a:ext uri="{FF2B5EF4-FFF2-40B4-BE49-F238E27FC236}">
                  <a16:creationId xmlns:a16="http://schemas.microsoft.com/office/drawing/2014/main" id="{8CE925ED-C9E4-6C90-AC02-C1F767CE732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023498" y="1288024"/>
              <a:ext cx="2712390" cy="1499747"/>
            </a:xfrm>
            <a:prstGeom prst="rect">
              <a:avLst/>
            </a:prstGeom>
          </p:spPr>
        </p:pic>
        <p:pic>
          <p:nvPicPr>
            <p:cNvPr id="14" name="Picture 13">
              <a:extLst>
                <a:ext uri="{FF2B5EF4-FFF2-40B4-BE49-F238E27FC236}">
                  <a16:creationId xmlns:a16="http://schemas.microsoft.com/office/drawing/2014/main" id="{8792657F-0CC3-3482-8CA7-7A702BF29C50}"/>
                </a:ext>
              </a:extLst>
            </p:cNvPr>
            <p:cNvPicPr>
              <a:picLocks noChangeAspect="1"/>
            </p:cNvPicPr>
            <p:nvPr/>
          </p:nvPicPr>
          <p:blipFill>
            <a:blip r:embed="rId8"/>
            <a:stretch>
              <a:fillRect/>
            </a:stretch>
          </p:blipFill>
          <p:spPr>
            <a:xfrm>
              <a:off x="10105191" y="2877807"/>
              <a:ext cx="1981200" cy="787400"/>
            </a:xfrm>
            <a:prstGeom prst="rect">
              <a:avLst/>
            </a:prstGeom>
          </p:spPr>
        </p:pic>
        <p:pic>
          <p:nvPicPr>
            <p:cNvPr id="15" name="Picture 14">
              <a:extLst>
                <a:ext uri="{FF2B5EF4-FFF2-40B4-BE49-F238E27FC236}">
                  <a16:creationId xmlns:a16="http://schemas.microsoft.com/office/drawing/2014/main" id="{05A6309A-2319-992C-C601-387E306A17BB}"/>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878776" y="2843764"/>
              <a:ext cx="1124383" cy="864195"/>
            </a:xfrm>
            <a:prstGeom prst="rect">
              <a:avLst/>
            </a:prstGeom>
          </p:spPr>
        </p:pic>
        <p:sp>
          <p:nvSpPr>
            <p:cNvPr id="27" name="TextBox 26">
              <a:extLst>
                <a:ext uri="{FF2B5EF4-FFF2-40B4-BE49-F238E27FC236}">
                  <a16:creationId xmlns:a16="http://schemas.microsoft.com/office/drawing/2014/main" id="{B7A68E80-9BB3-F132-5AF0-A4385F68CE17}"/>
                </a:ext>
              </a:extLst>
            </p:cNvPr>
            <p:cNvSpPr txBox="1"/>
            <p:nvPr/>
          </p:nvSpPr>
          <p:spPr>
            <a:xfrm>
              <a:off x="9804412" y="1044366"/>
              <a:ext cx="1584206" cy="261610"/>
            </a:xfrm>
            <a:prstGeom prst="rect">
              <a:avLst/>
            </a:prstGeom>
            <a:noFill/>
          </p:spPr>
          <p:txBody>
            <a:bodyPr wrap="square" rtlCol="0">
              <a:spAutoFit/>
            </a:bodyPr>
            <a:lstStyle/>
            <a:p>
              <a:r>
                <a:rPr lang="en-DE" sz="1099"/>
                <a:t>virtualization</a:t>
              </a:r>
            </a:p>
          </p:txBody>
        </p:sp>
      </p:grpSp>
      <p:grpSp>
        <p:nvGrpSpPr>
          <p:cNvPr id="36" name="Group 35">
            <a:extLst>
              <a:ext uri="{FF2B5EF4-FFF2-40B4-BE49-F238E27FC236}">
                <a16:creationId xmlns:a16="http://schemas.microsoft.com/office/drawing/2014/main" id="{7F22763B-1509-0F44-2BAA-ED04E31F1A3F}"/>
              </a:ext>
            </a:extLst>
          </p:cNvPr>
          <p:cNvGrpSpPr/>
          <p:nvPr/>
        </p:nvGrpSpPr>
        <p:grpSpPr>
          <a:xfrm>
            <a:off x="5243684" y="2629154"/>
            <a:ext cx="3219946" cy="1277719"/>
            <a:chOff x="5242796" y="2628321"/>
            <a:chExt cx="3223300" cy="1279050"/>
          </a:xfrm>
        </p:grpSpPr>
        <p:pic>
          <p:nvPicPr>
            <p:cNvPr id="24" name="Picture 23">
              <a:extLst>
                <a:ext uri="{FF2B5EF4-FFF2-40B4-BE49-F238E27FC236}">
                  <a16:creationId xmlns:a16="http://schemas.microsoft.com/office/drawing/2014/main" id="{3A0C7166-FBEA-BBE1-ECE5-3D24BE6A219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520779" y="2939090"/>
              <a:ext cx="2945317" cy="968281"/>
            </a:xfrm>
            <a:prstGeom prst="rect">
              <a:avLst/>
            </a:prstGeom>
          </p:spPr>
        </p:pic>
        <p:sp>
          <p:nvSpPr>
            <p:cNvPr id="28" name="TextBox 27">
              <a:extLst>
                <a:ext uri="{FF2B5EF4-FFF2-40B4-BE49-F238E27FC236}">
                  <a16:creationId xmlns:a16="http://schemas.microsoft.com/office/drawing/2014/main" id="{11DFD4FC-EA5A-3A4B-5EF1-0542919138D9}"/>
                </a:ext>
              </a:extLst>
            </p:cNvPr>
            <p:cNvSpPr txBox="1"/>
            <p:nvPr/>
          </p:nvSpPr>
          <p:spPr>
            <a:xfrm>
              <a:off x="5242796" y="2628321"/>
              <a:ext cx="1584206" cy="430887"/>
            </a:xfrm>
            <a:prstGeom prst="rect">
              <a:avLst/>
            </a:prstGeom>
            <a:noFill/>
          </p:spPr>
          <p:txBody>
            <a:bodyPr wrap="square" rtlCol="0">
              <a:spAutoFit/>
            </a:bodyPr>
            <a:lstStyle/>
            <a:p>
              <a:r>
                <a:rPr lang="en-GB" sz="1099"/>
                <a:t>M</a:t>
              </a:r>
              <a:r>
                <a:rPr lang="en-DE" sz="1099"/>
                <a:t>ultiprocessor and distributed systems</a:t>
              </a:r>
            </a:p>
          </p:txBody>
        </p:sp>
      </p:grpSp>
      <p:grpSp>
        <p:nvGrpSpPr>
          <p:cNvPr id="37" name="Group 36">
            <a:extLst>
              <a:ext uri="{FF2B5EF4-FFF2-40B4-BE49-F238E27FC236}">
                <a16:creationId xmlns:a16="http://schemas.microsoft.com/office/drawing/2014/main" id="{1A0228D7-1596-AA63-E498-E3879B6CCDC3}"/>
              </a:ext>
            </a:extLst>
          </p:cNvPr>
          <p:cNvGrpSpPr/>
          <p:nvPr/>
        </p:nvGrpSpPr>
        <p:grpSpPr>
          <a:xfrm>
            <a:off x="6361599" y="3973964"/>
            <a:ext cx="2834296" cy="1190553"/>
            <a:chOff x="6514923" y="4108292"/>
            <a:chExt cx="3235432" cy="1368343"/>
          </a:xfrm>
        </p:grpSpPr>
        <p:pic>
          <p:nvPicPr>
            <p:cNvPr id="21" name="Picture 20">
              <a:extLst>
                <a:ext uri="{FF2B5EF4-FFF2-40B4-BE49-F238E27FC236}">
                  <a16:creationId xmlns:a16="http://schemas.microsoft.com/office/drawing/2014/main" id="{DA8AE4C4-3126-A877-C647-ECEDE02A3E87}"/>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514923" y="4108292"/>
              <a:ext cx="1149937" cy="635815"/>
            </a:xfrm>
            <a:prstGeom prst="rect">
              <a:avLst/>
            </a:prstGeom>
          </p:spPr>
        </p:pic>
        <p:pic>
          <p:nvPicPr>
            <p:cNvPr id="22" name="Picture 21">
              <a:extLst>
                <a:ext uri="{FF2B5EF4-FFF2-40B4-BE49-F238E27FC236}">
                  <a16:creationId xmlns:a16="http://schemas.microsoft.com/office/drawing/2014/main" id="{25D349F2-88A3-B618-C370-A6FB10D8C9D0}"/>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6895582" y="4760472"/>
              <a:ext cx="1077156" cy="716163"/>
            </a:xfrm>
            <a:prstGeom prst="rect">
              <a:avLst/>
            </a:prstGeom>
          </p:spPr>
        </p:pic>
        <p:sp>
          <p:nvSpPr>
            <p:cNvPr id="29" name="TextBox 28">
              <a:extLst>
                <a:ext uri="{FF2B5EF4-FFF2-40B4-BE49-F238E27FC236}">
                  <a16:creationId xmlns:a16="http://schemas.microsoft.com/office/drawing/2014/main" id="{26797051-8538-EC2A-327E-B71E3FDEFDD2}"/>
                </a:ext>
              </a:extLst>
            </p:cNvPr>
            <p:cNvSpPr txBox="1"/>
            <p:nvPr/>
          </p:nvSpPr>
          <p:spPr>
            <a:xfrm>
              <a:off x="8166149" y="4333500"/>
              <a:ext cx="1584206" cy="882836"/>
            </a:xfrm>
            <a:prstGeom prst="rect">
              <a:avLst/>
            </a:prstGeom>
            <a:noFill/>
          </p:spPr>
          <p:txBody>
            <a:bodyPr wrap="square" rtlCol="0">
              <a:spAutoFit/>
            </a:bodyPr>
            <a:lstStyle/>
            <a:p>
              <a:r>
                <a:rPr lang="en-DE" sz="1099" dirty="0"/>
                <a:t>distributed processing, distributed storage, stream processing</a:t>
              </a:r>
            </a:p>
          </p:txBody>
        </p:sp>
      </p:grpSp>
      <p:grpSp>
        <p:nvGrpSpPr>
          <p:cNvPr id="38" name="Group 37">
            <a:extLst>
              <a:ext uri="{FF2B5EF4-FFF2-40B4-BE49-F238E27FC236}">
                <a16:creationId xmlns:a16="http://schemas.microsoft.com/office/drawing/2014/main" id="{AC0519A8-130C-9DEC-4F1A-BA78921BEFB1}"/>
              </a:ext>
            </a:extLst>
          </p:cNvPr>
          <p:cNvGrpSpPr/>
          <p:nvPr/>
        </p:nvGrpSpPr>
        <p:grpSpPr>
          <a:xfrm>
            <a:off x="8513131" y="3567708"/>
            <a:ext cx="3192246" cy="2560024"/>
            <a:chOff x="8515648" y="3567852"/>
            <a:chExt cx="3195571" cy="2562691"/>
          </a:xfrm>
        </p:grpSpPr>
        <p:pic>
          <p:nvPicPr>
            <p:cNvPr id="10" name="Picture 9">
              <a:extLst>
                <a:ext uri="{FF2B5EF4-FFF2-40B4-BE49-F238E27FC236}">
                  <a16:creationId xmlns:a16="http://schemas.microsoft.com/office/drawing/2014/main" id="{906C8CE2-AFE2-1D9A-40BD-CFAAFE06B3CC}"/>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10068405" y="5339812"/>
              <a:ext cx="1285906" cy="790731"/>
            </a:xfrm>
            <a:prstGeom prst="rect">
              <a:avLst/>
            </a:prstGeom>
          </p:spPr>
        </p:pic>
        <p:pic>
          <p:nvPicPr>
            <p:cNvPr id="11" name="Picture 10">
              <a:extLst>
                <a:ext uri="{FF2B5EF4-FFF2-40B4-BE49-F238E27FC236}">
                  <a16:creationId xmlns:a16="http://schemas.microsoft.com/office/drawing/2014/main" id="{7F712457-F536-C26A-07AC-ED06A74A6331}"/>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0254119" y="3760555"/>
              <a:ext cx="1457100" cy="1016841"/>
            </a:xfrm>
            <a:prstGeom prst="rect">
              <a:avLst/>
            </a:prstGeom>
          </p:spPr>
        </p:pic>
        <p:pic>
          <p:nvPicPr>
            <p:cNvPr id="16" name="Picture 15">
              <a:extLst>
                <a:ext uri="{FF2B5EF4-FFF2-40B4-BE49-F238E27FC236}">
                  <a16:creationId xmlns:a16="http://schemas.microsoft.com/office/drawing/2014/main" id="{96E4899E-46D3-4802-A96C-7CF2C772166D}"/>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8515648" y="3567852"/>
              <a:ext cx="1874470" cy="551078"/>
            </a:xfrm>
            <a:prstGeom prst="rect">
              <a:avLst/>
            </a:prstGeom>
          </p:spPr>
        </p:pic>
        <p:sp>
          <p:nvSpPr>
            <p:cNvPr id="30" name="TextBox 29">
              <a:extLst>
                <a:ext uri="{FF2B5EF4-FFF2-40B4-BE49-F238E27FC236}">
                  <a16:creationId xmlns:a16="http://schemas.microsoft.com/office/drawing/2014/main" id="{C9ABD8DC-B4AF-0EB7-4C12-E889ECE936F5}"/>
                </a:ext>
              </a:extLst>
            </p:cNvPr>
            <p:cNvSpPr txBox="1"/>
            <p:nvPr/>
          </p:nvSpPr>
          <p:spPr>
            <a:xfrm>
              <a:off x="9673629" y="4924966"/>
              <a:ext cx="1584206" cy="307777"/>
            </a:xfrm>
            <a:prstGeom prst="rect">
              <a:avLst/>
            </a:prstGeom>
            <a:noFill/>
          </p:spPr>
          <p:txBody>
            <a:bodyPr wrap="square" rtlCol="0">
              <a:spAutoFit/>
            </a:bodyPr>
            <a:lstStyle/>
            <a:p>
              <a:r>
                <a:rPr lang="en-DE" sz="1399" dirty="0"/>
                <a:t>Cloud Computing</a:t>
              </a:r>
            </a:p>
          </p:txBody>
        </p:sp>
      </p:grpSp>
      <p:grpSp>
        <p:nvGrpSpPr>
          <p:cNvPr id="39" name="Group 38">
            <a:extLst>
              <a:ext uri="{FF2B5EF4-FFF2-40B4-BE49-F238E27FC236}">
                <a16:creationId xmlns:a16="http://schemas.microsoft.com/office/drawing/2014/main" id="{E4EA8632-411E-A7C3-179E-4837E182CAFA}"/>
              </a:ext>
            </a:extLst>
          </p:cNvPr>
          <p:cNvGrpSpPr/>
          <p:nvPr/>
        </p:nvGrpSpPr>
        <p:grpSpPr>
          <a:xfrm>
            <a:off x="5056589" y="4060167"/>
            <a:ext cx="2621969" cy="2015267"/>
            <a:chOff x="5055506" y="4060824"/>
            <a:chExt cx="2624700" cy="2017366"/>
          </a:xfrm>
        </p:grpSpPr>
        <p:pic>
          <p:nvPicPr>
            <p:cNvPr id="20" name="Picture 19">
              <a:extLst>
                <a:ext uri="{FF2B5EF4-FFF2-40B4-BE49-F238E27FC236}">
                  <a16:creationId xmlns:a16="http://schemas.microsoft.com/office/drawing/2014/main" id="{09F2CEE0-71A6-6BDF-4DAE-63197EC7A39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5055506" y="4060824"/>
              <a:ext cx="1259790" cy="1248542"/>
            </a:xfrm>
            <a:prstGeom prst="rect">
              <a:avLst/>
            </a:prstGeom>
          </p:spPr>
        </p:pic>
        <p:sp>
          <p:nvSpPr>
            <p:cNvPr id="31" name="TextBox 30">
              <a:extLst>
                <a:ext uri="{FF2B5EF4-FFF2-40B4-BE49-F238E27FC236}">
                  <a16:creationId xmlns:a16="http://schemas.microsoft.com/office/drawing/2014/main" id="{681ADCBA-6495-635B-8BEF-F93370FBE118}"/>
                </a:ext>
              </a:extLst>
            </p:cNvPr>
            <p:cNvSpPr txBox="1"/>
            <p:nvPr/>
          </p:nvSpPr>
          <p:spPr>
            <a:xfrm>
              <a:off x="6096000" y="5493415"/>
              <a:ext cx="1584206" cy="584775"/>
            </a:xfrm>
            <a:prstGeom prst="rect">
              <a:avLst/>
            </a:prstGeom>
            <a:noFill/>
          </p:spPr>
          <p:txBody>
            <a:bodyPr wrap="square" rtlCol="0">
              <a:spAutoFit/>
            </a:bodyPr>
            <a:lstStyle/>
            <a:p>
              <a:r>
                <a:rPr lang="en-DE" sz="1598" dirty="0"/>
                <a:t>Machine Learning</a:t>
              </a:r>
            </a:p>
          </p:txBody>
        </p:sp>
      </p:grpSp>
      <p:grpSp>
        <p:nvGrpSpPr>
          <p:cNvPr id="40" name="Group 39">
            <a:extLst>
              <a:ext uri="{FF2B5EF4-FFF2-40B4-BE49-F238E27FC236}">
                <a16:creationId xmlns:a16="http://schemas.microsoft.com/office/drawing/2014/main" id="{10B2C020-71CA-B40E-9BDB-71EF2A602060}"/>
              </a:ext>
            </a:extLst>
          </p:cNvPr>
          <p:cNvGrpSpPr/>
          <p:nvPr/>
        </p:nvGrpSpPr>
        <p:grpSpPr>
          <a:xfrm>
            <a:off x="488214" y="4634469"/>
            <a:ext cx="5355725" cy="2117706"/>
            <a:chOff x="482372" y="4635725"/>
            <a:chExt cx="5361304" cy="2119912"/>
          </a:xfrm>
        </p:grpSpPr>
        <p:pic>
          <p:nvPicPr>
            <p:cNvPr id="18" name="Picture 17">
              <a:extLst>
                <a:ext uri="{FF2B5EF4-FFF2-40B4-BE49-F238E27FC236}">
                  <a16:creationId xmlns:a16="http://schemas.microsoft.com/office/drawing/2014/main" id="{FBD35748-3CEE-FDA6-D64A-B4A5C007893D}"/>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482372" y="4635725"/>
              <a:ext cx="3828597" cy="1779142"/>
            </a:xfrm>
            <a:prstGeom prst="rect">
              <a:avLst/>
            </a:prstGeom>
          </p:spPr>
        </p:pic>
        <p:pic>
          <p:nvPicPr>
            <p:cNvPr id="32" name="Picture 31">
              <a:extLst>
                <a:ext uri="{FF2B5EF4-FFF2-40B4-BE49-F238E27FC236}">
                  <a16:creationId xmlns:a16="http://schemas.microsoft.com/office/drawing/2014/main" id="{BC12C302-0D1F-C7D8-8AC8-F146959055C9}"/>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4416698" y="5661061"/>
              <a:ext cx="1426978" cy="1094576"/>
            </a:xfrm>
            <a:prstGeom prst="rect">
              <a:avLst/>
            </a:prstGeom>
          </p:spPr>
        </p:pic>
        <p:sp>
          <p:nvSpPr>
            <p:cNvPr id="33" name="TextBox 32">
              <a:extLst>
                <a:ext uri="{FF2B5EF4-FFF2-40B4-BE49-F238E27FC236}">
                  <a16:creationId xmlns:a16="http://schemas.microsoft.com/office/drawing/2014/main" id="{3BA689B1-B842-8BA5-1D22-D67525297B2D}"/>
                </a:ext>
              </a:extLst>
            </p:cNvPr>
            <p:cNvSpPr txBox="1"/>
            <p:nvPr/>
          </p:nvSpPr>
          <p:spPr>
            <a:xfrm>
              <a:off x="3045559" y="4685095"/>
              <a:ext cx="1671601" cy="430887"/>
            </a:xfrm>
            <a:prstGeom prst="rect">
              <a:avLst/>
            </a:prstGeom>
            <a:noFill/>
          </p:spPr>
          <p:txBody>
            <a:bodyPr wrap="square" rtlCol="0">
              <a:spAutoFit/>
            </a:bodyPr>
            <a:lstStyle/>
            <a:p>
              <a:r>
                <a:rPr lang="en-DE" sz="1099"/>
                <a:t>Embedded Systems, Cyberphysical Systems</a:t>
              </a:r>
            </a:p>
          </p:txBody>
        </p:sp>
      </p:grpSp>
      <p:grpSp>
        <p:nvGrpSpPr>
          <p:cNvPr id="41" name="Group 40">
            <a:extLst>
              <a:ext uri="{FF2B5EF4-FFF2-40B4-BE49-F238E27FC236}">
                <a16:creationId xmlns:a16="http://schemas.microsoft.com/office/drawing/2014/main" id="{9387B8F2-C651-5EAC-B42C-C4D4C1AF3C72}"/>
              </a:ext>
            </a:extLst>
          </p:cNvPr>
          <p:cNvGrpSpPr/>
          <p:nvPr/>
        </p:nvGrpSpPr>
        <p:grpSpPr>
          <a:xfrm>
            <a:off x="2710739" y="2713963"/>
            <a:ext cx="2365925" cy="1537374"/>
            <a:chOff x="2707212" y="2713217"/>
            <a:chExt cx="2368390" cy="1538975"/>
          </a:xfrm>
        </p:grpSpPr>
        <p:pic>
          <p:nvPicPr>
            <p:cNvPr id="19" name="Picture 18">
              <a:extLst>
                <a:ext uri="{FF2B5EF4-FFF2-40B4-BE49-F238E27FC236}">
                  <a16:creationId xmlns:a16="http://schemas.microsoft.com/office/drawing/2014/main" id="{83E4EB06-FFE3-6CBF-588F-6204037E7C7F}"/>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2707212" y="3158295"/>
              <a:ext cx="2368390" cy="1093897"/>
            </a:xfrm>
            <a:prstGeom prst="rect">
              <a:avLst/>
            </a:prstGeom>
          </p:spPr>
        </p:pic>
        <p:sp>
          <p:nvSpPr>
            <p:cNvPr id="34" name="TextBox 33">
              <a:extLst>
                <a:ext uri="{FF2B5EF4-FFF2-40B4-BE49-F238E27FC236}">
                  <a16:creationId xmlns:a16="http://schemas.microsoft.com/office/drawing/2014/main" id="{AE791AF3-4D6F-67C9-3E41-9C6C24F337BD}"/>
                </a:ext>
              </a:extLst>
            </p:cNvPr>
            <p:cNvSpPr txBox="1"/>
            <p:nvPr/>
          </p:nvSpPr>
          <p:spPr>
            <a:xfrm>
              <a:off x="2954143" y="2713217"/>
              <a:ext cx="1671601" cy="261610"/>
            </a:xfrm>
            <a:prstGeom prst="rect">
              <a:avLst/>
            </a:prstGeom>
            <a:noFill/>
          </p:spPr>
          <p:txBody>
            <a:bodyPr wrap="square" rtlCol="0">
              <a:spAutoFit/>
            </a:bodyPr>
            <a:lstStyle/>
            <a:p>
              <a:r>
                <a:rPr lang="en-DE" sz="1099"/>
                <a:t>Block Chain</a:t>
              </a:r>
            </a:p>
          </p:txBody>
        </p:sp>
      </p:grpSp>
      <p:grpSp>
        <p:nvGrpSpPr>
          <p:cNvPr id="42" name="Group 41">
            <a:extLst>
              <a:ext uri="{FF2B5EF4-FFF2-40B4-BE49-F238E27FC236}">
                <a16:creationId xmlns:a16="http://schemas.microsoft.com/office/drawing/2014/main" id="{2BFB5ABD-7913-BED2-D8C3-58A99B666DE9}"/>
              </a:ext>
            </a:extLst>
          </p:cNvPr>
          <p:cNvGrpSpPr/>
          <p:nvPr/>
        </p:nvGrpSpPr>
        <p:grpSpPr>
          <a:xfrm>
            <a:off x="702883" y="2695164"/>
            <a:ext cx="1723992" cy="1657442"/>
            <a:chOff x="697265" y="2694398"/>
            <a:chExt cx="1725788" cy="1659169"/>
          </a:xfrm>
        </p:grpSpPr>
        <p:pic>
          <p:nvPicPr>
            <p:cNvPr id="23" name="Picture 22">
              <a:extLst>
                <a:ext uri="{FF2B5EF4-FFF2-40B4-BE49-F238E27FC236}">
                  <a16:creationId xmlns:a16="http://schemas.microsoft.com/office/drawing/2014/main" id="{ED3CB7C7-2C16-6CD8-D9B7-3BAA543680F2}"/>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739399" y="2694398"/>
              <a:ext cx="1683654" cy="1329581"/>
            </a:xfrm>
            <a:prstGeom prst="rect">
              <a:avLst/>
            </a:prstGeom>
          </p:spPr>
        </p:pic>
        <p:sp>
          <p:nvSpPr>
            <p:cNvPr id="35" name="TextBox 34">
              <a:extLst>
                <a:ext uri="{FF2B5EF4-FFF2-40B4-BE49-F238E27FC236}">
                  <a16:creationId xmlns:a16="http://schemas.microsoft.com/office/drawing/2014/main" id="{ACDD283C-A88F-A638-BD3E-07E4DE6DFC22}"/>
                </a:ext>
              </a:extLst>
            </p:cNvPr>
            <p:cNvSpPr txBox="1"/>
            <p:nvPr/>
          </p:nvSpPr>
          <p:spPr>
            <a:xfrm>
              <a:off x="697265" y="4091957"/>
              <a:ext cx="1671601" cy="261610"/>
            </a:xfrm>
            <a:prstGeom prst="rect">
              <a:avLst/>
            </a:prstGeom>
            <a:noFill/>
          </p:spPr>
          <p:txBody>
            <a:bodyPr wrap="square" rtlCol="0">
              <a:spAutoFit/>
            </a:bodyPr>
            <a:lstStyle/>
            <a:p>
              <a:r>
                <a:rPr lang="en-DE" sz="1099"/>
                <a:t>Quantum Computing</a:t>
              </a:r>
            </a:p>
          </p:txBody>
        </p:sp>
      </p:grpSp>
      <p:pic>
        <p:nvPicPr>
          <p:cNvPr id="43" name="Picture 42">
            <a:extLst>
              <a:ext uri="{FF2B5EF4-FFF2-40B4-BE49-F238E27FC236}">
                <a16:creationId xmlns:a16="http://schemas.microsoft.com/office/drawing/2014/main" id="{5895417C-9FA3-65D0-7A1D-FF07A416D2DD}"/>
              </a:ext>
            </a:extLst>
          </p:cNvPr>
          <p:cNvPicPr>
            <a:picLocks noChangeAspect="1"/>
          </p:cNvPicPr>
          <p:nvPr/>
        </p:nvPicPr>
        <p:blipFill>
          <a:blip r:embed="rId21"/>
          <a:stretch>
            <a:fillRect/>
          </a:stretch>
        </p:blipFill>
        <p:spPr>
          <a:xfrm>
            <a:off x="7320232" y="5253661"/>
            <a:ext cx="2403482" cy="1474529"/>
          </a:xfrm>
          <a:prstGeom prst="rect">
            <a:avLst/>
          </a:prstGeom>
        </p:spPr>
      </p:pic>
    </p:spTree>
    <p:extLst>
      <p:ext uri="{BB962C8B-B14F-4D97-AF65-F5344CB8AC3E}">
        <p14:creationId xmlns:p14="http://schemas.microsoft.com/office/powerpoint/2010/main" val="335301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9A6A0-E186-5607-F868-ADF78BA67B68}"/>
              </a:ext>
            </a:extLst>
          </p:cNvPr>
          <p:cNvSpPr>
            <a:spLocks noGrp="1"/>
          </p:cNvSpPr>
          <p:nvPr>
            <p:ph type="title"/>
          </p:nvPr>
        </p:nvSpPr>
        <p:spPr>
          <a:xfrm>
            <a:off x="345689" y="447134"/>
            <a:ext cx="7986984" cy="1475791"/>
          </a:xfrm>
        </p:spPr>
        <p:txBody>
          <a:bodyPr/>
          <a:lstStyle/>
          <a:p>
            <a:r>
              <a:rPr lang="de-DE" dirty="0" err="1"/>
              <a:t>Interdependencies</a:t>
            </a:r>
            <a:r>
              <a:rPr lang="de-DE" dirty="0"/>
              <a:t> </a:t>
            </a:r>
            <a:r>
              <a:rPr lang="de-DE" dirty="0" err="1"/>
              <a:t>between</a:t>
            </a:r>
            <a:r>
              <a:rPr lang="de-DE" dirty="0"/>
              <a:t> </a:t>
            </a:r>
            <a:r>
              <a:rPr lang="de-DE" dirty="0" err="1"/>
              <a:t>developments</a:t>
            </a:r>
            <a:endParaRPr lang="en-US" dirty="0"/>
          </a:p>
        </p:txBody>
      </p:sp>
      <p:sp>
        <p:nvSpPr>
          <p:cNvPr id="4" name="Slide Number Placeholder 3">
            <a:extLst>
              <a:ext uri="{FF2B5EF4-FFF2-40B4-BE49-F238E27FC236}">
                <a16:creationId xmlns:a16="http://schemas.microsoft.com/office/drawing/2014/main" id="{2BF9E295-F7A8-7BA6-F3BE-DA9FEF48A24F}"/>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15</a:t>
            </a:fld>
            <a:endParaRPr lang="de-DE"/>
          </a:p>
        </p:txBody>
      </p:sp>
      <p:pic>
        <p:nvPicPr>
          <p:cNvPr id="5" name="Grafik 6">
            <a:extLst>
              <a:ext uri="{FF2B5EF4-FFF2-40B4-BE49-F238E27FC236}">
                <a16:creationId xmlns:a16="http://schemas.microsoft.com/office/drawing/2014/main" id="{378D5058-68D9-48C1-A191-640554CBBF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378394" y="1502372"/>
            <a:ext cx="5243223" cy="5053022"/>
          </a:xfrm>
          <a:prstGeom prst="rect">
            <a:avLst/>
          </a:prstGeom>
        </p:spPr>
      </p:pic>
      <p:sp>
        <p:nvSpPr>
          <p:cNvPr id="6" name="Textfeld 7">
            <a:extLst>
              <a:ext uri="{FF2B5EF4-FFF2-40B4-BE49-F238E27FC236}">
                <a16:creationId xmlns:a16="http://schemas.microsoft.com/office/drawing/2014/main" id="{4C0A4FE8-CD34-E225-6F07-5EE681794B0B}"/>
              </a:ext>
            </a:extLst>
          </p:cNvPr>
          <p:cNvSpPr txBox="1"/>
          <p:nvPr/>
        </p:nvSpPr>
        <p:spPr bwMode="ltGray">
          <a:xfrm>
            <a:off x="6179510" y="3113845"/>
            <a:ext cx="941366" cy="383802"/>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AI-basierte IT Security</a:t>
            </a:r>
          </a:p>
        </p:txBody>
      </p:sp>
      <p:sp>
        <p:nvSpPr>
          <p:cNvPr id="7" name="Textfeld 8">
            <a:extLst>
              <a:ext uri="{FF2B5EF4-FFF2-40B4-BE49-F238E27FC236}">
                <a16:creationId xmlns:a16="http://schemas.microsoft.com/office/drawing/2014/main" id="{347DDE94-AF6E-ECDC-9F7E-B26E4F62F069}"/>
              </a:ext>
            </a:extLst>
          </p:cNvPr>
          <p:cNvSpPr txBox="1"/>
          <p:nvPr/>
        </p:nvSpPr>
        <p:spPr bwMode="ltGray">
          <a:xfrm>
            <a:off x="7475220" y="1938844"/>
            <a:ext cx="857453" cy="691258"/>
          </a:xfrm>
          <a:prstGeom prst="rect">
            <a:avLst/>
          </a:prstGeom>
          <a:noFill/>
          <a:ln w="6350">
            <a:noFill/>
            <a:miter lim="800000"/>
            <a:headEnd/>
            <a:tailEnd/>
          </a:ln>
        </p:spPr>
        <p:txBody>
          <a:bodyPr wrap="square" lIns="75606" tIns="37804" rIns="75606" bIns="37804" rtlCol="0" anchor="t" anchorCtr="0">
            <a:spAutoFit/>
          </a:bodyPr>
          <a:lstStyle/>
          <a:p>
            <a:pPr eaLnBrk="0" hangingPunct="0"/>
            <a:r>
              <a:rPr lang="de-DE" sz="999" err="1">
                <a:solidFill>
                  <a:schemeClr val="accent1"/>
                </a:solidFill>
              </a:rPr>
              <a:t>No</a:t>
            </a:r>
            <a:r>
              <a:rPr lang="de-DE" sz="999">
                <a:solidFill>
                  <a:schemeClr val="accent1"/>
                </a:solidFill>
              </a:rPr>
              <a:t>-SQL, neue Datenbank- </a:t>
            </a:r>
            <a:r>
              <a:rPr lang="de-DE" sz="999" err="1">
                <a:solidFill>
                  <a:schemeClr val="accent1"/>
                </a:solidFill>
              </a:rPr>
              <a:t>konzepte</a:t>
            </a:r>
            <a:endParaRPr lang="de-DE" sz="999">
              <a:solidFill>
                <a:schemeClr val="accent1"/>
              </a:solidFill>
            </a:endParaRPr>
          </a:p>
        </p:txBody>
      </p:sp>
      <p:sp>
        <p:nvSpPr>
          <p:cNvPr id="8" name="Textfeld 9">
            <a:extLst>
              <a:ext uri="{FF2B5EF4-FFF2-40B4-BE49-F238E27FC236}">
                <a16:creationId xmlns:a16="http://schemas.microsoft.com/office/drawing/2014/main" id="{0D1DAE15-9B99-C511-F500-2FC4621B7756}"/>
              </a:ext>
            </a:extLst>
          </p:cNvPr>
          <p:cNvSpPr txBox="1"/>
          <p:nvPr/>
        </p:nvSpPr>
        <p:spPr bwMode="ltGray">
          <a:xfrm>
            <a:off x="5342446" y="2918279"/>
            <a:ext cx="837062" cy="537530"/>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Ansätze verteiltes Rechnen</a:t>
            </a:r>
          </a:p>
        </p:txBody>
      </p:sp>
      <p:sp>
        <p:nvSpPr>
          <p:cNvPr id="9" name="Textfeld 10">
            <a:extLst>
              <a:ext uri="{FF2B5EF4-FFF2-40B4-BE49-F238E27FC236}">
                <a16:creationId xmlns:a16="http://schemas.microsoft.com/office/drawing/2014/main" id="{9B73F2ED-AC82-6E20-86FA-8344B04E9390}"/>
              </a:ext>
            </a:extLst>
          </p:cNvPr>
          <p:cNvSpPr txBox="1"/>
          <p:nvPr/>
        </p:nvSpPr>
        <p:spPr bwMode="ltGray">
          <a:xfrm>
            <a:off x="6410103" y="3892363"/>
            <a:ext cx="1029101" cy="844987"/>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Software Engineering für Embedded Systems, Nebenläufigkeit</a:t>
            </a:r>
          </a:p>
        </p:txBody>
      </p:sp>
      <p:sp>
        <p:nvSpPr>
          <p:cNvPr id="10" name="Textfeld 12">
            <a:extLst>
              <a:ext uri="{FF2B5EF4-FFF2-40B4-BE49-F238E27FC236}">
                <a16:creationId xmlns:a16="http://schemas.microsoft.com/office/drawing/2014/main" id="{F0DB38F2-4278-DB77-125E-81CEBF809712}"/>
              </a:ext>
            </a:extLst>
          </p:cNvPr>
          <p:cNvSpPr txBox="1"/>
          <p:nvPr/>
        </p:nvSpPr>
        <p:spPr bwMode="ltGray">
          <a:xfrm>
            <a:off x="2759697" y="3673058"/>
            <a:ext cx="1224032" cy="537530"/>
          </a:xfrm>
          <a:prstGeom prst="rect">
            <a:avLst/>
          </a:prstGeom>
          <a:noFill/>
          <a:ln w="6350">
            <a:noFill/>
            <a:miter lim="800000"/>
            <a:headEnd/>
            <a:tailEnd/>
          </a:ln>
        </p:spPr>
        <p:txBody>
          <a:bodyPr wrap="square" lIns="75606" tIns="37804" rIns="75606" bIns="37804" rtlCol="0" anchor="t" anchorCtr="0">
            <a:spAutoFit/>
          </a:bodyPr>
          <a:lstStyle/>
          <a:p>
            <a:pPr eaLnBrk="0" hangingPunct="0"/>
            <a:r>
              <a:rPr lang="de-DE" sz="999" err="1">
                <a:solidFill>
                  <a:schemeClr val="accent1"/>
                </a:solidFill>
              </a:rPr>
              <a:t>Disruption</a:t>
            </a:r>
            <a:r>
              <a:rPr lang="de-DE" sz="999">
                <a:solidFill>
                  <a:schemeClr val="accent1"/>
                </a:solidFill>
              </a:rPr>
              <a:t> Kryptographische Algorithmen</a:t>
            </a:r>
          </a:p>
        </p:txBody>
      </p:sp>
      <p:sp>
        <p:nvSpPr>
          <p:cNvPr id="11" name="Textfeld 13">
            <a:extLst>
              <a:ext uri="{FF2B5EF4-FFF2-40B4-BE49-F238E27FC236}">
                <a16:creationId xmlns:a16="http://schemas.microsoft.com/office/drawing/2014/main" id="{8F5AFE39-D710-CB18-BEF9-DE5961CAF2AB}"/>
              </a:ext>
            </a:extLst>
          </p:cNvPr>
          <p:cNvSpPr txBox="1"/>
          <p:nvPr/>
        </p:nvSpPr>
        <p:spPr bwMode="ltGray">
          <a:xfrm>
            <a:off x="4956227" y="4664584"/>
            <a:ext cx="1300566" cy="383802"/>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Cloud-Sicherheit, Netzwerksicherheit</a:t>
            </a:r>
          </a:p>
        </p:txBody>
      </p:sp>
      <p:sp>
        <p:nvSpPr>
          <p:cNvPr id="12" name="Textfeld 17">
            <a:extLst>
              <a:ext uri="{FF2B5EF4-FFF2-40B4-BE49-F238E27FC236}">
                <a16:creationId xmlns:a16="http://schemas.microsoft.com/office/drawing/2014/main" id="{D0C33D66-7211-D104-3B9D-7E3A7B185418}"/>
              </a:ext>
            </a:extLst>
          </p:cNvPr>
          <p:cNvSpPr txBox="1"/>
          <p:nvPr/>
        </p:nvSpPr>
        <p:spPr bwMode="ltGray">
          <a:xfrm>
            <a:off x="7459463" y="5439283"/>
            <a:ext cx="1224030" cy="998715"/>
          </a:xfrm>
          <a:prstGeom prst="rect">
            <a:avLst/>
          </a:prstGeom>
          <a:no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Security </a:t>
            </a:r>
            <a:r>
              <a:rPr lang="de-DE" sz="999" err="1">
                <a:solidFill>
                  <a:schemeClr val="accent1"/>
                </a:solidFill>
              </a:rPr>
              <a:t>by</a:t>
            </a:r>
            <a:r>
              <a:rPr lang="de-DE" sz="999">
                <a:solidFill>
                  <a:schemeClr val="accent1"/>
                </a:solidFill>
              </a:rPr>
              <a:t> Design,</a:t>
            </a:r>
          </a:p>
          <a:p>
            <a:pPr eaLnBrk="0" hangingPunct="0"/>
            <a:r>
              <a:rPr lang="de-DE" sz="999" err="1">
                <a:solidFill>
                  <a:schemeClr val="accent1"/>
                </a:solidFill>
              </a:rPr>
              <a:t>Application</a:t>
            </a:r>
            <a:r>
              <a:rPr lang="de-DE" sz="999">
                <a:solidFill>
                  <a:schemeClr val="accent1"/>
                </a:solidFill>
              </a:rPr>
              <a:t> Security,</a:t>
            </a:r>
          </a:p>
          <a:p>
            <a:pPr eaLnBrk="0" hangingPunct="0"/>
            <a:r>
              <a:rPr lang="de-DE" sz="999" err="1">
                <a:solidFill>
                  <a:schemeClr val="accent1"/>
                </a:solidFill>
              </a:rPr>
              <a:t>Cryptography</a:t>
            </a:r>
            <a:endParaRPr lang="de-DE" sz="999">
              <a:solidFill>
                <a:schemeClr val="accent1"/>
              </a:solidFill>
            </a:endParaRPr>
          </a:p>
          <a:p>
            <a:pPr eaLnBrk="0" hangingPunct="0"/>
            <a:endParaRPr lang="de-DE" sz="999">
              <a:solidFill>
                <a:schemeClr val="accent1"/>
              </a:solidFill>
            </a:endParaRPr>
          </a:p>
        </p:txBody>
      </p:sp>
      <p:sp>
        <p:nvSpPr>
          <p:cNvPr id="13" name="Textfeld 18">
            <a:extLst>
              <a:ext uri="{FF2B5EF4-FFF2-40B4-BE49-F238E27FC236}">
                <a16:creationId xmlns:a16="http://schemas.microsoft.com/office/drawing/2014/main" id="{55BB9EF2-BA43-740A-D866-EA73FE1C11C7}"/>
              </a:ext>
            </a:extLst>
          </p:cNvPr>
          <p:cNvSpPr txBox="1"/>
          <p:nvPr/>
        </p:nvSpPr>
        <p:spPr bwMode="ltGray">
          <a:xfrm>
            <a:off x="5567494" y="5040716"/>
            <a:ext cx="1224030" cy="537530"/>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Low </a:t>
            </a:r>
            <a:r>
              <a:rPr lang="de-DE" sz="999" err="1">
                <a:solidFill>
                  <a:schemeClr val="accent1"/>
                </a:solidFill>
              </a:rPr>
              <a:t>level</a:t>
            </a:r>
            <a:r>
              <a:rPr lang="de-DE" sz="999">
                <a:solidFill>
                  <a:schemeClr val="accent1"/>
                </a:solidFill>
              </a:rPr>
              <a:t> </a:t>
            </a:r>
            <a:r>
              <a:rPr lang="de-DE" sz="999" err="1">
                <a:solidFill>
                  <a:schemeClr val="accent1"/>
                </a:solidFill>
              </a:rPr>
              <a:t>vs</a:t>
            </a:r>
            <a:r>
              <a:rPr lang="de-DE" sz="999">
                <a:solidFill>
                  <a:schemeClr val="accent1"/>
                </a:solidFill>
              </a:rPr>
              <a:t> high </a:t>
            </a:r>
            <a:r>
              <a:rPr lang="de-DE" sz="999" err="1">
                <a:solidFill>
                  <a:schemeClr val="accent1"/>
                </a:solidFill>
              </a:rPr>
              <a:t>level</a:t>
            </a:r>
            <a:r>
              <a:rPr lang="de-DE" sz="999">
                <a:solidFill>
                  <a:schemeClr val="accent1"/>
                </a:solidFill>
              </a:rPr>
              <a:t> </a:t>
            </a:r>
            <a:r>
              <a:rPr lang="de-DE" sz="999" err="1">
                <a:solidFill>
                  <a:schemeClr val="accent1"/>
                </a:solidFill>
              </a:rPr>
              <a:t>gap</a:t>
            </a:r>
            <a:r>
              <a:rPr lang="de-DE" sz="999">
                <a:solidFill>
                  <a:schemeClr val="accent1"/>
                </a:solidFill>
              </a:rPr>
              <a:t>, Edge Computing</a:t>
            </a:r>
          </a:p>
        </p:txBody>
      </p:sp>
      <p:sp>
        <p:nvSpPr>
          <p:cNvPr id="14" name="Textfeld 16">
            <a:extLst>
              <a:ext uri="{FF2B5EF4-FFF2-40B4-BE49-F238E27FC236}">
                <a16:creationId xmlns:a16="http://schemas.microsoft.com/office/drawing/2014/main" id="{A41AF367-A08D-6A6A-974D-8D85DBEFA0B8}"/>
              </a:ext>
            </a:extLst>
          </p:cNvPr>
          <p:cNvSpPr txBox="1"/>
          <p:nvPr/>
        </p:nvSpPr>
        <p:spPr bwMode="ltGray">
          <a:xfrm>
            <a:off x="8220915" y="3534627"/>
            <a:ext cx="925154" cy="1152443"/>
          </a:xfrm>
          <a:prstGeom prst="rect">
            <a:avLst/>
          </a:prstGeom>
          <a:no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Security </a:t>
            </a:r>
            <a:r>
              <a:rPr lang="de-DE" sz="999" err="1">
                <a:solidFill>
                  <a:schemeClr val="accent1"/>
                </a:solidFill>
              </a:rPr>
              <a:t>by</a:t>
            </a:r>
            <a:r>
              <a:rPr lang="de-DE" sz="999">
                <a:solidFill>
                  <a:schemeClr val="accent1"/>
                </a:solidFill>
              </a:rPr>
              <a:t> Design,</a:t>
            </a:r>
          </a:p>
          <a:p>
            <a:pPr eaLnBrk="0" hangingPunct="0"/>
            <a:r>
              <a:rPr lang="de-DE" sz="999" err="1">
                <a:solidFill>
                  <a:schemeClr val="accent1"/>
                </a:solidFill>
              </a:rPr>
              <a:t>Application</a:t>
            </a:r>
            <a:r>
              <a:rPr lang="de-DE" sz="999">
                <a:solidFill>
                  <a:schemeClr val="accent1"/>
                </a:solidFill>
              </a:rPr>
              <a:t> Security, </a:t>
            </a:r>
            <a:r>
              <a:rPr lang="de-DE" sz="999" err="1">
                <a:solidFill>
                  <a:schemeClr val="accent1"/>
                </a:solidFill>
              </a:rPr>
              <a:t>Cryptography</a:t>
            </a:r>
            <a:endParaRPr lang="de-DE" sz="999">
              <a:solidFill>
                <a:schemeClr val="accent1"/>
              </a:solidFill>
            </a:endParaRPr>
          </a:p>
          <a:p>
            <a:pPr eaLnBrk="0" hangingPunct="0"/>
            <a:endParaRPr lang="de-DE" sz="999">
              <a:solidFill>
                <a:schemeClr val="accent1"/>
              </a:solidFill>
            </a:endParaRPr>
          </a:p>
          <a:p>
            <a:pPr eaLnBrk="0" hangingPunct="0"/>
            <a:endParaRPr lang="de-DE" sz="999">
              <a:solidFill>
                <a:schemeClr val="accent1"/>
              </a:solidFill>
            </a:endParaRPr>
          </a:p>
        </p:txBody>
      </p:sp>
      <p:sp>
        <p:nvSpPr>
          <p:cNvPr id="15" name="Textfeld 21">
            <a:extLst>
              <a:ext uri="{FF2B5EF4-FFF2-40B4-BE49-F238E27FC236}">
                <a16:creationId xmlns:a16="http://schemas.microsoft.com/office/drawing/2014/main" id="{3DD66C77-9859-C38E-59A0-8718E2AE0560}"/>
              </a:ext>
            </a:extLst>
          </p:cNvPr>
          <p:cNvSpPr txBox="1"/>
          <p:nvPr/>
        </p:nvSpPr>
        <p:spPr bwMode="ltGray">
          <a:xfrm>
            <a:off x="4632218" y="4165227"/>
            <a:ext cx="984256" cy="383802"/>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Cloud-native,</a:t>
            </a:r>
          </a:p>
          <a:p>
            <a:pPr eaLnBrk="0" hangingPunct="0"/>
            <a:r>
              <a:rPr lang="de-DE" sz="999" err="1">
                <a:solidFill>
                  <a:schemeClr val="accent1"/>
                </a:solidFill>
              </a:rPr>
              <a:t>Serverless</a:t>
            </a:r>
            <a:endParaRPr lang="de-DE" sz="999">
              <a:solidFill>
                <a:schemeClr val="accent1"/>
              </a:solidFill>
            </a:endParaRPr>
          </a:p>
        </p:txBody>
      </p:sp>
      <p:sp>
        <p:nvSpPr>
          <p:cNvPr id="16" name="Textfeld 23">
            <a:extLst>
              <a:ext uri="{FF2B5EF4-FFF2-40B4-BE49-F238E27FC236}">
                <a16:creationId xmlns:a16="http://schemas.microsoft.com/office/drawing/2014/main" id="{BD359067-59E6-71B2-669A-7B59BF4D8BB7}"/>
              </a:ext>
            </a:extLst>
          </p:cNvPr>
          <p:cNvSpPr txBox="1"/>
          <p:nvPr/>
        </p:nvSpPr>
        <p:spPr bwMode="ltGray">
          <a:xfrm>
            <a:off x="5254235" y="3588993"/>
            <a:ext cx="1224032" cy="537530"/>
          </a:xfrm>
          <a:prstGeom prst="rect">
            <a:avLst/>
          </a:prstGeom>
          <a:solidFill>
            <a:schemeClr val="bg1">
              <a:alpha val="68000"/>
            </a:schemeClr>
          </a:solidFill>
          <a:ln w="6350">
            <a:noFill/>
            <a:miter lim="800000"/>
            <a:headEnd/>
            <a:tailEnd/>
          </a:ln>
        </p:spPr>
        <p:txBody>
          <a:bodyPr wrap="square" lIns="75606" tIns="37804" rIns="75606" bIns="37804" rtlCol="0" anchor="t" anchorCtr="0">
            <a:spAutoFit/>
          </a:bodyPr>
          <a:lstStyle/>
          <a:p>
            <a:pPr eaLnBrk="0" hangingPunct="0"/>
            <a:r>
              <a:rPr lang="de-DE" sz="999" err="1">
                <a:solidFill>
                  <a:schemeClr val="accent1"/>
                </a:solidFill>
              </a:rPr>
              <a:t>Disruption</a:t>
            </a:r>
            <a:r>
              <a:rPr lang="de-DE" sz="999">
                <a:solidFill>
                  <a:schemeClr val="accent1"/>
                </a:solidFill>
              </a:rPr>
              <a:t> Kryptographische Algorithmen</a:t>
            </a:r>
          </a:p>
        </p:txBody>
      </p:sp>
      <p:sp>
        <p:nvSpPr>
          <p:cNvPr id="17" name="Textfeld 24">
            <a:extLst>
              <a:ext uri="{FF2B5EF4-FFF2-40B4-BE49-F238E27FC236}">
                <a16:creationId xmlns:a16="http://schemas.microsoft.com/office/drawing/2014/main" id="{4B043303-3A08-D457-067A-E488EF0E794B}"/>
              </a:ext>
            </a:extLst>
          </p:cNvPr>
          <p:cNvSpPr txBox="1"/>
          <p:nvPr/>
        </p:nvSpPr>
        <p:spPr bwMode="ltGray">
          <a:xfrm>
            <a:off x="3588076" y="2210425"/>
            <a:ext cx="1044142" cy="383802"/>
          </a:xfrm>
          <a:prstGeom prst="rect">
            <a:avLst/>
          </a:prstGeom>
          <a:noFill/>
          <a:ln w="6350">
            <a:noFill/>
            <a:miter lim="800000"/>
            <a:headEnd/>
            <a:tailEnd/>
          </a:ln>
        </p:spPr>
        <p:txBody>
          <a:bodyPr wrap="square" lIns="75606" tIns="37804" rIns="75606" bIns="37804" rtlCol="0" anchor="t" anchorCtr="0">
            <a:spAutoFit/>
          </a:bodyPr>
          <a:lstStyle/>
          <a:p>
            <a:pPr eaLnBrk="0" hangingPunct="0"/>
            <a:r>
              <a:rPr lang="de-DE" sz="999">
                <a:solidFill>
                  <a:schemeClr val="accent1"/>
                </a:solidFill>
              </a:rPr>
              <a:t>Hochparallele Verarbeitung</a:t>
            </a:r>
          </a:p>
        </p:txBody>
      </p:sp>
    </p:spTree>
    <p:extLst>
      <p:ext uri="{BB962C8B-B14F-4D97-AF65-F5344CB8AC3E}">
        <p14:creationId xmlns:p14="http://schemas.microsoft.com/office/powerpoint/2010/main" val="1949702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64EB99-338A-005B-C7F1-5C6692F4C1E2}"/>
              </a:ext>
            </a:extLst>
          </p:cNvPr>
          <p:cNvSpPr txBox="1"/>
          <p:nvPr/>
        </p:nvSpPr>
        <p:spPr>
          <a:xfrm>
            <a:off x="2073197" y="6645022"/>
            <a:ext cx="7408339" cy="399694"/>
          </a:xfrm>
          <a:prstGeom prst="rect">
            <a:avLst/>
          </a:prstGeom>
          <a:noFill/>
        </p:spPr>
        <p:txBody>
          <a:bodyPr wrap="square">
            <a:spAutoFit/>
          </a:bodyPr>
          <a:lstStyle/>
          <a:p>
            <a:r>
              <a:rPr lang="en-US" sz="999" dirty="0"/>
              <a:t>Quelle: https://monadical.com/posts/map-of-cs-subfields.html</a:t>
            </a:r>
          </a:p>
          <a:p>
            <a:endParaRPr lang="en-US" sz="999" dirty="0"/>
          </a:p>
        </p:txBody>
      </p:sp>
      <p:pic>
        <p:nvPicPr>
          <p:cNvPr id="5" name="Picture 4">
            <a:extLst>
              <a:ext uri="{FF2B5EF4-FFF2-40B4-BE49-F238E27FC236}">
                <a16:creationId xmlns:a16="http://schemas.microsoft.com/office/drawing/2014/main" id="{A8A73E19-43BC-DCAA-436A-3679CEC8260A}"/>
              </a:ext>
            </a:extLst>
          </p:cNvPr>
          <p:cNvPicPr>
            <a:picLocks noChangeAspect="1"/>
          </p:cNvPicPr>
          <p:nvPr/>
        </p:nvPicPr>
        <p:blipFill>
          <a:blip r:embed="rId2"/>
          <a:stretch>
            <a:fillRect/>
          </a:stretch>
        </p:blipFill>
        <p:spPr>
          <a:xfrm>
            <a:off x="1074552" y="24454"/>
            <a:ext cx="9405629" cy="6620569"/>
          </a:xfrm>
          <a:prstGeom prst="rect">
            <a:avLst/>
          </a:prstGeom>
        </p:spPr>
      </p:pic>
    </p:spTree>
    <p:extLst>
      <p:ext uri="{BB962C8B-B14F-4D97-AF65-F5344CB8AC3E}">
        <p14:creationId xmlns:p14="http://schemas.microsoft.com/office/powerpoint/2010/main" val="830937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2B535-C217-CF13-78F1-CBC3696878A6}"/>
              </a:ext>
            </a:extLst>
          </p:cNvPr>
          <p:cNvSpPr>
            <a:spLocks noGrp="1"/>
          </p:cNvSpPr>
          <p:nvPr>
            <p:ph type="title"/>
          </p:nvPr>
        </p:nvSpPr>
        <p:spPr>
          <a:xfrm>
            <a:off x="346070" y="354231"/>
            <a:ext cx="4059751" cy="983860"/>
          </a:xfrm>
        </p:spPr>
        <p:txBody>
          <a:bodyPr/>
          <a:lstStyle/>
          <a:p>
            <a:r>
              <a:rPr lang="en-DE" dirty="0"/>
              <a:t>Brief Group Discussion</a:t>
            </a:r>
          </a:p>
        </p:txBody>
      </p:sp>
      <p:sp>
        <p:nvSpPr>
          <p:cNvPr id="3" name="Text Placeholder 2">
            <a:extLst>
              <a:ext uri="{FF2B5EF4-FFF2-40B4-BE49-F238E27FC236}">
                <a16:creationId xmlns:a16="http://schemas.microsoft.com/office/drawing/2014/main" id="{1C9B8E64-7427-E727-0717-B020E4976B9B}"/>
              </a:ext>
            </a:extLst>
          </p:cNvPr>
          <p:cNvSpPr>
            <a:spLocks noGrp="1"/>
          </p:cNvSpPr>
          <p:nvPr>
            <p:ph type="body" idx="1"/>
          </p:nvPr>
        </p:nvSpPr>
        <p:spPr>
          <a:xfrm>
            <a:off x="435683" y="3508218"/>
            <a:ext cx="11320634" cy="1475791"/>
          </a:xfrm>
        </p:spPr>
        <p:txBody>
          <a:bodyPr/>
          <a:lstStyle/>
          <a:p>
            <a:r>
              <a:rPr lang="en-DE" sz="2398" dirty="0"/>
              <a:t>Reflect some personal experiences with the laws, the tech developments we just went through and discuss their impact on economy and society.</a:t>
            </a:r>
          </a:p>
          <a:p>
            <a:endParaRPr lang="en-DE" sz="2398" dirty="0"/>
          </a:p>
          <a:p>
            <a:r>
              <a:rPr lang="en-DE" sz="2398" dirty="0"/>
              <a:t>20 mins discussion in groups, 1 group presents, feedback from the audience</a:t>
            </a:r>
          </a:p>
        </p:txBody>
      </p:sp>
      <p:pic>
        <p:nvPicPr>
          <p:cNvPr id="4" name="Grafik 10">
            <a:extLst>
              <a:ext uri="{FF2B5EF4-FFF2-40B4-BE49-F238E27FC236}">
                <a16:creationId xmlns:a16="http://schemas.microsoft.com/office/drawing/2014/main" id="{08804B27-1D3F-8011-8A86-36DF4138F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069" y="1671900"/>
            <a:ext cx="1502509" cy="1502509"/>
          </a:xfrm>
          <a:prstGeom prst="rect">
            <a:avLst/>
          </a:prstGeom>
        </p:spPr>
      </p:pic>
    </p:spTree>
    <p:extLst>
      <p:ext uri="{BB962C8B-B14F-4D97-AF65-F5344CB8AC3E}">
        <p14:creationId xmlns:p14="http://schemas.microsoft.com/office/powerpoint/2010/main" val="4113809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12A-A950-8411-62EF-6853E15EA01D}"/>
              </a:ext>
            </a:extLst>
          </p:cNvPr>
          <p:cNvSpPr>
            <a:spLocks noGrp="1"/>
          </p:cNvSpPr>
          <p:nvPr>
            <p:ph type="title"/>
          </p:nvPr>
        </p:nvSpPr>
        <p:spPr>
          <a:xfrm>
            <a:off x="439936" y="406305"/>
            <a:ext cx="6959600" cy="1354137"/>
          </a:xfrm>
        </p:spPr>
        <p:txBody>
          <a:bodyPr/>
          <a:lstStyle/>
          <a:p>
            <a:r>
              <a:rPr lang="en-DE" dirty="0"/>
              <a:t>Future Skills</a:t>
            </a:r>
          </a:p>
        </p:txBody>
      </p:sp>
      <p:sp>
        <p:nvSpPr>
          <p:cNvPr id="3" name="Text Placeholder 2">
            <a:extLst>
              <a:ext uri="{FF2B5EF4-FFF2-40B4-BE49-F238E27FC236}">
                <a16:creationId xmlns:a16="http://schemas.microsoft.com/office/drawing/2014/main" id="{AA3B3C8A-8ACA-4380-826C-552271847513}"/>
              </a:ext>
            </a:extLst>
          </p:cNvPr>
          <p:cNvSpPr>
            <a:spLocks noGrp="1"/>
          </p:cNvSpPr>
          <p:nvPr>
            <p:ph type="body" idx="1"/>
          </p:nvPr>
        </p:nvSpPr>
        <p:spPr>
          <a:xfrm>
            <a:off x="346071" y="2559448"/>
            <a:ext cx="3573665" cy="1844737"/>
          </a:xfrm>
        </p:spPr>
        <p:txBody>
          <a:bodyPr/>
          <a:lstStyle/>
          <a:p>
            <a:pPr marL="285464" indent="-285464">
              <a:buFont typeface="Arial" panose="020B0604020202020204" pitchFamily="34" charset="0"/>
              <a:buChar char="•"/>
            </a:pPr>
            <a:r>
              <a:rPr lang="en-DE" sz="2398" dirty="0"/>
              <a:t>What do you think? Which skills will be most relevant in the future?</a:t>
            </a:r>
          </a:p>
          <a:p>
            <a:pPr marL="285464" indent="-285464">
              <a:buFont typeface="Arial" panose="020B0604020202020204" pitchFamily="34" charset="0"/>
              <a:buChar char="•"/>
            </a:pPr>
            <a:r>
              <a:rPr lang="en-DE" sz="2398" dirty="0"/>
              <a:t>Also reflect on that (10 mins) and we discuss it.</a:t>
            </a:r>
          </a:p>
        </p:txBody>
      </p:sp>
      <p:pic>
        <p:nvPicPr>
          <p:cNvPr id="4" name="Grafik 6">
            <a:extLst>
              <a:ext uri="{FF2B5EF4-FFF2-40B4-BE49-F238E27FC236}">
                <a16:creationId xmlns:a16="http://schemas.microsoft.com/office/drawing/2014/main" id="{F9EC53D7-68FF-E392-9362-549E9B9EE922}"/>
              </a:ext>
            </a:extLst>
          </p:cNvPr>
          <p:cNvPicPr>
            <a:picLocks noChangeAspect="1"/>
          </p:cNvPicPr>
          <p:nvPr/>
        </p:nvPicPr>
        <p:blipFill>
          <a:blip r:embed="rId2"/>
          <a:stretch>
            <a:fillRect/>
          </a:stretch>
        </p:blipFill>
        <p:spPr>
          <a:xfrm>
            <a:off x="4415002" y="1675858"/>
            <a:ext cx="7696184" cy="4569609"/>
          </a:xfrm>
          <a:prstGeom prst="rect">
            <a:avLst/>
          </a:prstGeom>
        </p:spPr>
      </p:pic>
    </p:spTree>
    <p:extLst>
      <p:ext uri="{BB962C8B-B14F-4D97-AF65-F5344CB8AC3E}">
        <p14:creationId xmlns:p14="http://schemas.microsoft.com/office/powerpoint/2010/main" val="2837576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DA4B4-A600-3A74-3427-B9194D9401B1}"/>
              </a:ext>
            </a:extLst>
          </p:cNvPr>
          <p:cNvSpPr>
            <a:spLocks noGrp="1"/>
          </p:cNvSpPr>
          <p:nvPr>
            <p:ph type="title"/>
          </p:nvPr>
        </p:nvSpPr>
        <p:spPr>
          <a:xfrm>
            <a:off x="322563" y="309941"/>
            <a:ext cx="8083475" cy="983860"/>
          </a:xfrm>
        </p:spPr>
        <p:txBody>
          <a:bodyPr/>
          <a:lstStyle/>
          <a:p>
            <a:r>
              <a:rPr lang="en-US" dirty="0"/>
              <a:t>Short history of the computer</a:t>
            </a:r>
          </a:p>
        </p:txBody>
      </p:sp>
      <p:sp>
        <p:nvSpPr>
          <p:cNvPr id="4" name="Slide Number Placeholder 3">
            <a:extLst>
              <a:ext uri="{FF2B5EF4-FFF2-40B4-BE49-F238E27FC236}">
                <a16:creationId xmlns:a16="http://schemas.microsoft.com/office/drawing/2014/main" id="{A02E0CC6-C90A-4D27-DE52-ED79550DBF09}"/>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19</a:t>
            </a:fld>
            <a:endParaRPr lang="de-DE"/>
          </a:p>
        </p:txBody>
      </p:sp>
      <p:pic>
        <p:nvPicPr>
          <p:cNvPr id="6" name="Picture 5">
            <a:extLst>
              <a:ext uri="{FF2B5EF4-FFF2-40B4-BE49-F238E27FC236}">
                <a16:creationId xmlns:a16="http://schemas.microsoft.com/office/drawing/2014/main" id="{4454D36D-6B1F-8C62-4704-8F21863BC95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413027" y="3209462"/>
            <a:ext cx="1778973" cy="2045819"/>
          </a:xfrm>
          <a:prstGeom prst="rect">
            <a:avLst/>
          </a:prstGeom>
        </p:spPr>
      </p:pic>
      <p:sp>
        <p:nvSpPr>
          <p:cNvPr id="7" name="Content Placeholder 2">
            <a:extLst>
              <a:ext uri="{FF2B5EF4-FFF2-40B4-BE49-F238E27FC236}">
                <a16:creationId xmlns:a16="http://schemas.microsoft.com/office/drawing/2014/main" id="{D55B3423-85FE-C353-5945-7216B42257AA}"/>
              </a:ext>
            </a:extLst>
          </p:cNvPr>
          <p:cNvSpPr txBox="1">
            <a:spLocks/>
          </p:cNvSpPr>
          <p:nvPr/>
        </p:nvSpPr>
        <p:spPr bwMode="auto">
          <a:xfrm>
            <a:off x="687028" y="2578581"/>
            <a:ext cx="7025253" cy="2110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7888" rIns="0" bIns="107888" numCol="1" anchor="t" anchorCtr="0" compatLnSpc="1">
            <a:prstTxWarp prst="textNoShape">
              <a:avLst/>
            </a:prstTxWarp>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8" dirty="0"/>
              <a:t>1812 Charles Babbage invents Difference Engine (1833 built by Joseph Clement)</a:t>
            </a:r>
          </a:p>
          <a:p>
            <a:r>
              <a:rPr lang="en-US" sz="1998" dirty="0"/>
              <a:t>1830 Charles Babbage Pl</a:t>
            </a:r>
            <a:r>
              <a:rPr lang="de-DE" sz="1998" dirty="0"/>
              <a:t>ans </a:t>
            </a:r>
            <a:r>
              <a:rPr lang="de-DE" sz="1998" dirty="0" err="1"/>
              <a:t>for</a:t>
            </a:r>
            <a:r>
              <a:rPr lang="en-US" sz="1998" dirty="0"/>
              <a:t> Analytical Engine (arithmetic operations, </a:t>
            </a:r>
            <a:r>
              <a:rPr lang="en-US" sz="1998" dirty="0" err="1"/>
              <a:t>punchcards</a:t>
            </a:r>
            <a:r>
              <a:rPr lang="en-US" sz="1998" dirty="0"/>
              <a:t>, storage, sequential control)</a:t>
            </a:r>
          </a:p>
          <a:p>
            <a:r>
              <a:rPr lang="en-US" sz="1998" dirty="0"/>
              <a:t>1843 Ada Lovelace writes first computer program f</a:t>
            </a:r>
            <a:r>
              <a:rPr lang="de-DE" sz="1998" dirty="0" err="1"/>
              <a:t>or</a:t>
            </a:r>
            <a:r>
              <a:rPr lang="en-US" sz="1998" dirty="0"/>
              <a:t> Analytical Engine</a:t>
            </a:r>
          </a:p>
          <a:p>
            <a:r>
              <a:rPr lang="en-US" sz="1998" dirty="0"/>
              <a:t>1938 – Z1 Konrad </a:t>
            </a:r>
            <a:r>
              <a:rPr lang="en-US" sz="1998" dirty="0" err="1"/>
              <a:t>Zuse</a:t>
            </a:r>
            <a:r>
              <a:rPr lang="en-US" sz="1998" dirty="0"/>
              <a:t> (bin</a:t>
            </a:r>
            <a:r>
              <a:rPr lang="de-DE" sz="1998" dirty="0" err="1"/>
              <a:t>ary</a:t>
            </a:r>
            <a:r>
              <a:rPr lang="de-DE" sz="1998" dirty="0"/>
              <a:t> </a:t>
            </a:r>
            <a:r>
              <a:rPr lang="de-DE" sz="1998" dirty="0" err="1"/>
              <a:t>numbers</a:t>
            </a:r>
            <a:r>
              <a:rPr lang="de-DE" sz="1998" dirty="0"/>
              <a:t>, </a:t>
            </a:r>
            <a:r>
              <a:rPr lang="de-DE" sz="1998" dirty="0" err="1"/>
              <a:t>coding</a:t>
            </a:r>
            <a:r>
              <a:rPr lang="de-DE" sz="1998" dirty="0"/>
              <a:t> on </a:t>
            </a:r>
            <a:r>
              <a:rPr lang="de-DE" sz="1998" dirty="0" err="1"/>
              <a:t>pierced</a:t>
            </a:r>
            <a:r>
              <a:rPr lang="de-DE" sz="1998" dirty="0"/>
              <a:t> </a:t>
            </a:r>
            <a:r>
              <a:rPr lang="de-DE" sz="1998" dirty="0" err="1"/>
              <a:t>cinema</a:t>
            </a:r>
            <a:r>
              <a:rPr lang="de-DE" sz="1998" dirty="0"/>
              <a:t> </a:t>
            </a:r>
            <a:br>
              <a:rPr lang="de-DE" sz="1998" dirty="0"/>
            </a:br>
            <a:r>
              <a:rPr lang="de-DE" sz="1998" dirty="0" err="1"/>
              <a:t>cards</a:t>
            </a:r>
            <a:r>
              <a:rPr lang="en-US" sz="1998" dirty="0"/>
              <a:t>)</a:t>
            </a:r>
          </a:p>
          <a:p>
            <a:endParaRPr lang="en-US" sz="1998" dirty="0"/>
          </a:p>
          <a:p>
            <a:endParaRPr lang="en-US" sz="1998" dirty="0"/>
          </a:p>
        </p:txBody>
      </p:sp>
      <p:pic>
        <p:nvPicPr>
          <p:cNvPr id="9" name="Picture 8">
            <a:extLst>
              <a:ext uri="{FF2B5EF4-FFF2-40B4-BE49-F238E27FC236}">
                <a16:creationId xmlns:a16="http://schemas.microsoft.com/office/drawing/2014/main" id="{F1D6DFDE-F048-A12D-408E-4F215522783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81532" y="2017278"/>
            <a:ext cx="2230596" cy="2215093"/>
          </a:xfrm>
          <a:prstGeom prst="rect">
            <a:avLst/>
          </a:prstGeom>
        </p:spPr>
      </p:pic>
      <p:sp>
        <p:nvSpPr>
          <p:cNvPr id="10" name="Content Placeholder 2">
            <a:extLst>
              <a:ext uri="{FF2B5EF4-FFF2-40B4-BE49-F238E27FC236}">
                <a16:creationId xmlns:a16="http://schemas.microsoft.com/office/drawing/2014/main" id="{8A142C20-4CEF-FE64-193A-35CFA10642A4}"/>
              </a:ext>
            </a:extLst>
          </p:cNvPr>
          <p:cNvSpPr txBox="1">
            <a:spLocks/>
          </p:cNvSpPr>
          <p:nvPr/>
        </p:nvSpPr>
        <p:spPr bwMode="auto">
          <a:xfrm>
            <a:off x="687026" y="1548180"/>
            <a:ext cx="8509804" cy="84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7888" rIns="0" bIns="107888" numCol="1" anchor="t" anchorCtr="0" compatLnSpc="1">
            <a:prstTxWarp prst="textNoShape">
              <a:avLst/>
            </a:prstTxWarp>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8" dirty="0"/>
              <a:t>1785 Edmund Cartwright first mechanical loom, enhancement 1805 by Jacquard (</a:t>
            </a:r>
            <a:r>
              <a:rPr lang="en-US" sz="1998" dirty="0" err="1"/>
              <a:t>punchcards</a:t>
            </a:r>
            <a:r>
              <a:rPr lang="en-US" sz="1998" dirty="0"/>
              <a:t>)</a:t>
            </a:r>
          </a:p>
          <a:p>
            <a:endParaRPr lang="en-US" sz="1998" dirty="0"/>
          </a:p>
        </p:txBody>
      </p:sp>
      <p:pic>
        <p:nvPicPr>
          <p:cNvPr id="12" name="Picture 11">
            <a:extLst>
              <a:ext uri="{FF2B5EF4-FFF2-40B4-BE49-F238E27FC236}">
                <a16:creationId xmlns:a16="http://schemas.microsoft.com/office/drawing/2014/main" id="{7E5E1727-8CBD-7B41-DBE4-1CE46C4E21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90540" y="4358691"/>
            <a:ext cx="2284532" cy="1694399"/>
          </a:xfrm>
          <a:prstGeom prst="rect">
            <a:avLst/>
          </a:prstGeom>
        </p:spPr>
      </p:pic>
    </p:spTree>
    <p:extLst>
      <p:ext uri="{BB962C8B-B14F-4D97-AF65-F5344CB8AC3E}">
        <p14:creationId xmlns:p14="http://schemas.microsoft.com/office/powerpoint/2010/main" val="268667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DA4B4-A600-3A74-3427-B9194D9401B1}"/>
              </a:ext>
            </a:extLst>
          </p:cNvPr>
          <p:cNvSpPr>
            <a:spLocks noGrp="1"/>
          </p:cNvSpPr>
          <p:nvPr>
            <p:ph type="title"/>
          </p:nvPr>
        </p:nvSpPr>
        <p:spPr>
          <a:xfrm>
            <a:off x="334126" y="452927"/>
            <a:ext cx="8394382" cy="983860"/>
          </a:xfrm>
        </p:spPr>
        <p:txBody>
          <a:bodyPr/>
          <a:lstStyle/>
          <a:p>
            <a:r>
              <a:rPr lang="en-US" dirty="0"/>
              <a:t>Short history of the computer</a:t>
            </a:r>
          </a:p>
        </p:txBody>
      </p:sp>
      <p:sp>
        <p:nvSpPr>
          <p:cNvPr id="4" name="Slide Number Placeholder 3">
            <a:extLst>
              <a:ext uri="{FF2B5EF4-FFF2-40B4-BE49-F238E27FC236}">
                <a16:creationId xmlns:a16="http://schemas.microsoft.com/office/drawing/2014/main" id="{A02E0CC6-C90A-4D27-DE52-ED79550DBF09}"/>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20</a:t>
            </a:fld>
            <a:endParaRPr lang="de-DE"/>
          </a:p>
        </p:txBody>
      </p:sp>
      <p:sp>
        <p:nvSpPr>
          <p:cNvPr id="10" name="Content Placeholder 2">
            <a:extLst>
              <a:ext uri="{FF2B5EF4-FFF2-40B4-BE49-F238E27FC236}">
                <a16:creationId xmlns:a16="http://schemas.microsoft.com/office/drawing/2014/main" id="{8A142C20-4CEF-FE64-193A-35CFA10642A4}"/>
              </a:ext>
            </a:extLst>
          </p:cNvPr>
          <p:cNvSpPr txBox="1">
            <a:spLocks/>
          </p:cNvSpPr>
          <p:nvPr/>
        </p:nvSpPr>
        <p:spPr bwMode="auto">
          <a:xfrm>
            <a:off x="571401" y="1803708"/>
            <a:ext cx="8509804" cy="51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7888" rIns="0" bIns="107888" numCol="1" anchor="t" anchorCtr="0" compatLnSpc="1">
            <a:prstTxWarp prst="textNoShape">
              <a:avLst/>
            </a:prstTxWarp>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8" dirty="0"/>
              <a:t>1941 Konrad </a:t>
            </a:r>
            <a:r>
              <a:rPr lang="en-US" sz="1998" dirty="0" err="1"/>
              <a:t>Zuse</a:t>
            </a:r>
            <a:r>
              <a:rPr lang="en-US" sz="1998" dirty="0"/>
              <a:t> builds Z3, 1943 IBM boss: “</a:t>
            </a:r>
            <a:r>
              <a:rPr lang="de-DE" sz="1998" dirty="0"/>
              <a:t>I </a:t>
            </a:r>
            <a:r>
              <a:rPr lang="de-DE" sz="1998" dirty="0" err="1"/>
              <a:t>believe</a:t>
            </a:r>
            <a:r>
              <a:rPr lang="de-DE" sz="1998" dirty="0"/>
              <a:t> </a:t>
            </a:r>
            <a:r>
              <a:rPr lang="de-DE" sz="1998" dirty="0" err="1"/>
              <a:t>there</a:t>
            </a:r>
            <a:r>
              <a:rPr lang="de-DE" sz="1998" dirty="0"/>
              <a:t> </a:t>
            </a:r>
            <a:r>
              <a:rPr lang="de-DE" sz="1998" dirty="0" err="1"/>
              <a:t>is</a:t>
            </a:r>
            <a:r>
              <a:rPr lang="de-DE" sz="1998" dirty="0"/>
              <a:t> a </a:t>
            </a:r>
            <a:r>
              <a:rPr lang="de-DE" sz="1998" dirty="0" err="1"/>
              <a:t>worldwide</a:t>
            </a:r>
            <a:r>
              <a:rPr lang="de-DE" sz="1998" dirty="0"/>
              <a:t> </a:t>
            </a:r>
            <a:r>
              <a:rPr lang="de-DE" sz="1998" dirty="0" err="1"/>
              <a:t>demand</a:t>
            </a:r>
            <a:r>
              <a:rPr lang="de-DE" sz="1998" dirty="0"/>
              <a:t> </a:t>
            </a:r>
            <a:r>
              <a:rPr lang="de-DE" sz="1998" dirty="0" err="1"/>
              <a:t>for</a:t>
            </a:r>
            <a:r>
              <a:rPr lang="de-DE" sz="1998" dirty="0"/>
              <a:t> </a:t>
            </a:r>
            <a:r>
              <a:rPr lang="de-DE" sz="1998" dirty="0" err="1"/>
              <a:t>perhaps</a:t>
            </a:r>
            <a:r>
              <a:rPr lang="de-DE" sz="1998" dirty="0"/>
              <a:t> 5 </a:t>
            </a:r>
            <a:r>
              <a:rPr lang="de-DE" sz="1998" dirty="0" err="1"/>
              <a:t>computers</a:t>
            </a:r>
            <a:r>
              <a:rPr lang="de-DE" sz="1998" dirty="0"/>
              <a:t>.“, </a:t>
            </a:r>
            <a:r>
              <a:rPr lang="en-US" sz="1998" dirty="0"/>
              <a:t>1945 Z4</a:t>
            </a:r>
          </a:p>
        </p:txBody>
      </p:sp>
      <p:pic>
        <p:nvPicPr>
          <p:cNvPr id="11" name="Picture 10">
            <a:extLst>
              <a:ext uri="{FF2B5EF4-FFF2-40B4-BE49-F238E27FC236}">
                <a16:creationId xmlns:a16="http://schemas.microsoft.com/office/drawing/2014/main" id="{66BA9289-BD6C-D2D2-B19A-D9F3EB06A88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266534" y="1366940"/>
            <a:ext cx="2498015" cy="1669497"/>
          </a:xfrm>
          <a:prstGeom prst="rect">
            <a:avLst/>
          </a:prstGeom>
        </p:spPr>
      </p:pic>
      <p:sp>
        <p:nvSpPr>
          <p:cNvPr id="13" name="Content Placeholder 2">
            <a:extLst>
              <a:ext uri="{FF2B5EF4-FFF2-40B4-BE49-F238E27FC236}">
                <a16:creationId xmlns:a16="http://schemas.microsoft.com/office/drawing/2014/main" id="{37CE5B9E-E591-5345-B409-C121A1BB0A84}"/>
              </a:ext>
            </a:extLst>
          </p:cNvPr>
          <p:cNvSpPr txBox="1">
            <a:spLocks/>
          </p:cNvSpPr>
          <p:nvPr/>
        </p:nvSpPr>
        <p:spPr bwMode="auto">
          <a:xfrm>
            <a:off x="571401" y="2553635"/>
            <a:ext cx="8509804" cy="1150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7888" rIns="0" bIns="107888" numCol="1" anchor="t" anchorCtr="0" compatLnSpc="1">
            <a:prstTxWarp prst="textNoShape">
              <a:avLst/>
            </a:prstTxWarp>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8" dirty="0"/>
              <a:t>1946 Eckert and Mauchly build the </a:t>
            </a:r>
            <a:br>
              <a:rPr lang="en-US" sz="1998" dirty="0"/>
            </a:br>
            <a:r>
              <a:rPr lang="en-US" sz="1998" dirty="0"/>
              <a:t>“Electronic Numerical Integrator and Computer” (ENIAC) for US governments, first </a:t>
            </a:r>
            <a:r>
              <a:rPr lang="de-DE" sz="1998" dirty="0"/>
              <a:t>universal </a:t>
            </a:r>
            <a:r>
              <a:rPr lang="de-DE" sz="1998" dirty="0" err="1"/>
              <a:t>computer</a:t>
            </a:r>
            <a:endParaRPr lang="en-US" sz="1998" dirty="0"/>
          </a:p>
        </p:txBody>
      </p:sp>
      <p:pic>
        <p:nvPicPr>
          <p:cNvPr id="15" name="Picture 14">
            <a:extLst>
              <a:ext uri="{FF2B5EF4-FFF2-40B4-BE49-F238E27FC236}">
                <a16:creationId xmlns:a16="http://schemas.microsoft.com/office/drawing/2014/main" id="{F4FE2D52-0DC8-EB7A-7F0C-C9C08BC8ADA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66534" y="3109578"/>
            <a:ext cx="2498015" cy="1890389"/>
          </a:xfrm>
          <a:prstGeom prst="rect">
            <a:avLst/>
          </a:prstGeom>
        </p:spPr>
      </p:pic>
      <p:sp>
        <p:nvSpPr>
          <p:cNvPr id="16" name="Content Placeholder 2">
            <a:extLst>
              <a:ext uri="{FF2B5EF4-FFF2-40B4-BE49-F238E27FC236}">
                <a16:creationId xmlns:a16="http://schemas.microsoft.com/office/drawing/2014/main" id="{0F540F68-0EEA-11D5-3E88-752F7E23B088}"/>
              </a:ext>
            </a:extLst>
          </p:cNvPr>
          <p:cNvSpPr txBox="1">
            <a:spLocks/>
          </p:cNvSpPr>
          <p:nvPr/>
        </p:nvSpPr>
        <p:spPr bwMode="auto">
          <a:xfrm>
            <a:off x="571401" y="3776367"/>
            <a:ext cx="8509804" cy="1150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7888" rIns="0" bIns="107888" numCol="1" anchor="t" anchorCtr="0" compatLnSpc="1">
            <a:prstTxWarp prst="textNoShape">
              <a:avLst/>
            </a:prstTxWarp>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sz="1998"/>
              <a:t>1965 Moores‘ </a:t>
            </a:r>
            <a:r>
              <a:rPr lang="de-DE" sz="1998" err="1"/>
              <a:t>law</a:t>
            </a:r>
            <a:endParaRPr lang="de-DE" sz="1998"/>
          </a:p>
          <a:p>
            <a:r>
              <a:rPr lang="de-DE" sz="1998"/>
              <a:t>1970 Texas Instruments </a:t>
            </a:r>
            <a:r>
              <a:rPr lang="de-DE" sz="1998" err="1"/>
              <a:t>develops</a:t>
            </a:r>
            <a:r>
              <a:rPr lang="de-DE" sz="1998"/>
              <a:t> </a:t>
            </a:r>
            <a:r>
              <a:rPr lang="de-DE" sz="1998" err="1"/>
              <a:t>microproc</a:t>
            </a:r>
            <a:r>
              <a:rPr lang="en-US" sz="1998" err="1"/>
              <a:t>essor</a:t>
            </a:r>
            <a:endParaRPr lang="en-US" sz="1998"/>
          </a:p>
          <a:p>
            <a:r>
              <a:rPr lang="de-DE" sz="1998"/>
              <a:t>1977 Ken Olson (DEC): „</a:t>
            </a:r>
            <a:r>
              <a:rPr lang="de-DE" sz="1998" err="1"/>
              <a:t>There</a:t>
            </a:r>
            <a:r>
              <a:rPr lang="de-DE" sz="1998"/>
              <a:t> </a:t>
            </a:r>
            <a:r>
              <a:rPr lang="de-DE" sz="1998" err="1"/>
              <a:t>is</a:t>
            </a:r>
            <a:r>
              <a:rPr lang="de-DE" sz="1998"/>
              <a:t> </a:t>
            </a:r>
            <a:r>
              <a:rPr lang="de-DE" sz="1998" err="1"/>
              <a:t>no</a:t>
            </a:r>
            <a:r>
              <a:rPr lang="de-DE" sz="1998"/>
              <a:t> </a:t>
            </a:r>
            <a:r>
              <a:rPr lang="de-DE" sz="1998" err="1"/>
              <a:t>reason</a:t>
            </a:r>
            <a:r>
              <a:rPr lang="de-DE" sz="1998"/>
              <a:t> </a:t>
            </a:r>
            <a:r>
              <a:rPr lang="de-DE" sz="1998" err="1"/>
              <a:t>for</a:t>
            </a:r>
            <a:r>
              <a:rPr lang="de-DE" sz="1998"/>
              <a:t> </a:t>
            </a:r>
            <a:r>
              <a:rPr lang="de-DE" sz="1998" err="1"/>
              <a:t>somebody</a:t>
            </a:r>
            <a:r>
              <a:rPr lang="de-DE" sz="1998"/>
              <a:t> </a:t>
            </a:r>
            <a:r>
              <a:rPr lang="de-DE" sz="1998" err="1"/>
              <a:t>having</a:t>
            </a:r>
            <a:r>
              <a:rPr lang="de-DE" sz="1998"/>
              <a:t> a </a:t>
            </a:r>
            <a:r>
              <a:rPr lang="de-DE" sz="1998" err="1"/>
              <a:t>computer</a:t>
            </a:r>
            <a:r>
              <a:rPr lang="de-DE" sz="1998"/>
              <a:t> at </a:t>
            </a:r>
            <a:r>
              <a:rPr lang="de-DE" sz="1998" err="1"/>
              <a:t>home</a:t>
            </a:r>
            <a:r>
              <a:rPr lang="de-DE" sz="1998"/>
              <a:t>.“</a:t>
            </a:r>
          </a:p>
        </p:txBody>
      </p:sp>
      <p:pic>
        <p:nvPicPr>
          <p:cNvPr id="18" name="Picture 17">
            <a:extLst>
              <a:ext uri="{FF2B5EF4-FFF2-40B4-BE49-F238E27FC236}">
                <a16:creationId xmlns:a16="http://schemas.microsoft.com/office/drawing/2014/main" id="{7FF2842E-90D4-6768-0410-7CC6F98E13F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262952" y="5161844"/>
            <a:ext cx="2094484" cy="1603540"/>
          </a:xfrm>
          <a:prstGeom prst="rect">
            <a:avLst/>
          </a:prstGeom>
        </p:spPr>
      </p:pic>
    </p:spTree>
    <p:extLst>
      <p:ext uri="{BB962C8B-B14F-4D97-AF65-F5344CB8AC3E}">
        <p14:creationId xmlns:p14="http://schemas.microsoft.com/office/powerpoint/2010/main" val="3234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AA66-124E-7C41-6E3D-E7C6358351B1}"/>
              </a:ext>
            </a:extLst>
          </p:cNvPr>
          <p:cNvSpPr>
            <a:spLocks noGrp="1"/>
          </p:cNvSpPr>
          <p:nvPr>
            <p:ph type="title"/>
          </p:nvPr>
        </p:nvSpPr>
        <p:spPr>
          <a:xfrm>
            <a:off x="345689" y="1033735"/>
            <a:ext cx="7355029" cy="983860"/>
          </a:xfrm>
        </p:spPr>
        <p:txBody>
          <a:bodyPr/>
          <a:lstStyle/>
          <a:p>
            <a:r>
              <a:rPr lang="en-US" dirty="0"/>
              <a:t>Short history of the computer</a:t>
            </a:r>
          </a:p>
        </p:txBody>
      </p:sp>
      <p:sp>
        <p:nvSpPr>
          <p:cNvPr id="4" name="Slide Number Placeholder 3">
            <a:extLst>
              <a:ext uri="{FF2B5EF4-FFF2-40B4-BE49-F238E27FC236}">
                <a16:creationId xmlns:a16="http://schemas.microsoft.com/office/drawing/2014/main" id="{4E3C2D3C-29E1-5303-E5A1-692EC8388789}"/>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21</a:t>
            </a:fld>
            <a:endParaRPr lang="de-DE"/>
          </a:p>
        </p:txBody>
      </p:sp>
      <p:pic>
        <p:nvPicPr>
          <p:cNvPr id="5" name="Picture 4">
            <a:extLst>
              <a:ext uri="{FF2B5EF4-FFF2-40B4-BE49-F238E27FC236}">
                <a16:creationId xmlns:a16="http://schemas.microsoft.com/office/drawing/2014/main" id="{F21ADB55-C1D8-DB5A-42C8-7B98A0EF07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34345" y="1993395"/>
            <a:ext cx="2947154" cy="2132776"/>
          </a:xfrm>
          <a:prstGeom prst="rect">
            <a:avLst/>
          </a:prstGeom>
        </p:spPr>
      </p:pic>
      <p:sp>
        <p:nvSpPr>
          <p:cNvPr id="6" name="TextBox 5">
            <a:extLst>
              <a:ext uri="{FF2B5EF4-FFF2-40B4-BE49-F238E27FC236}">
                <a16:creationId xmlns:a16="http://schemas.microsoft.com/office/drawing/2014/main" id="{3B460845-238C-A30D-5FEE-E6A2A1D15035}"/>
              </a:ext>
            </a:extLst>
          </p:cNvPr>
          <p:cNvSpPr txBox="1"/>
          <p:nvPr/>
        </p:nvSpPr>
        <p:spPr>
          <a:xfrm>
            <a:off x="1061462" y="1943232"/>
            <a:ext cx="6834490" cy="1322062"/>
          </a:xfrm>
          <a:prstGeom prst="rect">
            <a:avLst/>
          </a:prstGeom>
          <a:noFill/>
        </p:spPr>
        <p:txBody>
          <a:bodyPr wrap="square">
            <a:spAutoFit/>
          </a:bodyPr>
          <a:lstStyle/>
          <a:p>
            <a:pPr marL="342557" indent="-342557">
              <a:buFont typeface="Arial" panose="020B0604020202020204" pitchFamily="34" charset="0"/>
              <a:buChar char="•"/>
            </a:pPr>
            <a:r>
              <a:rPr lang="de-DE" sz="1998" dirty="0"/>
              <a:t>1980er </a:t>
            </a:r>
            <a:r>
              <a:rPr lang="de-DE" sz="1998" dirty="0" err="1"/>
              <a:t>flowering</a:t>
            </a:r>
            <a:r>
              <a:rPr lang="de-DE" sz="1998" dirty="0"/>
              <a:t> </a:t>
            </a:r>
            <a:r>
              <a:rPr lang="de-DE" sz="1998" dirty="0" err="1"/>
              <a:t>period</a:t>
            </a:r>
            <a:r>
              <a:rPr lang="en-US" sz="1998" dirty="0"/>
              <a:t> of home computers: C64, Amiga</a:t>
            </a:r>
          </a:p>
          <a:p>
            <a:pPr marL="342557" indent="-342557">
              <a:buFont typeface="Arial" panose="020B0604020202020204" pitchFamily="34" charset="0"/>
              <a:buChar char="•"/>
            </a:pPr>
            <a:r>
              <a:rPr lang="en-US" sz="1998" dirty="0"/>
              <a:t>1981: IBM-PC</a:t>
            </a:r>
          </a:p>
          <a:p>
            <a:pPr marL="342557" indent="-342557">
              <a:buFont typeface="Arial" panose="020B0604020202020204" pitchFamily="34" charset="0"/>
              <a:buChar char="•"/>
            </a:pPr>
            <a:r>
              <a:rPr lang="en-US" sz="1998" dirty="0"/>
              <a:t>1981: MS DOS</a:t>
            </a:r>
          </a:p>
        </p:txBody>
      </p:sp>
      <p:sp>
        <p:nvSpPr>
          <p:cNvPr id="7" name="TextBox 6">
            <a:extLst>
              <a:ext uri="{FF2B5EF4-FFF2-40B4-BE49-F238E27FC236}">
                <a16:creationId xmlns:a16="http://schemas.microsoft.com/office/drawing/2014/main" id="{8A03E571-BB68-0A9C-9121-F17F077CDF49}"/>
              </a:ext>
            </a:extLst>
          </p:cNvPr>
          <p:cNvSpPr txBox="1"/>
          <p:nvPr/>
        </p:nvSpPr>
        <p:spPr>
          <a:xfrm>
            <a:off x="1061459" y="3223449"/>
            <a:ext cx="6834491" cy="399694"/>
          </a:xfrm>
          <a:prstGeom prst="rect">
            <a:avLst/>
          </a:prstGeom>
          <a:noFill/>
        </p:spPr>
        <p:txBody>
          <a:bodyPr wrap="square">
            <a:spAutoFit/>
          </a:bodyPr>
          <a:lstStyle/>
          <a:p>
            <a:pPr marL="342557" indent="-342557">
              <a:buFont typeface="Arial" panose="020B0604020202020204" pitchFamily="34" charset="0"/>
              <a:buChar char="•"/>
            </a:pPr>
            <a:r>
              <a:rPr lang="en-US" sz="1998"/>
              <a:t>1982: 80286 processors, 1986: 80386, 1989: 80486</a:t>
            </a:r>
          </a:p>
        </p:txBody>
      </p:sp>
      <p:pic>
        <p:nvPicPr>
          <p:cNvPr id="9" name="Picture 8">
            <a:extLst>
              <a:ext uri="{FF2B5EF4-FFF2-40B4-BE49-F238E27FC236}">
                <a16:creationId xmlns:a16="http://schemas.microsoft.com/office/drawing/2014/main" id="{6C6FEA46-A9E6-0BF1-C645-AD4DDAA0CC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90013" y="4327236"/>
            <a:ext cx="1474716" cy="1443993"/>
          </a:xfrm>
          <a:prstGeom prst="rect">
            <a:avLst/>
          </a:prstGeom>
        </p:spPr>
      </p:pic>
      <p:sp>
        <p:nvSpPr>
          <p:cNvPr id="10" name="TextBox 9">
            <a:extLst>
              <a:ext uri="{FF2B5EF4-FFF2-40B4-BE49-F238E27FC236}">
                <a16:creationId xmlns:a16="http://schemas.microsoft.com/office/drawing/2014/main" id="{6EDB5DD0-02B6-EC70-CF24-66107E0FE80F}"/>
              </a:ext>
            </a:extLst>
          </p:cNvPr>
          <p:cNvSpPr txBox="1"/>
          <p:nvPr/>
        </p:nvSpPr>
        <p:spPr>
          <a:xfrm>
            <a:off x="1061459" y="3726477"/>
            <a:ext cx="6834491" cy="399694"/>
          </a:xfrm>
          <a:prstGeom prst="rect">
            <a:avLst/>
          </a:prstGeom>
          <a:noFill/>
        </p:spPr>
        <p:txBody>
          <a:bodyPr wrap="square">
            <a:spAutoFit/>
          </a:bodyPr>
          <a:lstStyle/>
          <a:p>
            <a:pPr marL="342557" indent="-342557">
              <a:buFont typeface="Arial" panose="020B0604020202020204" pitchFamily="34" charset="0"/>
              <a:buChar char="•"/>
            </a:pPr>
            <a:r>
              <a:rPr lang="en-US" sz="1998"/>
              <a:t>1990er: internet and WWW</a:t>
            </a:r>
          </a:p>
        </p:txBody>
      </p:sp>
      <p:pic>
        <p:nvPicPr>
          <p:cNvPr id="12" name="Picture 11">
            <a:extLst>
              <a:ext uri="{FF2B5EF4-FFF2-40B4-BE49-F238E27FC236}">
                <a16:creationId xmlns:a16="http://schemas.microsoft.com/office/drawing/2014/main" id="{C50CABA1-8DB0-3C0B-14A4-857705E7DF6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708649" y="4796867"/>
            <a:ext cx="2374602" cy="1603158"/>
          </a:xfrm>
          <a:prstGeom prst="rect">
            <a:avLst/>
          </a:prstGeom>
        </p:spPr>
      </p:pic>
      <p:sp>
        <p:nvSpPr>
          <p:cNvPr id="13" name="TextBox 12">
            <a:extLst>
              <a:ext uri="{FF2B5EF4-FFF2-40B4-BE49-F238E27FC236}">
                <a16:creationId xmlns:a16="http://schemas.microsoft.com/office/drawing/2014/main" id="{D5A5BD30-A81A-E1D0-151C-970AE7069601}"/>
              </a:ext>
            </a:extLst>
          </p:cNvPr>
          <p:cNvSpPr txBox="1"/>
          <p:nvPr/>
        </p:nvSpPr>
        <p:spPr>
          <a:xfrm>
            <a:off x="1061459" y="4261671"/>
            <a:ext cx="6834491" cy="399694"/>
          </a:xfrm>
          <a:prstGeom prst="rect">
            <a:avLst/>
          </a:prstGeom>
          <a:noFill/>
        </p:spPr>
        <p:txBody>
          <a:bodyPr wrap="square">
            <a:spAutoFit/>
          </a:bodyPr>
          <a:lstStyle/>
          <a:p>
            <a:pPr marL="342557" indent="-342557">
              <a:buFont typeface="Arial" panose="020B0604020202020204" pitchFamily="34" charset="0"/>
              <a:buChar char="•"/>
            </a:pPr>
            <a:r>
              <a:rPr lang="en-US" sz="1998"/>
              <a:t>2005: first Dual-Core processors, 2007 four cores</a:t>
            </a:r>
          </a:p>
        </p:txBody>
      </p:sp>
      <p:pic>
        <p:nvPicPr>
          <p:cNvPr id="15" name="Picture 14">
            <a:extLst>
              <a:ext uri="{FF2B5EF4-FFF2-40B4-BE49-F238E27FC236}">
                <a16:creationId xmlns:a16="http://schemas.microsoft.com/office/drawing/2014/main" id="{3D981647-5638-4196-8AD3-C481F8E9698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36021" y="4796866"/>
            <a:ext cx="2081383" cy="1759014"/>
          </a:xfrm>
          <a:prstGeom prst="rect">
            <a:avLst/>
          </a:prstGeom>
        </p:spPr>
      </p:pic>
    </p:spTree>
    <p:extLst>
      <p:ext uri="{BB962C8B-B14F-4D97-AF65-F5344CB8AC3E}">
        <p14:creationId xmlns:p14="http://schemas.microsoft.com/office/powerpoint/2010/main" val="367745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B378E-573D-6AED-DB19-50CF9170017C}"/>
              </a:ext>
            </a:extLst>
          </p:cNvPr>
          <p:cNvSpPr>
            <a:spLocks noGrp="1"/>
          </p:cNvSpPr>
          <p:nvPr>
            <p:ph type="title"/>
          </p:nvPr>
        </p:nvSpPr>
        <p:spPr>
          <a:xfrm>
            <a:off x="323654" y="417950"/>
            <a:ext cx="7065963" cy="983860"/>
          </a:xfrm>
        </p:spPr>
        <p:txBody>
          <a:bodyPr/>
          <a:lstStyle/>
          <a:p>
            <a:r>
              <a:rPr lang="en-US" dirty="0"/>
              <a:t>Short history of the computer</a:t>
            </a:r>
          </a:p>
        </p:txBody>
      </p:sp>
      <p:sp>
        <p:nvSpPr>
          <p:cNvPr id="4" name="Slide Number Placeholder 3">
            <a:extLst>
              <a:ext uri="{FF2B5EF4-FFF2-40B4-BE49-F238E27FC236}">
                <a16:creationId xmlns:a16="http://schemas.microsoft.com/office/drawing/2014/main" id="{6D3B128F-7211-D348-419B-EA6060198458}"/>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22</a:t>
            </a:fld>
            <a:endParaRPr lang="de-DE"/>
          </a:p>
        </p:txBody>
      </p:sp>
      <p:sp>
        <p:nvSpPr>
          <p:cNvPr id="5" name="TextBox 4">
            <a:extLst>
              <a:ext uri="{FF2B5EF4-FFF2-40B4-BE49-F238E27FC236}">
                <a16:creationId xmlns:a16="http://schemas.microsoft.com/office/drawing/2014/main" id="{482A421E-71D1-8BEE-6267-38B9BDE6EB3A}"/>
              </a:ext>
            </a:extLst>
          </p:cNvPr>
          <p:cNvSpPr txBox="1"/>
          <p:nvPr/>
        </p:nvSpPr>
        <p:spPr>
          <a:xfrm>
            <a:off x="1061461" y="2629891"/>
            <a:ext cx="6834490" cy="707149"/>
          </a:xfrm>
          <a:prstGeom prst="rect">
            <a:avLst/>
          </a:prstGeom>
          <a:noFill/>
        </p:spPr>
        <p:txBody>
          <a:bodyPr wrap="square">
            <a:spAutoFit/>
          </a:bodyPr>
          <a:lstStyle/>
          <a:p>
            <a:pPr marL="342557" indent="-342557">
              <a:buFont typeface="Arial" panose="020B0604020202020204" pitchFamily="34" charset="0"/>
              <a:buChar char="•"/>
            </a:pPr>
            <a:r>
              <a:rPr lang="en-US" sz="1998"/>
              <a:t>2008 Google Cloud Platform kicks off</a:t>
            </a:r>
          </a:p>
          <a:p>
            <a:pPr marL="342557" indent="-342557">
              <a:buFont typeface="Arial" panose="020B0604020202020204" pitchFamily="34" charset="0"/>
              <a:buChar char="•"/>
            </a:pPr>
            <a:r>
              <a:rPr lang="en-US" sz="1998"/>
              <a:t>2010 Microsoft Azure kicks off</a:t>
            </a:r>
          </a:p>
        </p:txBody>
      </p:sp>
      <p:pic>
        <p:nvPicPr>
          <p:cNvPr id="7" name="Picture 6">
            <a:extLst>
              <a:ext uri="{FF2B5EF4-FFF2-40B4-BE49-F238E27FC236}">
                <a16:creationId xmlns:a16="http://schemas.microsoft.com/office/drawing/2014/main" id="{2376376A-D0EC-7197-5DC9-0C134B261B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709582" y="1830783"/>
            <a:ext cx="1119562" cy="998684"/>
          </a:xfrm>
          <a:prstGeom prst="rect">
            <a:avLst/>
          </a:prstGeom>
        </p:spPr>
      </p:pic>
      <p:sp>
        <p:nvSpPr>
          <p:cNvPr id="8" name="TextBox 7">
            <a:extLst>
              <a:ext uri="{FF2B5EF4-FFF2-40B4-BE49-F238E27FC236}">
                <a16:creationId xmlns:a16="http://schemas.microsoft.com/office/drawing/2014/main" id="{7B5101B8-9861-C4FA-4A3D-D3404849362D}"/>
              </a:ext>
            </a:extLst>
          </p:cNvPr>
          <p:cNvSpPr txBox="1"/>
          <p:nvPr/>
        </p:nvSpPr>
        <p:spPr>
          <a:xfrm>
            <a:off x="1061459" y="1723505"/>
            <a:ext cx="6834490" cy="707149"/>
          </a:xfrm>
          <a:prstGeom prst="rect">
            <a:avLst/>
          </a:prstGeom>
          <a:noFill/>
        </p:spPr>
        <p:txBody>
          <a:bodyPr wrap="square">
            <a:spAutoFit/>
          </a:bodyPr>
          <a:lstStyle/>
          <a:p>
            <a:pPr marL="342557" indent="-342557">
              <a:buFont typeface="Arial" panose="020B0604020202020204" pitchFamily="34" charset="0"/>
              <a:buChar char="•"/>
            </a:pPr>
            <a:r>
              <a:rPr lang="en-US" sz="1998"/>
              <a:t>2000er dotcom bubble</a:t>
            </a:r>
          </a:p>
          <a:p>
            <a:pPr marL="342557" indent="-342557">
              <a:buFont typeface="Arial" panose="020B0604020202020204" pitchFamily="34" charset="0"/>
              <a:buChar char="•"/>
            </a:pPr>
            <a:r>
              <a:rPr lang="en-US" sz="1998"/>
              <a:t>2002 AWS kicks off</a:t>
            </a:r>
          </a:p>
        </p:txBody>
      </p:sp>
      <p:sp>
        <p:nvSpPr>
          <p:cNvPr id="11" name="TextBox 10">
            <a:extLst>
              <a:ext uri="{FF2B5EF4-FFF2-40B4-BE49-F238E27FC236}">
                <a16:creationId xmlns:a16="http://schemas.microsoft.com/office/drawing/2014/main" id="{152D9A4C-8996-0167-6007-3D2FE3080C43}"/>
              </a:ext>
            </a:extLst>
          </p:cNvPr>
          <p:cNvSpPr txBox="1"/>
          <p:nvPr/>
        </p:nvSpPr>
        <p:spPr>
          <a:xfrm>
            <a:off x="1061460" y="3536278"/>
            <a:ext cx="6834490" cy="1322062"/>
          </a:xfrm>
          <a:prstGeom prst="rect">
            <a:avLst/>
          </a:prstGeom>
          <a:noFill/>
        </p:spPr>
        <p:txBody>
          <a:bodyPr wrap="square">
            <a:spAutoFit/>
          </a:bodyPr>
          <a:lstStyle/>
          <a:p>
            <a:pPr marL="342557" indent="-342557">
              <a:buFont typeface="Arial" panose="020B0604020202020204" pitchFamily="34" charset="0"/>
              <a:buChar char="•"/>
            </a:pPr>
            <a:r>
              <a:rPr lang="en-US" sz="1998" dirty="0"/>
              <a:t>2016 </a:t>
            </a:r>
            <a:r>
              <a:rPr lang="en-US" sz="1998" dirty="0" err="1"/>
              <a:t>IIoT</a:t>
            </a:r>
            <a:r>
              <a:rPr lang="en-US" sz="1998" dirty="0"/>
              <a:t> Vision, Data Science, AR / VR, Security are developed or receive increased attention</a:t>
            </a:r>
          </a:p>
          <a:p>
            <a:pPr marL="342557" indent="-342557">
              <a:buFont typeface="Arial" panose="020B0604020202020204" pitchFamily="34" charset="0"/>
              <a:buChar char="•"/>
            </a:pPr>
            <a:r>
              <a:rPr lang="en-US" sz="1998" dirty="0"/>
              <a:t>2016 Alpha Go </a:t>
            </a:r>
            <a:r>
              <a:rPr lang="de-DE" sz="1998" dirty="0" err="1"/>
              <a:t>beats</a:t>
            </a:r>
            <a:r>
              <a:rPr lang="de-DE" sz="1998" dirty="0"/>
              <a:t> </a:t>
            </a:r>
            <a:r>
              <a:rPr lang="de-DE" sz="1998" dirty="0" err="1"/>
              <a:t>best</a:t>
            </a:r>
            <a:r>
              <a:rPr lang="de-DE" sz="1998" dirty="0"/>
              <a:t> Go </a:t>
            </a:r>
            <a:r>
              <a:rPr lang="de-DE" sz="1998" dirty="0" err="1"/>
              <a:t>player</a:t>
            </a:r>
            <a:r>
              <a:rPr lang="de-DE" sz="1998" dirty="0"/>
              <a:t> </a:t>
            </a:r>
            <a:r>
              <a:rPr lang="de-DE" sz="1998" dirty="0" err="1"/>
              <a:t>of</a:t>
            </a:r>
            <a:r>
              <a:rPr lang="de-DE" sz="1998" dirty="0"/>
              <a:t> </a:t>
            </a:r>
            <a:r>
              <a:rPr lang="de-DE" sz="1998" dirty="0" err="1"/>
              <a:t>the</a:t>
            </a:r>
            <a:r>
              <a:rPr lang="de-DE" sz="1998" dirty="0"/>
              <a:t> </a:t>
            </a:r>
            <a:r>
              <a:rPr lang="de-DE" sz="1998" dirty="0" err="1"/>
              <a:t>world</a:t>
            </a:r>
            <a:endParaRPr lang="en-US" sz="1998" dirty="0"/>
          </a:p>
          <a:p>
            <a:endParaRPr lang="en-US" sz="1998" dirty="0"/>
          </a:p>
        </p:txBody>
      </p:sp>
      <p:pic>
        <p:nvPicPr>
          <p:cNvPr id="14" name="Picture 13">
            <a:extLst>
              <a:ext uri="{FF2B5EF4-FFF2-40B4-BE49-F238E27FC236}">
                <a16:creationId xmlns:a16="http://schemas.microsoft.com/office/drawing/2014/main" id="{E307F41A-8374-99BD-AFC9-1976214C730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610502" y="4464553"/>
            <a:ext cx="1989819" cy="528666"/>
          </a:xfrm>
          <a:prstGeom prst="rect">
            <a:avLst/>
          </a:prstGeom>
        </p:spPr>
      </p:pic>
      <p:pic>
        <p:nvPicPr>
          <p:cNvPr id="16" name="Picture 15">
            <a:extLst>
              <a:ext uri="{FF2B5EF4-FFF2-40B4-BE49-F238E27FC236}">
                <a16:creationId xmlns:a16="http://schemas.microsoft.com/office/drawing/2014/main" id="{1EC602BD-CD76-B90F-7166-5EE451518E57}"/>
              </a:ext>
            </a:extLst>
          </p:cNvPr>
          <p:cNvPicPr>
            <a:picLocks noChangeAspect="1"/>
          </p:cNvPicPr>
          <p:nvPr/>
        </p:nvPicPr>
        <p:blipFill>
          <a:blip r:embed="rId4"/>
          <a:stretch>
            <a:fillRect/>
          </a:stretch>
        </p:blipFill>
        <p:spPr>
          <a:xfrm>
            <a:off x="8887796" y="2886187"/>
            <a:ext cx="1941349" cy="1199069"/>
          </a:xfrm>
          <a:prstGeom prst="rect">
            <a:avLst/>
          </a:prstGeom>
        </p:spPr>
      </p:pic>
      <p:pic>
        <p:nvPicPr>
          <p:cNvPr id="18" name="Picture 17">
            <a:extLst>
              <a:ext uri="{FF2B5EF4-FFF2-40B4-BE49-F238E27FC236}">
                <a16:creationId xmlns:a16="http://schemas.microsoft.com/office/drawing/2014/main" id="{17C10340-7191-3D03-A33F-67C7A378216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985666" y="3067259"/>
            <a:ext cx="753489" cy="714885"/>
          </a:xfrm>
          <a:prstGeom prst="rect">
            <a:avLst/>
          </a:prstGeom>
        </p:spPr>
      </p:pic>
      <p:sp>
        <p:nvSpPr>
          <p:cNvPr id="19" name="TextBox 18">
            <a:extLst>
              <a:ext uri="{FF2B5EF4-FFF2-40B4-BE49-F238E27FC236}">
                <a16:creationId xmlns:a16="http://schemas.microsoft.com/office/drawing/2014/main" id="{5C533508-D949-F292-6C6F-6474F228B035}"/>
              </a:ext>
            </a:extLst>
          </p:cNvPr>
          <p:cNvSpPr txBox="1"/>
          <p:nvPr/>
        </p:nvSpPr>
        <p:spPr>
          <a:xfrm>
            <a:off x="1061459" y="4983113"/>
            <a:ext cx="6834490" cy="707149"/>
          </a:xfrm>
          <a:prstGeom prst="rect">
            <a:avLst/>
          </a:prstGeom>
          <a:noFill/>
        </p:spPr>
        <p:txBody>
          <a:bodyPr wrap="square">
            <a:spAutoFit/>
          </a:bodyPr>
          <a:lstStyle/>
          <a:p>
            <a:pPr marL="342557" indent="-342557">
              <a:buFont typeface="Arial" panose="020B0604020202020204" pitchFamily="34" charset="0"/>
              <a:buChar char="•"/>
            </a:pPr>
            <a:r>
              <a:rPr lang="en-US" sz="1998"/>
              <a:t>2021 autonomous driving allowed on</a:t>
            </a:r>
            <a:br>
              <a:rPr lang="en-US" sz="1998"/>
            </a:br>
            <a:r>
              <a:rPr lang="en-US" sz="1998"/>
              <a:t>level 3</a:t>
            </a:r>
          </a:p>
        </p:txBody>
      </p:sp>
      <p:pic>
        <p:nvPicPr>
          <p:cNvPr id="21" name="Picture 20">
            <a:extLst>
              <a:ext uri="{FF2B5EF4-FFF2-40B4-BE49-F238E27FC236}">
                <a16:creationId xmlns:a16="http://schemas.microsoft.com/office/drawing/2014/main" id="{5B73E542-2622-5679-B2BE-63D64E46C3D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76769" y="4964291"/>
            <a:ext cx="3240623" cy="1812136"/>
          </a:xfrm>
          <a:prstGeom prst="rect">
            <a:avLst/>
          </a:prstGeom>
        </p:spPr>
      </p:pic>
    </p:spTree>
    <p:extLst>
      <p:ext uri="{BB962C8B-B14F-4D97-AF65-F5344CB8AC3E}">
        <p14:creationId xmlns:p14="http://schemas.microsoft.com/office/powerpoint/2010/main" val="396750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F226C-6A0D-D95A-2CEC-58746A1F4143}"/>
              </a:ext>
            </a:extLst>
          </p:cNvPr>
          <p:cNvSpPr>
            <a:spLocks noGrp="1"/>
          </p:cNvSpPr>
          <p:nvPr>
            <p:ph type="title"/>
          </p:nvPr>
        </p:nvSpPr>
        <p:spPr>
          <a:xfrm>
            <a:off x="332521" y="539606"/>
            <a:ext cx="6299956" cy="1967720"/>
          </a:xfrm>
        </p:spPr>
        <p:txBody>
          <a:bodyPr/>
          <a:lstStyle/>
          <a:p>
            <a:r>
              <a:rPr lang="en-US" dirty="0"/>
              <a:t>Foundational concepts of computers: digital circuits</a:t>
            </a:r>
          </a:p>
        </p:txBody>
      </p:sp>
      <p:sp>
        <p:nvSpPr>
          <p:cNvPr id="4" name="Slide Number Placeholder 3">
            <a:extLst>
              <a:ext uri="{FF2B5EF4-FFF2-40B4-BE49-F238E27FC236}">
                <a16:creationId xmlns:a16="http://schemas.microsoft.com/office/drawing/2014/main" id="{35C99848-7742-3D8D-EB8D-98B2AB50DD04}"/>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23</a:t>
            </a:fld>
            <a:endParaRPr lang="de-DE"/>
          </a:p>
        </p:txBody>
      </p:sp>
      <p:sp>
        <p:nvSpPr>
          <p:cNvPr id="5" name="Line 6">
            <a:extLst>
              <a:ext uri="{FF2B5EF4-FFF2-40B4-BE49-F238E27FC236}">
                <a16:creationId xmlns:a16="http://schemas.microsoft.com/office/drawing/2014/main" id="{D7ECCBE9-F3E8-9A99-3A47-C16B8F83D781}"/>
              </a:ext>
            </a:extLst>
          </p:cNvPr>
          <p:cNvSpPr>
            <a:spLocks noChangeShapeType="1"/>
          </p:cNvSpPr>
          <p:nvPr/>
        </p:nvSpPr>
        <p:spPr bwMode="auto">
          <a:xfrm>
            <a:off x="2690543" y="2633077"/>
            <a:ext cx="648611"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6" name="Text Box 8">
            <a:extLst>
              <a:ext uri="{FF2B5EF4-FFF2-40B4-BE49-F238E27FC236}">
                <a16:creationId xmlns:a16="http://schemas.microsoft.com/office/drawing/2014/main" id="{0AAE8D50-CBD9-A227-68D8-0FD792648F3E}"/>
              </a:ext>
            </a:extLst>
          </p:cNvPr>
          <p:cNvSpPr txBox="1">
            <a:spLocks noChangeArrowheads="1"/>
          </p:cNvSpPr>
          <p:nvPr/>
        </p:nvSpPr>
        <p:spPr bwMode="auto">
          <a:xfrm>
            <a:off x="2403504" y="2417403"/>
            <a:ext cx="317385"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A</a:t>
            </a:r>
          </a:p>
        </p:txBody>
      </p:sp>
      <p:sp>
        <p:nvSpPr>
          <p:cNvPr id="7" name="Line 11">
            <a:extLst>
              <a:ext uri="{FF2B5EF4-FFF2-40B4-BE49-F238E27FC236}">
                <a16:creationId xmlns:a16="http://schemas.microsoft.com/office/drawing/2014/main" id="{47408C50-91C7-B6DB-F1F9-797E1F53389A}"/>
              </a:ext>
            </a:extLst>
          </p:cNvPr>
          <p:cNvSpPr>
            <a:spLocks noChangeShapeType="1"/>
          </p:cNvSpPr>
          <p:nvPr/>
        </p:nvSpPr>
        <p:spPr bwMode="auto">
          <a:xfrm>
            <a:off x="2690543" y="3213077"/>
            <a:ext cx="648611"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8" name="Text Box 12">
            <a:extLst>
              <a:ext uri="{FF2B5EF4-FFF2-40B4-BE49-F238E27FC236}">
                <a16:creationId xmlns:a16="http://schemas.microsoft.com/office/drawing/2014/main" id="{54176DF9-26DA-F517-CA01-241D6F0C8CCB}"/>
              </a:ext>
            </a:extLst>
          </p:cNvPr>
          <p:cNvSpPr txBox="1">
            <a:spLocks noChangeArrowheads="1"/>
          </p:cNvSpPr>
          <p:nvPr/>
        </p:nvSpPr>
        <p:spPr bwMode="auto">
          <a:xfrm>
            <a:off x="2403503" y="2997402"/>
            <a:ext cx="309378"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B</a:t>
            </a:r>
          </a:p>
        </p:txBody>
      </p:sp>
      <p:sp>
        <p:nvSpPr>
          <p:cNvPr id="9" name="Line 13">
            <a:extLst>
              <a:ext uri="{FF2B5EF4-FFF2-40B4-BE49-F238E27FC236}">
                <a16:creationId xmlns:a16="http://schemas.microsoft.com/office/drawing/2014/main" id="{4A4D7F09-682F-C491-406E-D027DCF3E27A}"/>
              </a:ext>
            </a:extLst>
          </p:cNvPr>
          <p:cNvSpPr>
            <a:spLocks noChangeShapeType="1"/>
          </p:cNvSpPr>
          <p:nvPr/>
        </p:nvSpPr>
        <p:spPr bwMode="auto">
          <a:xfrm flipH="1">
            <a:off x="3687072" y="4507997"/>
            <a:ext cx="0" cy="50430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0" name="Text Box 14">
            <a:extLst>
              <a:ext uri="{FF2B5EF4-FFF2-40B4-BE49-F238E27FC236}">
                <a16:creationId xmlns:a16="http://schemas.microsoft.com/office/drawing/2014/main" id="{2BD71429-F426-99C9-1802-D15B2543F783}"/>
              </a:ext>
            </a:extLst>
          </p:cNvPr>
          <p:cNvSpPr txBox="1">
            <a:spLocks noChangeArrowheads="1"/>
          </p:cNvSpPr>
          <p:nvPr/>
        </p:nvSpPr>
        <p:spPr bwMode="auto">
          <a:xfrm>
            <a:off x="3482499" y="5010709"/>
            <a:ext cx="368628"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S</a:t>
            </a:r>
            <a:r>
              <a:rPr lang="en-US" altLang="ko-KR" baseline="-25000">
                <a:latin typeface="Verdana Ref" charset="0"/>
              </a:rPr>
              <a:t>1</a:t>
            </a:r>
          </a:p>
        </p:txBody>
      </p:sp>
      <p:sp>
        <p:nvSpPr>
          <p:cNvPr id="11" name="Line 11">
            <a:extLst>
              <a:ext uri="{FF2B5EF4-FFF2-40B4-BE49-F238E27FC236}">
                <a16:creationId xmlns:a16="http://schemas.microsoft.com/office/drawing/2014/main" id="{FCD066DE-5382-4968-1415-499F90C2275E}"/>
              </a:ext>
            </a:extLst>
          </p:cNvPr>
          <p:cNvSpPr>
            <a:spLocks noChangeShapeType="1"/>
          </p:cNvSpPr>
          <p:nvPr/>
        </p:nvSpPr>
        <p:spPr bwMode="auto">
          <a:xfrm>
            <a:off x="2690543" y="3781875"/>
            <a:ext cx="648611"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2" name="Text Box 12">
            <a:extLst>
              <a:ext uri="{FF2B5EF4-FFF2-40B4-BE49-F238E27FC236}">
                <a16:creationId xmlns:a16="http://schemas.microsoft.com/office/drawing/2014/main" id="{D5B4A61F-19AE-D519-86FD-2C92C5AAE042}"/>
              </a:ext>
            </a:extLst>
          </p:cNvPr>
          <p:cNvSpPr txBox="1">
            <a:spLocks noChangeArrowheads="1"/>
          </p:cNvSpPr>
          <p:nvPr/>
        </p:nvSpPr>
        <p:spPr bwMode="auto">
          <a:xfrm>
            <a:off x="2403503" y="3566200"/>
            <a:ext cx="307777"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C</a:t>
            </a:r>
          </a:p>
        </p:txBody>
      </p:sp>
      <p:sp>
        <p:nvSpPr>
          <p:cNvPr id="13" name="Line 11">
            <a:extLst>
              <a:ext uri="{FF2B5EF4-FFF2-40B4-BE49-F238E27FC236}">
                <a16:creationId xmlns:a16="http://schemas.microsoft.com/office/drawing/2014/main" id="{FB3CAFEB-65E7-E7C6-0245-6D59074771F8}"/>
              </a:ext>
            </a:extLst>
          </p:cNvPr>
          <p:cNvSpPr>
            <a:spLocks noChangeShapeType="1"/>
          </p:cNvSpPr>
          <p:nvPr/>
        </p:nvSpPr>
        <p:spPr bwMode="auto">
          <a:xfrm>
            <a:off x="2690543" y="4350674"/>
            <a:ext cx="648611"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4" name="Text Box 12">
            <a:extLst>
              <a:ext uri="{FF2B5EF4-FFF2-40B4-BE49-F238E27FC236}">
                <a16:creationId xmlns:a16="http://schemas.microsoft.com/office/drawing/2014/main" id="{FAAE16C3-2350-2BBD-C086-84116336BFF3}"/>
              </a:ext>
            </a:extLst>
          </p:cNvPr>
          <p:cNvSpPr txBox="1">
            <a:spLocks noChangeArrowheads="1"/>
          </p:cNvSpPr>
          <p:nvPr/>
        </p:nvSpPr>
        <p:spPr bwMode="auto">
          <a:xfrm>
            <a:off x="2403503" y="4134998"/>
            <a:ext cx="326993"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D</a:t>
            </a:r>
          </a:p>
        </p:txBody>
      </p:sp>
      <p:sp>
        <p:nvSpPr>
          <p:cNvPr id="15" name="Line 13">
            <a:extLst>
              <a:ext uri="{FF2B5EF4-FFF2-40B4-BE49-F238E27FC236}">
                <a16:creationId xmlns:a16="http://schemas.microsoft.com/office/drawing/2014/main" id="{F6E93715-61BC-B4D9-F5F5-55575FC7682A}"/>
              </a:ext>
            </a:extLst>
          </p:cNvPr>
          <p:cNvSpPr>
            <a:spLocks noChangeShapeType="1"/>
          </p:cNvSpPr>
          <p:nvPr/>
        </p:nvSpPr>
        <p:spPr bwMode="auto">
          <a:xfrm>
            <a:off x="3914098" y="4364131"/>
            <a:ext cx="8648" cy="64816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6" name="Text Box 14">
            <a:extLst>
              <a:ext uri="{FF2B5EF4-FFF2-40B4-BE49-F238E27FC236}">
                <a16:creationId xmlns:a16="http://schemas.microsoft.com/office/drawing/2014/main" id="{86257C6C-DE9A-D63F-50B4-23F230A4FABE}"/>
              </a:ext>
            </a:extLst>
          </p:cNvPr>
          <p:cNvSpPr txBox="1">
            <a:spLocks noChangeArrowheads="1"/>
          </p:cNvSpPr>
          <p:nvPr/>
        </p:nvSpPr>
        <p:spPr bwMode="auto">
          <a:xfrm>
            <a:off x="3718172" y="5010709"/>
            <a:ext cx="368628"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S</a:t>
            </a:r>
            <a:r>
              <a:rPr lang="en-US" altLang="ko-KR" baseline="-25000">
                <a:latin typeface="Verdana Ref" charset="0"/>
              </a:rPr>
              <a:t>0</a:t>
            </a:r>
          </a:p>
        </p:txBody>
      </p:sp>
      <p:sp>
        <p:nvSpPr>
          <p:cNvPr id="17" name="Trapezoid 16">
            <a:extLst>
              <a:ext uri="{FF2B5EF4-FFF2-40B4-BE49-F238E27FC236}">
                <a16:creationId xmlns:a16="http://schemas.microsoft.com/office/drawing/2014/main" id="{8C5A5D6C-2A26-B9DD-93A9-EEF7D4265C53}"/>
              </a:ext>
            </a:extLst>
          </p:cNvPr>
          <p:cNvSpPr/>
          <p:nvPr/>
        </p:nvSpPr>
        <p:spPr>
          <a:xfrm rot="5400000">
            <a:off x="2471448" y="3073323"/>
            <a:ext cx="2517657" cy="783288"/>
          </a:xfrm>
          <a:prstGeom prst="trapezoid">
            <a:avLst>
              <a:gd name="adj" fmla="val 51121"/>
            </a:avLst>
          </a:prstGeom>
          <a:solidFill>
            <a:schemeClr val="accent1">
              <a:lumMod val="20000"/>
              <a:lumOff val="80000"/>
            </a:schemeClr>
          </a:solidFill>
          <a:ln w="317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Line 7">
            <a:extLst>
              <a:ext uri="{FF2B5EF4-FFF2-40B4-BE49-F238E27FC236}">
                <a16:creationId xmlns:a16="http://schemas.microsoft.com/office/drawing/2014/main" id="{EF528EE6-B626-96A0-3357-3A6C6983EA4D}"/>
              </a:ext>
            </a:extLst>
          </p:cNvPr>
          <p:cNvSpPr>
            <a:spLocks noChangeShapeType="1"/>
          </p:cNvSpPr>
          <p:nvPr/>
        </p:nvSpPr>
        <p:spPr bwMode="auto">
          <a:xfrm>
            <a:off x="4130493" y="3492096"/>
            <a:ext cx="574077"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9" name="Text Box 9">
            <a:extLst>
              <a:ext uri="{FF2B5EF4-FFF2-40B4-BE49-F238E27FC236}">
                <a16:creationId xmlns:a16="http://schemas.microsoft.com/office/drawing/2014/main" id="{C5133E87-7CA0-D0A2-1421-BF97002E40C9}"/>
              </a:ext>
            </a:extLst>
          </p:cNvPr>
          <p:cNvSpPr txBox="1">
            <a:spLocks noChangeArrowheads="1"/>
          </p:cNvSpPr>
          <p:nvPr/>
        </p:nvSpPr>
        <p:spPr bwMode="auto">
          <a:xfrm>
            <a:off x="4633206" y="3347784"/>
            <a:ext cx="339804" cy="368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Q</a:t>
            </a:r>
          </a:p>
        </p:txBody>
      </p:sp>
      <p:sp>
        <p:nvSpPr>
          <p:cNvPr id="20" name="Text Box 16">
            <a:extLst>
              <a:ext uri="{FF2B5EF4-FFF2-40B4-BE49-F238E27FC236}">
                <a16:creationId xmlns:a16="http://schemas.microsoft.com/office/drawing/2014/main" id="{CDD8B4DB-EF60-EE6E-CA1D-2087D6532881}"/>
              </a:ext>
            </a:extLst>
          </p:cNvPr>
          <p:cNvSpPr txBox="1">
            <a:spLocks noChangeArrowheads="1"/>
          </p:cNvSpPr>
          <p:nvPr/>
        </p:nvSpPr>
        <p:spPr bwMode="auto">
          <a:xfrm>
            <a:off x="3338632" y="2487181"/>
            <a:ext cx="418268" cy="20292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altLang="ko-KR">
                <a:latin typeface="Verdana Ref" charset="0"/>
              </a:rPr>
              <a:t>00</a:t>
            </a:r>
          </a:p>
          <a:p>
            <a:endParaRPr lang="en-US" altLang="ko-KR">
              <a:latin typeface="Verdana Ref" charset="0"/>
            </a:endParaRPr>
          </a:p>
          <a:p>
            <a:r>
              <a:rPr lang="en-US" altLang="ko-KR">
                <a:latin typeface="Verdana Ref" charset="0"/>
              </a:rPr>
              <a:t>01</a:t>
            </a:r>
          </a:p>
          <a:p>
            <a:endParaRPr lang="en-US" altLang="ko-KR">
              <a:latin typeface="Verdana Ref" charset="0"/>
            </a:endParaRPr>
          </a:p>
          <a:p>
            <a:r>
              <a:rPr lang="en-US" altLang="ko-KR">
                <a:latin typeface="Verdana Ref" charset="0"/>
              </a:rPr>
              <a:t>10</a:t>
            </a:r>
          </a:p>
          <a:p>
            <a:endParaRPr lang="en-US" altLang="ko-KR">
              <a:latin typeface="Verdana Ref" charset="0"/>
            </a:endParaRPr>
          </a:p>
          <a:p>
            <a:r>
              <a:rPr lang="en-US" altLang="ko-KR">
                <a:latin typeface="Verdana Ref" charset="0"/>
              </a:rPr>
              <a:t>11</a:t>
            </a:r>
          </a:p>
        </p:txBody>
      </p:sp>
      <p:grpSp>
        <p:nvGrpSpPr>
          <p:cNvPr id="21" name="Gruppieren 1">
            <a:extLst>
              <a:ext uri="{FF2B5EF4-FFF2-40B4-BE49-F238E27FC236}">
                <a16:creationId xmlns:a16="http://schemas.microsoft.com/office/drawing/2014/main" id="{06363772-353E-7C45-0B74-0E4311185262}"/>
              </a:ext>
            </a:extLst>
          </p:cNvPr>
          <p:cNvGrpSpPr/>
          <p:nvPr/>
        </p:nvGrpSpPr>
        <p:grpSpPr>
          <a:xfrm>
            <a:off x="5643699" y="1700490"/>
            <a:ext cx="5251114" cy="4787611"/>
            <a:chOff x="5640016" y="1196752"/>
            <a:chExt cx="5256584" cy="4792598"/>
          </a:xfrm>
        </p:grpSpPr>
        <p:sp>
          <p:nvSpPr>
            <p:cNvPr id="22" name="Freeform 11">
              <a:extLst>
                <a:ext uri="{FF2B5EF4-FFF2-40B4-BE49-F238E27FC236}">
                  <a16:creationId xmlns:a16="http://schemas.microsoft.com/office/drawing/2014/main" id="{2DD328AB-ED2B-6BF6-31C2-47C87CF66C21}"/>
                </a:ext>
              </a:extLst>
            </p:cNvPr>
            <p:cNvSpPr>
              <a:spLocks noChangeArrowheads="1"/>
            </p:cNvSpPr>
            <p:nvPr/>
          </p:nvSpPr>
          <p:spPr bwMode="auto">
            <a:xfrm>
              <a:off x="7155632" y="1268760"/>
              <a:ext cx="1079499" cy="720725"/>
            </a:xfrm>
            <a:custGeom>
              <a:avLst/>
              <a:gdLst>
                <a:gd name="T0" fmla="*/ 2147483647 w 2998"/>
                <a:gd name="T1" fmla="*/ 2147483647 h 2002"/>
                <a:gd name="T2" fmla="*/ 2147483647 w 2998"/>
                <a:gd name="T3" fmla="*/ 2147483647 h 2002"/>
                <a:gd name="T4" fmla="*/ 2147483647 w 2998"/>
                <a:gd name="T5" fmla="*/ 2147483647 h 2002"/>
                <a:gd name="T6" fmla="*/ 0 w 2998"/>
                <a:gd name="T7" fmla="*/ 2147483647 h 2002"/>
                <a:gd name="T8" fmla="*/ 0 w 2998"/>
                <a:gd name="T9" fmla="*/ 2147483647 h 2002"/>
                <a:gd name="T10" fmla="*/ 2147483647 w 2998"/>
                <a:gd name="T11" fmla="*/ 2147483647 h 2002"/>
                <a:gd name="T12" fmla="*/ 0 60000 65536"/>
                <a:gd name="T13" fmla="*/ 0 60000 65536"/>
                <a:gd name="T14" fmla="*/ 0 60000 65536"/>
                <a:gd name="T15" fmla="*/ 0 60000 65536"/>
                <a:gd name="T16" fmla="*/ 0 60000 65536"/>
                <a:gd name="T17" fmla="*/ 0 60000 65536"/>
                <a:gd name="T18" fmla="*/ 0 w 2998"/>
                <a:gd name="T19" fmla="*/ 0 h 2002"/>
                <a:gd name="T20" fmla="*/ 2998 w 2998"/>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2998" h="2002">
                  <a:moveTo>
                    <a:pt x="1998" y="4"/>
                  </a:moveTo>
                  <a:cubicBezTo>
                    <a:pt x="2597" y="4"/>
                    <a:pt x="2997" y="403"/>
                    <a:pt x="2996" y="1002"/>
                  </a:cubicBezTo>
                  <a:cubicBezTo>
                    <a:pt x="2995" y="1601"/>
                    <a:pt x="2564" y="2001"/>
                    <a:pt x="1997" y="2001"/>
                  </a:cubicBezTo>
                  <a:cubicBezTo>
                    <a:pt x="1698" y="2001"/>
                    <a:pt x="333" y="2001"/>
                    <a:pt x="0" y="2001"/>
                  </a:cubicBezTo>
                  <a:lnTo>
                    <a:pt x="0" y="4"/>
                  </a:lnTo>
                  <a:cubicBezTo>
                    <a:pt x="333" y="4"/>
                    <a:pt x="1726" y="0"/>
                    <a:pt x="1998" y="4"/>
                  </a:cubicBezTo>
                </a:path>
              </a:pathLst>
            </a:custGeom>
            <a:solidFill>
              <a:srgbClr val="FFFFFF"/>
            </a:solidFill>
            <a:ln w="9525">
              <a:solidFill>
                <a:srgbClr val="000000"/>
              </a:solidFill>
              <a:miter lim="800000"/>
              <a:headEnd/>
              <a:tailEnd/>
            </a:ln>
          </p:spPr>
          <p:txBody>
            <a:bodyPr wrap="none" anchor="ctr"/>
            <a:lstStyle/>
            <a:p>
              <a:endParaRPr lang="en-US"/>
            </a:p>
          </p:txBody>
        </p:sp>
        <p:sp>
          <p:nvSpPr>
            <p:cNvPr id="23" name="Freeform 12">
              <a:extLst>
                <a:ext uri="{FF2B5EF4-FFF2-40B4-BE49-F238E27FC236}">
                  <a16:creationId xmlns:a16="http://schemas.microsoft.com/office/drawing/2014/main" id="{C835748E-0C4B-B50F-0DC0-C15816DCFC05}"/>
                </a:ext>
              </a:extLst>
            </p:cNvPr>
            <p:cNvSpPr>
              <a:spLocks noChangeArrowheads="1"/>
            </p:cNvSpPr>
            <p:nvPr/>
          </p:nvSpPr>
          <p:spPr bwMode="auto">
            <a:xfrm>
              <a:off x="7155632" y="1270348"/>
              <a:ext cx="1588" cy="1587"/>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solidFill>
              <a:srgbClr val="FFFFFF"/>
            </a:solidFill>
            <a:ln w="9525">
              <a:solidFill>
                <a:srgbClr val="000000"/>
              </a:solidFill>
              <a:miter lim="800000"/>
              <a:headEnd/>
              <a:tailEnd/>
            </a:ln>
          </p:spPr>
          <p:txBody>
            <a:bodyPr wrap="none" anchor="ctr"/>
            <a:lstStyle/>
            <a:p>
              <a:endParaRPr lang="en-US"/>
            </a:p>
          </p:txBody>
        </p:sp>
        <p:sp>
          <p:nvSpPr>
            <p:cNvPr id="24" name="Freeform 13">
              <a:extLst>
                <a:ext uri="{FF2B5EF4-FFF2-40B4-BE49-F238E27FC236}">
                  <a16:creationId xmlns:a16="http://schemas.microsoft.com/office/drawing/2014/main" id="{1537EC7D-28CE-A84E-FAF8-FCB1DA286D9E}"/>
                </a:ext>
              </a:extLst>
            </p:cNvPr>
            <p:cNvSpPr>
              <a:spLocks noChangeArrowheads="1"/>
            </p:cNvSpPr>
            <p:nvPr/>
          </p:nvSpPr>
          <p:spPr bwMode="auto">
            <a:xfrm>
              <a:off x="6000057" y="1404016"/>
              <a:ext cx="1157164"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25" name="Freeform 14">
              <a:extLst>
                <a:ext uri="{FF2B5EF4-FFF2-40B4-BE49-F238E27FC236}">
                  <a16:creationId xmlns:a16="http://schemas.microsoft.com/office/drawing/2014/main" id="{14514220-6481-259E-9826-8CAEF6FD28EF}"/>
                </a:ext>
              </a:extLst>
            </p:cNvPr>
            <p:cNvSpPr>
              <a:spLocks noChangeArrowheads="1"/>
            </p:cNvSpPr>
            <p:nvPr/>
          </p:nvSpPr>
          <p:spPr bwMode="auto">
            <a:xfrm>
              <a:off x="6796857" y="1808510"/>
              <a:ext cx="360363" cy="1588"/>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26" name="Freeform 15">
              <a:extLst>
                <a:ext uri="{FF2B5EF4-FFF2-40B4-BE49-F238E27FC236}">
                  <a16:creationId xmlns:a16="http://schemas.microsoft.com/office/drawing/2014/main" id="{8B5C8CF6-43F6-B2FF-B37A-0A6E1C3D16D9}"/>
                </a:ext>
              </a:extLst>
            </p:cNvPr>
            <p:cNvSpPr>
              <a:spLocks noChangeArrowheads="1"/>
            </p:cNvSpPr>
            <p:nvPr/>
          </p:nvSpPr>
          <p:spPr bwMode="auto">
            <a:xfrm>
              <a:off x="8235131" y="1629123"/>
              <a:ext cx="864419"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27" name="Freeform 11">
              <a:extLst>
                <a:ext uri="{FF2B5EF4-FFF2-40B4-BE49-F238E27FC236}">
                  <a16:creationId xmlns:a16="http://schemas.microsoft.com/office/drawing/2014/main" id="{E1302169-7293-E963-C0F1-6A4992AB5921}"/>
                </a:ext>
              </a:extLst>
            </p:cNvPr>
            <p:cNvSpPr>
              <a:spLocks noChangeArrowheads="1"/>
            </p:cNvSpPr>
            <p:nvPr/>
          </p:nvSpPr>
          <p:spPr bwMode="auto">
            <a:xfrm>
              <a:off x="7155632" y="2276872"/>
              <a:ext cx="1079499" cy="720725"/>
            </a:xfrm>
            <a:custGeom>
              <a:avLst/>
              <a:gdLst>
                <a:gd name="T0" fmla="*/ 2147483647 w 2998"/>
                <a:gd name="T1" fmla="*/ 2147483647 h 2002"/>
                <a:gd name="T2" fmla="*/ 2147483647 w 2998"/>
                <a:gd name="T3" fmla="*/ 2147483647 h 2002"/>
                <a:gd name="T4" fmla="*/ 2147483647 w 2998"/>
                <a:gd name="T5" fmla="*/ 2147483647 h 2002"/>
                <a:gd name="T6" fmla="*/ 0 w 2998"/>
                <a:gd name="T7" fmla="*/ 2147483647 h 2002"/>
                <a:gd name="T8" fmla="*/ 0 w 2998"/>
                <a:gd name="T9" fmla="*/ 2147483647 h 2002"/>
                <a:gd name="T10" fmla="*/ 2147483647 w 2998"/>
                <a:gd name="T11" fmla="*/ 2147483647 h 2002"/>
                <a:gd name="T12" fmla="*/ 0 60000 65536"/>
                <a:gd name="T13" fmla="*/ 0 60000 65536"/>
                <a:gd name="T14" fmla="*/ 0 60000 65536"/>
                <a:gd name="T15" fmla="*/ 0 60000 65536"/>
                <a:gd name="T16" fmla="*/ 0 60000 65536"/>
                <a:gd name="T17" fmla="*/ 0 60000 65536"/>
                <a:gd name="T18" fmla="*/ 0 w 2998"/>
                <a:gd name="T19" fmla="*/ 0 h 2002"/>
                <a:gd name="T20" fmla="*/ 2998 w 2998"/>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2998" h="2002">
                  <a:moveTo>
                    <a:pt x="1998" y="4"/>
                  </a:moveTo>
                  <a:cubicBezTo>
                    <a:pt x="2597" y="4"/>
                    <a:pt x="2997" y="403"/>
                    <a:pt x="2996" y="1002"/>
                  </a:cubicBezTo>
                  <a:cubicBezTo>
                    <a:pt x="2995" y="1601"/>
                    <a:pt x="2564" y="2001"/>
                    <a:pt x="1997" y="2001"/>
                  </a:cubicBezTo>
                  <a:cubicBezTo>
                    <a:pt x="1698" y="2001"/>
                    <a:pt x="333" y="2001"/>
                    <a:pt x="0" y="2001"/>
                  </a:cubicBezTo>
                  <a:lnTo>
                    <a:pt x="0" y="4"/>
                  </a:lnTo>
                  <a:cubicBezTo>
                    <a:pt x="333" y="4"/>
                    <a:pt x="1726" y="0"/>
                    <a:pt x="1998" y="4"/>
                  </a:cubicBezTo>
                </a:path>
              </a:pathLst>
            </a:custGeom>
            <a:solidFill>
              <a:srgbClr val="FFFFFF"/>
            </a:solidFill>
            <a:ln w="9525">
              <a:solidFill>
                <a:srgbClr val="000000"/>
              </a:solidFill>
              <a:miter lim="800000"/>
              <a:headEnd/>
              <a:tailEnd/>
            </a:ln>
          </p:spPr>
          <p:txBody>
            <a:bodyPr wrap="none" anchor="ctr"/>
            <a:lstStyle/>
            <a:p>
              <a:endParaRPr lang="en-US"/>
            </a:p>
          </p:txBody>
        </p:sp>
        <p:sp>
          <p:nvSpPr>
            <p:cNvPr id="28" name="Freeform 12">
              <a:extLst>
                <a:ext uri="{FF2B5EF4-FFF2-40B4-BE49-F238E27FC236}">
                  <a16:creationId xmlns:a16="http://schemas.microsoft.com/office/drawing/2014/main" id="{5C0DB0D0-48BC-E7BD-F634-09D8C2F9C922}"/>
                </a:ext>
              </a:extLst>
            </p:cNvPr>
            <p:cNvSpPr>
              <a:spLocks noChangeArrowheads="1"/>
            </p:cNvSpPr>
            <p:nvPr/>
          </p:nvSpPr>
          <p:spPr bwMode="auto">
            <a:xfrm>
              <a:off x="7155632" y="2278460"/>
              <a:ext cx="1588" cy="1587"/>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solidFill>
              <a:srgbClr val="FFFFFF"/>
            </a:solidFill>
            <a:ln w="9525">
              <a:solidFill>
                <a:srgbClr val="000000"/>
              </a:solidFill>
              <a:miter lim="800000"/>
              <a:headEnd/>
              <a:tailEnd/>
            </a:ln>
          </p:spPr>
          <p:txBody>
            <a:bodyPr wrap="none" anchor="ctr"/>
            <a:lstStyle/>
            <a:p>
              <a:endParaRPr lang="en-US"/>
            </a:p>
          </p:txBody>
        </p:sp>
        <p:sp>
          <p:nvSpPr>
            <p:cNvPr id="29" name="Freeform 13">
              <a:extLst>
                <a:ext uri="{FF2B5EF4-FFF2-40B4-BE49-F238E27FC236}">
                  <a16:creationId xmlns:a16="http://schemas.microsoft.com/office/drawing/2014/main" id="{934C1163-06AF-9079-2E9A-08B731209FDF}"/>
                </a:ext>
              </a:extLst>
            </p:cNvPr>
            <p:cNvSpPr>
              <a:spLocks noChangeArrowheads="1"/>
            </p:cNvSpPr>
            <p:nvPr/>
          </p:nvSpPr>
          <p:spPr bwMode="auto">
            <a:xfrm>
              <a:off x="6000057" y="2412128"/>
              <a:ext cx="1157164"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30" name="Freeform 14">
              <a:extLst>
                <a:ext uri="{FF2B5EF4-FFF2-40B4-BE49-F238E27FC236}">
                  <a16:creationId xmlns:a16="http://schemas.microsoft.com/office/drawing/2014/main" id="{4A7177B9-3441-D936-89F6-4B8CB38C1113}"/>
                </a:ext>
              </a:extLst>
            </p:cNvPr>
            <p:cNvSpPr>
              <a:spLocks noChangeArrowheads="1"/>
            </p:cNvSpPr>
            <p:nvPr/>
          </p:nvSpPr>
          <p:spPr bwMode="auto">
            <a:xfrm>
              <a:off x="6796857" y="2816622"/>
              <a:ext cx="360363" cy="1588"/>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31" name="Freeform 15">
              <a:extLst>
                <a:ext uri="{FF2B5EF4-FFF2-40B4-BE49-F238E27FC236}">
                  <a16:creationId xmlns:a16="http://schemas.microsoft.com/office/drawing/2014/main" id="{58FA49EC-FEF2-45BD-76AD-69C39DFFA9F0}"/>
                </a:ext>
              </a:extLst>
            </p:cNvPr>
            <p:cNvSpPr>
              <a:spLocks noChangeArrowheads="1"/>
            </p:cNvSpPr>
            <p:nvPr/>
          </p:nvSpPr>
          <p:spPr bwMode="auto">
            <a:xfrm>
              <a:off x="8235131" y="2637235"/>
              <a:ext cx="360363" cy="1587"/>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32" name="Freeform 11">
              <a:extLst>
                <a:ext uri="{FF2B5EF4-FFF2-40B4-BE49-F238E27FC236}">
                  <a16:creationId xmlns:a16="http://schemas.microsoft.com/office/drawing/2014/main" id="{E297D00A-8CA6-89A8-FD6E-FAB6E05623F0}"/>
                </a:ext>
              </a:extLst>
            </p:cNvPr>
            <p:cNvSpPr>
              <a:spLocks noChangeArrowheads="1"/>
            </p:cNvSpPr>
            <p:nvPr/>
          </p:nvSpPr>
          <p:spPr bwMode="auto">
            <a:xfrm>
              <a:off x="7155632" y="3284984"/>
              <a:ext cx="1079499" cy="720725"/>
            </a:xfrm>
            <a:custGeom>
              <a:avLst/>
              <a:gdLst>
                <a:gd name="T0" fmla="*/ 2147483647 w 2998"/>
                <a:gd name="T1" fmla="*/ 2147483647 h 2002"/>
                <a:gd name="T2" fmla="*/ 2147483647 w 2998"/>
                <a:gd name="T3" fmla="*/ 2147483647 h 2002"/>
                <a:gd name="T4" fmla="*/ 2147483647 w 2998"/>
                <a:gd name="T5" fmla="*/ 2147483647 h 2002"/>
                <a:gd name="T6" fmla="*/ 0 w 2998"/>
                <a:gd name="T7" fmla="*/ 2147483647 h 2002"/>
                <a:gd name="T8" fmla="*/ 0 w 2998"/>
                <a:gd name="T9" fmla="*/ 2147483647 h 2002"/>
                <a:gd name="T10" fmla="*/ 2147483647 w 2998"/>
                <a:gd name="T11" fmla="*/ 2147483647 h 2002"/>
                <a:gd name="T12" fmla="*/ 0 60000 65536"/>
                <a:gd name="T13" fmla="*/ 0 60000 65536"/>
                <a:gd name="T14" fmla="*/ 0 60000 65536"/>
                <a:gd name="T15" fmla="*/ 0 60000 65536"/>
                <a:gd name="T16" fmla="*/ 0 60000 65536"/>
                <a:gd name="T17" fmla="*/ 0 60000 65536"/>
                <a:gd name="T18" fmla="*/ 0 w 2998"/>
                <a:gd name="T19" fmla="*/ 0 h 2002"/>
                <a:gd name="T20" fmla="*/ 2998 w 2998"/>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2998" h="2002">
                  <a:moveTo>
                    <a:pt x="1998" y="4"/>
                  </a:moveTo>
                  <a:cubicBezTo>
                    <a:pt x="2597" y="4"/>
                    <a:pt x="2997" y="403"/>
                    <a:pt x="2996" y="1002"/>
                  </a:cubicBezTo>
                  <a:cubicBezTo>
                    <a:pt x="2995" y="1601"/>
                    <a:pt x="2564" y="2001"/>
                    <a:pt x="1997" y="2001"/>
                  </a:cubicBezTo>
                  <a:cubicBezTo>
                    <a:pt x="1698" y="2001"/>
                    <a:pt x="333" y="2001"/>
                    <a:pt x="0" y="2001"/>
                  </a:cubicBezTo>
                  <a:lnTo>
                    <a:pt x="0" y="4"/>
                  </a:lnTo>
                  <a:cubicBezTo>
                    <a:pt x="333" y="4"/>
                    <a:pt x="1726" y="0"/>
                    <a:pt x="1998" y="4"/>
                  </a:cubicBezTo>
                </a:path>
              </a:pathLst>
            </a:custGeom>
            <a:solidFill>
              <a:srgbClr val="FFFFFF"/>
            </a:solidFill>
            <a:ln w="9525">
              <a:solidFill>
                <a:srgbClr val="000000"/>
              </a:solidFill>
              <a:miter lim="800000"/>
              <a:headEnd/>
              <a:tailEnd/>
            </a:ln>
          </p:spPr>
          <p:txBody>
            <a:bodyPr wrap="none" anchor="ctr"/>
            <a:lstStyle/>
            <a:p>
              <a:endParaRPr lang="en-US"/>
            </a:p>
          </p:txBody>
        </p:sp>
        <p:sp>
          <p:nvSpPr>
            <p:cNvPr id="33" name="Freeform 12">
              <a:extLst>
                <a:ext uri="{FF2B5EF4-FFF2-40B4-BE49-F238E27FC236}">
                  <a16:creationId xmlns:a16="http://schemas.microsoft.com/office/drawing/2014/main" id="{6D37B50D-568B-3B0E-4005-A1FD78DF226D}"/>
                </a:ext>
              </a:extLst>
            </p:cNvPr>
            <p:cNvSpPr>
              <a:spLocks noChangeArrowheads="1"/>
            </p:cNvSpPr>
            <p:nvPr/>
          </p:nvSpPr>
          <p:spPr bwMode="auto">
            <a:xfrm>
              <a:off x="7155632" y="3286572"/>
              <a:ext cx="1588" cy="1587"/>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solidFill>
              <a:srgbClr val="FFFFFF"/>
            </a:solidFill>
            <a:ln w="9525">
              <a:solidFill>
                <a:srgbClr val="000000"/>
              </a:solidFill>
              <a:miter lim="800000"/>
              <a:headEnd/>
              <a:tailEnd/>
            </a:ln>
          </p:spPr>
          <p:txBody>
            <a:bodyPr wrap="none" anchor="ctr"/>
            <a:lstStyle/>
            <a:p>
              <a:endParaRPr lang="en-US"/>
            </a:p>
          </p:txBody>
        </p:sp>
        <p:sp>
          <p:nvSpPr>
            <p:cNvPr id="34" name="Freeform 13">
              <a:extLst>
                <a:ext uri="{FF2B5EF4-FFF2-40B4-BE49-F238E27FC236}">
                  <a16:creationId xmlns:a16="http://schemas.microsoft.com/office/drawing/2014/main" id="{07D91DED-F37B-E563-C1E2-147C03DAAE47}"/>
                </a:ext>
              </a:extLst>
            </p:cNvPr>
            <p:cNvSpPr>
              <a:spLocks noChangeArrowheads="1"/>
            </p:cNvSpPr>
            <p:nvPr/>
          </p:nvSpPr>
          <p:spPr bwMode="auto">
            <a:xfrm>
              <a:off x="6000057" y="3420240"/>
              <a:ext cx="1157164"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35" name="Freeform 14">
              <a:extLst>
                <a:ext uri="{FF2B5EF4-FFF2-40B4-BE49-F238E27FC236}">
                  <a16:creationId xmlns:a16="http://schemas.microsoft.com/office/drawing/2014/main" id="{EA4C44DB-4A89-B4DB-AE29-153E288708CD}"/>
                </a:ext>
              </a:extLst>
            </p:cNvPr>
            <p:cNvSpPr>
              <a:spLocks noChangeArrowheads="1"/>
            </p:cNvSpPr>
            <p:nvPr/>
          </p:nvSpPr>
          <p:spPr bwMode="auto">
            <a:xfrm>
              <a:off x="6796857" y="3824734"/>
              <a:ext cx="360363" cy="1588"/>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36" name="Freeform 15">
              <a:extLst>
                <a:ext uri="{FF2B5EF4-FFF2-40B4-BE49-F238E27FC236}">
                  <a16:creationId xmlns:a16="http://schemas.microsoft.com/office/drawing/2014/main" id="{63C07BCB-1181-5EC2-42D7-1720BF008762}"/>
                </a:ext>
              </a:extLst>
            </p:cNvPr>
            <p:cNvSpPr>
              <a:spLocks noChangeArrowheads="1"/>
            </p:cNvSpPr>
            <p:nvPr/>
          </p:nvSpPr>
          <p:spPr bwMode="auto">
            <a:xfrm>
              <a:off x="8235131" y="3645347"/>
              <a:ext cx="360363" cy="1587"/>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37" name="Freeform 11">
              <a:extLst>
                <a:ext uri="{FF2B5EF4-FFF2-40B4-BE49-F238E27FC236}">
                  <a16:creationId xmlns:a16="http://schemas.microsoft.com/office/drawing/2014/main" id="{46E935A0-432F-7593-2218-5C93BD5C648E}"/>
                </a:ext>
              </a:extLst>
            </p:cNvPr>
            <p:cNvSpPr>
              <a:spLocks noChangeArrowheads="1"/>
            </p:cNvSpPr>
            <p:nvPr/>
          </p:nvSpPr>
          <p:spPr bwMode="auto">
            <a:xfrm>
              <a:off x="7155632" y="4293096"/>
              <a:ext cx="1079499" cy="720725"/>
            </a:xfrm>
            <a:custGeom>
              <a:avLst/>
              <a:gdLst>
                <a:gd name="T0" fmla="*/ 2147483647 w 2998"/>
                <a:gd name="T1" fmla="*/ 2147483647 h 2002"/>
                <a:gd name="T2" fmla="*/ 2147483647 w 2998"/>
                <a:gd name="T3" fmla="*/ 2147483647 h 2002"/>
                <a:gd name="T4" fmla="*/ 2147483647 w 2998"/>
                <a:gd name="T5" fmla="*/ 2147483647 h 2002"/>
                <a:gd name="T6" fmla="*/ 0 w 2998"/>
                <a:gd name="T7" fmla="*/ 2147483647 h 2002"/>
                <a:gd name="T8" fmla="*/ 0 w 2998"/>
                <a:gd name="T9" fmla="*/ 2147483647 h 2002"/>
                <a:gd name="T10" fmla="*/ 2147483647 w 2998"/>
                <a:gd name="T11" fmla="*/ 2147483647 h 2002"/>
                <a:gd name="T12" fmla="*/ 0 60000 65536"/>
                <a:gd name="T13" fmla="*/ 0 60000 65536"/>
                <a:gd name="T14" fmla="*/ 0 60000 65536"/>
                <a:gd name="T15" fmla="*/ 0 60000 65536"/>
                <a:gd name="T16" fmla="*/ 0 60000 65536"/>
                <a:gd name="T17" fmla="*/ 0 60000 65536"/>
                <a:gd name="T18" fmla="*/ 0 w 2998"/>
                <a:gd name="T19" fmla="*/ 0 h 2002"/>
                <a:gd name="T20" fmla="*/ 2998 w 2998"/>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2998" h="2002">
                  <a:moveTo>
                    <a:pt x="1998" y="4"/>
                  </a:moveTo>
                  <a:cubicBezTo>
                    <a:pt x="2597" y="4"/>
                    <a:pt x="2997" y="403"/>
                    <a:pt x="2996" y="1002"/>
                  </a:cubicBezTo>
                  <a:cubicBezTo>
                    <a:pt x="2995" y="1601"/>
                    <a:pt x="2564" y="2001"/>
                    <a:pt x="1997" y="2001"/>
                  </a:cubicBezTo>
                  <a:cubicBezTo>
                    <a:pt x="1698" y="2001"/>
                    <a:pt x="333" y="2001"/>
                    <a:pt x="0" y="2001"/>
                  </a:cubicBezTo>
                  <a:lnTo>
                    <a:pt x="0" y="4"/>
                  </a:lnTo>
                  <a:cubicBezTo>
                    <a:pt x="333" y="4"/>
                    <a:pt x="1726" y="0"/>
                    <a:pt x="1998" y="4"/>
                  </a:cubicBezTo>
                </a:path>
              </a:pathLst>
            </a:custGeom>
            <a:solidFill>
              <a:srgbClr val="FFFFFF"/>
            </a:solidFill>
            <a:ln w="9525">
              <a:solidFill>
                <a:srgbClr val="000000"/>
              </a:solidFill>
              <a:miter lim="800000"/>
              <a:headEnd/>
              <a:tailEnd/>
            </a:ln>
          </p:spPr>
          <p:txBody>
            <a:bodyPr wrap="none" anchor="ctr"/>
            <a:lstStyle/>
            <a:p>
              <a:endParaRPr lang="en-US"/>
            </a:p>
          </p:txBody>
        </p:sp>
        <p:sp>
          <p:nvSpPr>
            <p:cNvPr id="38" name="Freeform 12">
              <a:extLst>
                <a:ext uri="{FF2B5EF4-FFF2-40B4-BE49-F238E27FC236}">
                  <a16:creationId xmlns:a16="http://schemas.microsoft.com/office/drawing/2014/main" id="{E0586204-C92D-47E2-4842-FFD44DCA282F}"/>
                </a:ext>
              </a:extLst>
            </p:cNvPr>
            <p:cNvSpPr>
              <a:spLocks noChangeArrowheads="1"/>
            </p:cNvSpPr>
            <p:nvPr/>
          </p:nvSpPr>
          <p:spPr bwMode="auto">
            <a:xfrm>
              <a:off x="7155632" y="4294684"/>
              <a:ext cx="1588" cy="1587"/>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solidFill>
              <a:srgbClr val="FFFFFF"/>
            </a:solidFill>
            <a:ln w="9525">
              <a:solidFill>
                <a:srgbClr val="000000"/>
              </a:solidFill>
              <a:miter lim="800000"/>
              <a:headEnd/>
              <a:tailEnd/>
            </a:ln>
          </p:spPr>
          <p:txBody>
            <a:bodyPr wrap="none" anchor="ctr"/>
            <a:lstStyle/>
            <a:p>
              <a:endParaRPr lang="en-US"/>
            </a:p>
          </p:txBody>
        </p:sp>
        <p:sp>
          <p:nvSpPr>
            <p:cNvPr id="39" name="Freeform 13">
              <a:extLst>
                <a:ext uri="{FF2B5EF4-FFF2-40B4-BE49-F238E27FC236}">
                  <a16:creationId xmlns:a16="http://schemas.microsoft.com/office/drawing/2014/main" id="{D2C72020-CE77-1C90-4CA4-5EE928D891CA}"/>
                </a:ext>
              </a:extLst>
            </p:cNvPr>
            <p:cNvSpPr>
              <a:spLocks noChangeArrowheads="1"/>
            </p:cNvSpPr>
            <p:nvPr/>
          </p:nvSpPr>
          <p:spPr bwMode="auto">
            <a:xfrm>
              <a:off x="6000057" y="4428352"/>
              <a:ext cx="1157164"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40" name="Freeform 14">
              <a:extLst>
                <a:ext uri="{FF2B5EF4-FFF2-40B4-BE49-F238E27FC236}">
                  <a16:creationId xmlns:a16="http://schemas.microsoft.com/office/drawing/2014/main" id="{800596C3-4532-1945-5ACD-E4E8B09D298F}"/>
                </a:ext>
              </a:extLst>
            </p:cNvPr>
            <p:cNvSpPr>
              <a:spLocks noChangeArrowheads="1"/>
            </p:cNvSpPr>
            <p:nvPr/>
          </p:nvSpPr>
          <p:spPr bwMode="auto">
            <a:xfrm>
              <a:off x="6796857" y="4832846"/>
              <a:ext cx="360363" cy="1588"/>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41" name="Freeform 15">
              <a:extLst>
                <a:ext uri="{FF2B5EF4-FFF2-40B4-BE49-F238E27FC236}">
                  <a16:creationId xmlns:a16="http://schemas.microsoft.com/office/drawing/2014/main" id="{B750BDDD-66B2-CC3D-ECFF-15B0C2816D43}"/>
                </a:ext>
              </a:extLst>
            </p:cNvPr>
            <p:cNvSpPr>
              <a:spLocks noChangeArrowheads="1"/>
            </p:cNvSpPr>
            <p:nvPr/>
          </p:nvSpPr>
          <p:spPr bwMode="auto">
            <a:xfrm>
              <a:off x="8235131" y="4653459"/>
              <a:ext cx="864419"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42" name="Freeform 17">
              <a:extLst>
                <a:ext uri="{FF2B5EF4-FFF2-40B4-BE49-F238E27FC236}">
                  <a16:creationId xmlns:a16="http://schemas.microsoft.com/office/drawing/2014/main" id="{B6A84666-EF6D-8E16-C410-630BE8FD8188}"/>
                </a:ext>
              </a:extLst>
            </p:cNvPr>
            <p:cNvSpPr>
              <a:spLocks noChangeArrowheads="1"/>
            </p:cNvSpPr>
            <p:nvPr/>
          </p:nvSpPr>
          <p:spPr bwMode="auto">
            <a:xfrm>
              <a:off x="9459912" y="2928764"/>
              <a:ext cx="1588" cy="1588"/>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solidFill>
              <a:srgbClr val="FFFFFF"/>
            </a:solidFill>
            <a:ln w="9525">
              <a:solidFill>
                <a:srgbClr val="000000"/>
              </a:solidFill>
              <a:miter lim="800000"/>
              <a:headEnd/>
              <a:tailEnd/>
            </a:ln>
          </p:spPr>
          <p:txBody>
            <a:bodyPr wrap="none" anchor="ctr"/>
            <a:lstStyle/>
            <a:p>
              <a:endParaRPr lang="en-US"/>
            </a:p>
          </p:txBody>
        </p:sp>
        <p:sp>
          <p:nvSpPr>
            <p:cNvPr id="43" name="Freeform 18">
              <a:extLst>
                <a:ext uri="{FF2B5EF4-FFF2-40B4-BE49-F238E27FC236}">
                  <a16:creationId xmlns:a16="http://schemas.microsoft.com/office/drawing/2014/main" id="{ADA993DF-330D-25BB-A88E-9E790897A068}"/>
                </a:ext>
              </a:extLst>
            </p:cNvPr>
            <p:cNvSpPr>
              <a:spLocks noChangeArrowheads="1"/>
            </p:cNvSpPr>
            <p:nvPr/>
          </p:nvSpPr>
          <p:spPr bwMode="auto">
            <a:xfrm>
              <a:off x="9099550" y="3108152"/>
              <a:ext cx="539750" cy="1587"/>
            </a:xfrm>
            <a:custGeom>
              <a:avLst/>
              <a:gdLst>
                <a:gd name="T0" fmla="*/ 2147483647 w 1499"/>
                <a:gd name="T1" fmla="*/ 0 h 1"/>
                <a:gd name="T2" fmla="*/ 0 w 1499"/>
                <a:gd name="T3" fmla="*/ 0 h 1"/>
                <a:gd name="T4" fmla="*/ 2147483647 w 1499"/>
                <a:gd name="T5" fmla="*/ 0 h 1"/>
                <a:gd name="T6" fmla="*/ 0 60000 65536"/>
                <a:gd name="T7" fmla="*/ 0 60000 65536"/>
                <a:gd name="T8" fmla="*/ 0 60000 65536"/>
                <a:gd name="T9" fmla="*/ 0 w 1499"/>
                <a:gd name="T10" fmla="*/ 0 h 1"/>
                <a:gd name="T11" fmla="*/ 1499 w 1499"/>
                <a:gd name="T12" fmla="*/ 1 h 1"/>
              </a:gdLst>
              <a:ahLst/>
              <a:cxnLst>
                <a:cxn ang="T6">
                  <a:pos x="T0" y="T1"/>
                </a:cxn>
                <a:cxn ang="T7">
                  <a:pos x="T2" y="T3"/>
                </a:cxn>
                <a:cxn ang="T8">
                  <a:pos x="T4" y="T5"/>
                </a:cxn>
              </a:cxnLst>
              <a:rect l="T9" t="T10" r="T11" b="T12"/>
              <a:pathLst>
                <a:path w="1499" h="1">
                  <a:moveTo>
                    <a:pt x="1498" y="0"/>
                  </a:moveTo>
                  <a:lnTo>
                    <a:pt x="0" y="0"/>
                  </a:lnTo>
                  <a:lnTo>
                    <a:pt x="1498" y="0"/>
                  </a:lnTo>
                </a:path>
              </a:pathLst>
            </a:custGeom>
            <a:solidFill>
              <a:srgbClr val="FFFFFF"/>
            </a:solidFill>
            <a:ln w="9525">
              <a:solidFill>
                <a:srgbClr val="000000"/>
              </a:solidFill>
              <a:miter lim="800000"/>
              <a:headEnd/>
              <a:tailEnd/>
            </a:ln>
          </p:spPr>
          <p:txBody>
            <a:bodyPr wrap="none" anchor="ctr"/>
            <a:lstStyle/>
            <a:p>
              <a:endParaRPr lang="en-US"/>
            </a:p>
          </p:txBody>
        </p:sp>
        <p:sp>
          <p:nvSpPr>
            <p:cNvPr id="44" name="Freeform 19">
              <a:extLst>
                <a:ext uri="{FF2B5EF4-FFF2-40B4-BE49-F238E27FC236}">
                  <a16:creationId xmlns:a16="http://schemas.microsoft.com/office/drawing/2014/main" id="{3CA9A40C-64E6-E764-F703-E5A31856ECB4}"/>
                </a:ext>
              </a:extLst>
            </p:cNvPr>
            <p:cNvSpPr>
              <a:spLocks noChangeArrowheads="1"/>
            </p:cNvSpPr>
            <p:nvPr/>
          </p:nvSpPr>
          <p:spPr bwMode="auto">
            <a:xfrm>
              <a:off x="9099550" y="3500066"/>
              <a:ext cx="539750" cy="1587"/>
            </a:xfrm>
            <a:custGeom>
              <a:avLst/>
              <a:gdLst>
                <a:gd name="T0" fmla="*/ 2147483647 w 1499"/>
                <a:gd name="T1" fmla="*/ 0 h 1"/>
                <a:gd name="T2" fmla="*/ 0 w 1499"/>
                <a:gd name="T3" fmla="*/ 0 h 1"/>
                <a:gd name="T4" fmla="*/ 2147483647 w 1499"/>
                <a:gd name="T5" fmla="*/ 0 h 1"/>
                <a:gd name="T6" fmla="*/ 0 60000 65536"/>
                <a:gd name="T7" fmla="*/ 0 60000 65536"/>
                <a:gd name="T8" fmla="*/ 0 60000 65536"/>
                <a:gd name="T9" fmla="*/ 0 w 1499"/>
                <a:gd name="T10" fmla="*/ 0 h 1"/>
                <a:gd name="T11" fmla="*/ 1499 w 1499"/>
                <a:gd name="T12" fmla="*/ 1 h 1"/>
              </a:gdLst>
              <a:ahLst/>
              <a:cxnLst>
                <a:cxn ang="T6">
                  <a:pos x="T0" y="T1"/>
                </a:cxn>
                <a:cxn ang="T7">
                  <a:pos x="T2" y="T3"/>
                </a:cxn>
                <a:cxn ang="T8">
                  <a:pos x="T4" y="T5"/>
                </a:cxn>
              </a:cxnLst>
              <a:rect l="T9" t="T10" r="T11" b="T12"/>
              <a:pathLst>
                <a:path w="1499" h="1">
                  <a:moveTo>
                    <a:pt x="1498" y="0"/>
                  </a:moveTo>
                  <a:lnTo>
                    <a:pt x="0" y="0"/>
                  </a:lnTo>
                  <a:lnTo>
                    <a:pt x="1498" y="0"/>
                  </a:lnTo>
                </a:path>
              </a:pathLst>
            </a:custGeom>
            <a:solidFill>
              <a:srgbClr val="FFFFFF"/>
            </a:solidFill>
            <a:ln w="9525">
              <a:solidFill>
                <a:srgbClr val="000000"/>
              </a:solidFill>
              <a:miter lim="800000"/>
              <a:headEnd/>
              <a:tailEnd/>
            </a:ln>
          </p:spPr>
          <p:txBody>
            <a:bodyPr wrap="none" anchor="ctr"/>
            <a:lstStyle/>
            <a:p>
              <a:endParaRPr lang="en-US"/>
            </a:p>
          </p:txBody>
        </p:sp>
        <p:sp>
          <p:nvSpPr>
            <p:cNvPr id="45" name="Freeform 20">
              <a:extLst>
                <a:ext uri="{FF2B5EF4-FFF2-40B4-BE49-F238E27FC236}">
                  <a16:creationId xmlns:a16="http://schemas.microsoft.com/office/drawing/2014/main" id="{91B42D44-C553-8249-BA8F-69C1A7293857}"/>
                </a:ext>
              </a:extLst>
            </p:cNvPr>
            <p:cNvSpPr>
              <a:spLocks noChangeArrowheads="1"/>
            </p:cNvSpPr>
            <p:nvPr/>
          </p:nvSpPr>
          <p:spPr bwMode="auto">
            <a:xfrm>
              <a:off x="10537825" y="3287539"/>
              <a:ext cx="358775" cy="1588"/>
            </a:xfrm>
            <a:custGeom>
              <a:avLst/>
              <a:gdLst>
                <a:gd name="T0" fmla="*/ 2147483647 w 998"/>
                <a:gd name="T1" fmla="*/ 0 h 2"/>
                <a:gd name="T2" fmla="*/ 0 w 998"/>
                <a:gd name="T3" fmla="*/ 2147483647 h 2"/>
                <a:gd name="T4" fmla="*/ 2147483647 w 998"/>
                <a:gd name="T5" fmla="*/ 0 h 2"/>
                <a:gd name="T6" fmla="*/ 0 60000 65536"/>
                <a:gd name="T7" fmla="*/ 0 60000 65536"/>
                <a:gd name="T8" fmla="*/ 0 60000 65536"/>
                <a:gd name="T9" fmla="*/ 0 w 998"/>
                <a:gd name="T10" fmla="*/ 0 h 2"/>
                <a:gd name="T11" fmla="*/ 998 w 998"/>
                <a:gd name="T12" fmla="*/ 2 h 2"/>
              </a:gdLst>
              <a:ahLst/>
              <a:cxnLst>
                <a:cxn ang="T6">
                  <a:pos x="T0" y="T1"/>
                </a:cxn>
                <a:cxn ang="T7">
                  <a:pos x="T2" y="T3"/>
                </a:cxn>
                <a:cxn ang="T8">
                  <a:pos x="T4" y="T5"/>
                </a:cxn>
              </a:cxnLst>
              <a:rect l="T9" t="T10" r="T11" b="T12"/>
              <a:pathLst>
                <a:path w="998" h="2">
                  <a:moveTo>
                    <a:pt x="997" y="0"/>
                  </a:moveTo>
                  <a:lnTo>
                    <a:pt x="0" y="1"/>
                  </a:lnTo>
                  <a:lnTo>
                    <a:pt x="997" y="0"/>
                  </a:lnTo>
                </a:path>
              </a:pathLst>
            </a:custGeom>
            <a:solidFill>
              <a:srgbClr val="FFFFFF"/>
            </a:solidFill>
            <a:ln w="9525">
              <a:solidFill>
                <a:srgbClr val="000000"/>
              </a:solidFill>
              <a:miter lim="800000"/>
              <a:headEnd/>
              <a:tailEnd/>
            </a:ln>
          </p:spPr>
          <p:txBody>
            <a:bodyPr wrap="none" anchor="ctr"/>
            <a:lstStyle/>
            <a:p>
              <a:endParaRPr lang="en-US"/>
            </a:p>
          </p:txBody>
        </p:sp>
        <p:sp>
          <p:nvSpPr>
            <p:cNvPr id="46" name="Freeform 18">
              <a:extLst>
                <a:ext uri="{FF2B5EF4-FFF2-40B4-BE49-F238E27FC236}">
                  <a16:creationId xmlns:a16="http://schemas.microsoft.com/office/drawing/2014/main" id="{C1E93481-5054-2E2D-D630-301186228B18}"/>
                </a:ext>
              </a:extLst>
            </p:cNvPr>
            <p:cNvSpPr>
              <a:spLocks noChangeArrowheads="1"/>
            </p:cNvSpPr>
            <p:nvPr/>
          </p:nvSpPr>
          <p:spPr bwMode="auto">
            <a:xfrm flipV="1">
              <a:off x="8595494" y="3141613"/>
              <a:ext cx="1152128" cy="72008"/>
            </a:xfrm>
            <a:custGeom>
              <a:avLst/>
              <a:gdLst>
                <a:gd name="T0" fmla="*/ 2147483647 w 1499"/>
                <a:gd name="T1" fmla="*/ 0 h 1"/>
                <a:gd name="T2" fmla="*/ 0 w 1499"/>
                <a:gd name="T3" fmla="*/ 0 h 1"/>
                <a:gd name="T4" fmla="*/ 2147483647 w 1499"/>
                <a:gd name="T5" fmla="*/ 0 h 1"/>
                <a:gd name="T6" fmla="*/ 0 60000 65536"/>
                <a:gd name="T7" fmla="*/ 0 60000 65536"/>
                <a:gd name="T8" fmla="*/ 0 60000 65536"/>
                <a:gd name="T9" fmla="*/ 0 w 1499"/>
                <a:gd name="T10" fmla="*/ 0 h 1"/>
                <a:gd name="T11" fmla="*/ 1499 w 1499"/>
                <a:gd name="T12" fmla="*/ 1 h 1"/>
              </a:gdLst>
              <a:ahLst/>
              <a:cxnLst>
                <a:cxn ang="T6">
                  <a:pos x="T0" y="T1"/>
                </a:cxn>
                <a:cxn ang="T7">
                  <a:pos x="T2" y="T3"/>
                </a:cxn>
                <a:cxn ang="T8">
                  <a:pos x="T4" y="T5"/>
                </a:cxn>
              </a:cxnLst>
              <a:rect l="T9" t="T10" r="T11" b="T12"/>
              <a:pathLst>
                <a:path w="1499" h="1">
                  <a:moveTo>
                    <a:pt x="1498" y="0"/>
                  </a:moveTo>
                  <a:lnTo>
                    <a:pt x="0" y="0"/>
                  </a:lnTo>
                  <a:lnTo>
                    <a:pt x="1498" y="0"/>
                  </a:lnTo>
                </a:path>
              </a:pathLst>
            </a:custGeom>
            <a:solidFill>
              <a:srgbClr val="FFFFFF"/>
            </a:solidFill>
            <a:ln w="9525">
              <a:solidFill>
                <a:srgbClr val="000000"/>
              </a:solidFill>
              <a:miter lim="800000"/>
              <a:headEnd/>
              <a:tailEnd/>
            </a:ln>
          </p:spPr>
          <p:txBody>
            <a:bodyPr wrap="none" anchor="ctr"/>
            <a:lstStyle/>
            <a:p>
              <a:endParaRPr lang="en-US"/>
            </a:p>
          </p:txBody>
        </p:sp>
        <p:sp>
          <p:nvSpPr>
            <p:cNvPr id="47" name="Freeform 18">
              <a:extLst>
                <a:ext uri="{FF2B5EF4-FFF2-40B4-BE49-F238E27FC236}">
                  <a16:creationId xmlns:a16="http://schemas.microsoft.com/office/drawing/2014/main" id="{83AED0D5-33EC-5C5C-6273-4EF33BA30601}"/>
                </a:ext>
              </a:extLst>
            </p:cNvPr>
            <p:cNvSpPr>
              <a:spLocks noChangeArrowheads="1"/>
            </p:cNvSpPr>
            <p:nvPr/>
          </p:nvSpPr>
          <p:spPr bwMode="auto">
            <a:xfrm>
              <a:off x="8595494" y="3357638"/>
              <a:ext cx="1152128" cy="101034"/>
            </a:xfrm>
            <a:custGeom>
              <a:avLst/>
              <a:gdLst>
                <a:gd name="T0" fmla="*/ 2147483647 w 1499"/>
                <a:gd name="T1" fmla="*/ 0 h 1"/>
                <a:gd name="T2" fmla="*/ 0 w 1499"/>
                <a:gd name="T3" fmla="*/ 0 h 1"/>
                <a:gd name="T4" fmla="*/ 2147483647 w 1499"/>
                <a:gd name="T5" fmla="*/ 0 h 1"/>
                <a:gd name="T6" fmla="*/ 0 60000 65536"/>
                <a:gd name="T7" fmla="*/ 0 60000 65536"/>
                <a:gd name="T8" fmla="*/ 0 60000 65536"/>
                <a:gd name="T9" fmla="*/ 0 w 1499"/>
                <a:gd name="T10" fmla="*/ 0 h 1"/>
                <a:gd name="T11" fmla="*/ 1499 w 1499"/>
                <a:gd name="T12" fmla="*/ 1 h 1"/>
              </a:gdLst>
              <a:ahLst/>
              <a:cxnLst>
                <a:cxn ang="T6">
                  <a:pos x="T0" y="T1"/>
                </a:cxn>
                <a:cxn ang="T7">
                  <a:pos x="T2" y="T3"/>
                </a:cxn>
                <a:cxn ang="T8">
                  <a:pos x="T4" y="T5"/>
                </a:cxn>
              </a:cxnLst>
              <a:rect l="T9" t="T10" r="T11" b="T12"/>
              <a:pathLst>
                <a:path w="1499" h="1">
                  <a:moveTo>
                    <a:pt x="1498" y="0"/>
                  </a:moveTo>
                  <a:lnTo>
                    <a:pt x="0" y="0"/>
                  </a:lnTo>
                  <a:lnTo>
                    <a:pt x="1498" y="0"/>
                  </a:lnTo>
                </a:path>
              </a:pathLst>
            </a:custGeom>
            <a:solidFill>
              <a:srgbClr val="FFFFFF"/>
            </a:solidFill>
            <a:ln w="9525">
              <a:solidFill>
                <a:srgbClr val="000000"/>
              </a:solidFill>
              <a:miter lim="800000"/>
              <a:headEnd/>
              <a:tailEnd/>
            </a:ln>
          </p:spPr>
          <p:txBody>
            <a:bodyPr wrap="none" anchor="ctr"/>
            <a:lstStyle/>
            <a:p>
              <a:endParaRPr lang="en-US"/>
            </a:p>
          </p:txBody>
        </p:sp>
        <p:sp>
          <p:nvSpPr>
            <p:cNvPr id="48" name="Freeform 16">
              <a:extLst>
                <a:ext uri="{FF2B5EF4-FFF2-40B4-BE49-F238E27FC236}">
                  <a16:creationId xmlns:a16="http://schemas.microsoft.com/office/drawing/2014/main" id="{1CFA6278-F638-4879-F67D-0FD1BF30B2E3}"/>
                </a:ext>
              </a:extLst>
            </p:cNvPr>
            <p:cNvSpPr>
              <a:spLocks noChangeArrowheads="1"/>
            </p:cNvSpPr>
            <p:nvPr/>
          </p:nvSpPr>
          <p:spPr bwMode="auto">
            <a:xfrm>
              <a:off x="9459912" y="2925589"/>
              <a:ext cx="1079500" cy="722313"/>
            </a:xfrm>
            <a:custGeom>
              <a:avLst/>
              <a:gdLst>
                <a:gd name="T0" fmla="*/ 2147483647 w 2997"/>
                <a:gd name="T1" fmla="*/ 2147483647 h 2006"/>
                <a:gd name="T2" fmla="*/ 2147483647 w 2997"/>
                <a:gd name="T3" fmla="*/ 2147483647 h 2006"/>
                <a:gd name="T4" fmla="*/ 2147483647 w 2997"/>
                <a:gd name="T5" fmla="*/ 2147483647 h 2006"/>
                <a:gd name="T6" fmla="*/ 0 w 2997"/>
                <a:gd name="T7" fmla="*/ 2147483647 h 2006"/>
                <a:gd name="T8" fmla="*/ 2147483647 w 2997"/>
                <a:gd name="T9" fmla="*/ 2147483647 h 2006"/>
                <a:gd name="T10" fmla="*/ 0 w 2997"/>
                <a:gd name="T11" fmla="*/ 2147483647 h 2006"/>
                <a:gd name="T12" fmla="*/ 2147483647 w 2997"/>
                <a:gd name="T13" fmla="*/ 2147483647 h 2006"/>
                <a:gd name="T14" fmla="*/ 0 60000 65536"/>
                <a:gd name="T15" fmla="*/ 0 60000 65536"/>
                <a:gd name="T16" fmla="*/ 0 60000 65536"/>
                <a:gd name="T17" fmla="*/ 0 60000 65536"/>
                <a:gd name="T18" fmla="*/ 0 60000 65536"/>
                <a:gd name="T19" fmla="*/ 0 60000 65536"/>
                <a:gd name="T20" fmla="*/ 0 60000 65536"/>
                <a:gd name="T21" fmla="*/ 0 w 2997"/>
                <a:gd name="T22" fmla="*/ 0 h 2006"/>
                <a:gd name="T23" fmla="*/ 2997 w 2997"/>
                <a:gd name="T24" fmla="*/ 2006 h 20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97" h="2006">
                  <a:moveTo>
                    <a:pt x="989" y="4"/>
                  </a:moveTo>
                  <a:cubicBezTo>
                    <a:pt x="1989" y="4"/>
                    <a:pt x="2789" y="604"/>
                    <a:pt x="2996" y="1004"/>
                  </a:cubicBezTo>
                  <a:cubicBezTo>
                    <a:pt x="2789" y="1404"/>
                    <a:pt x="1989" y="2004"/>
                    <a:pt x="989" y="2004"/>
                  </a:cubicBezTo>
                  <a:cubicBezTo>
                    <a:pt x="690" y="2005"/>
                    <a:pt x="666" y="2004"/>
                    <a:pt x="0" y="2004"/>
                  </a:cubicBezTo>
                  <a:cubicBezTo>
                    <a:pt x="199" y="1902"/>
                    <a:pt x="599" y="1602"/>
                    <a:pt x="599" y="1003"/>
                  </a:cubicBezTo>
                  <a:cubicBezTo>
                    <a:pt x="599" y="404"/>
                    <a:pt x="199" y="104"/>
                    <a:pt x="0" y="6"/>
                  </a:cubicBezTo>
                  <a:cubicBezTo>
                    <a:pt x="666" y="6"/>
                    <a:pt x="718" y="0"/>
                    <a:pt x="989" y="4"/>
                  </a:cubicBezTo>
                </a:path>
              </a:pathLst>
            </a:custGeom>
            <a:solidFill>
              <a:schemeClr val="bg1"/>
            </a:solidFill>
            <a:ln w="9525">
              <a:solidFill>
                <a:srgbClr val="000000"/>
              </a:solidFill>
              <a:miter lim="800000"/>
              <a:headEnd/>
              <a:tailEnd/>
            </a:ln>
          </p:spPr>
          <p:txBody>
            <a:bodyPr wrap="none" anchor="ctr"/>
            <a:lstStyle/>
            <a:p>
              <a:endParaRPr lang="en-US"/>
            </a:p>
          </p:txBody>
        </p:sp>
        <p:cxnSp>
          <p:nvCxnSpPr>
            <p:cNvPr id="49" name="Straight Connector 19">
              <a:extLst>
                <a:ext uri="{FF2B5EF4-FFF2-40B4-BE49-F238E27FC236}">
                  <a16:creationId xmlns:a16="http://schemas.microsoft.com/office/drawing/2014/main" id="{911F4A31-916B-D6A1-C077-C29771BA0FE4}"/>
                </a:ext>
              </a:extLst>
            </p:cNvPr>
            <p:cNvCxnSpPr>
              <a:endCxn id="43" idx="1"/>
            </p:cNvCxnSpPr>
            <p:nvPr/>
          </p:nvCxnSpPr>
          <p:spPr>
            <a:xfrm>
              <a:off x="9099550" y="1629445"/>
              <a:ext cx="0" cy="1478707"/>
            </a:xfrm>
            <a:prstGeom prst="line">
              <a:avLst/>
            </a:prstGeom>
            <a:ln w="190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93">
              <a:extLst>
                <a:ext uri="{FF2B5EF4-FFF2-40B4-BE49-F238E27FC236}">
                  <a16:creationId xmlns:a16="http://schemas.microsoft.com/office/drawing/2014/main" id="{94925E76-E908-1F9B-67BE-7D71220B5ACA}"/>
                </a:ext>
              </a:extLst>
            </p:cNvPr>
            <p:cNvCxnSpPr>
              <a:endCxn id="46" idx="1"/>
            </p:cNvCxnSpPr>
            <p:nvPr/>
          </p:nvCxnSpPr>
          <p:spPr>
            <a:xfrm>
              <a:off x="8595494" y="2637557"/>
              <a:ext cx="0" cy="576064"/>
            </a:xfrm>
            <a:prstGeom prst="line">
              <a:avLst/>
            </a:prstGeom>
            <a:ln w="190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94">
              <a:extLst>
                <a:ext uri="{FF2B5EF4-FFF2-40B4-BE49-F238E27FC236}">
                  <a16:creationId xmlns:a16="http://schemas.microsoft.com/office/drawing/2014/main" id="{EE93CD1F-C78F-1D0E-F921-3FC10DD9AF4A}"/>
                </a:ext>
              </a:extLst>
            </p:cNvPr>
            <p:cNvCxnSpPr>
              <a:stCxn id="47" idx="1"/>
            </p:cNvCxnSpPr>
            <p:nvPr/>
          </p:nvCxnSpPr>
          <p:spPr>
            <a:xfrm>
              <a:off x="8595494" y="3357638"/>
              <a:ext cx="0" cy="288031"/>
            </a:xfrm>
            <a:prstGeom prst="line">
              <a:avLst/>
            </a:prstGeom>
            <a:ln w="190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97">
              <a:extLst>
                <a:ext uri="{FF2B5EF4-FFF2-40B4-BE49-F238E27FC236}">
                  <a16:creationId xmlns:a16="http://schemas.microsoft.com/office/drawing/2014/main" id="{D2C8B573-ED93-7EF1-E8CB-D9D9AC57FF57}"/>
                </a:ext>
              </a:extLst>
            </p:cNvPr>
            <p:cNvCxnSpPr>
              <a:stCxn id="44" idx="1"/>
            </p:cNvCxnSpPr>
            <p:nvPr/>
          </p:nvCxnSpPr>
          <p:spPr>
            <a:xfrm>
              <a:off x="9099550" y="3500066"/>
              <a:ext cx="0" cy="1153715"/>
            </a:xfrm>
            <a:prstGeom prst="line">
              <a:avLst/>
            </a:prstGeom>
            <a:ln w="1905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3" name="Freeform 14">
              <a:extLst>
                <a:ext uri="{FF2B5EF4-FFF2-40B4-BE49-F238E27FC236}">
                  <a16:creationId xmlns:a16="http://schemas.microsoft.com/office/drawing/2014/main" id="{3C2DA083-2BCF-CB98-EA22-EEF522BDD045}"/>
                </a:ext>
              </a:extLst>
            </p:cNvPr>
            <p:cNvSpPr>
              <a:spLocks noChangeArrowheads="1"/>
            </p:cNvSpPr>
            <p:nvPr/>
          </p:nvSpPr>
          <p:spPr bwMode="auto">
            <a:xfrm>
              <a:off x="6432104" y="1584669"/>
              <a:ext cx="720403"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54" name="Freeform 14">
              <a:extLst>
                <a:ext uri="{FF2B5EF4-FFF2-40B4-BE49-F238E27FC236}">
                  <a16:creationId xmlns:a16="http://schemas.microsoft.com/office/drawing/2014/main" id="{1734EF6C-9ACF-CB3E-B5AB-015AD0D0C260}"/>
                </a:ext>
              </a:extLst>
            </p:cNvPr>
            <p:cNvSpPr>
              <a:spLocks noChangeArrowheads="1"/>
            </p:cNvSpPr>
            <p:nvPr/>
          </p:nvSpPr>
          <p:spPr bwMode="auto">
            <a:xfrm>
              <a:off x="6432104" y="2592781"/>
              <a:ext cx="720403"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55" name="Freeform 14">
              <a:extLst>
                <a:ext uri="{FF2B5EF4-FFF2-40B4-BE49-F238E27FC236}">
                  <a16:creationId xmlns:a16="http://schemas.microsoft.com/office/drawing/2014/main" id="{55209AAB-7B79-B64B-75AC-CD5D7B9C2A66}"/>
                </a:ext>
              </a:extLst>
            </p:cNvPr>
            <p:cNvSpPr>
              <a:spLocks noChangeArrowheads="1"/>
            </p:cNvSpPr>
            <p:nvPr/>
          </p:nvSpPr>
          <p:spPr bwMode="auto">
            <a:xfrm>
              <a:off x="6432104" y="3600893"/>
              <a:ext cx="720403"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sp>
          <p:nvSpPr>
            <p:cNvPr id="56" name="Freeform 14">
              <a:extLst>
                <a:ext uri="{FF2B5EF4-FFF2-40B4-BE49-F238E27FC236}">
                  <a16:creationId xmlns:a16="http://schemas.microsoft.com/office/drawing/2014/main" id="{D13EB2E0-4E72-1491-0809-BF2FC8254FE9}"/>
                </a:ext>
              </a:extLst>
            </p:cNvPr>
            <p:cNvSpPr>
              <a:spLocks noChangeArrowheads="1"/>
            </p:cNvSpPr>
            <p:nvPr/>
          </p:nvSpPr>
          <p:spPr bwMode="auto">
            <a:xfrm>
              <a:off x="6432104" y="4609005"/>
              <a:ext cx="720403" cy="45719"/>
            </a:xfrm>
            <a:custGeom>
              <a:avLst/>
              <a:gdLst>
                <a:gd name="T0" fmla="*/ 2147483647 w 1000"/>
                <a:gd name="T1" fmla="*/ 0 h 1"/>
                <a:gd name="T2" fmla="*/ 0 w 1000"/>
                <a:gd name="T3" fmla="*/ 0 h 1"/>
                <a:gd name="T4" fmla="*/ 2147483647 w 1000"/>
                <a:gd name="T5" fmla="*/ 0 h 1"/>
                <a:gd name="T6" fmla="*/ 0 60000 65536"/>
                <a:gd name="T7" fmla="*/ 0 60000 65536"/>
                <a:gd name="T8" fmla="*/ 0 60000 65536"/>
                <a:gd name="T9" fmla="*/ 0 w 1000"/>
                <a:gd name="T10" fmla="*/ 0 h 1"/>
                <a:gd name="T11" fmla="*/ 1000 w 1000"/>
                <a:gd name="T12" fmla="*/ 1 h 1"/>
              </a:gdLst>
              <a:ahLst/>
              <a:cxnLst>
                <a:cxn ang="T6">
                  <a:pos x="T0" y="T1"/>
                </a:cxn>
                <a:cxn ang="T7">
                  <a:pos x="T2" y="T3"/>
                </a:cxn>
                <a:cxn ang="T8">
                  <a:pos x="T4" y="T5"/>
                </a:cxn>
              </a:cxnLst>
              <a:rect l="T9" t="T10" r="T11" b="T12"/>
              <a:pathLst>
                <a:path w="1000" h="1">
                  <a:moveTo>
                    <a:pt x="999" y="0"/>
                  </a:moveTo>
                  <a:lnTo>
                    <a:pt x="0" y="0"/>
                  </a:lnTo>
                  <a:lnTo>
                    <a:pt x="999" y="0"/>
                  </a:lnTo>
                </a:path>
              </a:pathLst>
            </a:custGeom>
            <a:solidFill>
              <a:srgbClr val="FFFFFF"/>
            </a:solidFill>
            <a:ln w="9525">
              <a:solidFill>
                <a:srgbClr val="000000"/>
              </a:solidFill>
              <a:miter lim="800000"/>
              <a:headEnd/>
              <a:tailEnd/>
            </a:ln>
          </p:spPr>
          <p:txBody>
            <a:bodyPr wrap="none" anchor="ctr"/>
            <a:lstStyle/>
            <a:p>
              <a:endParaRPr lang="en-US"/>
            </a:p>
          </p:txBody>
        </p:sp>
        <p:cxnSp>
          <p:nvCxnSpPr>
            <p:cNvPr id="57" name="Straight Connector 104">
              <a:extLst>
                <a:ext uri="{FF2B5EF4-FFF2-40B4-BE49-F238E27FC236}">
                  <a16:creationId xmlns:a16="http://schemas.microsoft.com/office/drawing/2014/main" id="{41884012-0B35-5A02-2F86-98EE50ACF4B9}"/>
                </a:ext>
              </a:extLst>
            </p:cNvPr>
            <p:cNvCxnSpPr>
              <a:stCxn id="53" idx="1"/>
            </p:cNvCxnSpPr>
            <p:nvPr/>
          </p:nvCxnSpPr>
          <p:spPr>
            <a:xfrm>
              <a:off x="6432104" y="1584669"/>
              <a:ext cx="0" cy="4004571"/>
            </a:xfrm>
            <a:prstGeom prst="line">
              <a:avLst/>
            </a:prstGeom>
            <a:ln w="190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107">
              <a:extLst>
                <a:ext uri="{FF2B5EF4-FFF2-40B4-BE49-F238E27FC236}">
                  <a16:creationId xmlns:a16="http://schemas.microsoft.com/office/drawing/2014/main" id="{4D288B9F-BF1B-AF47-E422-9AB567A2B31F}"/>
                </a:ext>
              </a:extLst>
            </p:cNvPr>
            <p:cNvCxnSpPr>
              <a:stCxn id="25" idx="1"/>
            </p:cNvCxnSpPr>
            <p:nvPr/>
          </p:nvCxnSpPr>
          <p:spPr>
            <a:xfrm flipH="1">
              <a:off x="6792144" y="1808510"/>
              <a:ext cx="4713" cy="3780730"/>
            </a:xfrm>
            <a:prstGeom prst="line">
              <a:avLst/>
            </a:prstGeom>
            <a:ln w="1905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9" name="TextBox 240647">
              <a:extLst>
                <a:ext uri="{FF2B5EF4-FFF2-40B4-BE49-F238E27FC236}">
                  <a16:creationId xmlns:a16="http://schemas.microsoft.com/office/drawing/2014/main" id="{5B70256F-B540-57DB-C8B7-1F7652E9B24E}"/>
                </a:ext>
              </a:extLst>
            </p:cNvPr>
            <p:cNvSpPr txBox="1"/>
            <p:nvPr/>
          </p:nvSpPr>
          <p:spPr>
            <a:xfrm>
              <a:off x="5640016" y="1196752"/>
              <a:ext cx="356188" cy="400110"/>
            </a:xfrm>
            <a:prstGeom prst="rect">
              <a:avLst/>
            </a:prstGeom>
            <a:noFill/>
          </p:spPr>
          <p:txBody>
            <a:bodyPr wrap="none" rtlCol="0">
              <a:spAutoFit/>
            </a:bodyPr>
            <a:lstStyle/>
            <a:p>
              <a:r>
                <a:rPr lang="en-US" sz="1998"/>
                <a:t>A</a:t>
              </a:r>
            </a:p>
          </p:txBody>
        </p:sp>
        <p:sp>
          <p:nvSpPr>
            <p:cNvPr id="60" name="TextBox 111">
              <a:extLst>
                <a:ext uri="{FF2B5EF4-FFF2-40B4-BE49-F238E27FC236}">
                  <a16:creationId xmlns:a16="http://schemas.microsoft.com/office/drawing/2014/main" id="{64A7500B-0655-D187-1EB7-3E3DC9B8A283}"/>
                </a:ext>
              </a:extLst>
            </p:cNvPr>
            <p:cNvSpPr txBox="1"/>
            <p:nvPr/>
          </p:nvSpPr>
          <p:spPr>
            <a:xfrm>
              <a:off x="5640016" y="2204864"/>
              <a:ext cx="356188" cy="400110"/>
            </a:xfrm>
            <a:prstGeom prst="rect">
              <a:avLst/>
            </a:prstGeom>
            <a:noFill/>
          </p:spPr>
          <p:txBody>
            <a:bodyPr wrap="none" rtlCol="0">
              <a:spAutoFit/>
            </a:bodyPr>
            <a:lstStyle/>
            <a:p>
              <a:r>
                <a:rPr lang="en-US" sz="1998"/>
                <a:t>B</a:t>
              </a:r>
            </a:p>
          </p:txBody>
        </p:sp>
        <p:sp>
          <p:nvSpPr>
            <p:cNvPr id="61" name="TextBox 112">
              <a:extLst>
                <a:ext uri="{FF2B5EF4-FFF2-40B4-BE49-F238E27FC236}">
                  <a16:creationId xmlns:a16="http://schemas.microsoft.com/office/drawing/2014/main" id="{46B436D1-C441-0C58-B6D6-108FBA2C3FF4}"/>
                </a:ext>
              </a:extLst>
            </p:cNvPr>
            <p:cNvSpPr txBox="1"/>
            <p:nvPr/>
          </p:nvSpPr>
          <p:spPr>
            <a:xfrm>
              <a:off x="5640016" y="3212976"/>
              <a:ext cx="370614" cy="400110"/>
            </a:xfrm>
            <a:prstGeom prst="rect">
              <a:avLst/>
            </a:prstGeom>
            <a:noFill/>
          </p:spPr>
          <p:txBody>
            <a:bodyPr wrap="none" rtlCol="0">
              <a:spAutoFit/>
            </a:bodyPr>
            <a:lstStyle/>
            <a:p>
              <a:r>
                <a:rPr lang="en-US" sz="1998"/>
                <a:t>C</a:t>
              </a:r>
            </a:p>
          </p:txBody>
        </p:sp>
        <p:sp>
          <p:nvSpPr>
            <p:cNvPr id="62" name="TextBox 113">
              <a:extLst>
                <a:ext uri="{FF2B5EF4-FFF2-40B4-BE49-F238E27FC236}">
                  <a16:creationId xmlns:a16="http://schemas.microsoft.com/office/drawing/2014/main" id="{98A7DF6E-BE6C-8704-B5F8-002CE0B6DD37}"/>
                </a:ext>
              </a:extLst>
            </p:cNvPr>
            <p:cNvSpPr txBox="1"/>
            <p:nvPr/>
          </p:nvSpPr>
          <p:spPr>
            <a:xfrm>
              <a:off x="5640016" y="4221088"/>
              <a:ext cx="370614" cy="400110"/>
            </a:xfrm>
            <a:prstGeom prst="rect">
              <a:avLst/>
            </a:prstGeom>
            <a:noFill/>
          </p:spPr>
          <p:txBody>
            <a:bodyPr wrap="none" rtlCol="0">
              <a:spAutoFit/>
            </a:bodyPr>
            <a:lstStyle/>
            <a:p>
              <a:r>
                <a:rPr lang="en-US" sz="1998"/>
                <a:t>D</a:t>
              </a:r>
            </a:p>
          </p:txBody>
        </p:sp>
        <p:sp>
          <p:nvSpPr>
            <p:cNvPr id="63" name="TextBox 114">
              <a:extLst>
                <a:ext uri="{FF2B5EF4-FFF2-40B4-BE49-F238E27FC236}">
                  <a16:creationId xmlns:a16="http://schemas.microsoft.com/office/drawing/2014/main" id="{92D2AA1F-31EA-FF1F-4F15-7E9B7D341233}"/>
                </a:ext>
              </a:extLst>
            </p:cNvPr>
            <p:cNvSpPr txBox="1"/>
            <p:nvPr/>
          </p:nvSpPr>
          <p:spPr>
            <a:xfrm>
              <a:off x="6216080" y="5589240"/>
              <a:ext cx="450764" cy="400110"/>
            </a:xfrm>
            <a:prstGeom prst="rect">
              <a:avLst/>
            </a:prstGeom>
            <a:noFill/>
          </p:spPr>
          <p:txBody>
            <a:bodyPr wrap="none" rtlCol="0">
              <a:spAutoFit/>
            </a:bodyPr>
            <a:lstStyle/>
            <a:p>
              <a:r>
                <a:rPr lang="en-US" sz="1998"/>
                <a:t>S</a:t>
              </a:r>
              <a:r>
                <a:rPr lang="en-US" sz="1998" baseline="-25000"/>
                <a:t>1</a:t>
              </a:r>
            </a:p>
          </p:txBody>
        </p:sp>
        <p:sp>
          <p:nvSpPr>
            <p:cNvPr id="64" name="TextBox 115">
              <a:extLst>
                <a:ext uri="{FF2B5EF4-FFF2-40B4-BE49-F238E27FC236}">
                  <a16:creationId xmlns:a16="http://schemas.microsoft.com/office/drawing/2014/main" id="{DD5036AC-A6F9-C259-EF54-322D967ADFC2}"/>
                </a:ext>
              </a:extLst>
            </p:cNvPr>
            <p:cNvSpPr txBox="1"/>
            <p:nvPr/>
          </p:nvSpPr>
          <p:spPr>
            <a:xfrm>
              <a:off x="6618994" y="5589240"/>
              <a:ext cx="450764" cy="400110"/>
            </a:xfrm>
            <a:prstGeom prst="rect">
              <a:avLst/>
            </a:prstGeom>
            <a:noFill/>
          </p:spPr>
          <p:txBody>
            <a:bodyPr wrap="none" rtlCol="0">
              <a:spAutoFit/>
            </a:bodyPr>
            <a:lstStyle/>
            <a:p>
              <a:r>
                <a:rPr lang="en-US" sz="1998"/>
                <a:t>S</a:t>
              </a:r>
              <a:r>
                <a:rPr lang="en-US" sz="1998" baseline="-25000"/>
                <a:t>0</a:t>
              </a:r>
            </a:p>
          </p:txBody>
        </p:sp>
        <p:sp>
          <p:nvSpPr>
            <p:cNvPr id="65" name="Oval 116">
              <a:extLst>
                <a:ext uri="{FF2B5EF4-FFF2-40B4-BE49-F238E27FC236}">
                  <a16:creationId xmlns:a16="http://schemas.microsoft.com/office/drawing/2014/main" id="{2E83F822-B798-E6E2-2103-E0698514B929}"/>
                </a:ext>
              </a:extLst>
            </p:cNvPr>
            <p:cNvSpPr/>
            <p:nvPr/>
          </p:nvSpPr>
          <p:spPr>
            <a:xfrm>
              <a:off x="6360096" y="2524800"/>
              <a:ext cx="144016" cy="144016"/>
            </a:xfrm>
            <a:prstGeom prst="ellipse">
              <a:avLst/>
            </a:prstGeom>
            <a:solidFill>
              <a:schemeClr val="tx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117">
              <a:extLst>
                <a:ext uri="{FF2B5EF4-FFF2-40B4-BE49-F238E27FC236}">
                  <a16:creationId xmlns:a16="http://schemas.microsoft.com/office/drawing/2014/main" id="{BE2B8702-5B74-5237-D0A3-8EFCFD9D8678}"/>
                </a:ext>
              </a:extLst>
            </p:cNvPr>
            <p:cNvSpPr/>
            <p:nvPr/>
          </p:nvSpPr>
          <p:spPr>
            <a:xfrm>
              <a:off x="7008168" y="1732712"/>
              <a:ext cx="144016" cy="144016"/>
            </a:xfrm>
            <a:prstGeom prst="ellipse">
              <a:avLst/>
            </a:prstGeom>
            <a:solidFill>
              <a:schemeClr val="bg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118">
              <a:extLst>
                <a:ext uri="{FF2B5EF4-FFF2-40B4-BE49-F238E27FC236}">
                  <a16:creationId xmlns:a16="http://schemas.microsoft.com/office/drawing/2014/main" id="{AF88D1F8-5489-BBA1-FF75-307B6E9ED62E}"/>
                </a:ext>
              </a:extLst>
            </p:cNvPr>
            <p:cNvSpPr/>
            <p:nvPr/>
          </p:nvSpPr>
          <p:spPr>
            <a:xfrm>
              <a:off x="6360096" y="3532912"/>
              <a:ext cx="144016" cy="144016"/>
            </a:xfrm>
            <a:prstGeom prst="ellipse">
              <a:avLst/>
            </a:prstGeom>
            <a:solidFill>
              <a:schemeClr val="tx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119">
              <a:extLst>
                <a:ext uri="{FF2B5EF4-FFF2-40B4-BE49-F238E27FC236}">
                  <a16:creationId xmlns:a16="http://schemas.microsoft.com/office/drawing/2014/main" id="{8B074BCB-C16D-20CC-59BB-4C02B8953FCB}"/>
                </a:ext>
              </a:extLst>
            </p:cNvPr>
            <p:cNvSpPr/>
            <p:nvPr/>
          </p:nvSpPr>
          <p:spPr>
            <a:xfrm>
              <a:off x="6360096" y="4541024"/>
              <a:ext cx="144016" cy="144016"/>
            </a:xfrm>
            <a:prstGeom prst="ellipse">
              <a:avLst/>
            </a:prstGeom>
            <a:solidFill>
              <a:schemeClr val="tx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Oval 120">
              <a:extLst>
                <a:ext uri="{FF2B5EF4-FFF2-40B4-BE49-F238E27FC236}">
                  <a16:creationId xmlns:a16="http://schemas.microsoft.com/office/drawing/2014/main" id="{24D2D05B-6E4A-7282-2925-CFB976A0093F}"/>
                </a:ext>
              </a:extLst>
            </p:cNvPr>
            <p:cNvSpPr/>
            <p:nvPr/>
          </p:nvSpPr>
          <p:spPr>
            <a:xfrm>
              <a:off x="6720136" y="2740824"/>
              <a:ext cx="144016" cy="144016"/>
            </a:xfrm>
            <a:prstGeom prst="ellipse">
              <a:avLst/>
            </a:prstGeom>
            <a:solidFill>
              <a:schemeClr val="tx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121">
              <a:extLst>
                <a:ext uri="{FF2B5EF4-FFF2-40B4-BE49-F238E27FC236}">
                  <a16:creationId xmlns:a16="http://schemas.microsoft.com/office/drawing/2014/main" id="{F98593E8-AB55-7163-EAA2-AC7DF2354BCE}"/>
                </a:ext>
              </a:extLst>
            </p:cNvPr>
            <p:cNvSpPr/>
            <p:nvPr/>
          </p:nvSpPr>
          <p:spPr>
            <a:xfrm>
              <a:off x="6720136" y="3748936"/>
              <a:ext cx="144016" cy="144016"/>
            </a:xfrm>
            <a:prstGeom prst="ellipse">
              <a:avLst/>
            </a:prstGeom>
            <a:solidFill>
              <a:schemeClr val="tx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122">
              <a:extLst>
                <a:ext uri="{FF2B5EF4-FFF2-40B4-BE49-F238E27FC236}">
                  <a16:creationId xmlns:a16="http://schemas.microsoft.com/office/drawing/2014/main" id="{3BBA9B77-71C2-8ED9-0E3F-059A076AD944}"/>
                </a:ext>
              </a:extLst>
            </p:cNvPr>
            <p:cNvSpPr/>
            <p:nvPr/>
          </p:nvSpPr>
          <p:spPr>
            <a:xfrm>
              <a:off x="6720136" y="4757048"/>
              <a:ext cx="144016" cy="144016"/>
            </a:xfrm>
            <a:prstGeom prst="ellipse">
              <a:avLst/>
            </a:prstGeom>
            <a:solidFill>
              <a:schemeClr val="tx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Oval 123">
              <a:extLst>
                <a:ext uri="{FF2B5EF4-FFF2-40B4-BE49-F238E27FC236}">
                  <a16:creationId xmlns:a16="http://schemas.microsoft.com/office/drawing/2014/main" id="{4D7C6294-2D1D-7410-3362-588E755715FF}"/>
                </a:ext>
              </a:extLst>
            </p:cNvPr>
            <p:cNvSpPr/>
            <p:nvPr/>
          </p:nvSpPr>
          <p:spPr>
            <a:xfrm>
              <a:off x="7008168" y="1516688"/>
              <a:ext cx="144016" cy="144016"/>
            </a:xfrm>
            <a:prstGeom prst="ellipse">
              <a:avLst/>
            </a:prstGeom>
            <a:solidFill>
              <a:schemeClr val="bg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Oval 124">
              <a:extLst>
                <a:ext uri="{FF2B5EF4-FFF2-40B4-BE49-F238E27FC236}">
                  <a16:creationId xmlns:a16="http://schemas.microsoft.com/office/drawing/2014/main" id="{B6158A2C-28AB-D15B-7CB1-9A826C01D79B}"/>
                </a:ext>
              </a:extLst>
            </p:cNvPr>
            <p:cNvSpPr/>
            <p:nvPr/>
          </p:nvSpPr>
          <p:spPr>
            <a:xfrm>
              <a:off x="7008168" y="2524800"/>
              <a:ext cx="144016" cy="144016"/>
            </a:xfrm>
            <a:prstGeom prst="ellipse">
              <a:avLst/>
            </a:prstGeom>
            <a:solidFill>
              <a:schemeClr val="bg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Oval 125">
              <a:extLst>
                <a:ext uri="{FF2B5EF4-FFF2-40B4-BE49-F238E27FC236}">
                  <a16:creationId xmlns:a16="http://schemas.microsoft.com/office/drawing/2014/main" id="{D5A7F0DF-6717-F850-0F29-BE879D03C13C}"/>
                </a:ext>
              </a:extLst>
            </p:cNvPr>
            <p:cNvSpPr/>
            <p:nvPr/>
          </p:nvSpPr>
          <p:spPr>
            <a:xfrm>
              <a:off x="7008168" y="3748936"/>
              <a:ext cx="144016" cy="144016"/>
            </a:xfrm>
            <a:prstGeom prst="ellipse">
              <a:avLst/>
            </a:prstGeom>
            <a:solidFill>
              <a:schemeClr val="bg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8452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76A5-7019-D3B3-4651-E7CFDFC9F9F6}"/>
              </a:ext>
            </a:extLst>
          </p:cNvPr>
          <p:cNvSpPr>
            <a:spLocks noGrp="1"/>
          </p:cNvSpPr>
          <p:nvPr>
            <p:ph type="title"/>
          </p:nvPr>
        </p:nvSpPr>
        <p:spPr>
          <a:xfrm>
            <a:off x="357251" y="383102"/>
            <a:ext cx="8026800" cy="2459651"/>
          </a:xfrm>
        </p:spPr>
        <p:txBody>
          <a:bodyPr/>
          <a:lstStyle/>
          <a:p>
            <a:r>
              <a:rPr lang="en-US" dirty="0"/>
              <a:t>Foundational concepts of computers: abstraction, assembler, compiler</a:t>
            </a:r>
          </a:p>
        </p:txBody>
      </p:sp>
      <p:sp>
        <p:nvSpPr>
          <p:cNvPr id="4" name="Slide Number Placeholder 3">
            <a:extLst>
              <a:ext uri="{FF2B5EF4-FFF2-40B4-BE49-F238E27FC236}">
                <a16:creationId xmlns:a16="http://schemas.microsoft.com/office/drawing/2014/main" id="{F0144DB1-29FF-6DC1-CF47-D57FF6A0EF24}"/>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24</a:t>
            </a:fld>
            <a:endParaRPr lang="de-DE"/>
          </a:p>
        </p:txBody>
      </p:sp>
      <p:sp>
        <p:nvSpPr>
          <p:cNvPr id="5" name="Text Box 5">
            <a:extLst>
              <a:ext uri="{FF2B5EF4-FFF2-40B4-BE49-F238E27FC236}">
                <a16:creationId xmlns:a16="http://schemas.microsoft.com/office/drawing/2014/main" id="{C39415A6-CE7D-CF53-91C5-02F9044681C0}"/>
              </a:ext>
            </a:extLst>
          </p:cNvPr>
          <p:cNvSpPr txBox="1">
            <a:spLocks noChangeArrowheads="1"/>
          </p:cNvSpPr>
          <p:nvPr/>
        </p:nvSpPr>
        <p:spPr bwMode="auto">
          <a:xfrm>
            <a:off x="1061463" y="2170938"/>
            <a:ext cx="2749213" cy="399694"/>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spAutoFit/>
          </a:bodyPr>
          <a:lstStyle/>
          <a:p>
            <a:pPr eaLnBrk="0" hangingPunct="0">
              <a:defRPr/>
            </a:pPr>
            <a:r>
              <a:rPr lang="en-US" sz="1998" dirty="0" err="1">
                <a:ea typeface="ＭＳ Ｐゴシック" charset="0"/>
                <a:cs typeface="Arial" charset="0"/>
              </a:rPr>
              <a:t>Hochsprache</a:t>
            </a:r>
            <a:r>
              <a:rPr lang="en-US" sz="1998" dirty="0">
                <a:ea typeface="ＭＳ Ｐゴシック" charset="0"/>
                <a:cs typeface="Arial" charset="0"/>
              </a:rPr>
              <a:t> (</a:t>
            </a:r>
            <a:r>
              <a:rPr lang="en-US" sz="1998" dirty="0" err="1">
                <a:ea typeface="ＭＳ Ｐゴシック" charset="0"/>
                <a:cs typeface="Arial" charset="0"/>
              </a:rPr>
              <a:t>z.B.</a:t>
            </a:r>
            <a:r>
              <a:rPr lang="en-US" sz="1998" dirty="0">
                <a:ea typeface="ＭＳ Ｐゴシック" charset="0"/>
                <a:cs typeface="Arial" charset="0"/>
              </a:rPr>
              <a:t> C)</a:t>
            </a:r>
          </a:p>
        </p:txBody>
      </p:sp>
      <p:sp>
        <p:nvSpPr>
          <p:cNvPr id="6" name="Text Box 6">
            <a:extLst>
              <a:ext uri="{FF2B5EF4-FFF2-40B4-BE49-F238E27FC236}">
                <a16:creationId xmlns:a16="http://schemas.microsoft.com/office/drawing/2014/main" id="{A8DFD344-A49A-428B-AB6D-459BA4AD7425}"/>
              </a:ext>
            </a:extLst>
          </p:cNvPr>
          <p:cNvSpPr txBox="1">
            <a:spLocks noChangeArrowheads="1"/>
          </p:cNvSpPr>
          <p:nvPr/>
        </p:nvSpPr>
        <p:spPr bwMode="auto">
          <a:xfrm>
            <a:off x="3767149" y="1582549"/>
            <a:ext cx="3267044" cy="1469641"/>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lnSpc>
                <a:spcPct val="80000"/>
              </a:lnSpc>
              <a:defRPr/>
            </a:pPr>
            <a:r>
              <a:rPr lang="en-US" sz="1598" b="1">
                <a:latin typeface="Courier New" charset="0"/>
                <a:ea typeface="ＭＳ Ｐゴシック" charset="0"/>
                <a:cs typeface="Arial" charset="0"/>
              </a:rPr>
              <a:t>void swap(</a:t>
            </a:r>
            <a:r>
              <a:rPr lang="en-US" sz="1598" b="1" err="1">
                <a:latin typeface="Courier New" charset="0"/>
                <a:ea typeface="ＭＳ Ｐゴシック" charset="0"/>
                <a:cs typeface="Arial" charset="0"/>
              </a:rPr>
              <a:t>int</a:t>
            </a:r>
            <a:r>
              <a:rPr lang="en-US" sz="1598" b="1">
                <a:latin typeface="Courier New" charset="0"/>
                <a:ea typeface="ＭＳ Ｐゴシック" charset="0"/>
                <a:cs typeface="Arial" charset="0"/>
              </a:rPr>
              <a:t> v[], </a:t>
            </a:r>
            <a:r>
              <a:rPr lang="en-US" sz="1598" b="1" err="1">
                <a:latin typeface="Courier New" charset="0"/>
                <a:ea typeface="ＭＳ Ｐゴシック" charset="0"/>
                <a:cs typeface="Arial" charset="0"/>
              </a:rPr>
              <a:t>int</a:t>
            </a:r>
            <a:r>
              <a:rPr lang="en-US" sz="1598" b="1">
                <a:latin typeface="Courier New" charset="0"/>
                <a:ea typeface="ＭＳ Ｐゴシック" charset="0"/>
                <a:cs typeface="Arial" charset="0"/>
              </a:rPr>
              <a:t> k)</a:t>
            </a:r>
          </a:p>
          <a:p>
            <a:pPr eaLnBrk="0" hangingPunct="0">
              <a:lnSpc>
                <a:spcPct val="80000"/>
              </a:lnSpc>
              <a:defRPr/>
            </a:pPr>
            <a:r>
              <a:rPr lang="en-US" sz="1598" b="1">
                <a:latin typeface="Courier New" charset="0"/>
                <a:ea typeface="ＭＳ Ｐゴシック" charset="0"/>
                <a:cs typeface="Arial" charset="0"/>
              </a:rPr>
              <a:t>{</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int</a:t>
            </a:r>
            <a:r>
              <a:rPr lang="en-US" sz="1598" b="1">
                <a:latin typeface="Courier New" charset="0"/>
                <a:ea typeface="ＭＳ Ｐゴシック" charset="0"/>
                <a:cs typeface="Arial" charset="0"/>
              </a:rPr>
              <a:t> temp;</a:t>
            </a:r>
          </a:p>
          <a:p>
            <a:pPr eaLnBrk="0" hangingPunct="0">
              <a:lnSpc>
                <a:spcPct val="80000"/>
              </a:lnSpc>
              <a:defRPr/>
            </a:pPr>
            <a:r>
              <a:rPr lang="en-US" sz="1598" b="1">
                <a:latin typeface="Courier New" charset="0"/>
                <a:ea typeface="ＭＳ Ｐゴシック" charset="0"/>
                <a:cs typeface="Arial" charset="0"/>
              </a:rPr>
              <a:t>   temp = v[k];</a:t>
            </a:r>
          </a:p>
          <a:p>
            <a:pPr eaLnBrk="0" hangingPunct="0">
              <a:lnSpc>
                <a:spcPct val="80000"/>
              </a:lnSpc>
              <a:defRPr/>
            </a:pPr>
            <a:r>
              <a:rPr lang="en-US" sz="1598" b="1">
                <a:latin typeface="Courier New" charset="0"/>
                <a:ea typeface="ＭＳ Ｐゴシック" charset="0"/>
                <a:cs typeface="Arial" charset="0"/>
              </a:rPr>
              <a:t>   v[k] = v[k+1];</a:t>
            </a:r>
          </a:p>
          <a:p>
            <a:pPr eaLnBrk="0" hangingPunct="0">
              <a:lnSpc>
                <a:spcPct val="80000"/>
              </a:lnSpc>
              <a:defRPr/>
            </a:pPr>
            <a:r>
              <a:rPr lang="en-US" sz="1598" b="1">
                <a:latin typeface="Courier New" charset="0"/>
                <a:ea typeface="ＭＳ Ｐゴシック" charset="0"/>
                <a:cs typeface="Arial" charset="0"/>
              </a:rPr>
              <a:t>   v[k+1] = temp;</a:t>
            </a:r>
          </a:p>
          <a:p>
            <a:pPr eaLnBrk="0" hangingPunct="0">
              <a:lnSpc>
                <a:spcPct val="80000"/>
              </a:lnSpc>
              <a:defRPr/>
            </a:pPr>
            <a:r>
              <a:rPr lang="en-US" sz="1598" b="1">
                <a:latin typeface="Courier New" charset="0"/>
                <a:ea typeface="ＭＳ Ｐゴシック" charset="0"/>
                <a:cs typeface="Arial" charset="0"/>
              </a:rPr>
              <a:t>}</a:t>
            </a:r>
          </a:p>
        </p:txBody>
      </p:sp>
      <p:grpSp>
        <p:nvGrpSpPr>
          <p:cNvPr id="7" name="Gruppieren 3">
            <a:extLst>
              <a:ext uri="{FF2B5EF4-FFF2-40B4-BE49-F238E27FC236}">
                <a16:creationId xmlns:a16="http://schemas.microsoft.com/office/drawing/2014/main" id="{B0A9BB99-38D8-30FF-6EEB-148BD9968A1D}"/>
              </a:ext>
            </a:extLst>
          </p:cNvPr>
          <p:cNvGrpSpPr/>
          <p:nvPr/>
        </p:nvGrpSpPr>
        <p:grpSpPr>
          <a:xfrm>
            <a:off x="1098358" y="2840458"/>
            <a:ext cx="4826110" cy="2887311"/>
            <a:chOff x="359626" y="2554617"/>
            <a:chExt cx="4831137" cy="2890319"/>
          </a:xfrm>
        </p:grpSpPr>
        <p:grpSp>
          <p:nvGrpSpPr>
            <p:cNvPr id="8" name="Gruppieren 1">
              <a:extLst>
                <a:ext uri="{FF2B5EF4-FFF2-40B4-BE49-F238E27FC236}">
                  <a16:creationId xmlns:a16="http://schemas.microsoft.com/office/drawing/2014/main" id="{2E7BA0AF-0B05-7810-F1E9-CFD0384A290F}"/>
                </a:ext>
              </a:extLst>
            </p:cNvPr>
            <p:cNvGrpSpPr/>
            <p:nvPr/>
          </p:nvGrpSpPr>
          <p:grpSpPr>
            <a:xfrm>
              <a:off x="359626" y="2554617"/>
              <a:ext cx="4831137" cy="2890319"/>
              <a:chOff x="359626" y="2554617"/>
              <a:chExt cx="4831137" cy="2890319"/>
            </a:xfrm>
          </p:grpSpPr>
          <p:sp>
            <p:nvSpPr>
              <p:cNvPr id="10" name="Oval 3">
                <a:extLst>
                  <a:ext uri="{FF2B5EF4-FFF2-40B4-BE49-F238E27FC236}">
                    <a16:creationId xmlns:a16="http://schemas.microsoft.com/office/drawing/2014/main" id="{207A44AC-D54C-9B3B-4DC5-C869FCEE013E}"/>
                  </a:ext>
                </a:extLst>
              </p:cNvPr>
              <p:cNvSpPr>
                <a:spLocks noChangeArrowheads="1"/>
              </p:cNvSpPr>
              <p:nvPr/>
            </p:nvSpPr>
            <p:spPr bwMode="auto">
              <a:xfrm>
                <a:off x="3096822" y="2948366"/>
                <a:ext cx="1640620" cy="524998"/>
              </a:xfrm>
              <a:prstGeom prst="ellipse">
                <a:avLst/>
              </a:prstGeom>
              <a:solidFill>
                <a:schemeClr val="accent2">
                  <a:lumMod val="20000"/>
                  <a:lumOff val="80000"/>
                </a:schemeClr>
              </a:solidFill>
              <a:ln w="38100">
                <a:solidFill>
                  <a:schemeClr val="tx1"/>
                </a:solidFill>
                <a:round/>
                <a:headEnd/>
                <a:tailEnd/>
              </a:ln>
              <a:effectLst/>
            </p:spPr>
            <p:txBody>
              <a:bodyPr anchor="ctr">
                <a:spAutoFit/>
              </a:bodyPr>
              <a:lstStyle/>
              <a:p>
                <a:pPr>
                  <a:defRPr/>
                </a:pPr>
                <a:endParaRPr lang="en-US">
                  <a:latin typeface="Arial" charset="0"/>
                  <a:ea typeface="ＭＳ Ｐゴシック" charset="0"/>
                  <a:cs typeface="Arial" charset="0"/>
                </a:endParaRPr>
              </a:p>
            </p:txBody>
          </p:sp>
          <p:sp>
            <p:nvSpPr>
              <p:cNvPr id="11" name="Text Box 7">
                <a:extLst>
                  <a:ext uri="{FF2B5EF4-FFF2-40B4-BE49-F238E27FC236}">
                    <a16:creationId xmlns:a16="http://schemas.microsoft.com/office/drawing/2014/main" id="{4725DB7B-0557-F90F-8AC0-87FB3D255932}"/>
                  </a:ext>
                </a:extLst>
              </p:cNvPr>
              <p:cNvSpPr txBox="1">
                <a:spLocks noChangeArrowheads="1"/>
              </p:cNvSpPr>
              <p:nvPr/>
            </p:nvSpPr>
            <p:spPr bwMode="auto">
              <a:xfrm>
                <a:off x="359626" y="4354752"/>
                <a:ext cx="2743998"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spAutoFit/>
              </a:bodyPr>
              <a:lstStyle/>
              <a:p>
                <a:pPr eaLnBrk="0" hangingPunct="0">
                  <a:defRPr/>
                </a:pPr>
                <a:r>
                  <a:rPr lang="en-US" sz="1998">
                    <a:ea typeface="ＭＳ Ｐゴシック" charset="0"/>
                    <a:cs typeface="Arial" charset="0"/>
                  </a:rPr>
                  <a:t>Assembler</a:t>
                </a:r>
              </a:p>
            </p:txBody>
          </p:sp>
          <p:sp>
            <p:nvSpPr>
              <p:cNvPr id="12" name="Text Box 8">
                <a:extLst>
                  <a:ext uri="{FF2B5EF4-FFF2-40B4-BE49-F238E27FC236}">
                    <a16:creationId xmlns:a16="http://schemas.microsoft.com/office/drawing/2014/main" id="{23224351-C9BD-AEDD-F458-B674A3FB0419}"/>
                  </a:ext>
                </a:extLst>
              </p:cNvPr>
              <p:cNvSpPr txBox="1">
                <a:spLocks noChangeArrowheads="1"/>
              </p:cNvSpPr>
              <p:nvPr/>
            </p:nvSpPr>
            <p:spPr bwMode="auto">
              <a:xfrm>
                <a:off x="3031197" y="3776787"/>
                <a:ext cx="2159566" cy="1668149"/>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lnSpc>
                    <a:spcPct val="80000"/>
                  </a:lnSpc>
                  <a:defRPr/>
                </a:pPr>
                <a:r>
                  <a:rPr lang="en-US" sz="1598" b="1">
                    <a:latin typeface="Courier New" charset="0"/>
                    <a:ea typeface="ＭＳ Ｐゴシック" charset="0"/>
                    <a:cs typeface="Arial" charset="0"/>
                  </a:rPr>
                  <a:t>swap:</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muli</a:t>
                </a:r>
                <a:r>
                  <a:rPr lang="en-US" sz="1598" b="1">
                    <a:latin typeface="Courier New" charset="0"/>
                    <a:ea typeface="ＭＳ Ｐゴシック" charset="0"/>
                    <a:cs typeface="Arial" charset="0"/>
                  </a:rPr>
                  <a:t> $2,$5,4</a:t>
                </a:r>
              </a:p>
              <a:p>
                <a:pPr eaLnBrk="0" hangingPunct="0">
                  <a:lnSpc>
                    <a:spcPct val="80000"/>
                  </a:lnSpc>
                  <a:defRPr/>
                </a:pPr>
                <a:r>
                  <a:rPr lang="en-US" sz="1598" b="1">
                    <a:latin typeface="Courier New" charset="0"/>
                    <a:ea typeface="ＭＳ Ｐゴシック" charset="0"/>
                    <a:cs typeface="Arial" charset="0"/>
                  </a:rPr>
                  <a:t>  add  $2,$4,$2</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lw</a:t>
                </a:r>
                <a:r>
                  <a:rPr lang="en-US" sz="1598" b="1">
                    <a:latin typeface="Courier New" charset="0"/>
                    <a:ea typeface="ＭＳ Ｐゴシック" charset="0"/>
                    <a:cs typeface="Arial" charset="0"/>
                  </a:rPr>
                  <a:t>   $15,0($2)</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lw</a:t>
                </a:r>
                <a:r>
                  <a:rPr lang="en-US" sz="1598" b="1">
                    <a:latin typeface="Courier New" charset="0"/>
                    <a:ea typeface="ＭＳ Ｐゴシック" charset="0"/>
                    <a:cs typeface="Arial" charset="0"/>
                  </a:rPr>
                  <a:t>   $16,4($2)</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sw</a:t>
                </a:r>
                <a:r>
                  <a:rPr lang="en-US" sz="1598" b="1">
                    <a:latin typeface="Courier New" charset="0"/>
                    <a:ea typeface="ＭＳ Ｐゴシック" charset="0"/>
                    <a:cs typeface="Arial" charset="0"/>
                  </a:rPr>
                  <a:t>   $16,0($2)</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sw</a:t>
                </a:r>
                <a:r>
                  <a:rPr lang="en-US" sz="1598" b="1">
                    <a:latin typeface="Courier New" charset="0"/>
                    <a:ea typeface="ＭＳ Ｐゴシック" charset="0"/>
                    <a:cs typeface="Arial" charset="0"/>
                  </a:rPr>
                  <a:t>   $15,4($2)</a:t>
                </a:r>
              </a:p>
              <a:p>
                <a:pPr eaLnBrk="0" hangingPunct="0">
                  <a:lnSpc>
                    <a:spcPct val="80000"/>
                  </a:lnSpc>
                  <a:defRPr/>
                </a:pPr>
                <a:r>
                  <a:rPr lang="en-US" sz="1598" b="1">
                    <a:latin typeface="Courier New" charset="0"/>
                    <a:ea typeface="ＭＳ Ｐゴシック" charset="0"/>
                    <a:cs typeface="Arial" charset="0"/>
                  </a:rPr>
                  <a:t>  </a:t>
                </a:r>
                <a:r>
                  <a:rPr lang="en-US" sz="1598" b="1" err="1">
                    <a:latin typeface="Courier New" charset="0"/>
                    <a:ea typeface="ＭＳ Ｐゴシック" charset="0"/>
                    <a:cs typeface="Arial" charset="0"/>
                  </a:rPr>
                  <a:t>jr</a:t>
                </a:r>
                <a:r>
                  <a:rPr lang="en-US" sz="1598" b="1">
                    <a:latin typeface="Courier New" charset="0"/>
                    <a:ea typeface="ＭＳ Ｐゴシック" charset="0"/>
                    <a:cs typeface="Arial" charset="0"/>
                  </a:rPr>
                  <a:t>   $31</a:t>
                </a:r>
              </a:p>
            </p:txBody>
          </p:sp>
          <p:sp>
            <p:nvSpPr>
              <p:cNvPr id="13" name="Line 13">
                <a:extLst>
                  <a:ext uri="{FF2B5EF4-FFF2-40B4-BE49-F238E27FC236}">
                    <a16:creationId xmlns:a16="http://schemas.microsoft.com/office/drawing/2014/main" id="{7C09B1CE-B1AE-A819-034D-F6702D4347CC}"/>
                  </a:ext>
                </a:extLst>
              </p:cNvPr>
              <p:cNvSpPr>
                <a:spLocks noChangeShapeType="1"/>
              </p:cNvSpPr>
              <p:nvPr/>
            </p:nvSpPr>
            <p:spPr bwMode="auto">
              <a:xfrm>
                <a:off x="3884319" y="2554617"/>
                <a:ext cx="0" cy="3937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defRPr/>
                </a:pPr>
                <a:endParaRPr lang="en-US">
                  <a:latin typeface="Arial" charset="0"/>
                  <a:ea typeface="ＭＳ Ｐゴシック" charset="0"/>
                  <a:cs typeface="Arial" charset="0"/>
                </a:endParaRPr>
              </a:p>
            </p:txBody>
          </p:sp>
          <p:sp>
            <p:nvSpPr>
              <p:cNvPr id="14" name="Line 14">
                <a:extLst>
                  <a:ext uri="{FF2B5EF4-FFF2-40B4-BE49-F238E27FC236}">
                    <a16:creationId xmlns:a16="http://schemas.microsoft.com/office/drawing/2014/main" id="{9416F19E-25DF-B5B0-56E7-0A2477051859}"/>
                  </a:ext>
                </a:extLst>
              </p:cNvPr>
              <p:cNvSpPr>
                <a:spLocks noChangeShapeType="1"/>
              </p:cNvSpPr>
              <p:nvPr/>
            </p:nvSpPr>
            <p:spPr bwMode="auto">
              <a:xfrm>
                <a:off x="3884319" y="3473364"/>
                <a:ext cx="0" cy="3937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defRPr/>
                </a:pPr>
                <a:endParaRPr lang="en-US">
                  <a:latin typeface="Arial" charset="0"/>
                  <a:ea typeface="ＭＳ Ｐゴシック" charset="0"/>
                  <a:cs typeface="Arial" charset="0"/>
                </a:endParaRPr>
              </a:p>
            </p:txBody>
          </p:sp>
        </p:grpSp>
        <p:sp>
          <p:nvSpPr>
            <p:cNvPr id="9" name="Text Box 11">
              <a:extLst>
                <a:ext uri="{FF2B5EF4-FFF2-40B4-BE49-F238E27FC236}">
                  <a16:creationId xmlns:a16="http://schemas.microsoft.com/office/drawing/2014/main" id="{E5D634F1-CADE-859B-723F-8CB5E656997D}"/>
                </a:ext>
              </a:extLst>
            </p:cNvPr>
            <p:cNvSpPr txBox="1">
              <a:spLocks noChangeArrowheads="1"/>
            </p:cNvSpPr>
            <p:nvPr/>
          </p:nvSpPr>
          <p:spPr bwMode="auto">
            <a:xfrm>
              <a:off x="3275923" y="3010811"/>
              <a:ext cx="1329210"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defRPr/>
              </a:pPr>
              <a:r>
                <a:rPr lang="en-US" sz="1998">
                  <a:latin typeface="Times New Roman" charset="0"/>
                  <a:ea typeface="ＭＳ Ｐゴシック" charset="0"/>
                  <a:cs typeface="Arial" charset="0"/>
                </a:rPr>
                <a:t>C compiler</a:t>
              </a:r>
            </a:p>
          </p:txBody>
        </p:sp>
      </p:grpSp>
      <p:grpSp>
        <p:nvGrpSpPr>
          <p:cNvPr id="15" name="Gruppieren 6">
            <a:extLst>
              <a:ext uri="{FF2B5EF4-FFF2-40B4-BE49-F238E27FC236}">
                <a16:creationId xmlns:a16="http://schemas.microsoft.com/office/drawing/2014/main" id="{9142DCD1-FC37-7A4B-01D9-BB70769C4533}"/>
              </a:ext>
            </a:extLst>
          </p:cNvPr>
          <p:cNvGrpSpPr/>
          <p:nvPr/>
        </p:nvGrpSpPr>
        <p:grpSpPr>
          <a:xfrm>
            <a:off x="4619382" y="2053776"/>
            <a:ext cx="6178804" cy="3888322"/>
            <a:chOff x="3884319" y="1767118"/>
            <a:chExt cx="6185240" cy="3892372"/>
          </a:xfrm>
        </p:grpSpPr>
        <p:sp>
          <p:nvSpPr>
            <p:cNvPr id="16" name="Oval 2">
              <a:extLst>
                <a:ext uri="{FF2B5EF4-FFF2-40B4-BE49-F238E27FC236}">
                  <a16:creationId xmlns:a16="http://schemas.microsoft.com/office/drawing/2014/main" id="{EB6D6AED-93AD-5BC4-0DA2-4262BACAE192}"/>
                </a:ext>
              </a:extLst>
            </p:cNvPr>
            <p:cNvSpPr>
              <a:spLocks noChangeArrowheads="1"/>
            </p:cNvSpPr>
            <p:nvPr/>
          </p:nvSpPr>
          <p:spPr bwMode="auto">
            <a:xfrm>
              <a:off x="6706186" y="2160868"/>
              <a:ext cx="1640620" cy="524998"/>
            </a:xfrm>
            <a:prstGeom prst="ellipse">
              <a:avLst/>
            </a:prstGeom>
            <a:solidFill>
              <a:schemeClr val="accent2">
                <a:lumMod val="20000"/>
                <a:lumOff val="80000"/>
              </a:schemeClr>
            </a:solidFill>
            <a:ln w="38100">
              <a:solidFill>
                <a:schemeClr val="tx1"/>
              </a:solidFill>
              <a:round/>
              <a:headEnd/>
              <a:tailEnd/>
            </a:ln>
            <a:effectLst/>
          </p:spPr>
          <p:txBody>
            <a:bodyPr anchor="ctr">
              <a:spAutoFit/>
            </a:bodyPr>
            <a:lstStyle/>
            <a:p>
              <a:pPr>
                <a:defRPr/>
              </a:pPr>
              <a:endParaRPr lang="en-US">
                <a:latin typeface="Arial" charset="0"/>
                <a:ea typeface="ＭＳ Ｐゴシック" charset="0"/>
                <a:cs typeface="Arial" charset="0"/>
              </a:endParaRPr>
            </a:p>
          </p:txBody>
        </p:sp>
        <p:sp>
          <p:nvSpPr>
            <p:cNvPr id="17" name="Text Box 9">
              <a:extLst>
                <a:ext uri="{FF2B5EF4-FFF2-40B4-BE49-F238E27FC236}">
                  <a16:creationId xmlns:a16="http://schemas.microsoft.com/office/drawing/2014/main" id="{79D6590E-665A-67F9-20D4-2429420F1657}"/>
                </a:ext>
              </a:extLst>
            </p:cNvPr>
            <p:cNvSpPr txBox="1">
              <a:spLocks noChangeArrowheads="1"/>
            </p:cNvSpPr>
            <p:nvPr/>
          </p:nvSpPr>
          <p:spPr bwMode="auto">
            <a:xfrm>
              <a:off x="6172200" y="4725888"/>
              <a:ext cx="3830684"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spAutoFit/>
            </a:bodyPr>
            <a:lstStyle/>
            <a:p>
              <a:pPr algn="ctr" eaLnBrk="0" hangingPunct="0">
                <a:defRPr/>
              </a:pPr>
              <a:r>
                <a:rPr lang="de-DE" sz="1998">
                  <a:ea typeface="ＭＳ Ｐゴシック" charset="0"/>
                  <a:cs typeface="Arial" charset="0"/>
                </a:rPr>
                <a:t>Maschinelle </a:t>
              </a:r>
              <a:r>
                <a:rPr lang="de-DE" sz="1998" err="1">
                  <a:ea typeface="ＭＳ Ｐゴシック" charset="0"/>
                  <a:cs typeface="Arial" charset="0"/>
                </a:rPr>
                <a:t>Binä</a:t>
              </a:r>
              <a:r>
                <a:rPr lang="en-US" sz="1998" err="1">
                  <a:ea typeface="ＭＳ Ｐゴシック" charset="0"/>
                  <a:cs typeface="Arial" charset="0"/>
                </a:rPr>
                <a:t>rsprache</a:t>
              </a:r>
              <a:endParaRPr lang="en-US" sz="1998">
                <a:ea typeface="ＭＳ Ｐゴシック" charset="0"/>
                <a:cs typeface="Arial" charset="0"/>
              </a:endParaRPr>
            </a:p>
          </p:txBody>
        </p:sp>
        <p:sp>
          <p:nvSpPr>
            <p:cNvPr id="18" name="Text Box 10">
              <a:extLst>
                <a:ext uri="{FF2B5EF4-FFF2-40B4-BE49-F238E27FC236}">
                  <a16:creationId xmlns:a16="http://schemas.microsoft.com/office/drawing/2014/main" id="{D3B846CE-AFA7-2477-9570-071EF8DF0DA5}"/>
                </a:ext>
              </a:extLst>
            </p:cNvPr>
            <p:cNvSpPr txBox="1">
              <a:spLocks noChangeArrowheads="1"/>
            </p:cNvSpPr>
            <p:nvPr/>
          </p:nvSpPr>
          <p:spPr bwMode="auto">
            <a:xfrm>
              <a:off x="5935094" y="3001645"/>
              <a:ext cx="4134465" cy="1471172"/>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lnSpc>
                  <a:spcPct val="80000"/>
                </a:lnSpc>
                <a:defRPr/>
              </a:pPr>
              <a:r>
                <a:rPr lang="en-US" sz="1598" b="1" dirty="0">
                  <a:latin typeface="Courier New" charset="0"/>
                  <a:ea typeface="ＭＳ Ｐゴシック" charset="0"/>
                  <a:cs typeface="Arial" charset="0"/>
                </a:rPr>
                <a:t>00000000101000010000000000011000</a:t>
              </a:r>
            </a:p>
            <a:p>
              <a:pPr eaLnBrk="0" hangingPunct="0">
                <a:lnSpc>
                  <a:spcPct val="80000"/>
                </a:lnSpc>
                <a:defRPr/>
              </a:pPr>
              <a:r>
                <a:rPr lang="en-US" sz="1598" b="1" dirty="0">
                  <a:latin typeface="Courier New" charset="0"/>
                  <a:ea typeface="ＭＳ Ｐゴシック" charset="0"/>
                  <a:cs typeface="Arial" charset="0"/>
                </a:rPr>
                <a:t>00000000100011100001100000100001</a:t>
              </a:r>
            </a:p>
            <a:p>
              <a:pPr eaLnBrk="0" hangingPunct="0">
                <a:lnSpc>
                  <a:spcPct val="80000"/>
                </a:lnSpc>
                <a:defRPr/>
              </a:pPr>
              <a:r>
                <a:rPr lang="en-US" sz="1598" b="1" dirty="0">
                  <a:latin typeface="Courier New" charset="0"/>
                  <a:ea typeface="ＭＳ Ｐゴシック" charset="0"/>
                  <a:cs typeface="Arial" charset="0"/>
                </a:rPr>
                <a:t>10001100011000100000000000000000</a:t>
              </a:r>
            </a:p>
            <a:p>
              <a:pPr eaLnBrk="0" hangingPunct="0">
                <a:lnSpc>
                  <a:spcPct val="80000"/>
                </a:lnSpc>
                <a:defRPr/>
              </a:pPr>
              <a:r>
                <a:rPr lang="en-US" sz="1598" b="1" dirty="0">
                  <a:latin typeface="Courier New" charset="0"/>
                  <a:ea typeface="ＭＳ Ｐゴシック" charset="0"/>
                  <a:cs typeface="Arial" charset="0"/>
                </a:rPr>
                <a:t>10001100111100100000000000000100</a:t>
              </a:r>
            </a:p>
            <a:p>
              <a:pPr eaLnBrk="0" hangingPunct="0">
                <a:lnSpc>
                  <a:spcPct val="80000"/>
                </a:lnSpc>
                <a:defRPr/>
              </a:pPr>
              <a:r>
                <a:rPr lang="en-US" sz="1598" b="1" dirty="0">
                  <a:latin typeface="Courier New" charset="0"/>
                  <a:ea typeface="ＭＳ Ｐゴシック" charset="0"/>
                  <a:cs typeface="Arial" charset="0"/>
                </a:rPr>
                <a:t>10101100111100100000000000000000</a:t>
              </a:r>
            </a:p>
            <a:p>
              <a:pPr eaLnBrk="0" hangingPunct="0">
                <a:lnSpc>
                  <a:spcPct val="80000"/>
                </a:lnSpc>
                <a:defRPr/>
              </a:pPr>
              <a:r>
                <a:rPr lang="en-US" sz="1598" b="1" dirty="0">
                  <a:latin typeface="Courier New" charset="0"/>
                  <a:ea typeface="ＭＳ Ｐゴシック" charset="0"/>
                  <a:cs typeface="Arial" charset="0"/>
                </a:rPr>
                <a:t>10101100011000100000000000000100</a:t>
              </a:r>
            </a:p>
            <a:p>
              <a:pPr eaLnBrk="0" hangingPunct="0">
                <a:lnSpc>
                  <a:spcPct val="80000"/>
                </a:lnSpc>
                <a:defRPr/>
              </a:pPr>
              <a:r>
                <a:rPr lang="en-US" sz="1598" b="1" dirty="0">
                  <a:latin typeface="Courier New" charset="0"/>
                  <a:ea typeface="ＭＳ Ｐゴシック" charset="0"/>
                  <a:cs typeface="Arial" charset="0"/>
                </a:rPr>
                <a:t>00000011111000000000000000001000</a:t>
              </a:r>
            </a:p>
          </p:txBody>
        </p:sp>
        <p:sp>
          <p:nvSpPr>
            <p:cNvPr id="19" name="Text Box 12">
              <a:extLst>
                <a:ext uri="{FF2B5EF4-FFF2-40B4-BE49-F238E27FC236}">
                  <a16:creationId xmlns:a16="http://schemas.microsoft.com/office/drawing/2014/main" id="{4F23A281-8166-403D-3BF8-ABF10D1740A3}"/>
                </a:ext>
              </a:extLst>
            </p:cNvPr>
            <p:cNvSpPr txBox="1">
              <a:spLocks noChangeArrowheads="1"/>
            </p:cNvSpPr>
            <p:nvPr/>
          </p:nvSpPr>
          <p:spPr bwMode="auto">
            <a:xfrm>
              <a:off x="6948177" y="2223312"/>
              <a:ext cx="1207382" cy="4001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folHlink"/>
                      </a:gs>
                    </a:gsLst>
                    <a:lin ang="0" scaled="1"/>
                  </a:gra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eaLnBrk="0" hangingPunct="0">
                <a:defRPr/>
              </a:pPr>
              <a:r>
                <a:rPr lang="en-US" sz="1998">
                  <a:latin typeface="Times New Roman" charset="0"/>
                  <a:ea typeface="ＭＳ Ｐゴシック" charset="0"/>
                  <a:cs typeface="Arial" charset="0"/>
                </a:rPr>
                <a:t>assembler</a:t>
              </a:r>
            </a:p>
          </p:txBody>
        </p:sp>
        <p:sp>
          <p:nvSpPr>
            <p:cNvPr id="20" name="Line 15">
              <a:extLst>
                <a:ext uri="{FF2B5EF4-FFF2-40B4-BE49-F238E27FC236}">
                  <a16:creationId xmlns:a16="http://schemas.microsoft.com/office/drawing/2014/main" id="{F4B5A23C-5A83-F6B8-2811-171EEB40AA23}"/>
                </a:ext>
              </a:extLst>
            </p:cNvPr>
            <p:cNvSpPr>
              <a:spLocks noChangeShapeType="1"/>
            </p:cNvSpPr>
            <p:nvPr/>
          </p:nvSpPr>
          <p:spPr bwMode="auto">
            <a:xfrm>
              <a:off x="3884319" y="5331366"/>
              <a:ext cx="0" cy="3281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defRPr/>
              </a:pPr>
              <a:endParaRPr lang="en-US">
                <a:latin typeface="Arial" charset="0"/>
                <a:ea typeface="ＭＳ Ｐゴシック" charset="0"/>
                <a:cs typeface="Arial" charset="0"/>
              </a:endParaRPr>
            </a:p>
          </p:txBody>
        </p:sp>
        <p:sp>
          <p:nvSpPr>
            <p:cNvPr id="21" name="Line 16">
              <a:extLst>
                <a:ext uri="{FF2B5EF4-FFF2-40B4-BE49-F238E27FC236}">
                  <a16:creationId xmlns:a16="http://schemas.microsoft.com/office/drawing/2014/main" id="{2DBF78F0-3E2D-55BB-B873-2085C7C96030}"/>
                </a:ext>
              </a:extLst>
            </p:cNvPr>
            <p:cNvSpPr>
              <a:spLocks noChangeShapeType="1"/>
            </p:cNvSpPr>
            <p:nvPr/>
          </p:nvSpPr>
          <p:spPr bwMode="auto">
            <a:xfrm>
              <a:off x="3884319" y="5659490"/>
              <a:ext cx="19687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pPr>
                <a:defRPr/>
              </a:pPr>
              <a:endParaRPr lang="en-US">
                <a:latin typeface="Arial" charset="0"/>
                <a:ea typeface="ＭＳ Ｐゴシック" charset="0"/>
                <a:cs typeface="Arial" charset="0"/>
              </a:endParaRPr>
            </a:p>
          </p:txBody>
        </p:sp>
        <p:sp>
          <p:nvSpPr>
            <p:cNvPr id="22" name="Line 17">
              <a:extLst>
                <a:ext uri="{FF2B5EF4-FFF2-40B4-BE49-F238E27FC236}">
                  <a16:creationId xmlns:a16="http://schemas.microsoft.com/office/drawing/2014/main" id="{0C281CA2-031B-6125-6A7E-056F71EC2088}"/>
                </a:ext>
              </a:extLst>
            </p:cNvPr>
            <p:cNvSpPr>
              <a:spLocks noChangeShapeType="1"/>
            </p:cNvSpPr>
            <p:nvPr/>
          </p:nvSpPr>
          <p:spPr bwMode="auto">
            <a:xfrm flipH="1" flipV="1">
              <a:off x="5853062" y="1767118"/>
              <a:ext cx="0" cy="38923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pPr>
                <a:defRPr/>
              </a:pPr>
              <a:endParaRPr lang="en-US">
                <a:latin typeface="Arial" charset="0"/>
                <a:ea typeface="ＭＳ Ｐゴシック" charset="0"/>
                <a:cs typeface="Arial" charset="0"/>
              </a:endParaRPr>
            </a:p>
          </p:txBody>
        </p:sp>
        <p:sp>
          <p:nvSpPr>
            <p:cNvPr id="23" name="Line 18">
              <a:extLst>
                <a:ext uri="{FF2B5EF4-FFF2-40B4-BE49-F238E27FC236}">
                  <a16:creationId xmlns:a16="http://schemas.microsoft.com/office/drawing/2014/main" id="{10B10565-6177-4657-21AC-10B24DA3E31B}"/>
                </a:ext>
              </a:extLst>
            </p:cNvPr>
            <p:cNvSpPr>
              <a:spLocks noChangeShapeType="1"/>
            </p:cNvSpPr>
            <p:nvPr/>
          </p:nvSpPr>
          <p:spPr bwMode="auto">
            <a:xfrm>
              <a:off x="5853063" y="1767119"/>
              <a:ext cx="170624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defRPr/>
              </a:pPr>
              <a:endParaRPr lang="en-US">
                <a:latin typeface="Arial" charset="0"/>
                <a:ea typeface="ＭＳ Ｐゴシック" charset="0"/>
                <a:cs typeface="Arial" charset="0"/>
              </a:endParaRPr>
            </a:p>
          </p:txBody>
        </p:sp>
        <p:sp>
          <p:nvSpPr>
            <p:cNvPr id="24" name="Line 19">
              <a:extLst>
                <a:ext uri="{FF2B5EF4-FFF2-40B4-BE49-F238E27FC236}">
                  <a16:creationId xmlns:a16="http://schemas.microsoft.com/office/drawing/2014/main" id="{4B7773D1-DC0F-1627-323A-95BA82BD1698}"/>
                </a:ext>
              </a:extLst>
            </p:cNvPr>
            <p:cNvSpPr>
              <a:spLocks noChangeShapeType="1"/>
            </p:cNvSpPr>
            <p:nvPr/>
          </p:nvSpPr>
          <p:spPr bwMode="auto">
            <a:xfrm>
              <a:off x="7559308" y="1767119"/>
              <a:ext cx="0" cy="3937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defRPr/>
              </a:pPr>
              <a:endParaRPr lang="en-US">
                <a:latin typeface="Arial" charset="0"/>
                <a:ea typeface="ＭＳ Ｐゴシック" charset="0"/>
                <a:cs typeface="Arial" charset="0"/>
              </a:endParaRPr>
            </a:p>
          </p:txBody>
        </p:sp>
        <p:sp>
          <p:nvSpPr>
            <p:cNvPr id="25" name="Line 20">
              <a:extLst>
                <a:ext uri="{FF2B5EF4-FFF2-40B4-BE49-F238E27FC236}">
                  <a16:creationId xmlns:a16="http://schemas.microsoft.com/office/drawing/2014/main" id="{7860AA0B-DE2E-2BB6-072F-3E90BEE53FAA}"/>
                </a:ext>
              </a:extLst>
            </p:cNvPr>
            <p:cNvSpPr>
              <a:spLocks noChangeShapeType="1"/>
            </p:cNvSpPr>
            <p:nvPr/>
          </p:nvSpPr>
          <p:spPr bwMode="auto">
            <a:xfrm>
              <a:off x="7559308" y="2685866"/>
              <a:ext cx="0" cy="3937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spAutoFit/>
            </a:bodyPr>
            <a:lstStyle/>
            <a:p>
              <a:pPr>
                <a:defRPr/>
              </a:pPr>
              <a:endParaRPr lang="en-US">
                <a:latin typeface="Arial" charset="0"/>
                <a:ea typeface="ＭＳ Ｐゴシック" charset="0"/>
                <a:cs typeface="Arial" charset="0"/>
              </a:endParaRPr>
            </a:p>
          </p:txBody>
        </p:sp>
        <p:sp>
          <p:nvSpPr>
            <p:cNvPr id="26" name="Line 21">
              <a:extLst>
                <a:ext uri="{FF2B5EF4-FFF2-40B4-BE49-F238E27FC236}">
                  <a16:creationId xmlns:a16="http://schemas.microsoft.com/office/drawing/2014/main" id="{DA82594E-502E-5D80-58AA-8478839F9E7C}"/>
                </a:ext>
              </a:extLst>
            </p:cNvPr>
            <p:cNvSpPr>
              <a:spLocks noChangeShapeType="1"/>
            </p:cNvSpPr>
            <p:nvPr/>
          </p:nvSpPr>
          <p:spPr bwMode="auto">
            <a:xfrm>
              <a:off x="4726504" y="3221802"/>
              <a:ext cx="1126559" cy="957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spAutoFit/>
            </a:bodyPr>
            <a:lstStyle/>
            <a:p>
              <a:pPr>
                <a:defRPr/>
              </a:pPr>
              <a:endParaRPr lang="en-US">
                <a:latin typeface="Arial" charset="0"/>
                <a:ea typeface="ＭＳ Ｐゴシック" charset="0"/>
                <a:cs typeface="Arial" charset="0"/>
              </a:endParaRPr>
            </a:p>
          </p:txBody>
        </p:sp>
      </p:grpSp>
    </p:spTree>
    <p:extLst>
      <p:ext uri="{BB962C8B-B14F-4D97-AF65-F5344CB8AC3E}">
        <p14:creationId xmlns:p14="http://schemas.microsoft.com/office/powerpoint/2010/main" val="373650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9DE25-813F-288D-BD1D-A9A6E3DE524D}"/>
              </a:ext>
            </a:extLst>
          </p:cNvPr>
          <p:cNvSpPr>
            <a:spLocks noGrp="1"/>
          </p:cNvSpPr>
          <p:nvPr>
            <p:ph type="title"/>
          </p:nvPr>
        </p:nvSpPr>
        <p:spPr>
          <a:xfrm>
            <a:off x="368814" y="410882"/>
            <a:ext cx="4059751" cy="983860"/>
          </a:xfrm>
        </p:spPr>
        <p:txBody>
          <a:bodyPr/>
          <a:lstStyle/>
          <a:p>
            <a:r>
              <a:rPr lang="en-DE" dirty="0"/>
              <a:t>Processors of Classical Computers</a:t>
            </a:r>
          </a:p>
        </p:txBody>
      </p:sp>
      <p:pic>
        <p:nvPicPr>
          <p:cNvPr id="4" name="Grafik 4">
            <a:extLst>
              <a:ext uri="{FF2B5EF4-FFF2-40B4-BE49-F238E27FC236}">
                <a16:creationId xmlns:a16="http://schemas.microsoft.com/office/drawing/2014/main" id="{79FE72A9-2239-96FA-F00C-8CB801F6D252}"/>
              </a:ext>
            </a:extLst>
          </p:cNvPr>
          <p:cNvPicPr>
            <a:picLocks noChangeAspect="1"/>
          </p:cNvPicPr>
          <p:nvPr/>
        </p:nvPicPr>
        <p:blipFill>
          <a:blip r:embed="rId2"/>
          <a:stretch>
            <a:fillRect/>
          </a:stretch>
        </p:blipFill>
        <p:spPr>
          <a:xfrm>
            <a:off x="368814" y="1599767"/>
            <a:ext cx="5787101" cy="4552988"/>
          </a:xfrm>
          <a:prstGeom prst="rect">
            <a:avLst/>
          </a:prstGeom>
        </p:spPr>
      </p:pic>
      <p:pic>
        <p:nvPicPr>
          <p:cNvPr id="5" name="Picture 30" descr="180px-JohnvonNeumann-LosAlamos">
            <a:extLst>
              <a:ext uri="{FF2B5EF4-FFF2-40B4-BE49-F238E27FC236}">
                <a16:creationId xmlns:a16="http://schemas.microsoft.com/office/drawing/2014/main" id="{86D8447F-7CF4-807F-2DCD-355CD7858CCB}"/>
              </a:ext>
            </a:extLst>
          </p:cNvPr>
          <p:cNvPicPr>
            <a:picLocks noChangeAspect="1" noChangeArrowheads="1"/>
          </p:cNvPicPr>
          <p:nvPr/>
        </p:nvPicPr>
        <p:blipFill>
          <a:blip r:embed="rId3" cstate="print"/>
          <a:stretch>
            <a:fillRect/>
          </a:stretch>
        </p:blipFill>
        <p:spPr>
          <a:xfrm>
            <a:off x="7609180" y="1872622"/>
            <a:ext cx="2481535" cy="2922697"/>
          </a:xfrm>
          <a:prstGeom prst="rect">
            <a:avLst/>
          </a:prstGeom>
        </p:spPr>
      </p:pic>
      <p:sp>
        <p:nvSpPr>
          <p:cNvPr id="6" name="Text Box 31">
            <a:extLst>
              <a:ext uri="{FF2B5EF4-FFF2-40B4-BE49-F238E27FC236}">
                <a16:creationId xmlns:a16="http://schemas.microsoft.com/office/drawing/2014/main" id="{FBC0A6BC-DA13-8B59-DD09-CADE0BE39BC7}"/>
              </a:ext>
            </a:extLst>
          </p:cNvPr>
          <p:cNvSpPr txBox="1">
            <a:spLocks noChangeArrowheads="1"/>
          </p:cNvSpPr>
          <p:nvPr/>
        </p:nvSpPr>
        <p:spPr bwMode="auto">
          <a:xfrm>
            <a:off x="7685301" y="4885712"/>
            <a:ext cx="2326278" cy="369332"/>
          </a:xfrm>
          <a:prstGeom prst="rect">
            <a:avLst/>
          </a:prstGeom>
          <a:noFill/>
          <a:ln w="9525">
            <a:noFill/>
            <a:miter lim="800000"/>
            <a:headEnd/>
            <a:tailEnd/>
          </a:ln>
        </p:spPr>
        <p:txBody>
          <a:bodyPr wrap="none">
            <a:spAutoFit/>
          </a:bodyPr>
          <a:lstStyle/>
          <a:p>
            <a:pPr>
              <a:defRPr/>
            </a:pPr>
            <a:r>
              <a:rPr lang="en-GB" b="1" dirty="0">
                <a:solidFill>
                  <a:srgbClr val="0000FF"/>
                </a:solidFill>
              </a:rPr>
              <a:t>John von Neumann</a:t>
            </a:r>
            <a:endParaRPr lang="en-US" b="1" dirty="0">
              <a:solidFill>
                <a:srgbClr val="0000FF"/>
              </a:solidFill>
            </a:endParaRPr>
          </a:p>
        </p:txBody>
      </p:sp>
      <p:sp>
        <p:nvSpPr>
          <p:cNvPr id="7" name="TextBox 6">
            <a:extLst>
              <a:ext uri="{FF2B5EF4-FFF2-40B4-BE49-F238E27FC236}">
                <a16:creationId xmlns:a16="http://schemas.microsoft.com/office/drawing/2014/main" id="{6E31A53F-C6F3-35CD-3A5B-8B5F2F6B4752}"/>
              </a:ext>
            </a:extLst>
          </p:cNvPr>
          <p:cNvSpPr txBox="1"/>
          <p:nvPr/>
        </p:nvSpPr>
        <p:spPr>
          <a:xfrm>
            <a:off x="6706331" y="5403321"/>
            <a:ext cx="4266615" cy="922369"/>
          </a:xfrm>
          <a:prstGeom prst="rect">
            <a:avLst/>
          </a:prstGeom>
          <a:noFill/>
        </p:spPr>
        <p:txBody>
          <a:bodyPr wrap="square" rtlCol="0">
            <a:spAutoFit/>
          </a:bodyPr>
          <a:lstStyle/>
          <a:p>
            <a:r>
              <a:rPr lang="en-GB" dirty="0"/>
              <a:t>V</a:t>
            </a:r>
            <a:r>
              <a:rPr lang="en-DE" dirty="0"/>
              <a:t>on Neumann Architecture:</a:t>
            </a:r>
          </a:p>
          <a:p>
            <a:r>
              <a:rPr lang="en-DE" dirty="0"/>
              <a:t>Computer as Meta-Machine: Data and program both in main storage</a:t>
            </a:r>
          </a:p>
        </p:txBody>
      </p:sp>
    </p:spTree>
    <p:extLst>
      <p:ext uri="{BB962C8B-B14F-4D97-AF65-F5344CB8AC3E}">
        <p14:creationId xmlns:p14="http://schemas.microsoft.com/office/powerpoint/2010/main" val="293837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4AFB-F0B1-AE50-B14A-EBCAADAABCE0}"/>
              </a:ext>
            </a:extLst>
          </p:cNvPr>
          <p:cNvSpPr>
            <a:spLocks noGrp="1"/>
          </p:cNvSpPr>
          <p:nvPr>
            <p:ph type="title"/>
          </p:nvPr>
        </p:nvSpPr>
        <p:spPr/>
        <p:txBody>
          <a:bodyPr/>
          <a:lstStyle/>
          <a:p>
            <a:r>
              <a:rPr lang="en-US"/>
              <a:t>Distributed Systems</a:t>
            </a:r>
          </a:p>
        </p:txBody>
      </p:sp>
      <p:sp>
        <p:nvSpPr>
          <p:cNvPr id="4" name="Slide Number Placeholder 3">
            <a:extLst>
              <a:ext uri="{FF2B5EF4-FFF2-40B4-BE49-F238E27FC236}">
                <a16:creationId xmlns:a16="http://schemas.microsoft.com/office/drawing/2014/main" id="{0889840C-7BFC-F20A-0011-B6858B024AB6}"/>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26</a:t>
            </a:fld>
            <a:endParaRPr lang="de-DE"/>
          </a:p>
        </p:txBody>
      </p:sp>
      <p:pic>
        <p:nvPicPr>
          <p:cNvPr id="6" name="Picture 5">
            <a:extLst>
              <a:ext uri="{FF2B5EF4-FFF2-40B4-BE49-F238E27FC236}">
                <a16:creationId xmlns:a16="http://schemas.microsoft.com/office/drawing/2014/main" id="{09BDD03B-66D0-7630-520F-A0888AAE4865}"/>
              </a:ext>
            </a:extLst>
          </p:cNvPr>
          <p:cNvPicPr>
            <a:picLocks noChangeAspect="1"/>
          </p:cNvPicPr>
          <p:nvPr/>
        </p:nvPicPr>
        <p:blipFill>
          <a:blip r:embed="rId3"/>
          <a:stretch>
            <a:fillRect/>
          </a:stretch>
        </p:blipFill>
        <p:spPr>
          <a:xfrm>
            <a:off x="2663700" y="1985276"/>
            <a:ext cx="7099247" cy="4320454"/>
          </a:xfrm>
          <a:prstGeom prst="rect">
            <a:avLst/>
          </a:prstGeom>
        </p:spPr>
      </p:pic>
      <p:sp>
        <p:nvSpPr>
          <p:cNvPr id="7" name="TextBox 6">
            <a:extLst>
              <a:ext uri="{FF2B5EF4-FFF2-40B4-BE49-F238E27FC236}">
                <a16:creationId xmlns:a16="http://schemas.microsoft.com/office/drawing/2014/main" id="{AB6C9C0F-5314-165C-3CC6-1839510CAB05}"/>
              </a:ext>
            </a:extLst>
          </p:cNvPr>
          <p:cNvSpPr txBox="1"/>
          <p:nvPr/>
        </p:nvSpPr>
        <p:spPr>
          <a:xfrm>
            <a:off x="1061461" y="6288254"/>
            <a:ext cx="9285194" cy="399694"/>
          </a:xfrm>
          <a:prstGeom prst="rect">
            <a:avLst/>
          </a:prstGeom>
          <a:noFill/>
        </p:spPr>
        <p:txBody>
          <a:bodyPr wrap="square">
            <a:spAutoFit/>
          </a:bodyPr>
          <a:lstStyle/>
          <a:p>
            <a:r>
              <a:rPr lang="en-US" sz="999"/>
              <a:t>Quelle: </a:t>
            </a:r>
            <a:r>
              <a:rPr lang="en-US" sz="999" err="1"/>
              <a:t>Bengel</a:t>
            </a:r>
            <a:r>
              <a:rPr lang="en-US" sz="999"/>
              <a:t> et.al. </a:t>
            </a:r>
            <a:r>
              <a:rPr lang="en-US" sz="999" err="1"/>
              <a:t>Masterkurs</a:t>
            </a:r>
            <a:r>
              <a:rPr lang="en-US" sz="999"/>
              <a:t> </a:t>
            </a:r>
            <a:r>
              <a:rPr lang="en-US" sz="999" err="1"/>
              <a:t>Parallele</a:t>
            </a:r>
            <a:r>
              <a:rPr lang="en-US" sz="999"/>
              <a:t> und </a:t>
            </a:r>
            <a:r>
              <a:rPr lang="en-US" sz="999" err="1"/>
              <a:t>Verteilte</a:t>
            </a:r>
            <a:r>
              <a:rPr lang="en-US" sz="999"/>
              <a:t> </a:t>
            </a:r>
            <a:r>
              <a:rPr lang="en-US" sz="999" err="1"/>
              <a:t>Systeme</a:t>
            </a:r>
            <a:r>
              <a:rPr lang="en-US" sz="999"/>
              <a:t>, 2. </a:t>
            </a:r>
            <a:r>
              <a:rPr lang="en-US" sz="999" err="1"/>
              <a:t>Aufl</a:t>
            </a:r>
            <a:r>
              <a:rPr lang="en-US" sz="999"/>
              <a:t>., Springer 2015</a:t>
            </a:r>
          </a:p>
          <a:p>
            <a:endParaRPr lang="en-US" sz="999"/>
          </a:p>
        </p:txBody>
      </p:sp>
    </p:spTree>
    <p:extLst>
      <p:ext uri="{BB962C8B-B14F-4D97-AF65-F5344CB8AC3E}">
        <p14:creationId xmlns:p14="http://schemas.microsoft.com/office/powerpoint/2010/main" val="1501166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D22BB-70A2-1410-35E7-B04495DA3665}"/>
              </a:ext>
            </a:extLst>
          </p:cNvPr>
          <p:cNvSpPr>
            <a:spLocks noGrp="1"/>
          </p:cNvSpPr>
          <p:nvPr>
            <p:ph type="title"/>
          </p:nvPr>
        </p:nvSpPr>
        <p:spPr>
          <a:xfrm>
            <a:off x="346070" y="600196"/>
            <a:ext cx="7951468" cy="1475791"/>
          </a:xfrm>
        </p:spPr>
        <p:txBody>
          <a:bodyPr/>
          <a:lstStyle/>
          <a:p>
            <a:r>
              <a:rPr lang="en-DE" dirty="0"/>
              <a:t>From Distributed Computing to Cloud Computing</a:t>
            </a:r>
          </a:p>
        </p:txBody>
      </p:sp>
      <p:sp>
        <p:nvSpPr>
          <p:cNvPr id="4" name="Content Placeholder 6">
            <a:extLst>
              <a:ext uri="{FF2B5EF4-FFF2-40B4-BE49-F238E27FC236}">
                <a16:creationId xmlns:a16="http://schemas.microsoft.com/office/drawing/2014/main" id="{0762585E-6822-CAD4-A4CC-1DC0A73F286C}"/>
              </a:ext>
            </a:extLst>
          </p:cNvPr>
          <p:cNvSpPr txBox="1">
            <a:spLocks/>
          </p:cNvSpPr>
          <p:nvPr/>
        </p:nvSpPr>
        <p:spPr>
          <a:xfrm>
            <a:off x="1055808" y="1816737"/>
            <a:ext cx="3081419" cy="1900718"/>
          </a:xfrm>
          <a:prstGeom prst="roundRect">
            <a:avLst/>
          </a:prstGeom>
          <a:ln w="28575">
            <a:solidFill>
              <a:srgbClr val="36C2B4"/>
            </a:solidFill>
          </a:ln>
        </p:spPr>
        <p:style>
          <a:lnRef idx="2">
            <a:schemeClr val="accent1"/>
          </a:lnRef>
          <a:fillRef idx="1">
            <a:schemeClr val="lt1"/>
          </a:fillRef>
          <a:effectRef idx="0">
            <a:schemeClr val="accent1"/>
          </a:effectRef>
          <a:fontRef idx="minor">
            <a:schemeClr val="dk1"/>
          </a:fontRef>
        </p:style>
        <p:txBody>
          <a:bodyPr vert="horz" lIns="121793" tIns="60897" rIns="121793" bIns="60897"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4" dirty="0">
                <a:latin typeface="Amazon Ember" panose="020B0603020204020204" pitchFamily="34" charset="0"/>
                <a:ea typeface="Amazon Ember" panose="020B0603020204020204" pitchFamily="34" charset="0"/>
                <a:cs typeface="Amazon Ember" panose="020B0603020204020204" pitchFamily="34" charset="0"/>
              </a:rPr>
              <a:t>IaaS</a:t>
            </a:r>
          </a:p>
          <a:p>
            <a:pPr algn="ctr"/>
            <a:r>
              <a:rPr lang="en-US" sz="2664" dirty="0">
                <a:latin typeface="Amazon Ember" panose="020B0603020204020204" pitchFamily="34" charset="0"/>
                <a:ea typeface="Amazon Ember" panose="020B0603020204020204" pitchFamily="34" charset="0"/>
                <a:cs typeface="Amazon Ember" panose="020B0603020204020204" pitchFamily="34" charset="0"/>
              </a:rPr>
              <a:t>(</a:t>
            </a:r>
            <a:r>
              <a:rPr lang="en-US" sz="2664"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infrastructure as a service</a:t>
            </a:r>
            <a:r>
              <a:rPr lang="en-US" sz="2664" dirty="0">
                <a:latin typeface="Amazon Ember" panose="020B0603020204020204" pitchFamily="34" charset="0"/>
                <a:ea typeface="Amazon Ember" panose="020B0603020204020204" pitchFamily="34" charset="0"/>
                <a:cs typeface="Amazon Ember" panose="020B0603020204020204" pitchFamily="34" charset="0"/>
              </a:rPr>
              <a:t>)</a:t>
            </a:r>
            <a:endParaRPr lang="en-US" sz="3197"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Content Placeholder 6">
            <a:extLst>
              <a:ext uri="{FF2B5EF4-FFF2-40B4-BE49-F238E27FC236}">
                <a16:creationId xmlns:a16="http://schemas.microsoft.com/office/drawing/2014/main" id="{09094AED-C51F-4FD4-C4D1-BEC9D0CBD538}"/>
              </a:ext>
            </a:extLst>
          </p:cNvPr>
          <p:cNvSpPr txBox="1">
            <a:spLocks/>
          </p:cNvSpPr>
          <p:nvPr/>
        </p:nvSpPr>
        <p:spPr>
          <a:xfrm>
            <a:off x="4552045" y="1816737"/>
            <a:ext cx="3078321" cy="1899973"/>
          </a:xfrm>
          <a:prstGeom prst="roundRect">
            <a:avLst/>
          </a:prstGeom>
          <a:ln w="28575">
            <a:solidFill>
              <a:srgbClr val="D4DADA"/>
            </a:solidFill>
          </a:ln>
        </p:spPr>
        <p:style>
          <a:lnRef idx="2">
            <a:schemeClr val="accent2"/>
          </a:lnRef>
          <a:fillRef idx="1">
            <a:schemeClr val="lt1"/>
          </a:fillRef>
          <a:effectRef idx="0">
            <a:schemeClr val="accent2"/>
          </a:effectRef>
          <a:fontRef idx="minor">
            <a:schemeClr val="dk1"/>
          </a:fontRef>
        </p:style>
        <p:txBody>
          <a:bodyPr vert="horz" lIns="121793" tIns="60897" rIns="121793" bIns="60897"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4" dirty="0">
                <a:latin typeface="Amazon Ember" panose="020B0603020204020204" pitchFamily="34" charset="0"/>
                <a:ea typeface="Amazon Ember" panose="020B0603020204020204" pitchFamily="34" charset="0"/>
                <a:cs typeface="Amazon Ember" panose="020B0603020204020204" pitchFamily="34" charset="0"/>
              </a:rPr>
              <a:t>PaaS</a:t>
            </a:r>
          </a:p>
          <a:p>
            <a:pPr algn="ctr"/>
            <a:r>
              <a:rPr lang="en-US" sz="2664" dirty="0">
                <a:latin typeface="Amazon Ember" panose="020B0603020204020204" pitchFamily="34" charset="0"/>
                <a:ea typeface="Amazon Ember" panose="020B0603020204020204" pitchFamily="34" charset="0"/>
                <a:cs typeface="Amazon Ember" panose="020B0603020204020204" pitchFamily="34" charset="0"/>
              </a:rPr>
              <a:t>(</a:t>
            </a:r>
            <a:r>
              <a:rPr lang="en-US" sz="2664"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platform as a service</a:t>
            </a:r>
            <a:r>
              <a:rPr lang="en-US" sz="2664" dirty="0">
                <a:latin typeface="Amazon Ember" panose="020B0603020204020204" pitchFamily="34" charset="0"/>
                <a:ea typeface="Amazon Ember" panose="020B0603020204020204" pitchFamily="34" charset="0"/>
                <a:cs typeface="Amazon Ember" panose="020B0603020204020204" pitchFamily="34" charset="0"/>
              </a:rPr>
              <a:t>)</a:t>
            </a:r>
            <a:endParaRPr lang="en-US" sz="3197"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Content Placeholder 6">
            <a:extLst>
              <a:ext uri="{FF2B5EF4-FFF2-40B4-BE49-F238E27FC236}">
                <a16:creationId xmlns:a16="http://schemas.microsoft.com/office/drawing/2014/main" id="{EDB12194-3BD0-0D8B-BBF9-9321376C3069}"/>
              </a:ext>
            </a:extLst>
          </p:cNvPr>
          <p:cNvSpPr txBox="1">
            <a:spLocks/>
          </p:cNvSpPr>
          <p:nvPr/>
        </p:nvSpPr>
        <p:spPr>
          <a:xfrm>
            <a:off x="8081456" y="1816737"/>
            <a:ext cx="3078321" cy="1899973"/>
          </a:xfrm>
          <a:prstGeom prst="roundRect">
            <a:avLst/>
          </a:prstGeom>
          <a:ln w="28575">
            <a:solidFill>
              <a:srgbClr val="C9208A"/>
            </a:solidFill>
          </a:ln>
        </p:spPr>
        <p:style>
          <a:lnRef idx="2">
            <a:schemeClr val="accent4"/>
          </a:lnRef>
          <a:fillRef idx="1">
            <a:schemeClr val="lt1"/>
          </a:fillRef>
          <a:effectRef idx="0">
            <a:schemeClr val="accent4"/>
          </a:effectRef>
          <a:fontRef idx="minor">
            <a:schemeClr val="dk1"/>
          </a:fontRef>
        </p:style>
        <p:txBody>
          <a:bodyPr vert="horz" lIns="121793" tIns="60897" rIns="121793" bIns="60897"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4" dirty="0">
                <a:latin typeface="Amazon Ember" panose="020B0603020204020204" pitchFamily="34" charset="0"/>
                <a:ea typeface="Amazon Ember" panose="020B0603020204020204" pitchFamily="34" charset="0"/>
                <a:cs typeface="Amazon Ember" panose="020B0603020204020204" pitchFamily="34" charset="0"/>
              </a:rPr>
              <a:t>SaaS</a:t>
            </a:r>
          </a:p>
          <a:p>
            <a:pPr algn="ctr"/>
            <a:r>
              <a:rPr lang="en-US" sz="2664" dirty="0">
                <a:latin typeface="Amazon Ember" panose="020B0603020204020204" pitchFamily="34" charset="0"/>
                <a:ea typeface="Amazon Ember" panose="020B0603020204020204" pitchFamily="34" charset="0"/>
                <a:cs typeface="Amazon Ember" panose="020B0603020204020204" pitchFamily="34" charset="0"/>
              </a:rPr>
              <a:t>(</a:t>
            </a:r>
            <a:r>
              <a:rPr lang="en-US" sz="2664"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software as a service</a:t>
            </a:r>
            <a:r>
              <a:rPr lang="en-US" sz="2664" dirty="0">
                <a:latin typeface="Amazon Ember" panose="020B0603020204020204" pitchFamily="34" charset="0"/>
                <a:ea typeface="Amazon Ember" panose="020B0603020204020204" pitchFamily="34" charset="0"/>
                <a:cs typeface="Amazon Ember" panose="020B0603020204020204" pitchFamily="34" charset="0"/>
              </a:rPr>
              <a:t>)</a:t>
            </a:r>
            <a:endParaRPr lang="en-US" sz="3197"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Right Arrow 6" descr="Right-arrow going from IaaS to SaaS.">
            <a:extLst>
              <a:ext uri="{FF2B5EF4-FFF2-40B4-BE49-F238E27FC236}">
                <a16:creationId xmlns:a16="http://schemas.microsoft.com/office/drawing/2014/main" id="{F57DB40B-2A1C-3F03-12D3-5B07F7B250F4}"/>
              </a:ext>
            </a:extLst>
          </p:cNvPr>
          <p:cNvSpPr/>
          <p:nvPr/>
        </p:nvSpPr>
        <p:spPr>
          <a:xfrm>
            <a:off x="1055808" y="4002167"/>
            <a:ext cx="10140240" cy="842086"/>
          </a:xfrm>
          <a:prstGeom prst="rightArrow">
            <a:avLst/>
          </a:prstGeom>
          <a:gradFill flip="none" rotWithShape="1">
            <a:gsLst>
              <a:gs pos="0">
                <a:srgbClr val="36C2B4"/>
              </a:gs>
              <a:gs pos="50000">
                <a:srgbClr val="D4DADA"/>
              </a:gs>
              <a:gs pos="100000">
                <a:srgbClr val="C9208A"/>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CEB0569-212E-981C-2701-CC394BB087F7}"/>
              </a:ext>
            </a:extLst>
          </p:cNvPr>
          <p:cNvSpPr txBox="1"/>
          <p:nvPr/>
        </p:nvSpPr>
        <p:spPr>
          <a:xfrm>
            <a:off x="1055807" y="5058725"/>
            <a:ext cx="10140240" cy="1199080"/>
          </a:xfrm>
          <a:prstGeom prst="rect">
            <a:avLst/>
          </a:prstGeom>
          <a:noFill/>
        </p:spPr>
        <p:txBody>
          <a:bodyPr wrap="square">
            <a:spAutoFit/>
          </a:bodyPr>
          <a:lstStyle/>
          <a:p>
            <a:r>
              <a:rPr lang="en-GB" b="0" i="0" dirty="0">
                <a:solidFill>
                  <a:srgbClr val="202124"/>
                </a:solidFill>
                <a:effectLst/>
                <a:latin typeface="arial" panose="020B0604020202020204" pitchFamily="34" charset="0"/>
              </a:rPr>
              <a:t>Cloud computing is the on-demand provision of computing power, databases, storage, applications and other IT resources via the Internet at usage-based prices.</a:t>
            </a:r>
          </a:p>
          <a:p>
            <a:endParaRPr lang="en-GB" dirty="0">
              <a:solidFill>
                <a:srgbClr val="202124"/>
              </a:solidFill>
              <a:latin typeface="arial" panose="020B0604020202020204" pitchFamily="34" charset="0"/>
              <a:ea typeface="Amazon Ember" panose="020B0603020204020204" pitchFamily="34" charset="0"/>
              <a:cs typeface="Amazon Ember" panose="020B0603020204020204" pitchFamily="34" charset="0"/>
            </a:endParaRPr>
          </a:p>
          <a:p>
            <a:r>
              <a:rPr lang="en-GB" dirty="0">
                <a:solidFill>
                  <a:srgbClr val="202124"/>
                </a:solidFill>
                <a:latin typeface="arial" panose="020B0604020202020204" pitchFamily="34" charset="0"/>
                <a:ea typeface="Amazon Ember" panose="020B0603020204020204" pitchFamily="34" charset="0"/>
                <a:cs typeface="Amazon Ember" panose="020B0603020204020204" pitchFamily="34" charset="0"/>
              </a:rPr>
              <a:t>2002 – AWS kicks off</a:t>
            </a:r>
            <a:endParaRPr lang="en-US" dirty="0">
              <a:latin typeface="+mn-lt"/>
              <a:ea typeface="Amazon Ember" panose="020B0603020204020204" pitchFamily="34" charset="0"/>
              <a:cs typeface="Amazon Ember" panose="020B0603020204020204" pitchFamily="34" charset="0"/>
            </a:endParaRPr>
          </a:p>
        </p:txBody>
      </p:sp>
      <p:pic>
        <p:nvPicPr>
          <p:cNvPr id="10" name="Picture 9">
            <a:extLst>
              <a:ext uri="{FF2B5EF4-FFF2-40B4-BE49-F238E27FC236}">
                <a16:creationId xmlns:a16="http://schemas.microsoft.com/office/drawing/2014/main" id="{455FEC19-40A2-82D5-20D7-B5BAEBA67E9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576413" y="5473592"/>
            <a:ext cx="1119562" cy="998684"/>
          </a:xfrm>
          <a:prstGeom prst="rect">
            <a:avLst/>
          </a:prstGeom>
        </p:spPr>
      </p:pic>
    </p:spTree>
    <p:extLst>
      <p:ext uri="{BB962C8B-B14F-4D97-AF65-F5344CB8AC3E}">
        <p14:creationId xmlns:p14="http://schemas.microsoft.com/office/powerpoint/2010/main" val="141148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32F49-B055-EE8C-83C6-59DD9A3CD7BA}"/>
              </a:ext>
            </a:extLst>
          </p:cNvPr>
          <p:cNvSpPr>
            <a:spLocks noGrp="1"/>
          </p:cNvSpPr>
          <p:nvPr>
            <p:ph type="title"/>
          </p:nvPr>
        </p:nvSpPr>
        <p:spPr>
          <a:xfrm>
            <a:off x="345688" y="1033735"/>
            <a:ext cx="7388175" cy="983860"/>
          </a:xfrm>
        </p:spPr>
        <p:txBody>
          <a:bodyPr/>
          <a:lstStyle/>
          <a:p>
            <a:r>
              <a:rPr lang="en-DE" dirty="0"/>
              <a:t>Virtualization and Containerization</a:t>
            </a:r>
          </a:p>
        </p:txBody>
      </p:sp>
      <p:pic>
        <p:nvPicPr>
          <p:cNvPr id="4" name="Picture 3">
            <a:extLst>
              <a:ext uri="{FF2B5EF4-FFF2-40B4-BE49-F238E27FC236}">
                <a16:creationId xmlns:a16="http://schemas.microsoft.com/office/drawing/2014/main" id="{4DD832ED-D903-24C7-E21E-A2623AD44D08}"/>
              </a:ext>
            </a:extLst>
          </p:cNvPr>
          <p:cNvPicPr>
            <a:picLocks noChangeAspect="1"/>
          </p:cNvPicPr>
          <p:nvPr/>
        </p:nvPicPr>
        <p:blipFill>
          <a:blip r:embed="rId2"/>
          <a:stretch>
            <a:fillRect/>
          </a:stretch>
        </p:blipFill>
        <p:spPr>
          <a:xfrm>
            <a:off x="6630049" y="1985618"/>
            <a:ext cx="5215882" cy="4108120"/>
          </a:xfrm>
          <a:prstGeom prst="rect">
            <a:avLst/>
          </a:prstGeom>
        </p:spPr>
      </p:pic>
      <p:pic>
        <p:nvPicPr>
          <p:cNvPr id="5" name="Picture 4">
            <a:extLst>
              <a:ext uri="{FF2B5EF4-FFF2-40B4-BE49-F238E27FC236}">
                <a16:creationId xmlns:a16="http://schemas.microsoft.com/office/drawing/2014/main" id="{03729B2C-A369-C616-08E1-9EC5E132F507}"/>
              </a:ext>
            </a:extLst>
          </p:cNvPr>
          <p:cNvPicPr>
            <a:picLocks noChangeAspect="1"/>
          </p:cNvPicPr>
          <p:nvPr/>
        </p:nvPicPr>
        <p:blipFill>
          <a:blip r:embed="rId3"/>
          <a:stretch>
            <a:fillRect/>
          </a:stretch>
        </p:blipFill>
        <p:spPr>
          <a:xfrm>
            <a:off x="450381" y="2155689"/>
            <a:ext cx="5645619" cy="3767975"/>
          </a:xfrm>
          <a:prstGeom prst="rect">
            <a:avLst/>
          </a:prstGeom>
        </p:spPr>
      </p:pic>
    </p:spTree>
    <p:extLst>
      <p:ext uri="{BB962C8B-B14F-4D97-AF65-F5344CB8AC3E}">
        <p14:creationId xmlns:p14="http://schemas.microsoft.com/office/powerpoint/2010/main" val="1139236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846D1-ACBE-65F9-0E4D-BA0A7F04DAEE}"/>
              </a:ext>
            </a:extLst>
          </p:cNvPr>
          <p:cNvSpPr>
            <a:spLocks noGrp="1"/>
          </p:cNvSpPr>
          <p:nvPr>
            <p:ph type="title"/>
          </p:nvPr>
        </p:nvSpPr>
        <p:spPr/>
        <p:txBody>
          <a:bodyPr/>
          <a:lstStyle/>
          <a:p>
            <a:r>
              <a:rPr lang="en-DE" dirty="0"/>
              <a:t>DevOps</a:t>
            </a:r>
          </a:p>
        </p:txBody>
      </p:sp>
      <p:sp>
        <p:nvSpPr>
          <p:cNvPr id="3" name="Text Placeholder 2">
            <a:extLst>
              <a:ext uri="{FF2B5EF4-FFF2-40B4-BE49-F238E27FC236}">
                <a16:creationId xmlns:a16="http://schemas.microsoft.com/office/drawing/2014/main" id="{B234E0CF-E135-0902-1CEE-AEF7B17AC1FF}"/>
              </a:ext>
            </a:extLst>
          </p:cNvPr>
          <p:cNvSpPr>
            <a:spLocks noGrp="1"/>
          </p:cNvSpPr>
          <p:nvPr>
            <p:ph type="body" idx="1"/>
          </p:nvPr>
        </p:nvSpPr>
        <p:spPr>
          <a:xfrm>
            <a:off x="345690" y="2620345"/>
            <a:ext cx="3618931" cy="1383554"/>
          </a:xfrm>
        </p:spPr>
        <p:txBody>
          <a:bodyPr/>
          <a:lstStyle/>
          <a:p>
            <a:r>
              <a:rPr lang="en-GB" dirty="0"/>
              <a:t>DevOps is a set of practices, cultural philosophies, and tools that integrate software development (Dev) and IT operations (Ops) to improve collaboration and enable faster, more reliable, and continuous delivery of software.</a:t>
            </a:r>
            <a:endParaRPr lang="en-DE" dirty="0"/>
          </a:p>
        </p:txBody>
      </p:sp>
      <p:pic>
        <p:nvPicPr>
          <p:cNvPr id="4" name="Picture 3">
            <a:extLst>
              <a:ext uri="{FF2B5EF4-FFF2-40B4-BE49-F238E27FC236}">
                <a16:creationId xmlns:a16="http://schemas.microsoft.com/office/drawing/2014/main" id="{296AE329-97C6-4951-C142-FF8B9F70A1AE}"/>
              </a:ext>
            </a:extLst>
          </p:cNvPr>
          <p:cNvPicPr>
            <a:picLocks noChangeAspect="1"/>
          </p:cNvPicPr>
          <p:nvPr/>
        </p:nvPicPr>
        <p:blipFill>
          <a:blip r:embed="rId2"/>
          <a:stretch>
            <a:fillRect/>
          </a:stretch>
        </p:blipFill>
        <p:spPr>
          <a:xfrm>
            <a:off x="3964620" y="1895387"/>
            <a:ext cx="7764312" cy="3737089"/>
          </a:xfrm>
          <a:prstGeom prst="rect">
            <a:avLst/>
          </a:prstGeom>
        </p:spPr>
      </p:pic>
    </p:spTree>
    <p:extLst>
      <p:ext uri="{BB962C8B-B14F-4D97-AF65-F5344CB8AC3E}">
        <p14:creationId xmlns:p14="http://schemas.microsoft.com/office/powerpoint/2010/main" val="3110274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BE781-FDA2-5673-20D8-AF2BC6E0974D}"/>
              </a:ext>
            </a:extLst>
          </p:cNvPr>
          <p:cNvSpPr>
            <a:spLocks noGrp="1"/>
          </p:cNvSpPr>
          <p:nvPr>
            <p:ph type="title"/>
          </p:nvPr>
        </p:nvSpPr>
        <p:spPr>
          <a:xfrm>
            <a:off x="357250" y="343552"/>
            <a:ext cx="8268478" cy="983860"/>
          </a:xfrm>
        </p:spPr>
        <p:txBody>
          <a:bodyPr/>
          <a:lstStyle/>
          <a:p>
            <a:r>
              <a:rPr lang="de-DE" dirty="0" err="1"/>
              <a:t>Machine</a:t>
            </a:r>
            <a:r>
              <a:rPr lang="de-DE" dirty="0"/>
              <a:t> Learning </a:t>
            </a:r>
            <a:r>
              <a:rPr lang="de-DE" dirty="0" err="1"/>
              <a:t>triggers</a:t>
            </a:r>
            <a:r>
              <a:rPr lang="de-DE" dirty="0"/>
              <a:t> </a:t>
            </a:r>
            <a:r>
              <a:rPr lang="de-DE" dirty="0" err="1"/>
              <a:t>new</a:t>
            </a:r>
            <a:r>
              <a:rPr lang="de-DE" dirty="0"/>
              <a:t> </a:t>
            </a:r>
            <a:r>
              <a:rPr lang="de-DE" dirty="0" err="1"/>
              <a:t>hardware</a:t>
            </a:r>
            <a:r>
              <a:rPr lang="de-DE" dirty="0"/>
              <a:t> </a:t>
            </a:r>
            <a:r>
              <a:rPr lang="de-DE" dirty="0" err="1"/>
              <a:t>developments</a:t>
            </a:r>
            <a:endParaRPr lang="en-US" dirty="0"/>
          </a:p>
        </p:txBody>
      </p:sp>
      <p:sp>
        <p:nvSpPr>
          <p:cNvPr id="4" name="Slide Number Placeholder 3">
            <a:extLst>
              <a:ext uri="{FF2B5EF4-FFF2-40B4-BE49-F238E27FC236}">
                <a16:creationId xmlns:a16="http://schemas.microsoft.com/office/drawing/2014/main" id="{CCE3B0A8-D20C-AE2F-A946-0A661C0AABAE}"/>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30</a:t>
            </a:fld>
            <a:endParaRPr lang="de-DE"/>
          </a:p>
        </p:txBody>
      </p:sp>
      <p:sp>
        <p:nvSpPr>
          <p:cNvPr id="10" name="TextBox 9">
            <a:extLst>
              <a:ext uri="{FF2B5EF4-FFF2-40B4-BE49-F238E27FC236}">
                <a16:creationId xmlns:a16="http://schemas.microsoft.com/office/drawing/2014/main" id="{A46E9A18-077D-9323-E747-60FA81E4344C}"/>
              </a:ext>
            </a:extLst>
          </p:cNvPr>
          <p:cNvSpPr txBox="1"/>
          <p:nvPr/>
        </p:nvSpPr>
        <p:spPr>
          <a:xfrm>
            <a:off x="1061461" y="6288255"/>
            <a:ext cx="9285194" cy="245965"/>
          </a:xfrm>
          <a:prstGeom prst="rect">
            <a:avLst/>
          </a:prstGeom>
          <a:noFill/>
        </p:spPr>
        <p:txBody>
          <a:bodyPr wrap="square">
            <a:spAutoFit/>
          </a:bodyPr>
          <a:lstStyle/>
          <a:p>
            <a:r>
              <a:rPr lang="en-US" sz="999" dirty="0"/>
              <a:t>Quelle: </a:t>
            </a:r>
            <a:r>
              <a:rPr lang="en-US" sz="999" dirty="0">
                <a:hlinkClick r:id="rId2"/>
              </a:rPr>
              <a:t>https://phys.org/news/2016-08-neuromorphic-mimics-important-brain-feature.html</a:t>
            </a:r>
            <a:r>
              <a:rPr lang="en-US" sz="999" dirty="0"/>
              <a:t> </a:t>
            </a:r>
          </a:p>
        </p:txBody>
      </p:sp>
      <p:pic>
        <p:nvPicPr>
          <p:cNvPr id="3" name="Picture 2">
            <a:extLst>
              <a:ext uri="{FF2B5EF4-FFF2-40B4-BE49-F238E27FC236}">
                <a16:creationId xmlns:a16="http://schemas.microsoft.com/office/drawing/2014/main" id="{9D97DC90-8D8D-C982-76F1-777FECEEE407}"/>
              </a:ext>
            </a:extLst>
          </p:cNvPr>
          <p:cNvPicPr>
            <a:picLocks noChangeAspect="1"/>
          </p:cNvPicPr>
          <p:nvPr/>
        </p:nvPicPr>
        <p:blipFill>
          <a:blip r:embed="rId3"/>
          <a:stretch>
            <a:fillRect/>
          </a:stretch>
        </p:blipFill>
        <p:spPr>
          <a:xfrm>
            <a:off x="357250" y="1788493"/>
            <a:ext cx="5032096" cy="2108285"/>
          </a:xfrm>
          <a:prstGeom prst="rect">
            <a:avLst/>
          </a:prstGeom>
        </p:spPr>
      </p:pic>
      <p:pic>
        <p:nvPicPr>
          <p:cNvPr id="6" name="Picture 5">
            <a:extLst>
              <a:ext uri="{FF2B5EF4-FFF2-40B4-BE49-F238E27FC236}">
                <a16:creationId xmlns:a16="http://schemas.microsoft.com/office/drawing/2014/main" id="{FBA367AD-D95C-B115-0B90-EFB11EBFB6E4}"/>
              </a:ext>
            </a:extLst>
          </p:cNvPr>
          <p:cNvPicPr>
            <a:picLocks noChangeAspect="1"/>
          </p:cNvPicPr>
          <p:nvPr/>
        </p:nvPicPr>
        <p:blipFill>
          <a:blip r:embed="rId4"/>
          <a:stretch>
            <a:fillRect/>
          </a:stretch>
        </p:blipFill>
        <p:spPr>
          <a:xfrm>
            <a:off x="7048289" y="1788494"/>
            <a:ext cx="3684731" cy="2260571"/>
          </a:xfrm>
          <a:prstGeom prst="rect">
            <a:avLst/>
          </a:prstGeom>
        </p:spPr>
      </p:pic>
      <p:pic>
        <p:nvPicPr>
          <p:cNvPr id="7" name="Picture 6">
            <a:extLst>
              <a:ext uri="{FF2B5EF4-FFF2-40B4-BE49-F238E27FC236}">
                <a16:creationId xmlns:a16="http://schemas.microsoft.com/office/drawing/2014/main" id="{59A941F7-3AF1-0F22-9F04-4E0C22C16F1C}"/>
              </a:ext>
            </a:extLst>
          </p:cNvPr>
          <p:cNvPicPr>
            <a:picLocks noChangeAspect="1"/>
          </p:cNvPicPr>
          <p:nvPr/>
        </p:nvPicPr>
        <p:blipFill>
          <a:blip r:embed="rId5"/>
          <a:stretch>
            <a:fillRect/>
          </a:stretch>
        </p:blipFill>
        <p:spPr>
          <a:xfrm>
            <a:off x="1193153" y="3896778"/>
            <a:ext cx="4465233" cy="2464046"/>
          </a:xfrm>
          <a:prstGeom prst="rect">
            <a:avLst/>
          </a:prstGeom>
        </p:spPr>
      </p:pic>
      <p:pic>
        <p:nvPicPr>
          <p:cNvPr id="8" name="Picture 7">
            <a:extLst>
              <a:ext uri="{FF2B5EF4-FFF2-40B4-BE49-F238E27FC236}">
                <a16:creationId xmlns:a16="http://schemas.microsoft.com/office/drawing/2014/main" id="{48FD9BBE-9BB7-865E-E0DB-33580D77E356}"/>
              </a:ext>
            </a:extLst>
          </p:cNvPr>
          <p:cNvPicPr>
            <a:picLocks noChangeAspect="1"/>
          </p:cNvPicPr>
          <p:nvPr/>
        </p:nvPicPr>
        <p:blipFill>
          <a:blip r:embed="rId6"/>
          <a:stretch>
            <a:fillRect/>
          </a:stretch>
        </p:blipFill>
        <p:spPr>
          <a:xfrm>
            <a:off x="7569111" y="4201694"/>
            <a:ext cx="2909236" cy="2086560"/>
          </a:xfrm>
          <a:prstGeom prst="rect">
            <a:avLst/>
          </a:prstGeom>
        </p:spPr>
      </p:pic>
    </p:spTree>
    <p:extLst>
      <p:ext uri="{BB962C8B-B14F-4D97-AF65-F5344CB8AC3E}">
        <p14:creationId xmlns:p14="http://schemas.microsoft.com/office/powerpoint/2010/main" val="2023623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4418-BDD4-6572-2D34-AA5568AB55A6}"/>
              </a:ext>
            </a:extLst>
          </p:cNvPr>
          <p:cNvSpPr>
            <a:spLocks noGrp="1"/>
          </p:cNvSpPr>
          <p:nvPr>
            <p:ph type="title"/>
          </p:nvPr>
        </p:nvSpPr>
        <p:spPr>
          <a:xfrm>
            <a:off x="291359" y="339672"/>
            <a:ext cx="6707521" cy="983860"/>
          </a:xfrm>
        </p:spPr>
        <p:txBody>
          <a:bodyPr/>
          <a:lstStyle/>
          <a:p>
            <a:r>
              <a:rPr lang="en-US" dirty="0"/>
              <a:t>Developments in storage</a:t>
            </a:r>
          </a:p>
        </p:txBody>
      </p:sp>
      <p:sp>
        <p:nvSpPr>
          <p:cNvPr id="3" name="Content Placeholder 2">
            <a:extLst>
              <a:ext uri="{FF2B5EF4-FFF2-40B4-BE49-F238E27FC236}">
                <a16:creationId xmlns:a16="http://schemas.microsoft.com/office/drawing/2014/main" id="{7994E881-D2E6-C524-EA03-B845B1C2F698}"/>
              </a:ext>
            </a:extLst>
          </p:cNvPr>
          <p:cNvSpPr>
            <a:spLocks noGrp="1"/>
          </p:cNvSpPr>
          <p:nvPr>
            <p:ph idx="1"/>
          </p:nvPr>
        </p:nvSpPr>
        <p:spPr>
          <a:xfrm>
            <a:off x="477225" y="959614"/>
            <a:ext cx="6115453" cy="3996932"/>
          </a:xfrm>
        </p:spPr>
        <p:txBody>
          <a:bodyPr/>
          <a:lstStyle/>
          <a:p>
            <a:pPr marL="342557" indent="-342557">
              <a:buFont typeface="Arial" panose="020B0604020202020204" pitchFamily="34" charset="0"/>
              <a:buChar char="•"/>
            </a:pPr>
            <a:r>
              <a:rPr lang="en-US" sz="1998" dirty="0"/>
              <a:t>1890-1970 </a:t>
            </a:r>
            <a:r>
              <a:rPr lang="en-US" sz="1998" dirty="0" err="1"/>
              <a:t>punchcards</a:t>
            </a:r>
            <a:r>
              <a:rPr lang="en-US" sz="1998" dirty="0"/>
              <a:t> (comparison: mean SSD storage nowadays: 400GB, corresponds to ca. 5 billion </a:t>
            </a:r>
            <a:r>
              <a:rPr lang="en-US" sz="1998" dirty="0" err="1"/>
              <a:t>punchcards</a:t>
            </a:r>
            <a:r>
              <a:rPr lang="en-US" sz="1998" dirty="0"/>
              <a:t>)</a:t>
            </a:r>
          </a:p>
          <a:p>
            <a:pPr marL="342557" indent="-342557">
              <a:buFont typeface="Arial" panose="020B0604020202020204" pitchFamily="34" charset="0"/>
              <a:buChar char="•"/>
            </a:pPr>
            <a:r>
              <a:rPr lang="en-US" sz="1998" dirty="0"/>
              <a:t>1932 drum storage (hard drive predecessor), rotating ferromagnetic metal </a:t>
            </a:r>
            <a:r>
              <a:rPr lang="en-US" sz="1998" dirty="0" err="1"/>
              <a:t>cylinderand</a:t>
            </a:r>
            <a:r>
              <a:rPr lang="en-US" sz="1998" dirty="0"/>
              <a:t> multiple reading and writing heads</a:t>
            </a:r>
          </a:p>
          <a:p>
            <a:pPr marL="342557" indent="-342557">
              <a:buFont typeface="Arial" panose="020B0604020202020204" pitchFamily="34" charset="0"/>
              <a:buChar char="•"/>
            </a:pPr>
            <a:r>
              <a:rPr lang="en-US" sz="1998" dirty="0"/>
              <a:t>50s: magnet storage (1 coil : a couple of MB) </a:t>
            </a:r>
            <a:r>
              <a:rPr lang="en-US" sz="1998" dirty="0">
                <a:sym typeface="Wingdings" pitchFamily="2" charset="2"/>
              </a:rPr>
              <a:t> still used for backup</a:t>
            </a:r>
          </a:p>
          <a:p>
            <a:pPr marL="342557" indent="-342557">
              <a:buFont typeface="Arial" panose="020B0604020202020204" pitchFamily="34" charset="0"/>
              <a:buChar char="•"/>
            </a:pPr>
            <a:r>
              <a:rPr lang="en-US" sz="1998" dirty="0">
                <a:sym typeface="Wingdings" pitchFamily="2" charset="2"/>
              </a:rPr>
              <a:t>1956 first hard drive IBM 350: 1t mass, 5 MB storage</a:t>
            </a:r>
          </a:p>
          <a:p>
            <a:pPr marL="342557" indent="-342557">
              <a:buFont typeface="Arial" panose="020B0604020202020204" pitchFamily="34" charset="0"/>
              <a:buChar char="•"/>
            </a:pPr>
            <a:r>
              <a:rPr lang="en-US" sz="1998" dirty="0">
                <a:sym typeface="Wingdings" pitchFamily="2" charset="2"/>
              </a:rPr>
              <a:t>1965 100 MB hard drive</a:t>
            </a:r>
          </a:p>
          <a:p>
            <a:pPr marL="342557" indent="-342557">
              <a:buFont typeface="Arial" panose="020B0604020202020204" pitchFamily="34" charset="0"/>
              <a:buChar char="•"/>
            </a:pPr>
            <a:r>
              <a:rPr lang="en-US" sz="1998" dirty="0">
                <a:sym typeface="Wingdings" pitchFamily="2" charset="2"/>
              </a:rPr>
              <a:t>1969 disks start (8 inches)</a:t>
            </a:r>
          </a:p>
          <a:p>
            <a:pPr marL="342557" indent="-342557">
              <a:buFont typeface="Arial" panose="020B0604020202020204" pitchFamily="34" charset="0"/>
              <a:buChar char="•"/>
            </a:pPr>
            <a:r>
              <a:rPr lang="en-US" sz="1998" dirty="0">
                <a:sym typeface="Wingdings" pitchFamily="2" charset="2"/>
              </a:rPr>
              <a:t>1976 5,25 inch disks</a:t>
            </a:r>
          </a:p>
          <a:p>
            <a:pPr marL="342557" indent="-342557">
              <a:buFont typeface="Arial" panose="020B0604020202020204" pitchFamily="34" charset="0"/>
              <a:buChar char="•"/>
            </a:pPr>
            <a:r>
              <a:rPr lang="en-US" sz="1998" dirty="0">
                <a:sym typeface="Wingdings" pitchFamily="2" charset="2"/>
              </a:rPr>
              <a:t>1982 3,5 inch disks</a:t>
            </a:r>
            <a:endParaRPr lang="en-US" sz="1998" dirty="0"/>
          </a:p>
        </p:txBody>
      </p:sp>
      <p:sp>
        <p:nvSpPr>
          <p:cNvPr id="4" name="Slide Number Placeholder 3">
            <a:extLst>
              <a:ext uri="{FF2B5EF4-FFF2-40B4-BE49-F238E27FC236}">
                <a16:creationId xmlns:a16="http://schemas.microsoft.com/office/drawing/2014/main" id="{EDBD4BFD-9E21-AD1E-E6D0-85D95F086FA9}"/>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31</a:t>
            </a:fld>
            <a:endParaRPr lang="de-DE"/>
          </a:p>
        </p:txBody>
      </p:sp>
      <p:pic>
        <p:nvPicPr>
          <p:cNvPr id="5" name="Picture 4">
            <a:extLst>
              <a:ext uri="{FF2B5EF4-FFF2-40B4-BE49-F238E27FC236}">
                <a16:creationId xmlns:a16="http://schemas.microsoft.com/office/drawing/2014/main" id="{81B7C3D4-6255-758A-D3D0-3248E1D00F4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16062" y="2492715"/>
            <a:ext cx="4524516" cy="2302046"/>
          </a:xfrm>
          <a:prstGeom prst="rect">
            <a:avLst/>
          </a:prstGeom>
        </p:spPr>
      </p:pic>
    </p:spTree>
    <p:extLst>
      <p:ext uri="{BB962C8B-B14F-4D97-AF65-F5344CB8AC3E}">
        <p14:creationId xmlns:p14="http://schemas.microsoft.com/office/powerpoint/2010/main" val="7236315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4418-BDD4-6572-2D34-AA5568AB55A6}"/>
              </a:ext>
            </a:extLst>
          </p:cNvPr>
          <p:cNvSpPr>
            <a:spLocks noGrp="1"/>
          </p:cNvSpPr>
          <p:nvPr>
            <p:ph type="title"/>
          </p:nvPr>
        </p:nvSpPr>
        <p:spPr>
          <a:xfrm>
            <a:off x="345688" y="1033735"/>
            <a:ext cx="6418455" cy="983860"/>
          </a:xfrm>
        </p:spPr>
        <p:txBody>
          <a:bodyPr/>
          <a:lstStyle/>
          <a:p>
            <a:r>
              <a:rPr lang="en-US" dirty="0"/>
              <a:t>Developments in storage</a:t>
            </a:r>
          </a:p>
        </p:txBody>
      </p:sp>
      <p:sp>
        <p:nvSpPr>
          <p:cNvPr id="3" name="Content Placeholder 2">
            <a:extLst>
              <a:ext uri="{FF2B5EF4-FFF2-40B4-BE49-F238E27FC236}">
                <a16:creationId xmlns:a16="http://schemas.microsoft.com/office/drawing/2014/main" id="{7994E881-D2E6-C524-EA03-B845B1C2F698}"/>
              </a:ext>
            </a:extLst>
          </p:cNvPr>
          <p:cNvSpPr>
            <a:spLocks noGrp="1"/>
          </p:cNvSpPr>
          <p:nvPr>
            <p:ph idx="1"/>
          </p:nvPr>
        </p:nvSpPr>
        <p:spPr>
          <a:xfrm>
            <a:off x="726145" y="2317853"/>
            <a:ext cx="10549061" cy="1660264"/>
          </a:xfrm>
        </p:spPr>
        <p:txBody>
          <a:bodyPr/>
          <a:lstStyle/>
          <a:p>
            <a:pPr marL="285464" indent="-285464">
              <a:buFont typeface="Arial" panose="020B0604020202020204" pitchFamily="34" charset="0"/>
              <a:buChar char="•"/>
            </a:pPr>
            <a:r>
              <a:rPr lang="en-US" dirty="0"/>
              <a:t>1989 first CD</a:t>
            </a:r>
          </a:p>
          <a:p>
            <a:pPr marL="285464" indent="-285464">
              <a:buFont typeface="Arial" panose="020B0604020202020204" pitchFamily="34" charset="0"/>
              <a:buChar char="•"/>
            </a:pPr>
            <a:r>
              <a:rPr lang="en-US" dirty="0"/>
              <a:t>1996 flash drive</a:t>
            </a:r>
          </a:p>
          <a:p>
            <a:pPr marL="285464" indent="-285464">
              <a:buFont typeface="Arial" panose="020B0604020202020204" pitchFamily="34" charset="0"/>
              <a:buChar char="•"/>
            </a:pPr>
            <a:r>
              <a:rPr lang="en-US" dirty="0"/>
              <a:t>2001 DVD &amp; SD cards</a:t>
            </a:r>
          </a:p>
          <a:p>
            <a:pPr marL="285464" indent="-285464">
              <a:buFont typeface="Arial" panose="020B0604020202020204" pitchFamily="34" charset="0"/>
              <a:buChar char="•"/>
            </a:pPr>
            <a:r>
              <a:rPr lang="en-US" dirty="0"/>
              <a:t>2000er SSDs start displacing hard drives (80ern developed, first 3,5 inch SSD with 14 GB: 42.000 USD in 2001)</a:t>
            </a:r>
          </a:p>
          <a:p>
            <a:pPr marL="285464" indent="-285464">
              <a:buFont typeface="Arial" panose="020B0604020202020204" pitchFamily="34" charset="0"/>
              <a:buChar char="•"/>
            </a:pPr>
            <a:r>
              <a:rPr lang="en-US" dirty="0"/>
              <a:t>2006 </a:t>
            </a:r>
            <a:r>
              <a:rPr lang="en-US" dirty="0" err="1"/>
              <a:t>BluRay</a:t>
            </a:r>
            <a:endParaRPr lang="en-US" dirty="0"/>
          </a:p>
          <a:p>
            <a:pPr marL="285464" indent="-285464">
              <a:buFont typeface="Arial" panose="020B0604020202020204" pitchFamily="34" charset="0"/>
              <a:buChar char="•"/>
            </a:pPr>
            <a:r>
              <a:rPr lang="en-US" dirty="0"/>
              <a:t>2011 </a:t>
            </a:r>
            <a:r>
              <a:rPr lang="en-US" dirty="0" err="1"/>
              <a:t>NVMe</a:t>
            </a:r>
            <a:r>
              <a:rPr lang="en-US" dirty="0"/>
              <a:t> (Non Volatile Memory Express) -  more speed via PCI-Express instead of SATA for SSDs</a:t>
            </a:r>
          </a:p>
        </p:txBody>
      </p:sp>
      <p:sp>
        <p:nvSpPr>
          <p:cNvPr id="4" name="Slide Number Placeholder 3">
            <a:extLst>
              <a:ext uri="{FF2B5EF4-FFF2-40B4-BE49-F238E27FC236}">
                <a16:creationId xmlns:a16="http://schemas.microsoft.com/office/drawing/2014/main" id="{EDBD4BFD-9E21-AD1E-E6D0-85D95F086FA9}"/>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32</a:t>
            </a:fld>
            <a:endParaRPr lang="de-DE"/>
          </a:p>
        </p:txBody>
      </p:sp>
    </p:spTree>
    <p:extLst>
      <p:ext uri="{BB962C8B-B14F-4D97-AF65-F5344CB8AC3E}">
        <p14:creationId xmlns:p14="http://schemas.microsoft.com/office/powerpoint/2010/main" val="3452689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4418-BDD4-6572-2D34-AA5568AB55A6}"/>
              </a:ext>
            </a:extLst>
          </p:cNvPr>
          <p:cNvSpPr>
            <a:spLocks noGrp="1"/>
          </p:cNvSpPr>
          <p:nvPr>
            <p:ph type="title"/>
          </p:nvPr>
        </p:nvSpPr>
        <p:spPr>
          <a:xfrm>
            <a:off x="345688" y="1033735"/>
            <a:ext cx="6418455" cy="983860"/>
          </a:xfrm>
        </p:spPr>
        <p:txBody>
          <a:bodyPr/>
          <a:lstStyle/>
          <a:p>
            <a:r>
              <a:rPr lang="en-US" dirty="0"/>
              <a:t>Key Takeaways</a:t>
            </a:r>
          </a:p>
        </p:txBody>
      </p:sp>
      <p:sp>
        <p:nvSpPr>
          <p:cNvPr id="4" name="Slide Number Placeholder 3">
            <a:extLst>
              <a:ext uri="{FF2B5EF4-FFF2-40B4-BE49-F238E27FC236}">
                <a16:creationId xmlns:a16="http://schemas.microsoft.com/office/drawing/2014/main" id="{EDBD4BFD-9E21-AD1E-E6D0-85D95F086FA9}"/>
              </a:ext>
            </a:extLst>
          </p:cNvPr>
          <p:cNvSpPr>
            <a:spLocks noGrp="1"/>
          </p:cNvSpPr>
          <p:nvPr>
            <p:ph type="sldNum" sz="quarter" idx="12"/>
          </p:nvPr>
        </p:nvSpPr>
        <p:spPr>
          <a:xfrm>
            <a:off x="8728508" y="6305730"/>
            <a:ext cx="2875672" cy="364745"/>
          </a:xfrm>
          <a:prstGeom prst="rect">
            <a:avLst/>
          </a:prstGeom>
        </p:spPr>
        <p:txBody>
          <a:bodyPr vert="horz" lIns="0" tIns="71925" rIns="0" bIns="0" rtlCol="0" anchor="t" anchorCtr="0"/>
          <a:lstStyle>
            <a:defPPr>
              <a:defRPr lang="de-DE"/>
            </a:defPPr>
            <a:lvl1pPr algn="r" rtl="0" fontAlgn="base">
              <a:spcBef>
                <a:spcPct val="0"/>
              </a:spcBef>
              <a:spcAft>
                <a:spcPct val="0"/>
              </a:spcAft>
              <a:defRPr sz="1199" kern="1200">
                <a:solidFill>
                  <a:schemeClr val="tx1">
                    <a:tint val="75000"/>
                  </a:schemeClr>
                </a:solidFill>
                <a:latin typeface="Arial" charset="0"/>
                <a:ea typeface="+mn-ea"/>
                <a:cs typeface="+mn-cs"/>
              </a:defRPr>
            </a:lvl1pPr>
            <a:lvl2pPr marL="456743" algn="l" rtl="0" fontAlgn="base">
              <a:spcBef>
                <a:spcPct val="0"/>
              </a:spcBef>
              <a:spcAft>
                <a:spcPct val="0"/>
              </a:spcAft>
              <a:defRPr kern="1200">
                <a:solidFill>
                  <a:schemeClr val="tx1"/>
                </a:solidFill>
                <a:latin typeface="Arial" charset="0"/>
                <a:ea typeface="+mn-ea"/>
                <a:cs typeface="+mn-cs"/>
              </a:defRPr>
            </a:lvl2pPr>
            <a:lvl3pPr marL="913486" algn="l" rtl="0" fontAlgn="base">
              <a:spcBef>
                <a:spcPct val="0"/>
              </a:spcBef>
              <a:spcAft>
                <a:spcPct val="0"/>
              </a:spcAft>
              <a:defRPr kern="1200">
                <a:solidFill>
                  <a:schemeClr val="tx1"/>
                </a:solidFill>
                <a:latin typeface="Arial" charset="0"/>
                <a:ea typeface="+mn-ea"/>
                <a:cs typeface="+mn-cs"/>
              </a:defRPr>
            </a:lvl3pPr>
            <a:lvl4pPr marL="1370228" algn="l" rtl="0" fontAlgn="base">
              <a:spcBef>
                <a:spcPct val="0"/>
              </a:spcBef>
              <a:spcAft>
                <a:spcPct val="0"/>
              </a:spcAft>
              <a:defRPr kern="1200">
                <a:solidFill>
                  <a:schemeClr val="tx1"/>
                </a:solidFill>
                <a:latin typeface="Arial" charset="0"/>
                <a:ea typeface="+mn-ea"/>
                <a:cs typeface="+mn-cs"/>
              </a:defRPr>
            </a:lvl4pPr>
            <a:lvl5pPr marL="1826971" algn="l" rtl="0" fontAlgn="base">
              <a:spcBef>
                <a:spcPct val="0"/>
              </a:spcBef>
              <a:spcAft>
                <a:spcPct val="0"/>
              </a:spcAft>
              <a:defRPr kern="1200">
                <a:solidFill>
                  <a:schemeClr val="tx1"/>
                </a:solidFill>
                <a:latin typeface="Arial" charset="0"/>
                <a:ea typeface="+mn-ea"/>
                <a:cs typeface="+mn-cs"/>
              </a:defRPr>
            </a:lvl5pPr>
            <a:lvl6pPr marL="2283714" algn="l" defTabSz="913486" rtl="0" eaLnBrk="1" latinLnBrk="0" hangingPunct="1">
              <a:defRPr kern="1200">
                <a:solidFill>
                  <a:schemeClr val="tx1"/>
                </a:solidFill>
                <a:latin typeface="Arial" charset="0"/>
                <a:ea typeface="+mn-ea"/>
                <a:cs typeface="+mn-cs"/>
              </a:defRPr>
            </a:lvl6pPr>
            <a:lvl7pPr marL="2740457" algn="l" defTabSz="913486" rtl="0" eaLnBrk="1" latinLnBrk="0" hangingPunct="1">
              <a:defRPr kern="1200">
                <a:solidFill>
                  <a:schemeClr val="tx1"/>
                </a:solidFill>
                <a:latin typeface="Arial" charset="0"/>
                <a:ea typeface="+mn-ea"/>
                <a:cs typeface="+mn-cs"/>
              </a:defRPr>
            </a:lvl7pPr>
            <a:lvl8pPr marL="3197200" algn="l" defTabSz="913486" rtl="0" eaLnBrk="1" latinLnBrk="0" hangingPunct="1">
              <a:defRPr kern="1200">
                <a:solidFill>
                  <a:schemeClr val="tx1"/>
                </a:solidFill>
                <a:latin typeface="Arial" charset="0"/>
                <a:ea typeface="+mn-ea"/>
                <a:cs typeface="+mn-cs"/>
              </a:defRPr>
            </a:lvl8pPr>
            <a:lvl9pPr marL="3653942" algn="l" defTabSz="913486" rtl="0" eaLnBrk="1" latinLnBrk="0" hangingPunct="1">
              <a:defRPr kern="1200">
                <a:solidFill>
                  <a:schemeClr val="tx1"/>
                </a:solidFill>
                <a:latin typeface="Arial" charset="0"/>
                <a:ea typeface="+mn-ea"/>
                <a:cs typeface="+mn-cs"/>
              </a:defRPr>
            </a:lvl9pPr>
          </a:lstStyle>
          <a:p>
            <a:pPr>
              <a:defRPr/>
            </a:pPr>
            <a:fld id="{B412CF81-FBD2-4988-8D72-9A03E2875460}" type="slidenum">
              <a:rPr lang="de-DE" smtClean="0"/>
              <a:pPr>
                <a:defRPr/>
              </a:pPr>
              <a:t>33</a:t>
            </a:fld>
            <a:endParaRPr lang="de-DE"/>
          </a:p>
        </p:txBody>
      </p:sp>
      <p:sp>
        <p:nvSpPr>
          <p:cNvPr id="10" name="Rectangle 9">
            <a:extLst>
              <a:ext uri="{FF2B5EF4-FFF2-40B4-BE49-F238E27FC236}">
                <a16:creationId xmlns:a16="http://schemas.microsoft.com/office/drawing/2014/main" id="{634E88E9-E2AC-4E6B-BB6E-8A20E835B605}"/>
              </a:ext>
            </a:extLst>
          </p:cNvPr>
          <p:cNvSpPr>
            <a:spLocks noGrp="1"/>
          </p:cNvSpPr>
          <p:nvPr/>
        </p:nvSpPr>
        <p:spPr>
          <a:xfrm>
            <a:off x="723900" y="1962150"/>
            <a:ext cx="10668000" cy="342900"/>
          </a:xfrm>
          <a:prstGeom prst="rect">
            <a:avLst/>
          </a:prstGeom>
          <a:noFill/>
          <a:ln w="0">
            <a:noFill/>
          </a:ln>
        </p:spPr>
        <p:txBody>
          <a:bodyPr>
            <a:noAutofit/>
          </a:bodyPr>
          <a:lstStyle/>
          <a:p>
            <a:pPr>
              <a:defRPr sz="2000" b="1">
                <a:solidFill>
                  <a:srgbClr val="000000"/>
                </a:solidFill>
                <a:latin typeface="Arial"/>
                <a:ea typeface="Arial"/>
                <a:cs typeface="Arial"/>
              </a:defRPr>
            </a:pPr>
            <a:r>
              <a:rPr sz="2000" b="1">
                <a:solidFill>
                  <a:srgbClr val="000000"/>
                </a:solidFill>
                <a:latin typeface="Arial"/>
                <a:ea typeface="Arial"/>
                <a:cs typeface="Arial"/>
              </a:rPr>
              <a:t>Digitization enables automation and scale</a:t>
            </a:r>
          </a:p>
        </p:txBody>
      </p:sp>
      <p:sp>
        <p:nvSpPr>
          <p:cNvPr id="11" name="Rectangle 10">
            <a:extLst>
              <a:ext uri="{FF2B5EF4-FFF2-40B4-BE49-F238E27FC236}">
                <a16:creationId xmlns:a16="http://schemas.microsoft.com/office/drawing/2014/main" id="{6998BC92-A210-42C3-950F-53319EB251B9}"/>
              </a:ext>
            </a:extLst>
          </p:cNvPr>
          <p:cNvSpPr>
            <a:spLocks noGrp="1"/>
          </p:cNvSpPr>
          <p:nvPr/>
        </p:nvSpPr>
        <p:spPr>
          <a:xfrm>
            <a:off x="723900" y="2286000"/>
            <a:ext cx="10668000" cy="342900"/>
          </a:xfrm>
          <a:prstGeom prst="rect">
            <a:avLst/>
          </a:prstGeom>
          <a:noFill/>
          <a:ln w="0">
            <a:noFill/>
          </a:ln>
        </p:spPr>
        <p:txBody>
          <a:bodyPr>
            <a:noAutofit/>
          </a:bodyPr>
          <a:lstStyle/>
          <a:p>
            <a:pPr>
              <a:defRPr sz="2000" b="0">
                <a:solidFill>
                  <a:srgbClr val="000000"/>
                </a:solidFill>
                <a:latin typeface="Arial"/>
                <a:ea typeface="Arial"/>
                <a:cs typeface="Arial"/>
              </a:defRPr>
            </a:pPr>
            <a:r>
              <a:rPr sz="2000" b="0">
                <a:solidFill>
                  <a:srgbClr val="000000"/>
                </a:solidFill>
                <a:latin typeface="Arial"/>
                <a:ea typeface="Arial"/>
                <a:cs typeface="Arial"/>
              </a:rPr>
              <a:t>Digital representations make information computable, reusable and shareable.</a:t>
            </a:r>
          </a:p>
        </p:txBody>
      </p:sp>
      <p:sp>
        <p:nvSpPr>
          <p:cNvPr id="12" name="Rectangle 11">
            <a:extLst>
              <a:ext uri="{FF2B5EF4-FFF2-40B4-BE49-F238E27FC236}">
                <a16:creationId xmlns:a16="http://schemas.microsoft.com/office/drawing/2014/main" id="{46408ADA-B808-49CB-A450-7FF896B96D11}"/>
              </a:ext>
            </a:extLst>
          </p:cNvPr>
          <p:cNvSpPr>
            <a:spLocks noGrp="1"/>
          </p:cNvSpPr>
          <p:nvPr/>
        </p:nvSpPr>
        <p:spPr>
          <a:xfrm>
            <a:off x="723900" y="2743200"/>
            <a:ext cx="10668000" cy="342900"/>
          </a:xfrm>
          <a:prstGeom prst="rect">
            <a:avLst/>
          </a:prstGeom>
          <a:noFill/>
          <a:ln w="0">
            <a:noFill/>
          </a:ln>
        </p:spPr>
        <p:txBody>
          <a:bodyPr>
            <a:noAutofit/>
          </a:bodyPr>
          <a:lstStyle/>
          <a:p>
            <a:pPr>
              <a:defRPr sz="2000" b="1">
                <a:solidFill>
                  <a:srgbClr val="000000"/>
                </a:solidFill>
                <a:latin typeface="Arial"/>
                <a:ea typeface="Arial"/>
                <a:cs typeface="Arial"/>
              </a:defRPr>
            </a:pPr>
            <a:r>
              <a:rPr sz="2000" b="1">
                <a:solidFill>
                  <a:srgbClr val="000000"/>
                </a:solidFill>
                <a:latin typeface="Arial"/>
                <a:ea typeface="Arial"/>
                <a:cs typeface="Arial"/>
              </a:rPr>
              <a:t>Computing evolves through capacity and abstraction</a:t>
            </a:r>
          </a:p>
        </p:txBody>
      </p:sp>
      <p:sp>
        <p:nvSpPr>
          <p:cNvPr id="13" name="Rectangle 12">
            <a:extLst>
              <a:ext uri="{FF2B5EF4-FFF2-40B4-BE49-F238E27FC236}">
                <a16:creationId xmlns:a16="http://schemas.microsoft.com/office/drawing/2014/main" id="{016DC255-F0E6-4969-BA22-61E48DF03019}"/>
              </a:ext>
            </a:extLst>
          </p:cNvPr>
          <p:cNvSpPr>
            <a:spLocks noGrp="1"/>
          </p:cNvSpPr>
          <p:nvPr/>
        </p:nvSpPr>
        <p:spPr>
          <a:xfrm>
            <a:off x="723900" y="3067050"/>
            <a:ext cx="10668000" cy="342900"/>
          </a:xfrm>
          <a:prstGeom prst="rect">
            <a:avLst/>
          </a:prstGeom>
          <a:noFill/>
          <a:ln w="0">
            <a:noFill/>
          </a:ln>
        </p:spPr>
        <p:txBody>
          <a:bodyPr>
            <a:noAutofit/>
          </a:bodyPr>
          <a:lstStyle/>
          <a:p>
            <a:pPr>
              <a:defRPr sz="2000" b="0">
                <a:solidFill>
                  <a:srgbClr val="000000"/>
                </a:solidFill>
                <a:latin typeface="Arial"/>
                <a:ea typeface="Arial"/>
                <a:cs typeface="Arial"/>
              </a:defRPr>
            </a:pPr>
            <a:r>
              <a:rPr sz="2000" b="0">
                <a:solidFill>
                  <a:srgbClr val="000000"/>
                </a:solidFill>
                <a:latin typeface="Arial"/>
                <a:ea typeface="Arial"/>
                <a:cs typeface="Arial"/>
              </a:rPr>
              <a:t>Hardware advances and software abstractions underpin today’s connected systems.</a:t>
            </a:r>
          </a:p>
        </p:txBody>
      </p:sp>
      <p:sp>
        <p:nvSpPr>
          <p:cNvPr id="14" name="Rectangle 13">
            <a:extLst>
              <a:ext uri="{FF2B5EF4-FFF2-40B4-BE49-F238E27FC236}">
                <a16:creationId xmlns:a16="http://schemas.microsoft.com/office/drawing/2014/main" id="{73760BFC-C3DA-4BD2-9971-67A738921888}"/>
              </a:ext>
            </a:extLst>
          </p:cNvPr>
          <p:cNvSpPr>
            <a:spLocks noGrp="1"/>
          </p:cNvSpPr>
          <p:nvPr/>
        </p:nvSpPr>
        <p:spPr>
          <a:xfrm>
            <a:off x="723900" y="3524250"/>
            <a:ext cx="10668000" cy="342900"/>
          </a:xfrm>
          <a:prstGeom prst="rect">
            <a:avLst/>
          </a:prstGeom>
          <a:noFill/>
          <a:ln w="0">
            <a:noFill/>
          </a:ln>
        </p:spPr>
        <p:txBody>
          <a:bodyPr>
            <a:noAutofit/>
          </a:bodyPr>
          <a:lstStyle/>
          <a:p>
            <a:pPr>
              <a:defRPr sz="2000" b="1">
                <a:solidFill>
                  <a:srgbClr val="000000"/>
                </a:solidFill>
                <a:latin typeface="Arial"/>
                <a:ea typeface="Arial"/>
                <a:cs typeface="Arial"/>
              </a:defRPr>
            </a:pPr>
            <a:r>
              <a:rPr sz="2000" b="1">
                <a:solidFill>
                  <a:srgbClr val="000000"/>
                </a:solidFill>
                <a:latin typeface="Arial"/>
                <a:ea typeface="Arial"/>
                <a:cs typeface="Arial"/>
              </a:rPr>
              <a:t>Technology “laws” have limits</a:t>
            </a:r>
          </a:p>
        </p:txBody>
      </p:sp>
      <p:sp>
        <p:nvSpPr>
          <p:cNvPr id="15" name="Rectangle 14">
            <a:extLst>
              <a:ext uri="{FF2B5EF4-FFF2-40B4-BE49-F238E27FC236}">
                <a16:creationId xmlns:a16="http://schemas.microsoft.com/office/drawing/2014/main" id="{037D6928-C01F-46C5-AD8E-3709F76FB92E}"/>
              </a:ext>
            </a:extLst>
          </p:cNvPr>
          <p:cNvSpPr>
            <a:spLocks noGrp="1"/>
          </p:cNvSpPr>
          <p:nvPr/>
        </p:nvSpPr>
        <p:spPr>
          <a:xfrm>
            <a:off x="723900" y="3848100"/>
            <a:ext cx="10668000" cy="342900"/>
          </a:xfrm>
          <a:prstGeom prst="rect">
            <a:avLst/>
          </a:prstGeom>
          <a:noFill/>
          <a:ln w="0">
            <a:noFill/>
          </a:ln>
        </p:spPr>
        <p:txBody>
          <a:bodyPr>
            <a:noAutofit/>
          </a:bodyPr>
          <a:lstStyle/>
          <a:p>
            <a:pPr>
              <a:defRPr sz="2000" b="0">
                <a:solidFill>
                  <a:srgbClr val="000000"/>
                </a:solidFill>
                <a:latin typeface="Arial"/>
                <a:ea typeface="Arial"/>
                <a:cs typeface="Arial"/>
              </a:defRPr>
            </a:pPr>
            <a:r>
              <a:rPr sz="2000" b="0">
                <a:solidFill>
                  <a:srgbClr val="000000"/>
                </a:solidFill>
                <a:latin typeface="Arial"/>
                <a:ea typeface="Arial"/>
                <a:cs typeface="Arial"/>
              </a:rPr>
              <a:t>Growth trends need context. Sequential work limits the gains from parallel computing.</a:t>
            </a:r>
          </a:p>
        </p:txBody>
      </p:sp>
      <p:sp>
        <p:nvSpPr>
          <p:cNvPr id="16" name="Rectangle 15">
            <a:extLst>
              <a:ext uri="{FF2B5EF4-FFF2-40B4-BE49-F238E27FC236}">
                <a16:creationId xmlns:a16="http://schemas.microsoft.com/office/drawing/2014/main" id="{B8D917F5-B70D-40E3-9517-4941CD23ABD9}"/>
              </a:ext>
            </a:extLst>
          </p:cNvPr>
          <p:cNvSpPr>
            <a:spLocks noGrp="1"/>
          </p:cNvSpPr>
          <p:nvPr/>
        </p:nvSpPr>
        <p:spPr>
          <a:xfrm>
            <a:off x="723900" y="4305300"/>
            <a:ext cx="10668000" cy="342900"/>
          </a:xfrm>
          <a:prstGeom prst="rect">
            <a:avLst/>
          </a:prstGeom>
          <a:noFill/>
          <a:ln w="0">
            <a:noFill/>
          </a:ln>
        </p:spPr>
        <p:txBody>
          <a:bodyPr>
            <a:noAutofit/>
          </a:bodyPr>
          <a:lstStyle/>
          <a:p>
            <a:pPr>
              <a:defRPr sz="2000" b="1">
                <a:solidFill>
                  <a:srgbClr val="000000"/>
                </a:solidFill>
                <a:latin typeface="Arial"/>
                <a:ea typeface="Arial"/>
                <a:cs typeface="Arial"/>
              </a:defRPr>
            </a:pPr>
            <a:r>
              <a:rPr sz="2000" b="1">
                <a:solidFill>
                  <a:srgbClr val="000000"/>
                </a:solidFill>
                <a:latin typeface="Arial"/>
                <a:ea typeface="Arial"/>
                <a:cs typeface="Arial"/>
              </a:rPr>
              <a:t>Technologies depend on each other</a:t>
            </a:r>
          </a:p>
        </p:txBody>
      </p:sp>
      <p:sp>
        <p:nvSpPr>
          <p:cNvPr id="17" name="Rectangle 16">
            <a:extLst>
              <a:ext uri="{FF2B5EF4-FFF2-40B4-BE49-F238E27FC236}">
                <a16:creationId xmlns:a16="http://schemas.microsoft.com/office/drawing/2014/main" id="{5EBB4B81-A6C8-49CF-8BB5-BEF702870015}"/>
              </a:ext>
            </a:extLst>
          </p:cNvPr>
          <p:cNvSpPr>
            <a:spLocks noGrp="1"/>
          </p:cNvSpPr>
          <p:nvPr/>
        </p:nvSpPr>
        <p:spPr>
          <a:xfrm>
            <a:off x="723900" y="4629150"/>
            <a:ext cx="10668000" cy="342900"/>
          </a:xfrm>
          <a:prstGeom prst="rect">
            <a:avLst/>
          </a:prstGeom>
          <a:noFill/>
          <a:ln w="0">
            <a:noFill/>
          </a:ln>
        </p:spPr>
        <p:txBody>
          <a:bodyPr>
            <a:noAutofit/>
          </a:bodyPr>
          <a:lstStyle/>
          <a:p>
            <a:pPr>
              <a:defRPr sz="2000" b="0">
                <a:solidFill>
                  <a:srgbClr val="000000"/>
                </a:solidFill>
                <a:latin typeface="Arial"/>
                <a:ea typeface="Arial"/>
                <a:cs typeface="Arial"/>
              </a:defRPr>
            </a:pPr>
            <a:r>
              <a:rPr sz="2000" b="0">
                <a:solidFill>
                  <a:srgbClr val="000000"/>
                </a:solidFill>
                <a:latin typeface="Arial"/>
                <a:ea typeface="Arial"/>
                <a:cs typeface="Arial"/>
              </a:rPr>
              <a:t>Cloud, AI and connected devices rely on suitable architectures and security.</a:t>
            </a:r>
          </a:p>
        </p:txBody>
      </p:sp>
      <p:sp>
        <p:nvSpPr>
          <p:cNvPr id="18" name="Rectangle 17">
            <a:extLst>
              <a:ext uri="{FF2B5EF4-FFF2-40B4-BE49-F238E27FC236}">
                <a16:creationId xmlns:a16="http://schemas.microsoft.com/office/drawing/2014/main" id="{B7A04181-5A60-43B0-9E13-B0DE9D8AFC65}"/>
              </a:ext>
            </a:extLst>
          </p:cNvPr>
          <p:cNvSpPr>
            <a:spLocks noGrp="1"/>
          </p:cNvSpPr>
          <p:nvPr/>
        </p:nvSpPr>
        <p:spPr>
          <a:xfrm>
            <a:off x="723900" y="5086350"/>
            <a:ext cx="10668000" cy="342900"/>
          </a:xfrm>
          <a:prstGeom prst="rect">
            <a:avLst/>
          </a:prstGeom>
          <a:noFill/>
          <a:ln w="0">
            <a:noFill/>
          </a:ln>
        </p:spPr>
        <p:txBody>
          <a:bodyPr>
            <a:noAutofit/>
          </a:bodyPr>
          <a:lstStyle/>
          <a:p>
            <a:pPr>
              <a:defRPr sz="2000" b="1">
                <a:solidFill>
                  <a:srgbClr val="000000"/>
                </a:solidFill>
                <a:latin typeface="Arial"/>
                <a:ea typeface="Arial"/>
                <a:cs typeface="Arial"/>
              </a:defRPr>
            </a:pPr>
            <a:r>
              <a:rPr sz="2000" b="1">
                <a:solidFill>
                  <a:srgbClr val="000000"/>
                </a:solidFill>
                <a:latin typeface="Arial"/>
                <a:ea typeface="Arial"/>
                <a:cs typeface="Arial"/>
              </a:rPr>
              <a:t>Management decisions start with the use case</a:t>
            </a:r>
          </a:p>
        </p:txBody>
      </p:sp>
      <p:sp>
        <p:nvSpPr>
          <p:cNvPr id="19" name="Rectangle 18">
            <a:extLst>
              <a:ext uri="{FF2B5EF4-FFF2-40B4-BE49-F238E27FC236}">
                <a16:creationId xmlns:a16="http://schemas.microsoft.com/office/drawing/2014/main" id="{A9D366AD-DBEB-483C-8999-EAE17AD330A4}"/>
              </a:ext>
            </a:extLst>
          </p:cNvPr>
          <p:cNvSpPr>
            <a:spLocks noGrp="1"/>
          </p:cNvSpPr>
          <p:nvPr/>
        </p:nvSpPr>
        <p:spPr>
          <a:xfrm>
            <a:off x="723900" y="5410200"/>
            <a:ext cx="10668000" cy="342900"/>
          </a:xfrm>
          <a:prstGeom prst="rect">
            <a:avLst/>
          </a:prstGeom>
          <a:noFill/>
          <a:ln w="0">
            <a:noFill/>
          </a:ln>
        </p:spPr>
        <p:txBody>
          <a:bodyPr>
            <a:noAutofit/>
          </a:bodyPr>
          <a:lstStyle/>
          <a:p>
            <a:pPr>
              <a:defRPr sz="2000" b="0">
                <a:solidFill>
                  <a:srgbClr val="000000"/>
                </a:solidFill>
                <a:latin typeface="Arial"/>
                <a:ea typeface="Arial"/>
                <a:cs typeface="Arial"/>
              </a:defRPr>
            </a:pPr>
            <a:r>
              <a:rPr sz="2000" b="0">
                <a:solidFill>
                  <a:srgbClr val="000000"/>
                </a:solidFill>
                <a:latin typeface="Arial"/>
                <a:ea typeface="Arial"/>
                <a:cs typeface="Arial"/>
              </a:rPr>
              <a:t>Technology choices must fit business value, cost, security and available skills.</a:t>
            </a:r>
          </a:p>
        </p:txBody>
      </p:sp>
    </p:spTree>
    <p:extLst>
      <p:ext uri="{BB962C8B-B14F-4D97-AF65-F5344CB8AC3E}">
        <p14:creationId xmlns:p14="http://schemas.microsoft.com/office/powerpoint/2010/main" val="4065880971"/>
      </p:ext>
    </p:extLst>
  </p:cSld>
  <p:clrMapOvr>
    <a:masterClrMapping/>
  </p:clrMapOvr>
</p:sld>
</file>

<file path=ppt/theme/theme1.xml><?xml version="1.0" encoding="utf-8"?>
<a:theme xmlns:a="http://schemas.openxmlformats.org/drawingml/2006/main" name="Folienmaster Standard PPT">
  <a:themeElements>
    <a:clrScheme name="HWR Berlin">
      <a:dk1>
        <a:srgbClr val="000000"/>
      </a:dk1>
      <a:lt1>
        <a:sysClr val="window" lastClr="FFFFFF"/>
      </a:lt1>
      <a:dk2>
        <a:srgbClr val="D50C2F"/>
      </a:dk2>
      <a:lt2>
        <a:srgbClr val="6E6E6E"/>
      </a:lt2>
      <a:accent1>
        <a:srgbClr val="002C48"/>
      </a:accent1>
      <a:accent2>
        <a:srgbClr val="661326"/>
      </a:accent2>
      <a:accent3>
        <a:srgbClr val="A96F21"/>
      </a:accent3>
      <a:accent4>
        <a:srgbClr val="004799"/>
      </a:accent4>
      <a:accent5>
        <a:srgbClr val="2E6E2B"/>
      </a:accent5>
      <a:accent6>
        <a:srgbClr val="005940"/>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3112</TotalTime>
  <Words>2448</Words>
  <Application>Microsoft Macintosh PowerPoint</Application>
  <PresentationFormat>Widescreen</PresentationFormat>
  <Paragraphs>295</Paragraphs>
  <Slides>33</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33</vt:i4>
      </vt:variant>
    </vt:vector>
  </HeadingPairs>
  <TitlesOfParts>
    <vt:vector size="47" baseType="lpstr">
      <vt:lpstr>ＭＳ Ｐゴシック</vt:lpstr>
      <vt:lpstr>Amazon Ember</vt:lpstr>
      <vt:lpstr>arial</vt:lpstr>
      <vt:lpstr>arial</vt:lpstr>
      <vt:lpstr>Arial Narrow</vt:lpstr>
      <vt:lpstr>Calibri</vt:lpstr>
      <vt:lpstr>Cambria Math</vt:lpstr>
      <vt:lpstr>Courier New</vt:lpstr>
      <vt:lpstr>Leelawadee</vt:lpstr>
      <vt:lpstr>Symbol</vt:lpstr>
      <vt:lpstr>Times New Roman</vt:lpstr>
      <vt:lpstr>Verdana Ref</vt:lpstr>
      <vt:lpstr>Wingdings</vt:lpstr>
      <vt:lpstr>Folienmaster Standard PPT</vt:lpstr>
      <vt:lpstr>PowerPoint Presentation</vt:lpstr>
      <vt:lpstr>What is Digitization?</vt:lpstr>
      <vt:lpstr>Companies live in an ever-changing and evolving environment where digitization is key</vt:lpstr>
      <vt:lpstr>Spectacular Misjudgments</vt:lpstr>
      <vt:lpstr>Social Change in the Digital Era</vt:lpstr>
      <vt:lpstr>Some Challenges for Digitization</vt:lpstr>
      <vt:lpstr>Some ”Laws”</vt:lpstr>
      <vt:lpstr>Moore’s Law</vt:lpstr>
      <vt:lpstr>Moore’s Law Discussion</vt:lpstr>
      <vt:lpstr>Neven’s Law</vt:lpstr>
      <vt:lpstr>Parallel execution: Amdahl’s Law</vt:lpstr>
      <vt:lpstr>Gilder’s Law</vt:lpstr>
      <vt:lpstr>Metcalfe’s Law</vt:lpstr>
      <vt:lpstr>Overview of some developments</vt:lpstr>
      <vt:lpstr>Interdependencies between developments</vt:lpstr>
      <vt:lpstr>PowerPoint Presentation</vt:lpstr>
      <vt:lpstr>Brief Group Discussion</vt:lpstr>
      <vt:lpstr>Future Skills</vt:lpstr>
      <vt:lpstr>Short history of the computer</vt:lpstr>
      <vt:lpstr>Short history of the computer</vt:lpstr>
      <vt:lpstr>Short history of the computer</vt:lpstr>
      <vt:lpstr>Short history of the computer</vt:lpstr>
      <vt:lpstr>Foundational concepts of computers: digital circuits</vt:lpstr>
      <vt:lpstr>Foundational concepts of computers: abstraction, assembler, compiler</vt:lpstr>
      <vt:lpstr>Processors of Classical Computers</vt:lpstr>
      <vt:lpstr>Distributed Systems</vt:lpstr>
      <vt:lpstr>From Distributed Computing to Cloud Computing</vt:lpstr>
      <vt:lpstr>Virtualization and Containerization</vt:lpstr>
      <vt:lpstr>DevOps</vt:lpstr>
      <vt:lpstr>Machine Learning triggers new hardware developments</vt:lpstr>
      <vt:lpstr>Developments in storage</vt:lpstr>
      <vt:lpstr>Developments in storage</vt:lpstr>
      <vt:lpstr>Key Takeaways</vt:lpstr>
    </vt:vector>
  </TitlesOfParts>
  <Company>fhw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moehring</dc:creator>
  <cp:lastModifiedBy>Schlesinger, Sebastian</cp:lastModifiedBy>
  <cp:revision>1</cp:revision>
  <cp:lastPrinted>2017-06-07T09:02:06Z</cp:lastPrinted>
  <dcterms:created xsi:type="dcterms:W3CDTF">2008-10-13T11:28:40Z</dcterms:created>
  <dcterms:modified xsi:type="dcterms:W3CDTF">2026-10-07T19:09:34Z</dcterms:modified>
</cp:coreProperties>
</file>