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sldSz cx="12192000" cy="6858000"/>
  <p:notesSz cx="6858000" cy="9144000"/>
  <p:defaultTextStyle>
    <a:defPPr>
      <a:buNone/>
    </a:defPPr>
    <a:lvl1pPr algn="l">
      <a:spcBef>
        <a:spcPct val="0"/>
      </a:spcBef>
      <a:spcAft>
        <a:spcPct val="0"/>
      </a:spcAft>
      <a:buNone/>
      <a:defRPr kern="1200">
        <a:solidFill>
          <a:schemeClr val="tx1"/>
        </a:solidFill>
        <a:latin typeface="Arial"/>
        <a:ea typeface="Arial"/>
        <a:cs typeface="Arial"/>
      </a:defRPr>
    </a:lvl1pPr>
    <a:lvl2pPr marL="457200" algn="l">
      <a:spcBef>
        <a:spcPct val="0"/>
      </a:spcBef>
      <a:spcAft>
        <a:spcPct val="0"/>
      </a:spcAft>
      <a:buNone/>
      <a:defRPr kern="1200">
        <a:solidFill>
          <a:schemeClr val="tx1"/>
        </a:solidFill>
        <a:latin typeface="Arial"/>
        <a:ea typeface="Arial"/>
        <a:cs typeface="Arial"/>
      </a:defRPr>
    </a:lvl2pPr>
    <a:lvl3pPr marL="914400" algn="l">
      <a:spcBef>
        <a:spcPct val="0"/>
      </a:spcBef>
      <a:spcAft>
        <a:spcPct val="0"/>
      </a:spcAft>
      <a:buNone/>
      <a:defRPr kern="1200">
        <a:solidFill>
          <a:schemeClr val="tx1"/>
        </a:solidFill>
        <a:latin typeface="Arial"/>
        <a:ea typeface="Arial"/>
        <a:cs typeface="Arial"/>
      </a:defRPr>
    </a:lvl3pPr>
    <a:lvl4pPr marL="1371600" algn="l">
      <a:spcBef>
        <a:spcPct val="0"/>
      </a:spcBef>
      <a:spcAft>
        <a:spcPct val="0"/>
      </a:spcAft>
      <a:buNone/>
      <a:defRPr kern="1200">
        <a:solidFill>
          <a:schemeClr val="tx1"/>
        </a:solidFill>
        <a:latin typeface="Arial"/>
        <a:ea typeface="Arial"/>
        <a:cs typeface="Arial"/>
      </a:defRPr>
    </a:lvl4pPr>
    <a:lvl5pPr marL="1828800" algn="l">
      <a:spcBef>
        <a:spcPct val="0"/>
      </a:spcBef>
      <a:spcAft>
        <a:spcPct val="0"/>
      </a:spcAft>
      <a:buNone/>
      <a:defRPr kern="1200">
        <a:solidFill>
          <a:schemeClr val="tx1"/>
        </a:solidFill>
        <a:latin typeface="Arial"/>
        <a:ea typeface="Arial"/>
        <a:cs typeface="Arial"/>
      </a:defRPr>
    </a:lvl5pPr>
    <a:lvl6pPr marL="2286000" algn="l" defTabSz="914400">
      <a:buNone/>
      <a:defRPr kern="1200">
        <a:solidFill>
          <a:schemeClr val="tx1"/>
        </a:solidFill>
        <a:latin typeface="Arial"/>
        <a:ea typeface="Arial"/>
        <a:cs typeface="Arial"/>
      </a:defRPr>
    </a:lvl6pPr>
    <a:lvl7pPr marL="2743200" algn="l" defTabSz="914400">
      <a:buNone/>
      <a:defRPr kern="1200">
        <a:solidFill>
          <a:schemeClr val="tx1"/>
        </a:solidFill>
        <a:latin typeface="Arial"/>
        <a:ea typeface="Arial"/>
        <a:cs typeface="Arial"/>
      </a:defRPr>
    </a:lvl7pPr>
    <a:lvl8pPr marL="3200400" algn="l" defTabSz="914400">
      <a:buNone/>
      <a:defRPr kern="1200">
        <a:solidFill>
          <a:schemeClr val="tx1"/>
        </a:solidFill>
        <a:latin typeface="Arial"/>
        <a:ea typeface="Arial"/>
        <a:cs typeface="Arial"/>
      </a:defRPr>
    </a:lvl8pPr>
    <a:lvl9pPr marL="3657600" algn="l" defTabSz="914400">
      <a:buNone/>
      <a:defRPr kern="1200">
        <a:solidFill>
          <a:schemeClr val="tx1"/>
        </a:solidFill>
        <a:latin typeface="Arial"/>
        <a:ea typeface="Arial"/>
        <a:cs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lesinger, Sebastian" userId="d814e6c9-e9fb-4b77-84f7-ccd8aa3529bb" providerId="ADAL" clId="{6D2FDA67-24CA-54D8-B1B4-CE061F2DAD41}"/>
    <pc:docChg chg="modSld">
      <pc:chgData name="Schlesinger, Sebastian" userId="d814e6c9-e9fb-4b77-84f7-ccd8aa3529bb" providerId="ADAL" clId="{6D2FDA67-24CA-54D8-B1B4-CE061F2DAD41}" dt="2026-10-15T20:53:06.704" v="1" actId="1076"/>
      <pc:docMkLst>
        <pc:docMk/>
      </pc:docMkLst>
      <pc:sldChg chg="modSp mod">
        <pc:chgData name="Schlesinger, Sebastian" userId="d814e6c9-e9fb-4b77-84f7-ccd8aa3529bb" providerId="ADAL" clId="{6D2FDA67-24CA-54D8-B1B4-CE061F2DAD41}" dt="2026-10-15T20:53:06.704" v="1" actId="1076"/>
        <pc:sldMkLst>
          <pc:docMk/>
          <pc:sldMk cId="495357155" sldId="256"/>
        </pc:sldMkLst>
        <pc:spChg chg="mod">
          <ac:chgData name="Schlesinger, Sebastian" userId="d814e6c9-e9fb-4b77-84f7-ccd8aa3529bb" providerId="ADAL" clId="{6D2FDA67-24CA-54D8-B1B4-CE061F2DAD41}" dt="2026-10-15T20:53:06.704" v="1" actId="1076"/>
          <ac:spMkLst>
            <pc:docMk/>
            <pc:sldMk cId="495357155" sldId="256"/>
            <ac:spMk id="5" creationId="{9174A75B-68E0-4ACE-89C7-3C5666E73D2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Folien folgen einem Lernweg vom Sprachverständnis über Einrichtung und selbst implementierte Algorithmen bis zur Arbeit mit Bibliotheken. Vertiefungen können asynchron bearbeitet werden.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 https://docs.python.org/3/faq/general.html . Van Rossum beschreibt den Beginn während der Weihnachtsferien 1989 und die öffentliche Bereitstellung im Februar 1991. Die Sprache entstand unter anderem aus dem Bedarf an besser zugänglichen Systemwerkzeugen.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Python ist die Sprache, CPython ihre verbreitete Implementierung. „Interpretiert“ schließt interne Übersetzungsschritte nicht aus. Dynamisch bedeutet: Typen gehören zu Objekten und werden zur Laufzeit berücksichtigt. Quelle: https://docs.python.org/3/faq/general.html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Keine pauschale Geschwindigkeitsrangliste: NumPy und andere Bibliotheken führen viele Operationen in kompiliertem Code aus. Wir implementieren zunächst bewusst kleine Algorithmen, um ihren Ablauf zu verstehen.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Diese Werkzeuge sind keine fünf notwendigen Installationsschritte. Colab genügt für den gemeinsamen Einstieg. Python, VS Code und venv bilden den lokalen Weg. Docker ist optional.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Eine Python-3-CPU-Laufzeit genügt. Colab speichert Dateien in der Laufzeit nur vorübergehend. Ergebnisse herunterladen. Reihenfolge und verborgener Zustand sind wichtige Fehlerquellen. Quelle: https://research.google.com/colaboratory/faq.html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Live-Demo: x=1 ausführen, Code in x=2 ändern, aber nicht ausführen. Eine zweite Zelle mit print(x) zeigt weiterhin 1. Colab-Laufzeitdateien sind temporär. Quelle: https://research.google.com/colaboratory/faq.html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 Terminal: macOS/Linux python3 hallo.py, Windows py -3 hallo.py. Die ausführbare Datei und PATH unterscheiden sich je nach Installation. Quelle: https://www.python.org/downloads/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Für Notebooks zusätzlich oben rechts den passenden Kernel wählen. Editor, Interpreter und Notebook-Kernel sind unterschiedliche Komponenten. Quelle: https://code.visualstudio.com/docs/python/python-tutorial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Terminalbefehle, kein Python-Code. .venv enthält die Projektumgebung. Nach Aktivierung zeigt python auf deren Interpreter. Mit deactivate verlassen. .venv nicht in Git aufnehmen und nicht als portablen Ordner weitergeben. Quelle: https://docs.python.org/3/library/venv.html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Alternativ .\.venv\Scripts\Activate.ps1 ausführen, soweit die lokale Richtlinie dies erlaubt. Eine Richtlinie muss für diesen Kurs nicht gelockert werden, da der direkte Interpreteraufruf genügt. Quelle: https://docs.python.org/3/library/venv.html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Dieser erste technische Import dient nur der Umgebungsdiagnose. Das systematische Arbeiten mit Modulen folgt am Ende. sys gehört zur Standardbibliothek und benötigt keine Installation. Für lokale Notebooks bei Bedarf python -m pip install ipykernel ausführen.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Docker ist hier eine optionale lokale Vertiefung. Für Colab brauchen wir keinen Docker-Daemon. Ein Container ist nicht automatisch eine starke Sicherheitsgrenze für beliebigen fremden Code. Quelle: https://docs.docker.com/get-started/docker-concepts/building-images/writing-a-dockerfile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Dockerfile ist eine Bauanleitung, kein Python-Programm. Das Image enthält Python und das Skript. Der Container läuft ohne root. Die Datei hallo.py muss aus der lokalen Setup-Übung vorhanden sein. Quelle: https://docs.docker.com/get-started/docker-concepts/building-images/writing-a-dockerfile/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Skript schreibt Hallo Python und Willkommen, Ada! in die Ausgabe. --rm entfernt den beendeten Container. Nach einer Änderung von hallo.py das Image neu bauen. Kein Netzwerkport und kein Cloudkonto sind nötig. Docker muss für den restlichen Kurs nicht laufen.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Ergebnis: Umsatz: 50.00 Euro. Erst vorhersagen lassen, dann ausführen. Kommentare beginnen mit #. Namen sind groß-/kleinschreibungssensitiv.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Dynamische Typisierung: Derselbe Name kann später auf ein anderes Objekt verweisen. Python wandelt Text und Zahlen bei einer Addition nicht automatisch passend um.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Ausgabe: 3.5 3 1, dann True. float("12,50") wirft ValueError. Gleitkommazahlen bilden Dezimalzahlen oft nur näherungsweise ab. Für Geldbeträge in echten Anwendungen Decimal oder ganze Cent erwägen.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Nur der erste zutreffende Zweig läuft. Übung: Grenzwerte 49, 50, 99 und 100 ausprobieren. Erwartet: niedrig, mittel, mittel, hoch.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aktualisiert die bisherige Summe. enumerate liefert Index und Wert. Für Summen im Alltag sum(preise) verwenden. Hier macht die Schleife den Ablauf sichtbar.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break beendet eine Schleife, continue springt zum nächsten Durchlauf. Bei versehentlicher Endlosschleife die Zelle stoppen. Notebook-Zustand prüfen, bevor erneut ausgeführt wird.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List Comprehensions kombinieren Abbildung und optionalen Filter. Zunächst die entsprechende for-Schleife ausschreiben lassen. Leere Liste: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8–10 Minuten. Erst ohne sum oder fertige Aggregationen lösen. sum ist später eine sinnvolle Alltagshilfe. Diese Aufgabe entspricht A1 im bisherigen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print zeigt etwas an, return liefert einen Wert an den Aufrufer zurück. Ohne return liefert eine Funktion None. Die Parameterbelegung gilt lokal im Funktionsaufruf.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Annotationen erzwingen Typen nicht automatisch. assert ist hier eine Lern- und Testhilfe, kein Ersatz für Validierung von Nutzereingaben. Funktionsnamen, Parameter und Rückgabe gemeinsam erklären.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Tracebacks von unten lesen: Fehlertyp und Nachricht, dann die eigene Codezeile suchen. Nur erwartete Fehler abfangen. Nicht pauschal alle Ausnahmen verschlucken.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Tuple-Unveränderbarkeit betrifft die gespeicherten Referenzen. Ein Tuple kann dennoch veränderbare Objekte enthalten. Schlüssel in dict und Elemente in set müssen hashbar sein. Beispiele: Strings, Zahlen, passende Tuples.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Bei verschachtelten Listen bleiben innere Objekte in einer flachen Kopie geteilt. Dieser Unterschied erklärt viele unerwartete Seiteneffekte. Übung C1 im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Hashwerte helfen, den Speicherbereich eines Schlüssels zu finden. Kollisionen sind möglich und müssen intern behandelt werden. .get vermeidet KeyError und liefert hier den Standardwert 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Stack: append und pop am Ende amortisiert O(1). Die einfache Queue mit pop(0) verschiebt Elemente und kostet O(n). In Anwendungen ist collections.deque für eine Queue geeigneter. Leerzugriff muss behandelt werden.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Big O beschreibt asymptotisches Wachstum, keine Sekundenangabe. Implementierung, Daten und Hardware bleiben relevant. Durchschnitt, amortisierte Kosten und Worst Case unterscheiden. Erweiterte Tabelle im Notebook 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ist ein vereinbarter Rückgabewert für nicht gefunden. Nicht ungeprüft als Listenindex verwenden, weil -1 das letzte Element adressiert. Leere Liste und fehlenden Wert testen.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links=0, rechts=4, mitte=2, Wert 8. Da 11 größer ist, links=3. Neue Mitte 3 trifft den Wert 11. Kein bisect und kein automatisches Vorsortieren im Algorithmus.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Grenzen müssen sich in jedem Durchlauf verändern. Eine leere Liste startet mit rechts=-1, der Schleifenrumpf läuft nicht. Test: binaer_suche([2,5,8,11,17],11)==3. Nicht gefunden darf nicht ungeprüft als Index genutzt werden.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Voraussetzung: a ist aufsteigend sortiert. Diese Funktion verändert die übergebene Liste und liefert None. Leere Liste und doppelte Werte funktionieren. Worst Case O(n). append ist die einzige zum Vergrößern benötigte Listenoperation.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Worst Case O(n²), bei bereits sortierten Daten O(n). Original bleibt durch list(werte) erhalten. Zum Lernen selbst implementieren, in Anwendungen meist sorted verwenden. Notebook D enthält Prüfungen mit Duplikaten und leerer Liste.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vorherigen Funktionsdefinitionen müssen ausgeführt sein. Zusatz: erstes Element, bereits sortierte Folge und umgekehrte Reihenfolge testen. Tests belegen Beispiele, keinen allgemeinen Korrektheitsbeweis.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__init__ initialisiert das neue Objekt. self bezeichnet die konkrete Instanz. Kein separates new wie in manchen anderen Sprachen. Zur Vereinfachung fehlt hier die Eingabevalidierung.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Python kennt Konventionen wie _intern, aber keine allgemeine Zugriffssperre für Attribute. Für eine einzelne Berechnung genügt meist eine Funktion. Klassen helfen bei wiederkehrendem Zustand und Verhalten.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Didaktische Regel: Digitalprodukte erhalten in diesem Beispiel zusätzlich 10 % Rabatt. Keine allgemeine Aussage über digitale Produkte. super() nutzt hier die Basisklassenimplementierung. Sinnvolle Vererbung setzt eine fachliche Ist-ein-Beziehung voraus.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tatsächliche Objekttyp bestimmt, welche Implementierung von umsatz läuft. Die aufrufende Schleife muss keine Fallunterscheidung nach Typen enthalten. Die Klassen der vorherigen Folien müssen definiert sein.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Python verlangt für diesen Aufruf keine gemeinsame explizite Basisklasse. Das Objekt muss die passende Operation bereitstellen. Das Verhalten und die Bedeutung der Operation sollten zum Vertrag passen. Fehlt die Methode, entsteht AttributeError.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Liste entsteht in __init__, damit jede Instanz eine eigene Liste besitzt. Diese Implementierung berücksichtigt Polymorphie über umsatz(1). Vererbung und Komposition lösen unterschiedliche Modellierungsfragen.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Bei balancierten Bäumen ist h = O(log n). Ein unbalancierter Baum kann zur Kette mit h = O(n) werden. Im Notebook: vollständige Node-Klasse mit Einfügen und Suchen. Doppelte Werte werden dort ignoriert. Kein eingebauter allgemeiner BST-Typ in Python.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None steht für einen fehlenden Teilbaum. Das Beispiel zeigt zunächst einen manuell aufgebauten Baum. Es folgt eine Suchfunktion. Doppelte Werte werden im späteren Einfügealgorithmus ignoriert.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 baum_suche(wurzel,3) ist True, baum_suche(wurzel,7) ist False. Die Laufzeit hängt von der Baumhöhe ab. Noch keine Rekursion notwendig.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Python unterstützt mehrere Paradigmen. Eine for-Schleife ist kein eigenständiges Paradigma. Funktionaler Stil verlangt nicht zwingend Rekursion und Python ist keine rein funktionale Sprache.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Dieses Beispiel ist prozedural formuliert und zugleich nach außen nebenwirkungsfrei: Eingabe bleibt unverändert, das Ergebnis hängt nur von der Eingabe ab. Paradigmen schließen sich nicht gegenseitig aus.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lambda definiert hier eine kurze anonyme Funktion. Ausgabe der letzten Zeile: [2,3,4]. Als Alltagsalternativen später map und sum erwähnen. Hier bleibt die Abbildung selbst sichtbar. Keine speziellen funktionalen Bibliotheken nötig.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Vorbedingung: n ist eine ganze Zahl. n=0 und n=1 liefern 1. O(n) Multiplikationen, konstante Anzahl zusätzlicher Variablen. Die Bitlänge des Ergebnisses wächst, weshalb dies keine Aussage über konstanten Speicher in Bytes 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Vorbedingung: n ist ganzzahlig. Aufrufkette: f(4), f(3), f(2), f(1). Rückweg: 1, 2, 6, 24. Ein Aufruf wartet auf das Ergebnis des nächsten. CPython begrenzt die Rekursionstiefe. Kein Hochsetzen des Limits für diese Übung nötig.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Bei der Komplexität werden arithmetische Operationen vereinfacht als einzelne Schritte betrachtet. Die iterative Version benötigt keinen wachsenden Aufrufstack. Python optimiert Endrekursion nicht allgemein weg.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Aufruf: wurzel = baum_einfuegen(wurzel,6). Basisfall ist der leere Teilbaum. Doppelte Werte ändern nichts. Der Baum ist nicht selbstbalancierend. Bei einer langen Kette kann zusätzlich RecursionError auftreten.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Jeder Knoten wird einmal besucht: O(n), zusätzlicher Aufrufstack O(h). Anders als quadrat hat diese Funktion die sichtbare Nebenwirkung einer Ausgabe. Rekursion bedeutet also nicht automatisch funktionalen Stil.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Lösungen: dict, Stack. Für wiederholte Suche Aufbaukosten abwägen: set/dict für exakte Treffer, sortierte Liste oder balancierter Baum bei Ordnung. 1,2,3,4,5 erzeugt in unserem unbalancierten Baum eine rechte Kette. Suche wird im Worst Case 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Erwartungen: Fakultäten 1,1,120. Warenkorb mit Produkt zu 10 und Digitalprodukt zu 10 ergibt 19.0. Die Kette besucht zur Suche nach 5 fünf Knoten. Polymorphie delegiert den Aufruf an die konkrete Implementierung.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drei Ausdrücke liefern 3.0. math gehört zur Standardbibliothek. import installiert keine Pakete. Eigene Dateien nicht math.py oder pandas.py nennen, um Namenskonflikte zu vermeiden.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requirements.txt hält hier den aufgelösten Stand der Umgebung fest. Eine Neuinstallation erfolgt mit python -m pip install -r requirements.txt. In Colab bei Bedarf %pip install pandas matplotlib in einer Codezelle verwenden. Paketinstallation und Import sind getrennte Schritte.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NumPy und scikit-learn können später vertieft werden. Der Kern dieser Einführung endet mit Tabellen und Visualisierung. Quellen: https://pandas.pydata.org/docs/getting_started/intro_tutorials/index.html ; https://matplotlib.org/stable/users/explain/quick_start.html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Umsätze: 25,12,12.5 Euro. DataFrame ist selbst eine Klasse, verkauf eine Instanz. head(), info() und groupby() sind Methoden. So schließt die Bibliotheksnutzung an die Objektorientierung 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 ersten Ergebnis bleibt nur der erste Sensor-Verkauf. Die Gruppierung summiert nach Produkt. Gegenprobe ohne pandas: dict aufbauen und die Umsätze je Produkt in einer Schleife addieren.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erste Zeile schreibt bzw. ersetzt verkauf.csv im Arbeitsordner. Für deutsche CSV-Dateien ggf. sep=";" und decimal=",". Fehlende Werte nicht pauschal mit 0 ersetzen. Einheit, Bedeutung und Herkunft der Daten dokumentieren.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Erwartet: Kabel 12 Euro und Sensor 37,5 Euro. Umsatz ist kein Gewinn. Achsen und Einheiten gehören zur Interpretation. Das Beispiel verwendet umsaetze aus der vorherigen Gruppierungsfolie.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Beispiel Adapter: Preis 7 Euro, Menge 3, Umsatz 21 Euro. Ergebnis mit einer eigenen Schleife gegenprüfen. Das bisherige Notebook E bietet anschließend ein umfangreicheres Beispiel.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Weiterführend: Das bisherige Notebook enthält zusätzlich ein ML-Beispiel. Seine Reihenfolge und Folienverweise entsprechen noch der vorherigen Präsentationsfassung.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Geschichte: https://docs.python.org/3/faq/general.html . Colab: https://research.google.com/colaboratory/faq.html . Docker: https://docs.docker.com/get-started/docker-concepts/building-images/writing-a-dockerfile/ . Git und GitHub bleiben ergänzend im bisherigen Notebook G verfügbar.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D6D5D7-F42E-4794-8ED6-490CED69009E}"/>
              </a:ext>
            </a:extLst>
          </p:cNvPr>
          <p:cNvSpPr>
            <a:spLocks noGrp="1"/>
          </p:cNvSpPr>
          <p:nvPr>
            <p:ph type="ctrTitle"/>
          </p:nvPr>
        </p:nvSpPr>
        <p:spPr>
          <a:xfrm>
            <a:off x="814917" y="2708275"/>
            <a:ext cx="10562167" cy="2880965"/>
          </a:xfrm>
          <a:prstGeom prst="rect">
            <a:avLst/>
          </a:prstGeom>
        </p:spPr>
        <p:txBody>
          <a:bodyPr/>
          <a:lstStyle>
            <a:lvl1pPr>
              <a:lnSpc>
                <a:spcPct val="100000"/>
              </a:lnSpc>
              <a:buNone/>
              <a:defRPr sz="4800">
                <a:solidFill>
                  <a:srgbClr val="D50C2F"/>
                </a:solidFill>
              </a:defRPr>
            </a:lvl1pPr>
          </a:lstStyle>
          <a:p>
            <a:r>
              <a:t>Titelmasterformat durch Klicken bearbeiten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39A24766-5C4A-4152-B63C-6DF7CE633D21}"/>
              </a:ext>
            </a:extLst>
          </p:cNvPr>
          <p:cNvPicPr>
            <a:picLocks noChangeAspect="1"/>
          </p:cNvPicPr>
          <p:nvPr/>
        </p:nvPicPr>
        <p:blipFill>
          <a:blip r:embed="rId2"/>
          <a:srcRect/>
          <a:stretch>
            <a:fillRect/>
          </a:stretch>
        </p:blipFill>
        <p:spPr>
          <a:xfrm>
            <a:off x="8712201" y="296862"/>
            <a:ext cx="2950633" cy="683865"/>
          </a:xfrm>
          <a:prstGeom prst="rect">
            <a:avLst/>
          </a:prstGeom>
          <a:ln>
            <a:noFill/>
          </a:ln>
        </p:spPr>
      </p:pic>
      <p:sp>
        <p:nvSpPr>
          <p:cNvPr id="2" name="Titel 1">
            <a:extLst>
              <a:ext uri="{FF2B5EF4-FFF2-40B4-BE49-F238E27FC236}">
                <a16:creationId xmlns:a16="http://schemas.microsoft.com/office/drawing/2014/main" id="{348874A3-16ED-4A4A-B3EA-BAFEAC143AE6}"/>
              </a:ext>
            </a:extLst>
          </p:cNvPr>
          <p:cNvSpPr>
            <a:spLocks noGrp="1"/>
          </p:cNvSpPr>
          <p:nvPr>
            <p:ph type="title"/>
          </p:nvPr>
        </p:nvSpPr>
        <p:spPr/>
        <p:txBody>
          <a:bodyPr/>
          <a:lstStyle/>
          <a:p>
            <a:r>
              <a:t>Titelmasterformat durch Klicken bearbeiten</a:t>
            </a:r>
          </a:p>
        </p:txBody>
      </p:sp>
      <p:sp>
        <p:nvSpPr>
          <p:cNvPr id="3" name="Inhaltsplatzhalter 2">
            <a:extLst>
              <a:ext uri="{FF2B5EF4-FFF2-40B4-BE49-F238E27FC236}">
                <a16:creationId xmlns:a16="http://schemas.microsoft.com/office/drawing/2014/main" id="{F1920293-CC92-49A0-A436-9BD98C0DDBA4}"/>
              </a:ext>
            </a:extLst>
          </p:cNvPr>
          <p:cNvSpPr>
            <a:spLocks noGrp="1"/>
          </p:cNvSpPr>
          <p:nvPr>
            <p:ph idx="1"/>
          </p:nvPr>
        </p:nvSpPr>
        <p:spPr/>
        <p:txBody>
          <a:bodyPr bIns="108000"/>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5" name="Datumsplatzhalter 3">
            <a:extLst>
              <a:ext uri="{FF2B5EF4-FFF2-40B4-BE49-F238E27FC236}">
                <a16:creationId xmlns:a16="http://schemas.microsoft.com/office/drawing/2014/main" id="{C5F419CA-38C0-456C-B22A-0624B2F4D262}"/>
              </a:ext>
            </a:extLst>
          </p:cNvPr>
          <p:cNvSpPr>
            <a:spLocks noGrp="1"/>
          </p:cNvSpPr>
          <p:nvPr>
            <p:ph type="dt" idx="10"/>
          </p:nvPr>
        </p:nvSpPr>
        <p:spPr/>
        <p:txBody>
          <a:bodyPr/>
          <a:lstStyle>
            <a:lvl1pPr>
              <a:buNone/>
              <a:defRPr/>
            </a:lvl1pPr>
          </a:lstStyle>
          <a:p>
            <a:pPr>
              <a:buNone/>
            </a:pPr>
            <a:r>
              <a:t>4. Dezember 2013</a:t>
            </a:r>
          </a:p>
        </p:txBody>
      </p:sp>
      <p:sp>
        <p:nvSpPr>
          <p:cNvPr id="6" name="Fußzeilenplatzhalter 4">
            <a:extLst>
              <a:ext uri="{FF2B5EF4-FFF2-40B4-BE49-F238E27FC236}">
                <a16:creationId xmlns:a16="http://schemas.microsoft.com/office/drawing/2014/main" id="{D095FA76-6F7B-4D89-8689-37253B898D0E}"/>
              </a:ext>
            </a:extLst>
          </p:cNvPr>
          <p:cNvSpPr>
            <a:spLocks noGrp="1"/>
          </p:cNvSpPr>
          <p:nvPr>
            <p:ph type="ftr" idx="11"/>
          </p:nvPr>
        </p:nvSpPr>
        <p:spPr/>
        <p:txBody>
          <a:bodyPr/>
          <a:lstStyle>
            <a:lvl1pPr>
              <a:buNone/>
              <a:defRPr/>
            </a:lvl1pPr>
          </a:lstStyle>
          <a:p>
            <a:pPr>
              <a:buNone/>
            </a:pPr>
            <a:endParaRPr/>
          </a:p>
        </p:txBody>
      </p:sp>
      <p:sp>
        <p:nvSpPr>
          <p:cNvPr id="7" name="Foliennummernplatzhalter 5">
            <a:extLst>
              <a:ext uri="{FF2B5EF4-FFF2-40B4-BE49-F238E27FC236}">
                <a16:creationId xmlns:a16="http://schemas.microsoft.com/office/drawing/2014/main" id="{9EE1F140-CE50-47A8-BF60-AA7A5C4C7162}"/>
              </a:ext>
            </a:extLst>
          </p:cNvPr>
          <p:cNvSpPr>
            <a:spLocks noGrp="1"/>
          </p:cNvSpPr>
          <p:nvPr>
            <p:ph type="sldNum" idx="12"/>
          </p:nvPr>
        </p:nvSpPr>
        <p:spPr/>
        <p:txBody>
          <a:bodyPr/>
          <a:lstStyle>
            <a:lvl1pPr>
              <a:buNone/>
              <a:defRPr/>
            </a:lvl1pPr>
          </a:lstStyle>
          <a:p>
            <a:pPr>
              <a:buNone/>
            </a:pPr>
            <a:fld id="{B412CF81-FBD2-4988-8D72-9A03E2875460}"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2_Titelfolie">
    <p:spTree>
      <p:nvGrpSpPr>
        <p:cNvPr id="1" name=""/>
        <p:cNvGrpSpPr/>
        <p:nvPr/>
      </p:nvGrpSpPr>
      <p:grpSpPr>
        <a:xfrm>
          <a:off x="0" y="0"/>
          <a:ext cx="0" cy="0"/>
          <a:chOff x="0" y="0"/>
          <a:chExt cx="0" cy="0"/>
        </a:xfrm>
      </p:grpSpPr>
      <p:pic>
        <p:nvPicPr>
          <p:cNvPr id="4" name="Picture 9">
            <a:extLst>
              <a:ext uri="{FF2B5EF4-FFF2-40B4-BE49-F238E27FC236}">
                <a16:creationId xmlns:a16="http://schemas.microsoft.com/office/drawing/2014/main" id="{5B8D0520-FFB4-4C4A-A23F-E8B9BCD0D66D}"/>
              </a:ext>
            </a:extLst>
          </p:cNvPr>
          <p:cNvPicPr>
            <a:picLocks noChangeAspect="1"/>
          </p:cNvPicPr>
          <p:nvPr/>
        </p:nvPicPr>
        <p:blipFill>
          <a:blip r:embed="rId2"/>
          <a:srcRect/>
          <a:stretch>
            <a:fillRect/>
          </a:stretch>
        </p:blipFill>
        <p:spPr>
          <a:xfrm>
            <a:off x="8208434" y="222251"/>
            <a:ext cx="3577167" cy="614363"/>
          </a:xfrm>
          <a:prstGeom prst="rect">
            <a:avLst/>
          </a:prstGeom>
          <a:ln>
            <a:noFill/>
          </a:ln>
        </p:spPr>
      </p:pic>
      <p:sp>
        <p:nvSpPr>
          <p:cNvPr id="113666" name="Rectangle 2">
            <a:extLst>
              <a:ext uri="{FF2B5EF4-FFF2-40B4-BE49-F238E27FC236}">
                <a16:creationId xmlns:a16="http://schemas.microsoft.com/office/drawing/2014/main" id="{D6756EB5-1A0E-4D87-B6CA-EA216530DC0E}"/>
              </a:ext>
            </a:extLst>
          </p:cNvPr>
          <p:cNvSpPr>
            <a:spLocks noGrp="1"/>
          </p:cNvSpPr>
          <p:nvPr>
            <p:ph type="ctrTitle"/>
          </p:nvPr>
        </p:nvSpPr>
        <p:spPr>
          <a:xfrm>
            <a:off x="203200" y="1219200"/>
            <a:ext cx="11684000" cy="762000"/>
          </a:xfrm>
        </p:spPr>
        <p:txBody>
          <a:bodyPr anchor="t"/>
          <a:lstStyle>
            <a:lvl1pPr>
              <a:buNone/>
              <a:defRPr sz="2800"/>
            </a:lvl1pPr>
          </a:lstStyle>
          <a:p>
            <a:pPr lvl="0">
              <a:buNone/>
            </a:pPr>
            <a:r>
              <a:t>Klicken Sie, um das Titelformat zu bearbeiten</a:t>
            </a:r>
          </a:p>
        </p:txBody>
      </p:sp>
      <p:sp>
        <p:nvSpPr>
          <p:cNvPr id="113667" name="Rectangle 3">
            <a:extLst>
              <a:ext uri="{FF2B5EF4-FFF2-40B4-BE49-F238E27FC236}">
                <a16:creationId xmlns:a16="http://schemas.microsoft.com/office/drawing/2014/main" id="{24876866-3382-4C30-8992-B6BC2629067E}"/>
              </a:ext>
            </a:extLst>
          </p:cNvPr>
          <p:cNvSpPr>
            <a:spLocks noGrp="1"/>
          </p:cNvSpPr>
          <p:nvPr>
            <p:ph type="subTitle" idx="1"/>
          </p:nvPr>
        </p:nvSpPr>
        <p:spPr>
          <a:xfrm>
            <a:off x="203200" y="2057400"/>
            <a:ext cx="11684000" cy="1752600"/>
          </a:xfrm>
        </p:spPr>
        <p:txBody>
          <a:bodyPr/>
          <a:lstStyle>
            <a:lvl1pPr marL="0" indent="0">
              <a:buFont typeface="Wingdings"/>
              <a:buNone/>
              <a:defRPr/>
            </a:lvl1pPr>
          </a:lstStyle>
          <a:p>
            <a:pPr lvl="0">
              <a:buNone/>
            </a:pPr>
            <a:r>
              <a:t>Klicken Sie, um das Format des Untertitelmasters zu bearbeiten</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extplatzhalter 1">
            <a:extLst>
              <a:ext uri="{FF2B5EF4-FFF2-40B4-BE49-F238E27FC236}">
                <a16:creationId xmlns:a16="http://schemas.microsoft.com/office/drawing/2014/main" id="{394C191F-FED1-426B-BC3C-3212EE9C5749}"/>
              </a:ext>
            </a:extLst>
          </p:cNvPr>
          <p:cNvSpPr>
            <a:spLocks noGrp="1"/>
          </p:cNvSpPr>
          <p:nvPr>
            <p:ph type="body" idx="1"/>
          </p:nvPr>
        </p:nvSpPr>
        <p:spPr>
          <a:xfrm>
            <a:off x="1056217" y="1989138"/>
            <a:ext cx="8879416" cy="3960812"/>
          </a:xfrm>
          <a:prstGeom prst="rect">
            <a:avLst/>
          </a:prstGeom>
          <a:noFill/>
          <a:ln>
            <a:noFill/>
          </a:ln>
        </p:spPr>
        <p:txBody>
          <a:bodyPr vert="horz" wrap="square" lIns="0" tIns="108000" rIns="0" bIns="0" anchor="t"/>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1027" name="Titelplatzhalter 2">
            <a:extLst>
              <a:ext uri="{FF2B5EF4-FFF2-40B4-BE49-F238E27FC236}">
                <a16:creationId xmlns:a16="http://schemas.microsoft.com/office/drawing/2014/main" id="{E6731A71-41AA-4A6B-BFA3-CDEF09751F58}"/>
              </a:ext>
            </a:extLst>
          </p:cNvPr>
          <p:cNvSpPr>
            <a:spLocks noGrp="1"/>
          </p:cNvSpPr>
          <p:nvPr>
            <p:ph type="title"/>
          </p:nvPr>
        </p:nvSpPr>
        <p:spPr>
          <a:xfrm>
            <a:off x="1056217" y="395289"/>
            <a:ext cx="6959600" cy="1354137"/>
          </a:xfrm>
          <a:prstGeom prst="rect">
            <a:avLst/>
          </a:prstGeom>
          <a:noFill/>
          <a:ln>
            <a:noFill/>
          </a:ln>
        </p:spPr>
        <p:txBody>
          <a:bodyPr vert="horz" wrap="square" lIns="0" tIns="72000" rIns="0" bIns="0" anchor="t"/>
          <a:lstStyle/>
          <a:p>
            <a:pPr lvl="0">
              <a:buNone/>
            </a:pPr>
            <a:r>
              <a:t>Titelmasterformat durch Klicken bearbeiten</a:t>
            </a:r>
          </a:p>
        </p:txBody>
      </p:sp>
      <p:sp>
        <p:nvSpPr>
          <p:cNvPr id="7" name="Datumsplatzhalter 6">
            <a:extLst>
              <a:ext uri="{FF2B5EF4-FFF2-40B4-BE49-F238E27FC236}">
                <a16:creationId xmlns:a16="http://schemas.microsoft.com/office/drawing/2014/main" id="{6F78C4E8-6D35-41EC-9AE5-5DC40CB9F8B6}"/>
              </a:ext>
            </a:extLst>
          </p:cNvPr>
          <p:cNvSpPr>
            <a:spLocks noGrp="1"/>
          </p:cNvSpPr>
          <p:nvPr>
            <p:ph type="dt" idx="2"/>
          </p:nvPr>
        </p:nvSpPr>
        <p:spPr>
          <a:xfrm>
            <a:off x="1056218" y="6308726"/>
            <a:ext cx="2398183" cy="365125"/>
          </a:xfrm>
          <a:prstGeom prst="rect">
            <a:avLst/>
          </a:prstGeom>
        </p:spPr>
        <p:txBody>
          <a:bodyPr vert="horz" lIns="0" tIns="72000" rIns="0" bIns="0" anchor="t">
            <a:noAutofit/>
          </a:bodyPr>
          <a:lstStyle>
            <a:lvl1pPr algn="l">
              <a:buNone/>
              <a:defRPr sz="1200">
                <a:solidFill>
                  <a:schemeClr val="tx1">
                    <a:tint val="75000"/>
                  </a:schemeClr>
                </a:solidFill>
              </a:defRPr>
            </a:lvl1pPr>
          </a:lstStyle>
          <a:p>
            <a:pPr>
              <a:buNone/>
            </a:pPr>
            <a:r>
              <a:t>04 December 2013</a:t>
            </a:r>
          </a:p>
        </p:txBody>
      </p:sp>
      <p:sp>
        <p:nvSpPr>
          <p:cNvPr id="8" name="Fußzeilenplatzhalter 7">
            <a:extLst>
              <a:ext uri="{FF2B5EF4-FFF2-40B4-BE49-F238E27FC236}">
                <a16:creationId xmlns:a16="http://schemas.microsoft.com/office/drawing/2014/main" id="{3605F6B1-678A-42EA-8CA7-79B598E3C07E}"/>
              </a:ext>
            </a:extLst>
          </p:cNvPr>
          <p:cNvSpPr>
            <a:spLocks noGrp="1"/>
          </p:cNvSpPr>
          <p:nvPr>
            <p:ph type="ftr" idx="3"/>
          </p:nvPr>
        </p:nvSpPr>
        <p:spPr>
          <a:xfrm>
            <a:off x="4165600" y="6308726"/>
            <a:ext cx="3860800" cy="365125"/>
          </a:xfrm>
          <a:prstGeom prst="rect">
            <a:avLst/>
          </a:prstGeom>
        </p:spPr>
        <p:txBody>
          <a:bodyPr vert="horz" lIns="0" tIns="72000" rIns="0" bIns="0" anchor="t"/>
          <a:lstStyle>
            <a:lvl1pPr algn="ctr">
              <a:buNone/>
              <a:defRPr sz="1200">
                <a:solidFill>
                  <a:schemeClr val="tx1">
                    <a:tint val="75000"/>
                  </a:schemeClr>
                </a:solidFill>
              </a:defRPr>
            </a:lvl1pPr>
          </a:lstStyle>
          <a:p>
            <a:pPr>
              <a:buNone/>
            </a:pPr>
            <a:endParaRPr/>
          </a:p>
        </p:txBody>
      </p:sp>
      <p:sp>
        <p:nvSpPr>
          <p:cNvPr id="9" name="Foliennummernplatzhalter 8">
            <a:extLst>
              <a:ext uri="{FF2B5EF4-FFF2-40B4-BE49-F238E27FC236}">
                <a16:creationId xmlns:a16="http://schemas.microsoft.com/office/drawing/2014/main" id="{C26205A2-780C-4471-9081-212BB807DB41}"/>
              </a:ext>
            </a:extLst>
          </p:cNvPr>
          <p:cNvSpPr>
            <a:spLocks noGrp="1"/>
          </p:cNvSpPr>
          <p:nvPr>
            <p:ph type="sldNum" idx="4"/>
          </p:nvPr>
        </p:nvSpPr>
        <p:spPr>
          <a:xfrm>
            <a:off x="8737600" y="6308726"/>
            <a:ext cx="2878667" cy="365125"/>
          </a:xfrm>
          <a:prstGeom prst="rect">
            <a:avLst/>
          </a:prstGeom>
        </p:spPr>
        <p:txBody>
          <a:bodyPr vert="horz" lIns="0" tIns="72000" rIns="0" bIns="0" anchor="t"/>
          <a:lstStyle>
            <a:lvl1pPr algn="r">
              <a:buNone/>
              <a:defRPr sz="1200">
                <a:solidFill>
                  <a:schemeClr val="tx1">
                    <a:tint val="75000"/>
                  </a:schemeClr>
                </a:solidFill>
              </a:defRPr>
            </a:lvl1pPr>
          </a:lstStyle>
          <a:p>
            <a:pPr>
              <a:buNone/>
            </a:pPr>
            <a:fld id="{89A20A32-F134-4C99-8D7A-0FE09B6CFF1C}"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a:spcBef>
          <a:spcPct val="0"/>
        </a:spcBef>
        <a:spcAft>
          <a:spcPct val="0"/>
        </a:spcAft>
        <a:buNone/>
        <a:defRPr sz="2400" b="1" kern="1200">
          <a:solidFill>
            <a:srgbClr val="D50C2F"/>
          </a:solidFill>
          <a:latin typeface="Arial"/>
          <a:ea typeface="Arial"/>
          <a:cs typeface="Arial"/>
        </a:defRPr>
      </a:lvl1pPr>
      <a:lvl2pPr algn="l">
        <a:spcBef>
          <a:spcPct val="0"/>
        </a:spcBef>
        <a:spcAft>
          <a:spcPct val="0"/>
        </a:spcAft>
        <a:buNone/>
        <a:defRPr sz="2400" b="1">
          <a:solidFill>
            <a:srgbClr val="D50C2F"/>
          </a:solidFill>
          <a:latin typeface="Arial"/>
          <a:ea typeface="Arial"/>
          <a:cs typeface="Arial"/>
        </a:defRPr>
      </a:lvl2pPr>
      <a:lvl3pPr algn="l">
        <a:spcBef>
          <a:spcPct val="0"/>
        </a:spcBef>
        <a:spcAft>
          <a:spcPct val="0"/>
        </a:spcAft>
        <a:buNone/>
        <a:defRPr sz="2400" b="1">
          <a:solidFill>
            <a:srgbClr val="D50C2F"/>
          </a:solidFill>
          <a:latin typeface="Arial"/>
          <a:ea typeface="Arial"/>
          <a:cs typeface="Arial"/>
        </a:defRPr>
      </a:lvl3pPr>
      <a:lvl4pPr algn="l">
        <a:spcBef>
          <a:spcPct val="0"/>
        </a:spcBef>
        <a:spcAft>
          <a:spcPct val="0"/>
        </a:spcAft>
        <a:buNone/>
        <a:defRPr sz="2400" b="1">
          <a:solidFill>
            <a:srgbClr val="D50C2F"/>
          </a:solidFill>
          <a:latin typeface="Arial"/>
          <a:ea typeface="Arial"/>
          <a:cs typeface="Arial"/>
        </a:defRPr>
      </a:lvl4pPr>
      <a:lvl5pPr algn="l">
        <a:spcBef>
          <a:spcPct val="0"/>
        </a:spcBef>
        <a:spcAft>
          <a:spcPct val="0"/>
        </a:spcAft>
        <a:buNone/>
        <a:defRPr sz="2400" b="1">
          <a:solidFill>
            <a:srgbClr val="D50C2F"/>
          </a:solidFill>
          <a:latin typeface="Arial"/>
          <a:ea typeface="Arial"/>
          <a:cs typeface="Arial"/>
        </a:defRPr>
      </a:lvl5pPr>
      <a:lvl6pPr marL="457200" algn="l">
        <a:spcBef>
          <a:spcPct val="0"/>
        </a:spcBef>
        <a:spcAft>
          <a:spcPct val="0"/>
        </a:spcAft>
        <a:buNone/>
        <a:defRPr sz="2400" b="1">
          <a:solidFill>
            <a:srgbClr val="D50C2F"/>
          </a:solidFill>
          <a:latin typeface="Arial"/>
          <a:ea typeface="Arial"/>
          <a:cs typeface="Arial"/>
        </a:defRPr>
      </a:lvl6pPr>
      <a:lvl7pPr marL="914400" algn="l">
        <a:spcBef>
          <a:spcPct val="0"/>
        </a:spcBef>
        <a:spcAft>
          <a:spcPct val="0"/>
        </a:spcAft>
        <a:buNone/>
        <a:defRPr sz="2400" b="1">
          <a:solidFill>
            <a:srgbClr val="D50C2F"/>
          </a:solidFill>
          <a:latin typeface="Arial"/>
          <a:ea typeface="Arial"/>
          <a:cs typeface="Arial"/>
        </a:defRPr>
      </a:lvl7pPr>
      <a:lvl8pPr marL="1371600" algn="l">
        <a:spcBef>
          <a:spcPct val="0"/>
        </a:spcBef>
        <a:spcAft>
          <a:spcPct val="0"/>
        </a:spcAft>
        <a:buNone/>
        <a:defRPr sz="2400" b="1">
          <a:solidFill>
            <a:srgbClr val="D50C2F"/>
          </a:solidFill>
          <a:latin typeface="Arial"/>
          <a:ea typeface="Arial"/>
          <a:cs typeface="Arial"/>
        </a:defRPr>
      </a:lvl8pPr>
      <a:lvl9pPr marL="1828800" algn="l">
        <a:spcBef>
          <a:spcPct val="0"/>
        </a:spcBef>
        <a:spcAft>
          <a:spcPct val="0"/>
        </a:spcAft>
        <a:buNone/>
        <a:defRPr sz="2400" b="1">
          <a:solidFill>
            <a:srgbClr val="D50C2F"/>
          </a:solidFill>
          <a:latin typeface="Arial"/>
          <a:ea typeface="Arial"/>
          <a:cs typeface="Arial"/>
        </a:defRPr>
      </a:lvl9pPr>
    </p:titleStyle>
    <p:bodyStyle>
      <a:lvl1pPr marL="179388" indent="-179388" algn="l">
        <a:lnSpc>
          <a:spcPct val="110000"/>
        </a:lnSpc>
        <a:spcBef>
          <a:spcPct val="0"/>
        </a:spcBef>
        <a:spcAft>
          <a:spcPts val="900"/>
        </a:spcAft>
        <a:buClr>
          <a:srgbClr val="6F6F6F"/>
        </a:buClr>
        <a:buFont typeface="Arial"/>
        <a:buChar char="•"/>
        <a:defRPr sz="2000" kern="1200">
          <a:solidFill>
            <a:schemeClr val="tx1"/>
          </a:solidFill>
          <a:latin typeface="Arial"/>
          <a:ea typeface="Arial"/>
          <a:cs typeface="Arial"/>
        </a:defRPr>
      </a:lvl1pPr>
      <a:lvl2pPr marL="358775" indent="-179388" algn="l">
        <a:lnSpc>
          <a:spcPct val="110000"/>
        </a:lnSpc>
        <a:spcBef>
          <a:spcPct val="0"/>
        </a:spcBef>
        <a:spcAft>
          <a:spcPts val="900"/>
        </a:spcAft>
        <a:buClr>
          <a:srgbClr val="6F6F6F"/>
        </a:buClr>
        <a:buFont typeface="Arial"/>
        <a:buChar char="•"/>
        <a:defRPr sz="1600" kern="1200">
          <a:solidFill>
            <a:schemeClr val="tx1"/>
          </a:solidFill>
          <a:latin typeface="Arial"/>
          <a:ea typeface="Arial"/>
          <a:cs typeface="Arial"/>
        </a:defRPr>
      </a:lvl2pPr>
      <a:lvl3pPr marL="539750" indent="-179388" algn="l">
        <a:lnSpc>
          <a:spcPct val="110000"/>
        </a:lnSpc>
        <a:spcBef>
          <a:spcPct val="0"/>
        </a:spcBef>
        <a:spcAft>
          <a:spcPts val="900"/>
        </a:spcAft>
        <a:buClr>
          <a:srgbClr val="6F6F6F"/>
        </a:buClr>
        <a:buFont typeface="Arial"/>
        <a:buChar char="•"/>
        <a:defRPr sz="1200" kern="1200">
          <a:solidFill>
            <a:schemeClr val="tx1"/>
          </a:solidFill>
          <a:latin typeface="Arial"/>
          <a:ea typeface="Arial"/>
          <a:cs typeface="Arial"/>
        </a:defRPr>
      </a:lvl3pPr>
      <a:lvl4pPr marL="539750" indent="-179388" algn="l">
        <a:lnSpc>
          <a:spcPct val="110000"/>
        </a:lnSpc>
        <a:spcBef>
          <a:spcPct val="0"/>
        </a:spcBef>
        <a:spcAft>
          <a:spcPts val="900"/>
        </a:spcAft>
        <a:buClr>
          <a:srgbClr val="6F6F6F"/>
        </a:buClr>
        <a:buFont typeface="Arial"/>
        <a:buChar char="•"/>
        <a:defRPr sz="1200" kern="1200">
          <a:solidFill>
            <a:schemeClr val="tx1"/>
          </a:solidFill>
          <a:latin typeface="Arial"/>
          <a:ea typeface="Arial"/>
          <a:cs typeface="Arial"/>
        </a:defRPr>
      </a:lvl4pPr>
      <a:lvl5pPr marL="539750" indent="-179388" algn="l">
        <a:lnSpc>
          <a:spcPct val="110000"/>
        </a:lnSpc>
        <a:spcBef>
          <a:spcPct val="0"/>
        </a:spcBef>
        <a:spcAft>
          <a:spcPts val="900"/>
        </a:spcAft>
        <a:buClr>
          <a:srgbClr val="6F6F6F"/>
        </a:buClr>
        <a:buFont typeface="Arial"/>
        <a:buChar char="•"/>
        <a:defRPr sz="1200" kern="1200">
          <a:solidFill>
            <a:schemeClr val="tx1"/>
          </a:solidFill>
          <a:latin typeface="Arial"/>
          <a:ea typeface="Arial"/>
          <a:cs typeface="Arial"/>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05D84B-DDEA-4AA9-AFA4-62E10B4C3462}"/>
              </a:ext>
            </a:extLst>
          </p:cNvPr>
          <p:cNvSpPr>
            <a:spLocks noGrp="1"/>
          </p:cNvSpPr>
          <p:nvPr/>
        </p:nvSpPr>
        <p:spPr>
          <a:xfrm>
            <a:off x="2619375" y="2000250"/>
            <a:ext cx="8572500" cy="523875"/>
          </a:xfrm>
          <a:prstGeom prst="rect">
            <a:avLst/>
          </a:prstGeom>
          <a:noFill/>
          <a:ln w="0">
            <a:noFill/>
          </a:ln>
        </p:spPr>
        <p:txBody>
          <a:bodyPr lIns="0" tIns="0" rIns="0" bIns="0">
            <a:noAutofit/>
          </a:bodyPr>
          <a:lstStyle>
            <a:defPPr>
              <a:defRPr sz="3000" b="1">
                <a:solidFill>
                  <a:srgbClr val="D50C2F"/>
                </a:solidFill>
                <a:latin typeface="Arial"/>
                <a:ea typeface="Arial"/>
                <a:cs typeface="Arial"/>
              </a:defRPr>
            </a:defPPr>
          </a:lstStyle>
          <a:p>
            <a:pPr>
              <a:defRPr sz="3000" b="1">
                <a:solidFill>
                  <a:srgbClr val="D50C2F"/>
                </a:solidFill>
                <a:latin typeface="Arial"/>
                <a:ea typeface="Arial"/>
                <a:cs typeface="Arial"/>
              </a:defRPr>
            </a:pPr>
            <a:r>
              <a:rPr sz="3000" b="1" dirty="0">
                <a:solidFill>
                  <a:srgbClr val="D50C2F"/>
                </a:solidFill>
                <a:latin typeface="Arial"/>
                <a:ea typeface="Arial"/>
                <a:cs typeface="Arial"/>
              </a:rPr>
              <a:t>Master </a:t>
            </a:r>
            <a:r>
              <a:rPr sz="3000" b="1" dirty="0" err="1">
                <a:solidFill>
                  <a:srgbClr val="D50C2F"/>
                </a:solidFill>
                <a:latin typeface="Arial"/>
                <a:ea typeface="Arial"/>
                <a:cs typeface="Arial"/>
              </a:rPr>
              <a:t>Digitale</a:t>
            </a:r>
            <a:r>
              <a:rPr sz="3000" b="1" dirty="0">
                <a:solidFill>
                  <a:srgbClr val="D50C2F"/>
                </a:solidFill>
                <a:latin typeface="Arial"/>
                <a:ea typeface="Arial"/>
                <a:cs typeface="Arial"/>
              </a:rPr>
              <a:t> Transformation</a:t>
            </a:r>
          </a:p>
        </p:txBody>
      </p:sp>
      <p:sp>
        <p:nvSpPr>
          <p:cNvPr id="2" name="Rectangle 1">
            <a:extLst>
              <a:ext uri="{FF2B5EF4-FFF2-40B4-BE49-F238E27FC236}">
                <a16:creationId xmlns:a16="http://schemas.microsoft.com/office/drawing/2014/main" id="{323B9E94-A4DB-4AA8-B240-F7A5B1DD0148}"/>
              </a:ext>
            </a:extLst>
          </p:cNvPr>
          <p:cNvSpPr>
            <a:spLocks noGrp="1"/>
          </p:cNvSpPr>
          <p:nvPr/>
        </p:nvSpPr>
        <p:spPr>
          <a:xfrm>
            <a:off x="3238500" y="2571750"/>
            <a:ext cx="8096250" cy="428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dirty="0">
                <a:solidFill>
                  <a:srgbClr val="D50C2F"/>
                </a:solidFill>
                <a:latin typeface="Arial"/>
                <a:ea typeface="Arial"/>
                <a:cs typeface="Arial"/>
              </a:rPr>
              <a:t>Modul </a:t>
            </a:r>
            <a:r>
              <a:rPr sz="2400" b="1" dirty="0" err="1">
                <a:solidFill>
                  <a:srgbClr val="D50C2F"/>
                </a:solidFill>
                <a:latin typeface="Arial"/>
                <a:ea typeface="Arial"/>
                <a:cs typeface="Arial"/>
              </a:rPr>
              <a:t>Digitale</a:t>
            </a:r>
            <a:r>
              <a:rPr sz="2400" b="1" dirty="0">
                <a:solidFill>
                  <a:srgbClr val="D50C2F"/>
                </a:solidFill>
                <a:latin typeface="Arial"/>
                <a:ea typeface="Arial"/>
                <a:cs typeface="Arial"/>
              </a:rPr>
              <a:t> </a:t>
            </a:r>
            <a:r>
              <a:rPr sz="2400" b="1" dirty="0" err="1">
                <a:solidFill>
                  <a:srgbClr val="D50C2F"/>
                </a:solidFill>
                <a:latin typeface="Arial"/>
                <a:ea typeface="Arial"/>
                <a:cs typeface="Arial"/>
              </a:rPr>
              <a:t>Technologien</a:t>
            </a:r>
            <a:endParaRPr sz="2400" b="1" dirty="0">
              <a:solidFill>
                <a:srgbClr val="D50C2F"/>
              </a:solidFill>
              <a:latin typeface="Arial"/>
              <a:ea typeface="Arial"/>
              <a:cs typeface="Arial"/>
            </a:endParaRPr>
          </a:p>
        </p:txBody>
      </p:sp>
      <p:sp>
        <p:nvSpPr>
          <p:cNvPr id="3" name="Rectangle 2">
            <a:extLst>
              <a:ext uri="{FF2B5EF4-FFF2-40B4-BE49-F238E27FC236}">
                <a16:creationId xmlns:a16="http://schemas.microsoft.com/office/drawing/2014/main" id="{876C0046-762C-43D6-BED1-2E2DA7E664E1}"/>
              </a:ext>
            </a:extLst>
          </p:cNvPr>
          <p:cNvSpPr>
            <a:spLocks noGrp="1"/>
          </p:cNvSpPr>
          <p:nvPr/>
        </p:nvSpPr>
        <p:spPr>
          <a:xfrm>
            <a:off x="3238500" y="3190875"/>
            <a:ext cx="8096250" cy="523875"/>
          </a:xfrm>
          <a:prstGeom prst="rect">
            <a:avLst/>
          </a:prstGeom>
          <a:noFill/>
          <a:ln w="0">
            <a:noFill/>
          </a:ln>
        </p:spPr>
        <p:txBody>
          <a:bodyPr lIns="0" tIns="0" rIns="0" bIns="0">
            <a:noAutofit/>
          </a:bodyPr>
          <a:lstStyle>
            <a:defPPr>
              <a:defRPr sz="3000" b="1">
                <a:solidFill>
                  <a:srgbClr val="D50C2F"/>
                </a:solidFill>
                <a:latin typeface="Arial"/>
                <a:ea typeface="Arial"/>
                <a:cs typeface="Arial"/>
              </a:defRPr>
            </a:defPPr>
          </a:lstStyle>
          <a:p>
            <a:pPr>
              <a:defRPr sz="3000" b="1">
                <a:solidFill>
                  <a:srgbClr val="D50C2F"/>
                </a:solidFill>
                <a:latin typeface="Arial"/>
                <a:ea typeface="Arial"/>
                <a:cs typeface="Arial"/>
              </a:defRPr>
            </a:pPr>
            <a:r>
              <a:rPr sz="3000" b="1" dirty="0" err="1">
                <a:solidFill>
                  <a:srgbClr val="D50C2F"/>
                </a:solidFill>
                <a:latin typeface="Arial"/>
                <a:ea typeface="Arial"/>
                <a:cs typeface="Arial"/>
              </a:rPr>
              <a:t>Einführung</a:t>
            </a:r>
            <a:r>
              <a:rPr sz="3000" b="1" dirty="0">
                <a:solidFill>
                  <a:srgbClr val="D50C2F"/>
                </a:solidFill>
                <a:latin typeface="Arial"/>
                <a:ea typeface="Arial"/>
                <a:cs typeface="Arial"/>
              </a:rPr>
              <a:t> in Python</a:t>
            </a:r>
          </a:p>
        </p:txBody>
      </p:sp>
      <p:sp>
        <p:nvSpPr>
          <p:cNvPr id="4" name="Rectangle 3">
            <a:extLst>
              <a:ext uri="{FF2B5EF4-FFF2-40B4-BE49-F238E27FC236}">
                <a16:creationId xmlns:a16="http://schemas.microsoft.com/office/drawing/2014/main" id="{53758ECD-30A1-46B4-8C9B-4402CB7EBC57}"/>
              </a:ext>
            </a:extLst>
          </p:cNvPr>
          <p:cNvSpPr>
            <a:spLocks noGrp="1"/>
          </p:cNvSpPr>
          <p:nvPr/>
        </p:nvSpPr>
        <p:spPr>
          <a:xfrm>
            <a:off x="3238500" y="3810000"/>
            <a:ext cx="8096250" cy="428625"/>
          </a:xfrm>
          <a:prstGeom prst="rect">
            <a:avLst/>
          </a:prstGeom>
          <a:noFill/>
          <a:ln w="0">
            <a:noFill/>
          </a:ln>
        </p:spPr>
        <p:txBody>
          <a:bodyPr lIns="0" tIns="0" rIns="0" bIns="0">
            <a:noAutofit/>
          </a:bodyPr>
          <a:lstStyle>
            <a:defPPr>
              <a:defRPr sz="2025" b="0">
                <a:solidFill>
                  <a:srgbClr val="000000"/>
                </a:solidFill>
                <a:latin typeface="Arial"/>
                <a:ea typeface="Arial"/>
                <a:cs typeface="Arial"/>
              </a:defRPr>
            </a:defPPr>
          </a:lstStyle>
          <a:p>
            <a:pPr>
              <a:defRPr sz="2025" b="0">
                <a:solidFill>
                  <a:srgbClr val="000000"/>
                </a:solidFill>
                <a:latin typeface="Arial"/>
                <a:ea typeface="Arial"/>
                <a:cs typeface="Arial"/>
              </a:defRPr>
            </a:pPr>
            <a:r>
              <a:rPr sz="2025" b="0">
                <a:solidFill>
                  <a:srgbClr val="000000"/>
                </a:solidFill>
                <a:latin typeface="Arial"/>
                <a:ea typeface="Arial"/>
                <a:cs typeface="Arial"/>
              </a:rPr>
              <a:t>Grundlagen, Algorithmen und Datenanalyse</a:t>
            </a:r>
          </a:p>
        </p:txBody>
      </p:sp>
      <p:sp>
        <p:nvSpPr>
          <p:cNvPr id="5" name="Rectangle 4">
            <a:extLst>
              <a:ext uri="{FF2B5EF4-FFF2-40B4-BE49-F238E27FC236}">
                <a16:creationId xmlns:a16="http://schemas.microsoft.com/office/drawing/2014/main" id="{9174A75B-68E0-4ACE-89C7-3C5666E73D2C}"/>
              </a:ext>
            </a:extLst>
          </p:cNvPr>
          <p:cNvSpPr>
            <a:spLocks noGrp="1"/>
          </p:cNvSpPr>
          <p:nvPr/>
        </p:nvSpPr>
        <p:spPr>
          <a:xfrm>
            <a:off x="3238500" y="4804145"/>
            <a:ext cx="7143750" cy="342900"/>
          </a:xfrm>
          <a:prstGeom prst="rect">
            <a:avLst/>
          </a:prstGeom>
          <a:noFill/>
          <a:ln w="0">
            <a:noFill/>
          </a:ln>
        </p:spPr>
        <p:txBody>
          <a:bodyPr lIns="0" tIns="0" rIns="0" bIns="0">
            <a:noAutofit/>
          </a:bodyPr>
          <a:lstStyle>
            <a:defPPr>
              <a:defRPr sz="1800" b="0">
                <a:solidFill>
                  <a:srgbClr val="000000"/>
                </a:solidFill>
                <a:latin typeface="Arial"/>
                <a:ea typeface="Arial"/>
                <a:cs typeface="Arial"/>
              </a:defRPr>
            </a:defPPr>
          </a:lstStyle>
          <a:p>
            <a:pPr>
              <a:defRPr sz="1800" b="0">
                <a:solidFill>
                  <a:srgbClr val="000000"/>
                </a:solidFill>
                <a:latin typeface="Arial"/>
                <a:ea typeface="Arial"/>
                <a:cs typeface="Arial"/>
              </a:defRPr>
            </a:pPr>
            <a:r>
              <a:rPr sz="1800" b="0">
                <a:solidFill>
                  <a:srgbClr val="000000"/>
                </a:solidFill>
                <a:latin typeface="Arial"/>
                <a:ea typeface="Arial"/>
                <a:cs typeface="Arial"/>
              </a:rPr>
              <a:t>Prof. Dr.-Ing. Sebastian Schlesinger</a:t>
            </a:r>
          </a:p>
        </p:txBody>
      </p:sp>
      <p:sp>
        <p:nvSpPr>
          <p:cNvPr id="6" name="Rectangle 5">
            <a:extLst>
              <a:ext uri="{FF2B5EF4-FFF2-40B4-BE49-F238E27FC236}">
                <a16:creationId xmlns:a16="http://schemas.microsoft.com/office/drawing/2014/main" id="{9B2F2C4C-B75F-4892-A2AF-D7514048D248}"/>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1</a:t>
            </a:r>
          </a:p>
        </p:txBody>
      </p:sp>
    </p:spTree>
    <p:extLst>
      <p:ext uri="{BB962C8B-B14F-4D97-AF65-F5344CB8AC3E}">
        <p14:creationId xmlns:p14="http://schemas.microsoft.com/office/powerpoint/2010/main" val="495357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65E126B-F35E-48E8-AAD7-3700168FBD03}"/>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Lernweg</a:t>
            </a:r>
          </a:p>
        </p:txBody>
      </p:sp>
      <p:sp>
        <p:nvSpPr>
          <p:cNvPr id="2" name="Rectangle 1">
            <a:extLst>
              <a:ext uri="{FF2B5EF4-FFF2-40B4-BE49-F238E27FC236}">
                <a16:creationId xmlns:a16="http://schemas.microsoft.com/office/drawing/2014/main" id="{6DAD5AF5-C8B2-442B-A242-7092E19B1F73}"/>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1. Python: Geschichte, Eigenschaften und Einsatzfelder</a:t>
            </a:r>
          </a:p>
        </p:txBody>
      </p:sp>
      <p:sp>
        <p:nvSpPr>
          <p:cNvPr id="3" name="Rectangle 2">
            <a:extLst>
              <a:ext uri="{FF2B5EF4-FFF2-40B4-BE49-F238E27FC236}">
                <a16:creationId xmlns:a16="http://schemas.microsoft.com/office/drawing/2014/main" id="{E4CC0DAA-5275-4536-9331-A59E36A8D93B}"/>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2. Arbeitsumgebung: Colab, Python, VS Code, venv und Docker</a:t>
            </a:r>
          </a:p>
        </p:txBody>
      </p:sp>
      <p:sp>
        <p:nvSpPr>
          <p:cNvPr id="4" name="Rectangle 3">
            <a:extLst>
              <a:ext uri="{FF2B5EF4-FFF2-40B4-BE49-F238E27FC236}">
                <a16:creationId xmlns:a16="http://schemas.microsoft.com/office/drawing/2014/main" id="{248E5721-250A-46D3-970B-DADDB3F8F0CD}"/>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3. Syntax, Funktionen und grundlegende Datenstrukturen</a:t>
            </a:r>
          </a:p>
        </p:txBody>
      </p:sp>
      <p:sp>
        <p:nvSpPr>
          <p:cNvPr id="5" name="Rectangle 4">
            <a:extLst>
              <a:ext uri="{FF2B5EF4-FFF2-40B4-BE49-F238E27FC236}">
                <a16:creationId xmlns:a16="http://schemas.microsoft.com/office/drawing/2014/main" id="{756357C7-DEF7-40E5-89F6-15F675925960}"/>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4. Algorithmen selbst programmieren und Aufwand verstehen</a:t>
            </a:r>
          </a:p>
        </p:txBody>
      </p:sp>
      <p:sp>
        <p:nvSpPr>
          <p:cNvPr id="6" name="Rectangle 5">
            <a:extLst>
              <a:ext uri="{FF2B5EF4-FFF2-40B4-BE49-F238E27FC236}">
                <a16:creationId xmlns:a16="http://schemas.microsoft.com/office/drawing/2014/main" id="{CCD098CC-C7BB-4AC3-86D6-AE39B4F305D1}"/>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5. Klassen, Vererbung und verschiedene Programmierstile</a:t>
            </a:r>
          </a:p>
        </p:txBody>
      </p:sp>
      <p:sp>
        <p:nvSpPr>
          <p:cNvPr id="7" name="Rectangle 6">
            <a:extLst>
              <a:ext uri="{FF2B5EF4-FFF2-40B4-BE49-F238E27FC236}">
                <a16:creationId xmlns:a16="http://schemas.microsoft.com/office/drawing/2014/main" id="{77505DC0-A1B3-4DB2-A2B9-B2AD306EA5D4}"/>
              </a:ext>
            </a:extLst>
          </p:cNvPr>
          <p:cNvSpPr>
            <a:spLocks noGrp="1"/>
          </p:cNvSpPr>
          <p:nvPr/>
        </p:nvSpPr>
        <p:spPr>
          <a:xfrm>
            <a:off x="1047750" y="46577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6. Bibliotheken importieren, Daten mit pandas und Matplotlib auswerten</a:t>
            </a:r>
          </a:p>
        </p:txBody>
      </p:sp>
      <p:sp>
        <p:nvSpPr>
          <p:cNvPr id="8" name="Rectangle 7">
            <a:extLst>
              <a:ext uri="{FF2B5EF4-FFF2-40B4-BE49-F238E27FC236}">
                <a16:creationId xmlns:a16="http://schemas.microsoft.com/office/drawing/2014/main" id="{9EAEE130-6DDD-4469-B886-89FA1791DA4B}"/>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2</a:t>
            </a:r>
          </a:p>
        </p:txBody>
      </p:sp>
    </p:spTree>
    <p:extLst>
      <p:ext uri="{BB962C8B-B14F-4D97-AF65-F5344CB8AC3E}">
        <p14:creationId xmlns:p14="http://schemas.microsoft.com/office/powerpoint/2010/main" val="1935494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D35BF6A-AA11-4E0D-94F8-F0F0F5BD7E45}"/>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Wie Python entstand</a:t>
            </a:r>
          </a:p>
        </p:txBody>
      </p:sp>
      <p:sp>
        <p:nvSpPr>
          <p:cNvPr id="2" name="Rectangle 1">
            <a:extLst>
              <a:ext uri="{FF2B5EF4-FFF2-40B4-BE49-F238E27FC236}">
                <a16:creationId xmlns:a16="http://schemas.microsoft.com/office/drawing/2014/main" id="{24F3BCA1-D9CB-4E01-9860-99ADEC782FCF}"/>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Guido van Rossum begann die Entwicklung 1989 am CWI</a:t>
            </a:r>
          </a:p>
        </p:txBody>
      </p:sp>
      <p:sp>
        <p:nvSpPr>
          <p:cNvPr id="3" name="Rectangle 2">
            <a:extLst>
              <a:ext uri="{FF2B5EF4-FFF2-40B4-BE49-F238E27FC236}">
                <a16:creationId xmlns:a16="http://schemas.microsoft.com/office/drawing/2014/main" id="{BB954B8C-8D8A-422B-97FA-A092BE7C3E59}"/>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1991 erschien die erste öffentliche Version</a:t>
            </a:r>
          </a:p>
        </p:txBody>
      </p:sp>
      <p:sp>
        <p:nvSpPr>
          <p:cNvPr id="4" name="Rectangle 3">
            <a:extLst>
              <a:ext uri="{FF2B5EF4-FFF2-40B4-BE49-F238E27FC236}">
                <a16:creationId xmlns:a16="http://schemas.microsoft.com/office/drawing/2014/main" id="{EA458676-56B6-477D-AC2D-62AE8AC5960B}"/>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Einflüsse: ABC, lesbare Syntax und erweiterbare Systemwerkzeuge</a:t>
            </a:r>
          </a:p>
        </p:txBody>
      </p:sp>
      <p:sp>
        <p:nvSpPr>
          <p:cNvPr id="5" name="Rectangle 4">
            <a:extLst>
              <a:ext uri="{FF2B5EF4-FFF2-40B4-BE49-F238E27FC236}">
                <a16:creationId xmlns:a16="http://schemas.microsoft.com/office/drawing/2014/main" id="{77162F88-3FD5-4AEA-B88A-253857612A38}"/>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Der Name bezieht sich auf Monty Python’s Flying Circus</a:t>
            </a:r>
          </a:p>
        </p:txBody>
      </p:sp>
      <p:sp>
        <p:nvSpPr>
          <p:cNvPr id="6" name="Rectangle 5">
            <a:extLst>
              <a:ext uri="{FF2B5EF4-FFF2-40B4-BE49-F238E27FC236}">
                <a16:creationId xmlns:a16="http://schemas.microsoft.com/office/drawing/2014/main" id="{D790EC36-6B73-4059-8BD1-4E3231588F88}"/>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Im Kurs verwenden wir Python 3</a:t>
            </a:r>
          </a:p>
        </p:txBody>
      </p:sp>
      <p:sp>
        <p:nvSpPr>
          <p:cNvPr id="7" name="Rectangle 6">
            <a:extLst>
              <a:ext uri="{FF2B5EF4-FFF2-40B4-BE49-F238E27FC236}">
                <a16:creationId xmlns:a16="http://schemas.microsoft.com/office/drawing/2014/main" id="{DC77FBDD-4BC4-4830-B22C-CDE8EBBDE470}"/>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3</a:t>
            </a:r>
          </a:p>
        </p:txBody>
      </p:sp>
    </p:spTree>
    <p:extLst>
      <p:ext uri="{BB962C8B-B14F-4D97-AF65-F5344CB8AC3E}">
        <p14:creationId xmlns:p14="http://schemas.microsoft.com/office/powerpoint/2010/main" val="1935494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E1B2287-1748-4C66-AE77-BACE24DFBB73}"/>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Einordnung der Sprache</a:t>
            </a:r>
          </a:p>
        </p:txBody>
      </p:sp>
      <p:sp>
        <p:nvSpPr>
          <p:cNvPr id="2" name="Rectangle 1">
            <a:extLst>
              <a:ext uri="{FF2B5EF4-FFF2-40B4-BE49-F238E27FC236}">
                <a16:creationId xmlns:a16="http://schemas.microsoft.com/office/drawing/2014/main" id="{E8157CB0-B547-4EE1-8E20-D7FE8E3F2700}"/>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Universelle höhere Programmiersprache mit dynamischer Typisierung</a:t>
            </a:r>
          </a:p>
        </p:txBody>
      </p:sp>
      <p:sp>
        <p:nvSpPr>
          <p:cNvPr id="3" name="Rectangle 2">
            <a:extLst>
              <a:ext uri="{FF2B5EF4-FFF2-40B4-BE49-F238E27FC236}">
                <a16:creationId xmlns:a16="http://schemas.microsoft.com/office/drawing/2014/main" id="{A16609EF-7832-42EC-9B5D-6D368DEAF98F}"/>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Unterstützt prozedurale, objektorientierte und funktionale Ansätze</a:t>
            </a:r>
          </a:p>
        </p:txBody>
      </p:sp>
      <p:sp>
        <p:nvSpPr>
          <p:cNvPr id="4" name="Rectangle 3">
            <a:extLst>
              <a:ext uri="{FF2B5EF4-FFF2-40B4-BE49-F238E27FC236}">
                <a16:creationId xmlns:a16="http://schemas.microsoft.com/office/drawing/2014/main" id="{24077B85-10EF-449E-9CC6-DF1678D45657}"/>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Automatische Speicherverwaltung und umfangreiche Standardbibliothek</a:t>
            </a:r>
          </a:p>
        </p:txBody>
      </p:sp>
      <p:sp>
        <p:nvSpPr>
          <p:cNvPr id="5" name="Rectangle 4">
            <a:extLst>
              <a:ext uri="{FF2B5EF4-FFF2-40B4-BE49-F238E27FC236}">
                <a16:creationId xmlns:a16="http://schemas.microsoft.com/office/drawing/2014/main" id="{85A3CD99-146C-4F23-8164-C307DDAF1553}"/>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CPython übersetzt Quelltext in Bytecode und führt diesen aus</a:t>
            </a:r>
          </a:p>
        </p:txBody>
      </p:sp>
      <p:sp>
        <p:nvSpPr>
          <p:cNvPr id="6" name="Rectangle 5">
            <a:extLst>
              <a:ext uri="{FF2B5EF4-FFF2-40B4-BE49-F238E27FC236}">
                <a16:creationId xmlns:a16="http://schemas.microsoft.com/office/drawing/2014/main" id="{044F4600-51FA-47AB-A316-0388B84C6E19}"/>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Typische Felder: Automatisierung, Webanwendungen und Datenanalyse</a:t>
            </a:r>
          </a:p>
        </p:txBody>
      </p:sp>
      <p:sp>
        <p:nvSpPr>
          <p:cNvPr id="7" name="Rectangle 6">
            <a:extLst>
              <a:ext uri="{FF2B5EF4-FFF2-40B4-BE49-F238E27FC236}">
                <a16:creationId xmlns:a16="http://schemas.microsoft.com/office/drawing/2014/main" id="{5AF04459-9D50-467B-B358-8A794DFE4604}"/>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4</a:t>
            </a:r>
          </a:p>
        </p:txBody>
      </p:sp>
    </p:spTree>
    <p:extLst>
      <p:ext uri="{BB962C8B-B14F-4D97-AF65-F5344CB8AC3E}">
        <p14:creationId xmlns:p14="http://schemas.microsoft.com/office/powerpoint/2010/main" val="1935494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F8E1440-7672-4603-A0A4-03BEF82D0B7B}"/>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Stärken und Grenzen</a:t>
            </a:r>
          </a:p>
        </p:txBody>
      </p:sp>
      <p:sp>
        <p:nvSpPr>
          <p:cNvPr id="2" name="Rectangle 1">
            <a:extLst>
              <a:ext uri="{FF2B5EF4-FFF2-40B4-BE49-F238E27FC236}">
                <a16:creationId xmlns:a16="http://schemas.microsoft.com/office/drawing/2014/main" id="{38E6B3E6-115C-4698-A380-0AA3987144D2}"/>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Lesbarer Code unterstützt den Einstieg und die Zusammenarbeit</a:t>
            </a:r>
          </a:p>
        </p:txBody>
      </p:sp>
      <p:sp>
        <p:nvSpPr>
          <p:cNvPr id="3" name="Rectangle 2">
            <a:extLst>
              <a:ext uri="{FF2B5EF4-FFF2-40B4-BE49-F238E27FC236}">
                <a16:creationId xmlns:a16="http://schemas.microsoft.com/office/drawing/2014/main" id="{61A1CAC2-9D62-47DC-9874-690557C1C646}"/>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Viele Bibliotheken verbinden Python mit spezialisierten Werkzeugen</a:t>
            </a:r>
          </a:p>
        </p:txBody>
      </p:sp>
      <p:sp>
        <p:nvSpPr>
          <p:cNvPr id="4" name="Rectangle 3">
            <a:extLst>
              <a:ext uri="{FF2B5EF4-FFF2-40B4-BE49-F238E27FC236}">
                <a16:creationId xmlns:a16="http://schemas.microsoft.com/office/drawing/2014/main" id="{149B124A-472C-416F-8F2F-1AA2B9E47A20}"/>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Reine Python-Schleifen können bei großen Datenmengen teuer sein</a:t>
            </a:r>
          </a:p>
        </p:txBody>
      </p:sp>
      <p:sp>
        <p:nvSpPr>
          <p:cNvPr id="5" name="Rectangle 4">
            <a:extLst>
              <a:ext uri="{FF2B5EF4-FFF2-40B4-BE49-F238E27FC236}">
                <a16:creationId xmlns:a16="http://schemas.microsoft.com/office/drawing/2014/main" id="{F35DFF3E-F1AE-4855-AA0D-E0965091D3BE}"/>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Typfehler können erst bei der Ausführung sichtbar werden</a:t>
            </a:r>
          </a:p>
        </p:txBody>
      </p:sp>
      <p:sp>
        <p:nvSpPr>
          <p:cNvPr id="6" name="Rectangle 5">
            <a:extLst>
              <a:ext uri="{FF2B5EF4-FFF2-40B4-BE49-F238E27FC236}">
                <a16:creationId xmlns:a16="http://schemas.microsoft.com/office/drawing/2014/main" id="{6B7FBB21-DBEE-4091-B851-B87F7693493D}"/>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Die passende Lösung hängt von Aufgabe, Datenmenge und Umgebung ab</a:t>
            </a:r>
          </a:p>
        </p:txBody>
      </p:sp>
      <p:sp>
        <p:nvSpPr>
          <p:cNvPr id="7" name="Rectangle 6">
            <a:extLst>
              <a:ext uri="{FF2B5EF4-FFF2-40B4-BE49-F238E27FC236}">
                <a16:creationId xmlns:a16="http://schemas.microsoft.com/office/drawing/2014/main" id="{B6891C94-E81F-48F5-9FAA-9072C0328DD4}"/>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5</a:t>
            </a:r>
          </a:p>
        </p:txBody>
      </p:sp>
    </p:spTree>
    <p:extLst>
      <p:ext uri="{BB962C8B-B14F-4D97-AF65-F5344CB8AC3E}">
        <p14:creationId xmlns:p14="http://schemas.microsoft.com/office/powerpoint/2010/main" val="1935494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752BC8-4274-43FF-B3E3-B14EDFF157F6}"/>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Welche Arbeitsumgebung übernimmt was?</a:t>
            </a:r>
          </a:p>
        </p:txBody>
      </p:sp>
      <p:sp>
        <p:nvSpPr>
          <p:cNvPr id="2" name="Rectangle 1">
            <a:extLst>
              <a:ext uri="{FF2B5EF4-FFF2-40B4-BE49-F238E27FC236}">
                <a16:creationId xmlns:a16="http://schemas.microsoft.com/office/drawing/2014/main" id="{BB929F09-C514-44C5-A290-0692C568B870}"/>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Python-Interpreter: führt Python-Code aus</a:t>
            </a:r>
          </a:p>
        </p:txBody>
      </p:sp>
      <p:sp>
        <p:nvSpPr>
          <p:cNvPr id="3" name="Rectangle 2">
            <a:extLst>
              <a:ext uri="{FF2B5EF4-FFF2-40B4-BE49-F238E27FC236}">
                <a16:creationId xmlns:a16="http://schemas.microsoft.com/office/drawing/2014/main" id="{534E203A-80A6-4BE0-987B-9030CD845457}"/>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Colab: Notebook und Rechenumgebung im Browser</a:t>
            </a:r>
          </a:p>
        </p:txBody>
      </p:sp>
      <p:sp>
        <p:nvSpPr>
          <p:cNvPr id="4" name="Rectangle 3">
            <a:extLst>
              <a:ext uri="{FF2B5EF4-FFF2-40B4-BE49-F238E27FC236}">
                <a16:creationId xmlns:a16="http://schemas.microsoft.com/office/drawing/2014/main" id="{DC1E0199-5F06-4EB4-AD05-5C9C6C27C7F8}"/>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VS Code: Editor mit Erweiterungen für Python und Notebooks</a:t>
            </a:r>
          </a:p>
        </p:txBody>
      </p:sp>
      <p:sp>
        <p:nvSpPr>
          <p:cNvPr id="5" name="Rectangle 4">
            <a:extLst>
              <a:ext uri="{FF2B5EF4-FFF2-40B4-BE49-F238E27FC236}">
                <a16:creationId xmlns:a16="http://schemas.microsoft.com/office/drawing/2014/main" id="{0BBB1820-FDBF-403B-B491-96C1C27022EE}"/>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venv: eigene Python-Pakete pro lokalem Projekt</a:t>
            </a:r>
          </a:p>
        </p:txBody>
      </p:sp>
      <p:sp>
        <p:nvSpPr>
          <p:cNvPr id="6" name="Rectangle 5">
            <a:extLst>
              <a:ext uri="{FF2B5EF4-FFF2-40B4-BE49-F238E27FC236}">
                <a16:creationId xmlns:a16="http://schemas.microsoft.com/office/drawing/2014/main" id="{0058B08E-01CD-4861-AEE8-748BD14D3EB0}"/>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Docker: paketiert zusätzlich die Laufzeit und Systemabhängigkeiten</a:t>
            </a:r>
          </a:p>
        </p:txBody>
      </p:sp>
      <p:sp>
        <p:nvSpPr>
          <p:cNvPr id="7" name="Rectangle 6">
            <a:extLst>
              <a:ext uri="{FF2B5EF4-FFF2-40B4-BE49-F238E27FC236}">
                <a16:creationId xmlns:a16="http://schemas.microsoft.com/office/drawing/2014/main" id="{412C7CE7-BAC2-4CC2-B5AC-50DF6B54E901}"/>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6</a:t>
            </a:r>
          </a:p>
        </p:txBody>
      </p:sp>
    </p:spTree>
    <p:extLst>
      <p:ext uri="{BB962C8B-B14F-4D97-AF65-F5344CB8AC3E}">
        <p14:creationId xmlns:p14="http://schemas.microsoft.com/office/powerpoint/2010/main" val="1935494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34B81AE-E01F-4BD3-BA8A-D5E2B7178D01}"/>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Colab und Jupyter</a:t>
            </a:r>
          </a:p>
        </p:txBody>
      </p:sp>
      <p:sp>
        <p:nvSpPr>
          <p:cNvPr id="2" name="Rectangle 1">
            <a:extLst>
              <a:ext uri="{FF2B5EF4-FFF2-40B4-BE49-F238E27FC236}">
                <a16:creationId xmlns:a16="http://schemas.microsoft.com/office/drawing/2014/main" id="{8E4DFCFE-3F5B-4BD7-9DB0-BCC2E52066A8}"/>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colab.research.google.com öffnen und ein Python-Notebook anlegen</a:t>
            </a:r>
          </a:p>
        </p:txBody>
      </p:sp>
      <p:sp>
        <p:nvSpPr>
          <p:cNvPr id="3" name="Rectangle 2">
            <a:extLst>
              <a:ext uri="{FF2B5EF4-FFF2-40B4-BE49-F238E27FC236}">
                <a16:creationId xmlns:a16="http://schemas.microsoft.com/office/drawing/2014/main" id="{CDA6C9B3-606B-44ED-AC71-AA1CC6910C37}"/>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Alternativ: vorhandene .ipynb-Datei über das Dateimenü hochladen</a:t>
            </a:r>
          </a:p>
        </p:txBody>
      </p:sp>
      <p:sp>
        <p:nvSpPr>
          <p:cNvPr id="4" name="Rectangle 3">
            <a:extLst>
              <a:ext uri="{FF2B5EF4-FFF2-40B4-BE49-F238E27FC236}">
                <a16:creationId xmlns:a16="http://schemas.microsoft.com/office/drawing/2014/main" id="{61670938-7A37-4772-9458-5638E88CCBCC}"/>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Codezelle mit print("Hallo Python") anlegen und ausführen</a:t>
            </a:r>
          </a:p>
        </p:txBody>
      </p:sp>
      <p:sp>
        <p:nvSpPr>
          <p:cNvPr id="5" name="Rectangle 4">
            <a:extLst>
              <a:ext uri="{FF2B5EF4-FFF2-40B4-BE49-F238E27FC236}">
                <a16:creationId xmlns:a16="http://schemas.microsoft.com/office/drawing/2014/main" id="{0B32D9A4-F454-4EF9-9750-27C9A38CC67D}"/>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Shift + Enter führt eine Zelle aus. Eine CPU-Laufzeit genügt.</a:t>
            </a:r>
          </a:p>
        </p:txBody>
      </p:sp>
      <p:sp>
        <p:nvSpPr>
          <p:cNvPr id="6" name="Rectangle 5">
            <a:extLst>
              <a:ext uri="{FF2B5EF4-FFF2-40B4-BE49-F238E27FC236}">
                <a16:creationId xmlns:a16="http://schemas.microsoft.com/office/drawing/2014/main" id="{84C99CF9-941A-4165-90E1-50F2A95E2915}"/>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Notebook herunterladen, bevor die Sitzung beendet wird</a:t>
            </a:r>
          </a:p>
        </p:txBody>
      </p:sp>
      <p:sp>
        <p:nvSpPr>
          <p:cNvPr id="7" name="Rectangle 6">
            <a:extLst>
              <a:ext uri="{FF2B5EF4-FFF2-40B4-BE49-F238E27FC236}">
                <a16:creationId xmlns:a16="http://schemas.microsoft.com/office/drawing/2014/main" id="{D2480510-0921-481F-B018-5CE8E6DCDCC7}"/>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7</a:t>
            </a:r>
          </a:p>
        </p:txBody>
      </p:sp>
    </p:spTree>
    <p:extLst>
      <p:ext uri="{BB962C8B-B14F-4D97-AF65-F5344CB8AC3E}">
        <p14:creationId xmlns:p14="http://schemas.microsoft.com/office/powerpoint/2010/main" val="1935494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6ED12FD-6000-4049-9AEE-7C80A7B91192}"/>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Notebook-Zustand und Ausführungsreihenfolge</a:t>
            </a:r>
          </a:p>
        </p:txBody>
      </p:sp>
      <p:sp>
        <p:nvSpPr>
          <p:cNvPr id="2" name="Rectangle 1">
            <a:extLst>
              <a:ext uri="{FF2B5EF4-FFF2-40B4-BE49-F238E27FC236}">
                <a16:creationId xmlns:a16="http://schemas.microsoft.com/office/drawing/2014/main" id="{CD70CF6C-801F-4CEF-89E8-B97A7EE7CF2B}"/>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Codezellen teilen sich den Zustand eines laufenden Kernels</a:t>
            </a:r>
          </a:p>
        </p:txBody>
      </p:sp>
      <p:sp>
        <p:nvSpPr>
          <p:cNvPr id="3" name="Rectangle 2">
            <a:extLst>
              <a:ext uri="{FF2B5EF4-FFF2-40B4-BE49-F238E27FC236}">
                <a16:creationId xmlns:a16="http://schemas.microsoft.com/office/drawing/2014/main" id="{5296822B-A376-48BD-966E-FBA7B50F72D9}"/>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Ein alter Variablenwert kann auch nach dem Ändern einer Zelle bleiben</a:t>
            </a:r>
          </a:p>
        </p:txBody>
      </p:sp>
      <p:sp>
        <p:nvSpPr>
          <p:cNvPr id="4" name="Rectangle 3">
            <a:extLst>
              <a:ext uri="{FF2B5EF4-FFF2-40B4-BE49-F238E27FC236}">
                <a16:creationId xmlns:a16="http://schemas.microsoft.com/office/drawing/2014/main" id="{8A67BD1C-084D-49BE-AEA5-7DF6B66D98B3}"/>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Ein frischer Kernel beginnt ohne die bisherigen Variablen</a:t>
            </a:r>
          </a:p>
        </p:txBody>
      </p:sp>
      <p:sp>
        <p:nvSpPr>
          <p:cNvPr id="5" name="Rectangle 4">
            <a:extLst>
              <a:ext uri="{FF2B5EF4-FFF2-40B4-BE49-F238E27FC236}">
                <a16:creationId xmlns:a16="http://schemas.microsoft.com/office/drawing/2014/main" id="{4854ED15-BEF3-4F77-9E45-C18267F230A5}"/>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Kontrolle: neu starten und alle Zellen von oben nach unten ausführen</a:t>
            </a:r>
          </a:p>
        </p:txBody>
      </p:sp>
      <p:sp>
        <p:nvSpPr>
          <p:cNvPr id="6" name="Rectangle 5">
            <a:extLst>
              <a:ext uri="{FF2B5EF4-FFF2-40B4-BE49-F238E27FC236}">
                <a16:creationId xmlns:a16="http://schemas.microsoft.com/office/drawing/2014/main" id="{D9C539C3-6540-42A7-B163-B13D49D85488}"/>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Textzellen dokumentieren Frage, Vorgehen und Interpretation</a:t>
            </a:r>
          </a:p>
        </p:txBody>
      </p:sp>
      <p:sp>
        <p:nvSpPr>
          <p:cNvPr id="7" name="Rectangle 6">
            <a:extLst>
              <a:ext uri="{FF2B5EF4-FFF2-40B4-BE49-F238E27FC236}">
                <a16:creationId xmlns:a16="http://schemas.microsoft.com/office/drawing/2014/main" id="{14F37E13-39B7-4EEA-89C2-116A4B9A8EE8}"/>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8</a:t>
            </a:r>
          </a:p>
        </p:txBody>
      </p:sp>
    </p:spTree>
    <p:extLst>
      <p:ext uri="{BB962C8B-B14F-4D97-AF65-F5344CB8AC3E}">
        <p14:creationId xmlns:p14="http://schemas.microsoft.com/office/powerpoint/2010/main" val="1935494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A82DD4-40B2-4D05-9A73-1E9CCF3F17B8}"/>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Python lokal installieren</a:t>
            </a:r>
          </a:p>
        </p:txBody>
      </p:sp>
      <p:sp>
        <p:nvSpPr>
          <p:cNvPr id="2" name="Rectangle 1">
            <a:extLst>
              <a:ext uri="{FF2B5EF4-FFF2-40B4-BE49-F238E27FC236}">
                <a16:creationId xmlns:a16="http://schemas.microsoft.com/office/drawing/2014/main" id="{8F10976A-F172-492A-85C0-7DC70E570EEA}"/>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Python 3 von python.org installieren, im Kurs z. B. Python 3.12+</a:t>
            </a:r>
          </a:p>
        </p:txBody>
      </p:sp>
      <p:sp>
        <p:nvSpPr>
          <p:cNvPr id="3" name="Rectangle 2">
            <a:extLst>
              <a:ext uri="{FF2B5EF4-FFF2-40B4-BE49-F238E27FC236}">
                <a16:creationId xmlns:a16="http://schemas.microsoft.com/office/drawing/2014/main" id="{4E9728BF-08CB-4FC0-83CF-2F5739B394B8}"/>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Version im Terminal prüfen: macOS/Linux mit python3 --version</a:t>
            </a:r>
          </a:p>
        </p:txBody>
      </p:sp>
      <p:sp>
        <p:nvSpPr>
          <p:cNvPr id="4" name="Rectangle 3">
            <a:extLst>
              <a:ext uri="{FF2B5EF4-FFF2-40B4-BE49-F238E27FC236}">
                <a16:creationId xmlns:a16="http://schemas.microsoft.com/office/drawing/2014/main" id="{1D86B1A6-F13B-4DC7-B5A3-866D4CDB30FC}"/>
              </a:ext>
            </a:extLst>
          </p:cNvPr>
          <p:cNvSpPr>
            <a:spLocks noGrp="1"/>
          </p:cNvSpPr>
          <p:nvPr/>
        </p:nvSpPr>
        <p:spPr>
          <a:xfrm>
            <a:off x="1047750" y="25527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Windows: py -3 --version oder python --version</a:t>
            </a:r>
          </a:p>
        </p:txBody>
      </p:sp>
      <p:sp>
        <p:nvSpPr>
          <p:cNvPr id="5" name="Rectangle 4">
            <a:extLst>
              <a:ext uri="{FF2B5EF4-FFF2-40B4-BE49-F238E27FC236}">
                <a16:creationId xmlns:a16="http://schemas.microsoft.com/office/drawing/2014/main" id="{DFDA323D-7443-49B1-B2CF-6036ACCF9CE4}"/>
              </a:ext>
            </a:extLst>
          </p:cNvPr>
          <p:cNvSpPr>
            <a:spLocks noGrp="1"/>
          </p:cNvSpPr>
          <p:nvPr/>
        </p:nvSpPr>
        <p:spPr>
          <a:xfrm>
            <a:off x="1047750" y="30480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Projektordner anlegen und eine Datei hallo.py darin speichern</a:t>
            </a:r>
          </a:p>
        </p:txBody>
      </p:sp>
      <p:sp>
        <p:nvSpPr>
          <p:cNvPr id="6" name="Rectangle 5">
            <a:extLst>
              <a:ext uri="{FF2B5EF4-FFF2-40B4-BE49-F238E27FC236}">
                <a16:creationId xmlns:a16="http://schemas.microsoft.com/office/drawing/2014/main" id="{090F37FF-FAB8-4567-A436-65AD8C3CE5B1}"/>
              </a:ext>
            </a:extLst>
          </p:cNvPr>
          <p:cNvSpPr>
            <a:spLocks noGrp="1"/>
          </p:cNvSpPr>
          <p:nvPr/>
        </p:nvSpPr>
        <p:spPr>
          <a:xfrm>
            <a:off x="1047750" y="3638550"/>
            <a:ext cx="10382250" cy="97155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print("Hallo Python")</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name = "Ada"</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print(f"Willkommen, {name}!")</a:t>
            </a:r>
          </a:p>
        </p:txBody>
      </p:sp>
      <p:sp>
        <p:nvSpPr>
          <p:cNvPr id="7" name="Rectangle 6">
            <a:extLst>
              <a:ext uri="{FF2B5EF4-FFF2-40B4-BE49-F238E27FC236}">
                <a16:creationId xmlns:a16="http://schemas.microsoft.com/office/drawing/2014/main" id="{D087E80F-BCA0-4134-9234-7A1F20D9E690}"/>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9</a:t>
            </a:r>
          </a:p>
        </p:txBody>
      </p:sp>
    </p:spTree>
    <p:extLst>
      <p:ext uri="{BB962C8B-B14F-4D97-AF65-F5344CB8AC3E}">
        <p14:creationId xmlns:p14="http://schemas.microsoft.com/office/powerpoint/2010/main" val="1935494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E9F9198-F78C-42C5-A54A-46FB7DDA87A2}"/>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VS Code für Python</a:t>
            </a:r>
          </a:p>
        </p:txBody>
      </p:sp>
      <p:sp>
        <p:nvSpPr>
          <p:cNvPr id="2" name="Rectangle 1">
            <a:extLst>
              <a:ext uri="{FF2B5EF4-FFF2-40B4-BE49-F238E27FC236}">
                <a16:creationId xmlns:a16="http://schemas.microsoft.com/office/drawing/2014/main" id="{26C6A23C-F9CA-47A4-A6B8-0F13A9C26029}"/>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VS Code installieren und den Projektordner öffnen</a:t>
            </a:r>
          </a:p>
        </p:txBody>
      </p:sp>
      <p:sp>
        <p:nvSpPr>
          <p:cNvPr id="3" name="Rectangle 2">
            <a:extLst>
              <a:ext uri="{FF2B5EF4-FFF2-40B4-BE49-F238E27FC236}">
                <a16:creationId xmlns:a16="http://schemas.microsoft.com/office/drawing/2014/main" id="{C90AA2B8-7B87-4F05-AFF3-4EF62B6ABE7E}"/>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Microsoft-Erweiterung „Python“ installieren</a:t>
            </a:r>
          </a:p>
        </p:txBody>
      </p:sp>
      <p:sp>
        <p:nvSpPr>
          <p:cNvPr id="4" name="Rectangle 3">
            <a:extLst>
              <a:ext uri="{FF2B5EF4-FFF2-40B4-BE49-F238E27FC236}">
                <a16:creationId xmlns:a16="http://schemas.microsoft.com/office/drawing/2014/main" id="{7E92516E-CC9E-4460-9CF8-50DC97660899}"/>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Für .ipynb-Dateien zusätzlich die Erweiterung „Jupyter“ installieren</a:t>
            </a:r>
          </a:p>
        </p:txBody>
      </p:sp>
      <p:sp>
        <p:nvSpPr>
          <p:cNvPr id="5" name="Rectangle 4">
            <a:extLst>
              <a:ext uri="{FF2B5EF4-FFF2-40B4-BE49-F238E27FC236}">
                <a16:creationId xmlns:a16="http://schemas.microsoft.com/office/drawing/2014/main" id="{226A97D3-6C53-46E3-BA09-EAE36FB82C44}"/>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„Python: Select Interpreter“ öffnet die Interpreterauswahl</a:t>
            </a:r>
          </a:p>
        </p:txBody>
      </p:sp>
      <p:sp>
        <p:nvSpPr>
          <p:cNvPr id="6" name="Rectangle 5">
            <a:extLst>
              <a:ext uri="{FF2B5EF4-FFF2-40B4-BE49-F238E27FC236}">
                <a16:creationId xmlns:a16="http://schemas.microsoft.com/office/drawing/2014/main" id="{85904AD7-D6DD-4227-AC00-09E5D66972BC}"/>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hallo.py ausführen und die Ausgabe im Terminal kontrollieren</a:t>
            </a:r>
          </a:p>
        </p:txBody>
      </p:sp>
      <p:sp>
        <p:nvSpPr>
          <p:cNvPr id="7" name="Rectangle 6">
            <a:extLst>
              <a:ext uri="{FF2B5EF4-FFF2-40B4-BE49-F238E27FC236}">
                <a16:creationId xmlns:a16="http://schemas.microsoft.com/office/drawing/2014/main" id="{7B33B4C1-B6FC-45AA-A93D-A2A3DAED31DF}"/>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10</a:t>
            </a:r>
          </a:p>
        </p:txBody>
      </p:sp>
    </p:spTree>
    <p:extLst>
      <p:ext uri="{BB962C8B-B14F-4D97-AF65-F5344CB8AC3E}">
        <p14:creationId xmlns:p14="http://schemas.microsoft.com/office/powerpoint/2010/main" val="1935494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580D1A-A310-40FF-9352-94A77A169E7F}"/>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venv: eine Umgebung pro Projekt</a:t>
            </a:r>
          </a:p>
        </p:txBody>
      </p:sp>
      <p:sp>
        <p:nvSpPr>
          <p:cNvPr id="2" name="Rectangle 1">
            <a:extLst>
              <a:ext uri="{FF2B5EF4-FFF2-40B4-BE49-F238E27FC236}">
                <a16:creationId xmlns:a16="http://schemas.microsoft.com/office/drawing/2014/main" id="{7542B5D1-FF75-45AF-AE06-FD0979273616}"/>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Im Projektordner eine virtuelle Umgebung erzeugen</a:t>
            </a:r>
          </a:p>
        </p:txBody>
      </p:sp>
      <p:sp>
        <p:nvSpPr>
          <p:cNvPr id="3" name="Rectangle 2">
            <a:extLst>
              <a:ext uri="{FF2B5EF4-FFF2-40B4-BE49-F238E27FC236}">
                <a16:creationId xmlns:a16="http://schemas.microsoft.com/office/drawing/2014/main" id="{5E978822-58A9-40CF-99C8-3BB00DE33621}"/>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macOS/Linux:</a:t>
            </a:r>
          </a:p>
        </p:txBody>
      </p:sp>
      <p:sp>
        <p:nvSpPr>
          <p:cNvPr id="4" name="Rectangle 3">
            <a:extLst>
              <a:ext uri="{FF2B5EF4-FFF2-40B4-BE49-F238E27FC236}">
                <a16:creationId xmlns:a16="http://schemas.microsoft.com/office/drawing/2014/main" id="{6C6D1B05-E6C7-4699-95DE-A8CB28787A99}"/>
              </a:ext>
            </a:extLst>
          </p:cNvPr>
          <p:cNvSpPr>
            <a:spLocks noGrp="1"/>
          </p:cNvSpPr>
          <p:nvPr/>
        </p:nvSpPr>
        <p:spPr>
          <a:xfrm>
            <a:off x="1047750" y="2647950"/>
            <a:ext cx="10382250" cy="1247775"/>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python3 -m venv .venv</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source .venv/bin/activate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python --version</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python hallo.py</a:t>
            </a:r>
          </a:p>
        </p:txBody>
      </p:sp>
      <p:sp>
        <p:nvSpPr>
          <p:cNvPr id="5" name="Rectangle 4">
            <a:extLst>
              <a:ext uri="{FF2B5EF4-FFF2-40B4-BE49-F238E27FC236}">
                <a16:creationId xmlns:a16="http://schemas.microsoft.com/office/drawing/2014/main" id="{73A3612B-DB84-41B2-AD59-2CEF3E62D4BE}"/>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11</a:t>
            </a:r>
          </a:p>
        </p:txBody>
      </p:sp>
    </p:spTree>
    <p:extLst>
      <p:ext uri="{BB962C8B-B14F-4D97-AF65-F5344CB8AC3E}">
        <p14:creationId xmlns:p14="http://schemas.microsoft.com/office/powerpoint/2010/main" val="1935494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06FF944-2B6D-4CB6-929B-0BA5DD205887}"/>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venv unter Windows</a:t>
            </a:r>
          </a:p>
        </p:txBody>
      </p:sp>
      <p:sp>
        <p:nvSpPr>
          <p:cNvPr id="2" name="Rectangle 1">
            <a:extLst>
              <a:ext uri="{FF2B5EF4-FFF2-40B4-BE49-F238E27FC236}">
                <a16:creationId xmlns:a16="http://schemas.microsoft.com/office/drawing/2014/main" id="{AC3A8F90-0F9C-410E-B4DA-7A8D75972BC3}"/>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PowerShell: Umgebung erstellen und direkt deren Python verwenden</a:t>
            </a:r>
          </a:p>
        </p:txBody>
      </p:sp>
      <p:sp>
        <p:nvSpPr>
          <p:cNvPr id="3" name="Rectangle 2">
            <a:extLst>
              <a:ext uri="{FF2B5EF4-FFF2-40B4-BE49-F238E27FC236}">
                <a16:creationId xmlns:a16="http://schemas.microsoft.com/office/drawing/2014/main" id="{22D9743F-7453-4CB2-85F6-86AF015397A7}"/>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Das funktioniert auch ohne Aktivierungsskript</a:t>
            </a:r>
          </a:p>
        </p:txBody>
      </p:sp>
      <p:sp>
        <p:nvSpPr>
          <p:cNvPr id="4" name="Rectangle 3">
            <a:extLst>
              <a:ext uri="{FF2B5EF4-FFF2-40B4-BE49-F238E27FC236}">
                <a16:creationId xmlns:a16="http://schemas.microsoft.com/office/drawing/2014/main" id="{72A349E9-E943-42C3-B3D7-5B8A66DB4CC7}"/>
              </a:ext>
            </a:extLst>
          </p:cNvPr>
          <p:cNvSpPr>
            <a:spLocks noGrp="1"/>
          </p:cNvSpPr>
          <p:nvPr/>
        </p:nvSpPr>
        <p:spPr>
          <a:xfrm>
            <a:off x="1047750" y="2647950"/>
            <a:ext cx="10382250" cy="97155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py -3 -m venv .venv</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.\.venv\Scripts\python.exe --version</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.\.venv\Scripts\python.exe hallo.py</a:t>
            </a:r>
          </a:p>
        </p:txBody>
      </p:sp>
      <p:sp>
        <p:nvSpPr>
          <p:cNvPr id="5" name="Rectangle 4">
            <a:extLst>
              <a:ext uri="{FF2B5EF4-FFF2-40B4-BE49-F238E27FC236}">
                <a16:creationId xmlns:a16="http://schemas.microsoft.com/office/drawing/2014/main" id="{CC4B3E5C-0744-4E76-9115-2C74C8751907}"/>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12</a:t>
            </a:r>
          </a:p>
        </p:txBody>
      </p:sp>
    </p:spTree>
    <p:extLst>
      <p:ext uri="{BB962C8B-B14F-4D97-AF65-F5344CB8AC3E}">
        <p14:creationId xmlns:p14="http://schemas.microsoft.com/office/powerpoint/2010/main" val="193549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6E3FE9-9A0C-41A8-A4DE-B9240F1AC31C}"/>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Interpreter und Notebook-Kernel prüfen</a:t>
            </a:r>
          </a:p>
        </p:txBody>
      </p:sp>
      <p:sp>
        <p:nvSpPr>
          <p:cNvPr id="2" name="Rectangle 1">
            <a:extLst>
              <a:ext uri="{FF2B5EF4-FFF2-40B4-BE49-F238E27FC236}">
                <a16:creationId xmlns:a16="http://schemas.microsoft.com/office/drawing/2014/main" id="{087B926B-2F73-4F0B-91EF-748FF28FE082}"/>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In VS Code den Interpreter aus .venv auswählen</a:t>
            </a:r>
          </a:p>
        </p:txBody>
      </p:sp>
      <p:sp>
        <p:nvSpPr>
          <p:cNvPr id="3" name="Rectangle 2">
            <a:extLst>
              <a:ext uri="{FF2B5EF4-FFF2-40B4-BE49-F238E27FC236}">
                <a16:creationId xmlns:a16="http://schemas.microsoft.com/office/drawing/2014/main" id="{87692675-75B7-45D2-90A5-2CDE1870ED18}"/>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Bei Notebooks zusätzlich denselben Python-Kernel wählen</a:t>
            </a:r>
          </a:p>
        </p:txBody>
      </p:sp>
      <p:sp>
        <p:nvSpPr>
          <p:cNvPr id="4" name="Rectangle 3">
            <a:extLst>
              <a:ext uri="{FF2B5EF4-FFF2-40B4-BE49-F238E27FC236}">
                <a16:creationId xmlns:a16="http://schemas.microsoft.com/office/drawing/2014/main" id="{64494863-F344-44C7-828C-ED0F9DFBA04E}"/>
              </a:ext>
            </a:extLst>
          </p:cNvPr>
          <p:cNvSpPr>
            <a:spLocks noGrp="1"/>
          </p:cNvSpPr>
          <p:nvPr/>
        </p:nvSpPr>
        <p:spPr>
          <a:xfrm>
            <a:off x="1047750" y="25527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Das folgende Beispiel zeigt die tatsächlich verwendete Umgebung</a:t>
            </a:r>
          </a:p>
        </p:txBody>
      </p:sp>
      <p:sp>
        <p:nvSpPr>
          <p:cNvPr id="5" name="Rectangle 4">
            <a:extLst>
              <a:ext uri="{FF2B5EF4-FFF2-40B4-BE49-F238E27FC236}">
                <a16:creationId xmlns:a16="http://schemas.microsoft.com/office/drawing/2014/main" id="{2DE57488-123E-47B2-9B9E-5C04393AB046}"/>
              </a:ext>
            </a:extLst>
          </p:cNvPr>
          <p:cNvSpPr>
            <a:spLocks noGrp="1"/>
          </p:cNvSpPr>
          <p:nvPr/>
        </p:nvSpPr>
        <p:spPr>
          <a:xfrm>
            <a:off x="1047750" y="3143250"/>
            <a:ext cx="10382250" cy="97155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import sys</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print(sys.executable)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print(sys.version)</a:t>
            </a:r>
          </a:p>
        </p:txBody>
      </p:sp>
      <p:sp>
        <p:nvSpPr>
          <p:cNvPr id="6" name="Rectangle 5">
            <a:extLst>
              <a:ext uri="{FF2B5EF4-FFF2-40B4-BE49-F238E27FC236}">
                <a16:creationId xmlns:a16="http://schemas.microsoft.com/office/drawing/2014/main" id="{6A500820-7918-4179-A8EE-05C157C8492D}"/>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13</a:t>
            </a:r>
          </a:p>
        </p:txBody>
      </p:sp>
    </p:spTree>
    <p:extLst>
      <p:ext uri="{BB962C8B-B14F-4D97-AF65-F5344CB8AC3E}">
        <p14:creationId xmlns:p14="http://schemas.microsoft.com/office/powerpoint/2010/main" val="1935494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E93132-DAA7-4B6B-85AE-070BA104E757}"/>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Docker: Image und Container</a:t>
            </a:r>
          </a:p>
        </p:txBody>
      </p:sp>
      <p:sp>
        <p:nvSpPr>
          <p:cNvPr id="2" name="Rectangle 1">
            <a:extLst>
              <a:ext uri="{FF2B5EF4-FFF2-40B4-BE49-F238E27FC236}">
                <a16:creationId xmlns:a16="http://schemas.microsoft.com/office/drawing/2014/main" id="{5ED693C4-49ED-4919-B0A3-A95391D22350}"/>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Dockerfile beschreibt den Aufbau einer Laufzeitumgebung</a:t>
            </a:r>
          </a:p>
        </p:txBody>
      </p:sp>
      <p:sp>
        <p:nvSpPr>
          <p:cNvPr id="3" name="Rectangle 2">
            <a:extLst>
              <a:ext uri="{FF2B5EF4-FFF2-40B4-BE49-F238E27FC236}">
                <a16:creationId xmlns:a16="http://schemas.microsoft.com/office/drawing/2014/main" id="{7A8D1528-74EA-4311-AFB7-F1DB6C397D4F}"/>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Image ist die gebaute Vorlage. Container ist eine laufende Instanz.</a:t>
            </a:r>
          </a:p>
        </p:txBody>
      </p:sp>
      <p:sp>
        <p:nvSpPr>
          <p:cNvPr id="4" name="Rectangle 3">
            <a:extLst>
              <a:ext uri="{FF2B5EF4-FFF2-40B4-BE49-F238E27FC236}">
                <a16:creationId xmlns:a16="http://schemas.microsoft.com/office/drawing/2014/main" id="{F461C980-13F0-431C-B263-48A35160BA76}"/>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Ein Container nutzt den Kernel seiner Laufzeitumgebung</a:t>
            </a:r>
          </a:p>
        </p:txBody>
      </p:sp>
      <p:sp>
        <p:nvSpPr>
          <p:cNvPr id="5" name="Rectangle 4">
            <a:extLst>
              <a:ext uri="{FF2B5EF4-FFF2-40B4-BE49-F238E27FC236}">
                <a16:creationId xmlns:a16="http://schemas.microsoft.com/office/drawing/2014/main" id="{E982FEA7-07A8-4B9D-8736-FC8B3FCE601F}"/>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Docker Desktop stellt für Linux-Container auf Mac/Windows eine VM bereit</a:t>
            </a:r>
          </a:p>
        </p:txBody>
      </p:sp>
      <p:sp>
        <p:nvSpPr>
          <p:cNvPr id="6" name="Rectangle 5">
            <a:extLst>
              <a:ext uri="{FF2B5EF4-FFF2-40B4-BE49-F238E27FC236}">
                <a16:creationId xmlns:a16="http://schemas.microsoft.com/office/drawing/2014/main" id="{274F3B45-F766-4E25-8BEE-4D2F5772312B}"/>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venv isoliert Python-Pakete, Docker zusätzlich Systemabhängigkeiten</a:t>
            </a:r>
          </a:p>
        </p:txBody>
      </p:sp>
      <p:sp>
        <p:nvSpPr>
          <p:cNvPr id="7" name="Rectangle 6">
            <a:extLst>
              <a:ext uri="{FF2B5EF4-FFF2-40B4-BE49-F238E27FC236}">
                <a16:creationId xmlns:a16="http://schemas.microsoft.com/office/drawing/2014/main" id="{65604AD5-689E-4F30-A77F-A4389105FD4D}"/>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14</a:t>
            </a:r>
          </a:p>
        </p:txBody>
      </p:sp>
    </p:spTree>
    <p:extLst>
      <p:ext uri="{BB962C8B-B14F-4D97-AF65-F5344CB8AC3E}">
        <p14:creationId xmlns:p14="http://schemas.microsoft.com/office/powerpoint/2010/main" val="1935494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1EDBB42-8C1E-421D-B691-E25208E06656}"/>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Docker: ein kleines Python-Skript</a:t>
            </a:r>
          </a:p>
        </p:txBody>
      </p:sp>
      <p:sp>
        <p:nvSpPr>
          <p:cNvPr id="2" name="Rectangle 1">
            <a:extLst>
              <a:ext uri="{FF2B5EF4-FFF2-40B4-BE49-F238E27FC236}">
                <a16:creationId xmlns:a16="http://schemas.microsoft.com/office/drawing/2014/main" id="{899DE7E2-0629-418B-A090-0ECC9DBBD314}"/>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Optional: Docker installieren und starten</a:t>
            </a:r>
          </a:p>
        </p:txBody>
      </p:sp>
      <p:sp>
        <p:nvSpPr>
          <p:cNvPr id="3" name="Rectangle 2">
            <a:extLst>
              <a:ext uri="{FF2B5EF4-FFF2-40B4-BE49-F238E27FC236}">
                <a16:creationId xmlns:a16="http://schemas.microsoft.com/office/drawing/2014/main" id="{4D647628-0824-4D8C-87A7-B77CE040C97C}"/>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hallo.py und Dockerfile liegen im selben Ordner</a:t>
            </a:r>
          </a:p>
        </p:txBody>
      </p:sp>
      <p:sp>
        <p:nvSpPr>
          <p:cNvPr id="4" name="Rectangle 3">
            <a:extLst>
              <a:ext uri="{FF2B5EF4-FFF2-40B4-BE49-F238E27FC236}">
                <a16:creationId xmlns:a16="http://schemas.microsoft.com/office/drawing/2014/main" id="{116FD3CE-3B00-47A0-B3B6-C93561AA9EDC}"/>
              </a:ext>
            </a:extLst>
          </p:cNvPr>
          <p:cNvSpPr>
            <a:spLocks noGrp="1"/>
          </p:cNvSpPr>
          <p:nvPr/>
        </p:nvSpPr>
        <p:spPr>
          <a:xfrm>
            <a:off x="1047750" y="2647950"/>
            <a:ext cx="10382250" cy="1800225"/>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FROM python:3.12-slim</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WORKDIR /app</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RUN useradd --create-home student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COPY hallo.py .</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USER student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CMD ["python", "hallo.py"]</a:t>
            </a:r>
          </a:p>
        </p:txBody>
      </p:sp>
      <p:sp>
        <p:nvSpPr>
          <p:cNvPr id="5" name="Rectangle 4">
            <a:extLst>
              <a:ext uri="{FF2B5EF4-FFF2-40B4-BE49-F238E27FC236}">
                <a16:creationId xmlns:a16="http://schemas.microsoft.com/office/drawing/2014/main" id="{6924F20B-4929-44B2-985D-D4C207372FC3}"/>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15</a:t>
            </a:r>
          </a:p>
        </p:txBody>
      </p:sp>
    </p:spTree>
    <p:extLst>
      <p:ext uri="{BB962C8B-B14F-4D97-AF65-F5344CB8AC3E}">
        <p14:creationId xmlns:p14="http://schemas.microsoft.com/office/powerpoint/2010/main" val="1935494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E23775C-E651-493A-AA8C-FC4961C49BEF}"/>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Docker bauen und starten</a:t>
            </a:r>
          </a:p>
        </p:txBody>
      </p:sp>
      <p:sp>
        <p:nvSpPr>
          <p:cNvPr id="2" name="Rectangle 1">
            <a:extLst>
              <a:ext uri="{FF2B5EF4-FFF2-40B4-BE49-F238E27FC236}">
                <a16:creationId xmlns:a16="http://schemas.microsoft.com/office/drawing/2014/main" id="{89FDB489-DF8E-4DEA-9E05-9841DC3A1250}"/>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Die Befehle laufen im Terminal des Projektordners</a:t>
            </a:r>
          </a:p>
        </p:txBody>
      </p:sp>
      <p:sp>
        <p:nvSpPr>
          <p:cNvPr id="3" name="Rectangle 2">
            <a:extLst>
              <a:ext uri="{FF2B5EF4-FFF2-40B4-BE49-F238E27FC236}">
                <a16:creationId xmlns:a16="http://schemas.microsoft.com/office/drawing/2014/main" id="{60A8CF5B-946E-4735-A393-75064B645F26}"/>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build erzeugt das Image. run startet einen Container daraus.</a:t>
            </a:r>
          </a:p>
        </p:txBody>
      </p:sp>
      <p:sp>
        <p:nvSpPr>
          <p:cNvPr id="4" name="Rectangle 3">
            <a:extLst>
              <a:ext uri="{FF2B5EF4-FFF2-40B4-BE49-F238E27FC236}">
                <a16:creationId xmlns:a16="http://schemas.microsoft.com/office/drawing/2014/main" id="{1D1C8F55-62A3-4336-BE50-E1FC082369FA}"/>
              </a:ext>
            </a:extLst>
          </p:cNvPr>
          <p:cNvSpPr>
            <a:spLocks noGrp="1"/>
          </p:cNvSpPr>
          <p:nvPr/>
        </p:nvSpPr>
        <p:spPr>
          <a:xfrm>
            <a:off x="1047750" y="2647950"/>
            <a:ext cx="10382250" cy="695325"/>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docker build -t python-intro .</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docker run --rm python-intro</a:t>
            </a:r>
          </a:p>
        </p:txBody>
      </p:sp>
      <p:sp>
        <p:nvSpPr>
          <p:cNvPr id="5" name="Rectangle 4">
            <a:extLst>
              <a:ext uri="{FF2B5EF4-FFF2-40B4-BE49-F238E27FC236}">
                <a16:creationId xmlns:a16="http://schemas.microsoft.com/office/drawing/2014/main" id="{D77743EB-8043-45F6-AB92-F0416E66E9DF}"/>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16</a:t>
            </a:r>
          </a:p>
        </p:txBody>
      </p:sp>
    </p:spTree>
    <p:extLst>
      <p:ext uri="{BB962C8B-B14F-4D97-AF65-F5344CB8AC3E}">
        <p14:creationId xmlns:p14="http://schemas.microsoft.com/office/powerpoint/2010/main" val="1935494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15D7CF-B4EF-4C2A-A7FB-3C6B85B72ADE}"/>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Programme, Ausdrücke und Anweisungen</a:t>
            </a:r>
          </a:p>
        </p:txBody>
      </p:sp>
      <p:sp>
        <p:nvSpPr>
          <p:cNvPr id="2" name="Rectangle 1">
            <a:extLst>
              <a:ext uri="{FF2B5EF4-FFF2-40B4-BE49-F238E27FC236}">
                <a16:creationId xmlns:a16="http://schemas.microsoft.com/office/drawing/2014/main" id="{F7708038-ACF2-4B00-8C27-1F9BDD97E519}"/>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Ein Programm beschreibt Schritte, die der Rechner ausführt</a:t>
            </a:r>
          </a:p>
        </p:txBody>
      </p:sp>
      <p:sp>
        <p:nvSpPr>
          <p:cNvPr id="3" name="Rectangle 2">
            <a:extLst>
              <a:ext uri="{FF2B5EF4-FFF2-40B4-BE49-F238E27FC236}">
                <a16:creationId xmlns:a16="http://schemas.microsoft.com/office/drawing/2014/main" id="{9862B56F-7D81-4C81-885F-687EB0B57C00}"/>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Ausdrücke berechnen Werte. Anweisungen steuern den Ablauf.</a:t>
            </a:r>
          </a:p>
        </p:txBody>
      </p:sp>
      <p:sp>
        <p:nvSpPr>
          <p:cNvPr id="4" name="Rectangle 3">
            <a:extLst>
              <a:ext uri="{FF2B5EF4-FFF2-40B4-BE49-F238E27FC236}">
                <a16:creationId xmlns:a16="http://schemas.microsoft.com/office/drawing/2014/main" id="{A833F671-E1C7-4DA6-BB13-3EB9A520B12E}"/>
              </a:ext>
            </a:extLst>
          </p:cNvPr>
          <p:cNvSpPr>
            <a:spLocks noGrp="1"/>
          </p:cNvSpPr>
          <p:nvPr/>
        </p:nvSpPr>
        <p:spPr>
          <a:xfrm>
            <a:off x="1047750" y="25527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Einrückung kennzeichnet zusammengehörende Codeblöcke</a:t>
            </a:r>
          </a:p>
        </p:txBody>
      </p:sp>
      <p:sp>
        <p:nvSpPr>
          <p:cNvPr id="5" name="Rectangle 4">
            <a:extLst>
              <a:ext uri="{FF2B5EF4-FFF2-40B4-BE49-F238E27FC236}">
                <a16:creationId xmlns:a16="http://schemas.microsoft.com/office/drawing/2014/main" id="{AB076A62-480F-4901-9BAD-0AA4D55D08D6}"/>
              </a:ext>
            </a:extLst>
          </p:cNvPr>
          <p:cNvSpPr>
            <a:spLocks noGrp="1"/>
          </p:cNvSpPr>
          <p:nvPr/>
        </p:nvSpPr>
        <p:spPr>
          <a:xfrm>
            <a:off x="1047750" y="3143250"/>
            <a:ext cx="10382250" cy="1247775"/>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preis = 12.5</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menge = 4</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umsatz = preis * menge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print(f"Umsatz: {umsatz:.2f} Euro")</a:t>
            </a:r>
          </a:p>
        </p:txBody>
      </p:sp>
      <p:sp>
        <p:nvSpPr>
          <p:cNvPr id="6" name="Rectangle 5">
            <a:extLst>
              <a:ext uri="{FF2B5EF4-FFF2-40B4-BE49-F238E27FC236}">
                <a16:creationId xmlns:a16="http://schemas.microsoft.com/office/drawing/2014/main" id="{18218DBA-FE08-4B0C-BE10-D449C2197D2B}"/>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17</a:t>
            </a:r>
          </a:p>
        </p:txBody>
      </p:sp>
    </p:spTree>
    <p:extLst>
      <p:ext uri="{BB962C8B-B14F-4D97-AF65-F5344CB8AC3E}">
        <p14:creationId xmlns:p14="http://schemas.microsoft.com/office/powerpoint/2010/main" val="1935494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0D8ACEA-1026-4F70-9280-4FDE2A1267DA}"/>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Variablen und Typen</a:t>
            </a:r>
          </a:p>
        </p:txBody>
      </p:sp>
      <p:sp>
        <p:nvSpPr>
          <p:cNvPr id="2" name="Rectangle 1">
            <a:extLst>
              <a:ext uri="{FF2B5EF4-FFF2-40B4-BE49-F238E27FC236}">
                <a16:creationId xmlns:a16="http://schemas.microsoft.com/office/drawing/2014/main" id="{FAB0304E-0791-41AD-B0B8-854D6114A340}"/>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Namen verweisen auf Objekte. Objekte besitzen einen Typ.</a:t>
            </a:r>
          </a:p>
        </p:txBody>
      </p:sp>
      <p:sp>
        <p:nvSpPr>
          <p:cNvPr id="3" name="Rectangle 2">
            <a:extLst>
              <a:ext uri="{FF2B5EF4-FFF2-40B4-BE49-F238E27FC236}">
                <a16:creationId xmlns:a16="http://schemas.microsoft.com/office/drawing/2014/main" id="{AD4F7C07-FB88-469E-92C9-2E8B97A7C23C}"/>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int: ganze Zahl, float: Gleitkommazahl, str: Text</a:t>
            </a:r>
          </a:p>
        </p:txBody>
      </p:sp>
      <p:sp>
        <p:nvSpPr>
          <p:cNvPr id="4" name="Rectangle 3">
            <a:extLst>
              <a:ext uri="{FF2B5EF4-FFF2-40B4-BE49-F238E27FC236}">
                <a16:creationId xmlns:a16="http://schemas.microsoft.com/office/drawing/2014/main" id="{68B74651-B2BB-4659-A6EA-047017CF2CC5}"/>
              </a:ext>
            </a:extLst>
          </p:cNvPr>
          <p:cNvSpPr>
            <a:spLocks noGrp="1"/>
          </p:cNvSpPr>
          <p:nvPr/>
        </p:nvSpPr>
        <p:spPr>
          <a:xfrm>
            <a:off x="1047750" y="25527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bool: True/False, None: kein Wert</a:t>
            </a:r>
          </a:p>
        </p:txBody>
      </p:sp>
      <p:sp>
        <p:nvSpPr>
          <p:cNvPr id="5" name="Rectangle 4">
            <a:extLst>
              <a:ext uri="{FF2B5EF4-FFF2-40B4-BE49-F238E27FC236}">
                <a16:creationId xmlns:a16="http://schemas.microsoft.com/office/drawing/2014/main" id="{D51E79F3-4C53-4EAB-B05C-79232FD733F0}"/>
              </a:ext>
            </a:extLst>
          </p:cNvPr>
          <p:cNvSpPr>
            <a:spLocks noGrp="1"/>
          </p:cNvSpPr>
          <p:nvPr/>
        </p:nvSpPr>
        <p:spPr>
          <a:xfrm>
            <a:off x="1047750" y="3143250"/>
            <a:ext cx="10382250" cy="1800225"/>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anzahl = 3</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preis = 12.5</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produkt = "Sensor"</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verfuegbar = True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rabatt = None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print(type(preis))</a:t>
            </a:r>
          </a:p>
        </p:txBody>
      </p:sp>
      <p:sp>
        <p:nvSpPr>
          <p:cNvPr id="6" name="Rectangle 5">
            <a:extLst>
              <a:ext uri="{FF2B5EF4-FFF2-40B4-BE49-F238E27FC236}">
                <a16:creationId xmlns:a16="http://schemas.microsoft.com/office/drawing/2014/main" id="{C1F8FA50-6FEB-4A80-B48C-22BB1EBA9A46}"/>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18</a:t>
            </a:r>
          </a:p>
        </p:txBody>
      </p:sp>
    </p:spTree>
    <p:extLst>
      <p:ext uri="{BB962C8B-B14F-4D97-AF65-F5344CB8AC3E}">
        <p14:creationId xmlns:p14="http://schemas.microsoft.com/office/powerpoint/2010/main" val="1935494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F66F60D-D84E-4A7F-BE53-011A0BF7D89D}"/>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Operatoren und Umwandlungen</a:t>
            </a:r>
          </a:p>
        </p:txBody>
      </p:sp>
      <p:sp>
        <p:nvSpPr>
          <p:cNvPr id="2" name="Rectangle 1">
            <a:extLst>
              <a:ext uri="{FF2B5EF4-FFF2-40B4-BE49-F238E27FC236}">
                <a16:creationId xmlns:a16="http://schemas.microsoft.com/office/drawing/2014/main" id="{F6BA2625-CD57-4BC3-8560-13053251E150}"/>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 weist zu, == vergleicht Werte</a:t>
            </a:r>
          </a:p>
        </p:txBody>
      </p:sp>
      <p:sp>
        <p:nvSpPr>
          <p:cNvPr id="3" name="Rectangle 2">
            <a:extLst>
              <a:ext uri="{FF2B5EF4-FFF2-40B4-BE49-F238E27FC236}">
                <a16:creationId xmlns:a16="http://schemas.microsoft.com/office/drawing/2014/main" id="{2EFC2745-D920-4EBC-98DB-BB92E4D1F553}"/>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 dividiert, // rundet den Quotienten ab, % liefert den Rest</a:t>
            </a:r>
          </a:p>
        </p:txBody>
      </p:sp>
      <p:sp>
        <p:nvSpPr>
          <p:cNvPr id="4" name="Rectangle 3">
            <a:extLst>
              <a:ext uri="{FF2B5EF4-FFF2-40B4-BE49-F238E27FC236}">
                <a16:creationId xmlns:a16="http://schemas.microsoft.com/office/drawing/2014/main" id="{5242ED5D-4A1C-4A91-80F7-8AF7EA622A4B}"/>
              </a:ext>
            </a:extLst>
          </p:cNvPr>
          <p:cNvSpPr>
            <a:spLocks noGrp="1"/>
          </p:cNvSpPr>
          <p:nvPr/>
        </p:nvSpPr>
        <p:spPr>
          <a:xfrm>
            <a:off x="1047750" y="25527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and, or und not verknüpfen Wahrheitswerte</a:t>
            </a:r>
          </a:p>
        </p:txBody>
      </p:sp>
      <p:sp>
        <p:nvSpPr>
          <p:cNvPr id="5" name="Rectangle 4">
            <a:extLst>
              <a:ext uri="{FF2B5EF4-FFF2-40B4-BE49-F238E27FC236}">
                <a16:creationId xmlns:a16="http://schemas.microsoft.com/office/drawing/2014/main" id="{188C85F4-5977-4EDA-AA61-AD02A656D8DC}"/>
              </a:ext>
            </a:extLst>
          </p:cNvPr>
          <p:cNvSpPr>
            <a:spLocks noGrp="1"/>
          </p:cNvSpPr>
          <p:nvPr/>
        </p:nvSpPr>
        <p:spPr>
          <a:xfrm>
            <a:off x="1047750" y="3143250"/>
            <a:ext cx="10382250" cy="1247775"/>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preis = float("12.50")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print(7 / 2, 7 // 2, 7 % 2)</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print(preis &gt;= 10 and preis &lt; 20)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print(f"Preis: {preis:.2f}")</a:t>
            </a:r>
          </a:p>
        </p:txBody>
      </p:sp>
      <p:sp>
        <p:nvSpPr>
          <p:cNvPr id="6" name="Rectangle 5">
            <a:extLst>
              <a:ext uri="{FF2B5EF4-FFF2-40B4-BE49-F238E27FC236}">
                <a16:creationId xmlns:a16="http://schemas.microsoft.com/office/drawing/2014/main" id="{58A5D61E-503E-430C-A165-2F59105B22E6}"/>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19</a:t>
            </a:r>
          </a:p>
        </p:txBody>
      </p:sp>
    </p:spTree>
    <p:extLst>
      <p:ext uri="{BB962C8B-B14F-4D97-AF65-F5344CB8AC3E}">
        <p14:creationId xmlns:p14="http://schemas.microsoft.com/office/powerpoint/2010/main" val="1935494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9531BF0-9A75-45FC-A71E-6BADE759E6B4}"/>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Verzweigungen</a:t>
            </a:r>
          </a:p>
        </p:txBody>
      </p:sp>
      <p:sp>
        <p:nvSpPr>
          <p:cNvPr id="2" name="Rectangle 1">
            <a:extLst>
              <a:ext uri="{FF2B5EF4-FFF2-40B4-BE49-F238E27FC236}">
                <a16:creationId xmlns:a16="http://schemas.microsoft.com/office/drawing/2014/main" id="{9454C43C-3BB4-40A7-B0FA-C729BAEE8B96}"/>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Bedingungen entscheiden, welcher Block ausgeführt wird</a:t>
            </a:r>
          </a:p>
        </p:txBody>
      </p:sp>
      <p:sp>
        <p:nvSpPr>
          <p:cNvPr id="3" name="Rectangle 2">
            <a:extLst>
              <a:ext uri="{FF2B5EF4-FFF2-40B4-BE49-F238E27FC236}">
                <a16:creationId xmlns:a16="http://schemas.microsoft.com/office/drawing/2014/main" id="{E42446BD-9B66-4864-9F2C-5C604E4EE9BB}"/>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Doppelpunkt und vier Leerzeichen strukturieren den Code</a:t>
            </a:r>
          </a:p>
        </p:txBody>
      </p:sp>
      <p:sp>
        <p:nvSpPr>
          <p:cNvPr id="4" name="Rectangle 3">
            <a:extLst>
              <a:ext uri="{FF2B5EF4-FFF2-40B4-BE49-F238E27FC236}">
                <a16:creationId xmlns:a16="http://schemas.microsoft.com/office/drawing/2014/main" id="{736520FA-BD24-4BDB-BFC4-11922E88CD9E}"/>
              </a:ext>
            </a:extLst>
          </p:cNvPr>
          <p:cNvSpPr>
            <a:spLocks noGrp="1"/>
          </p:cNvSpPr>
          <p:nvPr/>
        </p:nvSpPr>
        <p:spPr>
          <a:xfrm>
            <a:off x="1047750" y="2647950"/>
            <a:ext cx="10382250" cy="2352675"/>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umsatz = 120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if umsatz &gt;= 100: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kategorie = "hoch"</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elif umsatz &gt;= 50: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kategorie = "mittel"</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else: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kategorie = "niedrig"</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print(kategorie)</a:t>
            </a:r>
          </a:p>
        </p:txBody>
      </p:sp>
      <p:sp>
        <p:nvSpPr>
          <p:cNvPr id="5" name="Rectangle 4">
            <a:extLst>
              <a:ext uri="{FF2B5EF4-FFF2-40B4-BE49-F238E27FC236}">
                <a16:creationId xmlns:a16="http://schemas.microsoft.com/office/drawing/2014/main" id="{64BF8082-A781-4A6A-989A-A18E6A53ABEA}"/>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20</a:t>
            </a:r>
          </a:p>
        </p:txBody>
      </p:sp>
    </p:spTree>
    <p:extLst>
      <p:ext uri="{BB962C8B-B14F-4D97-AF65-F5344CB8AC3E}">
        <p14:creationId xmlns:p14="http://schemas.microsoft.com/office/powerpoint/2010/main" val="1935494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C13D4BE-AA84-4FA9-9939-FB1347698280}"/>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Schleifen mit for</a:t>
            </a:r>
          </a:p>
        </p:txBody>
      </p:sp>
      <p:sp>
        <p:nvSpPr>
          <p:cNvPr id="2" name="Rectangle 1">
            <a:extLst>
              <a:ext uri="{FF2B5EF4-FFF2-40B4-BE49-F238E27FC236}">
                <a16:creationId xmlns:a16="http://schemas.microsoft.com/office/drawing/2014/main" id="{90D73078-7CA7-4AD7-A62F-8F3149C2FA1E}"/>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for durchläuft die Elemente einer Folge</a:t>
            </a:r>
          </a:p>
        </p:txBody>
      </p:sp>
      <p:sp>
        <p:nvSpPr>
          <p:cNvPr id="3" name="Rectangle 2">
            <a:extLst>
              <a:ext uri="{FF2B5EF4-FFF2-40B4-BE49-F238E27FC236}">
                <a16:creationId xmlns:a16="http://schemas.microsoft.com/office/drawing/2014/main" id="{60EBA65D-3B42-4E9D-B354-60295F046144}"/>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range(3) liefert 0, 1 und 2. Das Ende gehört nicht dazu.</a:t>
            </a:r>
          </a:p>
        </p:txBody>
      </p:sp>
      <p:sp>
        <p:nvSpPr>
          <p:cNvPr id="4" name="Rectangle 3">
            <a:extLst>
              <a:ext uri="{FF2B5EF4-FFF2-40B4-BE49-F238E27FC236}">
                <a16:creationId xmlns:a16="http://schemas.microsoft.com/office/drawing/2014/main" id="{0C3BBADE-BFD5-4655-8FD2-AEA707A524F6}"/>
              </a:ext>
            </a:extLst>
          </p:cNvPr>
          <p:cNvSpPr>
            <a:spLocks noGrp="1"/>
          </p:cNvSpPr>
          <p:nvPr/>
        </p:nvSpPr>
        <p:spPr>
          <a:xfrm>
            <a:off x="1047750" y="2647950"/>
            <a:ext cx="10382250" cy="207645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preise = [10, 20, 15]</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gesamt = 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for preis in preise: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gesamt += preis</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print(gesamt)  # 45</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for index, preis in enumerate(preise):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print(index, preis)</a:t>
            </a:r>
          </a:p>
        </p:txBody>
      </p:sp>
      <p:sp>
        <p:nvSpPr>
          <p:cNvPr id="5" name="Rectangle 4">
            <a:extLst>
              <a:ext uri="{FF2B5EF4-FFF2-40B4-BE49-F238E27FC236}">
                <a16:creationId xmlns:a16="http://schemas.microsoft.com/office/drawing/2014/main" id="{C8ADFB5B-7A75-4890-B65E-EC2908610934}"/>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21</a:t>
            </a:r>
          </a:p>
        </p:txBody>
      </p:sp>
    </p:spTree>
    <p:extLst>
      <p:ext uri="{BB962C8B-B14F-4D97-AF65-F5344CB8AC3E}">
        <p14:creationId xmlns:p14="http://schemas.microsoft.com/office/powerpoint/2010/main" val="19354947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D1A8D1E-2B43-4121-B9ED-76B47C87F9B9}"/>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Schleifen mit while</a:t>
            </a:r>
          </a:p>
        </p:txBody>
      </p:sp>
      <p:sp>
        <p:nvSpPr>
          <p:cNvPr id="2" name="Rectangle 1">
            <a:extLst>
              <a:ext uri="{FF2B5EF4-FFF2-40B4-BE49-F238E27FC236}">
                <a16:creationId xmlns:a16="http://schemas.microsoft.com/office/drawing/2014/main" id="{FEE6512D-3014-46D2-B23F-6DC2BEFDE286}"/>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while wiederholt, solange eine Bedingung wahr ist</a:t>
            </a:r>
          </a:p>
        </p:txBody>
      </p:sp>
      <p:sp>
        <p:nvSpPr>
          <p:cNvPr id="3" name="Rectangle 2">
            <a:extLst>
              <a:ext uri="{FF2B5EF4-FFF2-40B4-BE49-F238E27FC236}">
                <a16:creationId xmlns:a16="http://schemas.microsoft.com/office/drawing/2014/main" id="{380E7374-4086-43CF-91A4-1E11A12A3B54}"/>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Der Schleifenrumpf muss die Abbruchbedingung erreichbar machen</a:t>
            </a:r>
          </a:p>
        </p:txBody>
      </p:sp>
      <p:sp>
        <p:nvSpPr>
          <p:cNvPr id="4" name="Rectangle 3">
            <a:extLst>
              <a:ext uri="{FF2B5EF4-FFF2-40B4-BE49-F238E27FC236}">
                <a16:creationId xmlns:a16="http://schemas.microsoft.com/office/drawing/2014/main" id="{48B8C804-4C1C-4CF4-B469-7003F218C05B}"/>
              </a:ext>
            </a:extLst>
          </p:cNvPr>
          <p:cNvSpPr>
            <a:spLocks noGrp="1"/>
          </p:cNvSpPr>
          <p:nvPr/>
        </p:nvSpPr>
        <p:spPr>
          <a:xfrm>
            <a:off x="1047750" y="2647950"/>
            <a:ext cx="10382250" cy="152400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bestand = 3</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while bestand &gt; 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print("Verkauf")</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bestand -= 1</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print("Ausverkauft")</a:t>
            </a:r>
          </a:p>
        </p:txBody>
      </p:sp>
      <p:sp>
        <p:nvSpPr>
          <p:cNvPr id="5" name="Rectangle 4">
            <a:extLst>
              <a:ext uri="{FF2B5EF4-FFF2-40B4-BE49-F238E27FC236}">
                <a16:creationId xmlns:a16="http://schemas.microsoft.com/office/drawing/2014/main" id="{B0BD071F-E67B-4CE3-8494-BE70C432508E}"/>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22</a:t>
            </a:r>
          </a:p>
        </p:txBody>
      </p:sp>
    </p:spTree>
    <p:extLst>
      <p:ext uri="{BB962C8B-B14F-4D97-AF65-F5344CB8AC3E}">
        <p14:creationId xmlns:p14="http://schemas.microsoft.com/office/powerpoint/2010/main" val="19354947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60A42BC-1754-4DAB-9F1F-E3F72020D9C2}"/>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Listen als erster Datenspeicher</a:t>
            </a:r>
          </a:p>
        </p:txBody>
      </p:sp>
      <p:sp>
        <p:nvSpPr>
          <p:cNvPr id="2" name="Rectangle 1">
            <a:extLst>
              <a:ext uri="{FF2B5EF4-FFF2-40B4-BE49-F238E27FC236}">
                <a16:creationId xmlns:a16="http://schemas.microsoft.com/office/drawing/2014/main" id="{731E7058-7898-406F-BF41-EA5C71C9A13B}"/>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Eine Liste speichert eine geordnete, veränderbare Folge</a:t>
            </a:r>
          </a:p>
        </p:txBody>
      </p:sp>
      <p:sp>
        <p:nvSpPr>
          <p:cNvPr id="3" name="Rectangle 2">
            <a:extLst>
              <a:ext uri="{FF2B5EF4-FFF2-40B4-BE49-F238E27FC236}">
                <a16:creationId xmlns:a16="http://schemas.microsoft.com/office/drawing/2014/main" id="{EEA2107C-EDCB-457D-B1C3-48590B8763B1}"/>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Index 0 bezeichnet das erste Element. -1 das letzte.</a:t>
            </a:r>
          </a:p>
        </p:txBody>
      </p:sp>
      <p:sp>
        <p:nvSpPr>
          <p:cNvPr id="4" name="Rectangle 3">
            <a:extLst>
              <a:ext uri="{FF2B5EF4-FFF2-40B4-BE49-F238E27FC236}">
                <a16:creationId xmlns:a16="http://schemas.microsoft.com/office/drawing/2014/main" id="{68DECAA8-E41C-4D35-AFCD-54A2DEF37297}"/>
              </a:ext>
            </a:extLst>
          </p:cNvPr>
          <p:cNvSpPr>
            <a:spLocks noGrp="1"/>
          </p:cNvSpPr>
          <p:nvPr/>
        </p:nvSpPr>
        <p:spPr>
          <a:xfrm>
            <a:off x="1047750" y="25527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Slicing: Start eingeschlossen, Ende ausgeschlossen</a:t>
            </a:r>
          </a:p>
        </p:txBody>
      </p:sp>
      <p:sp>
        <p:nvSpPr>
          <p:cNvPr id="5" name="Rectangle 4">
            <a:extLst>
              <a:ext uri="{FF2B5EF4-FFF2-40B4-BE49-F238E27FC236}">
                <a16:creationId xmlns:a16="http://schemas.microsoft.com/office/drawing/2014/main" id="{B2176A9C-606C-42FB-83C7-0CA8BAA4AFFB}"/>
              </a:ext>
            </a:extLst>
          </p:cNvPr>
          <p:cNvSpPr>
            <a:spLocks noGrp="1"/>
          </p:cNvSpPr>
          <p:nvPr/>
        </p:nvSpPr>
        <p:spPr>
          <a:xfrm>
            <a:off x="1047750" y="3143250"/>
            <a:ext cx="10382250" cy="152400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werte = [12, 8, 15]</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werte.append(20)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print(werte[0], werte[-1])</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print(werte[1:3])  # [8, 15]</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print([x * 2 for x in werte if x &gt;= 12])</a:t>
            </a:r>
          </a:p>
        </p:txBody>
      </p:sp>
      <p:sp>
        <p:nvSpPr>
          <p:cNvPr id="6" name="Rectangle 5">
            <a:extLst>
              <a:ext uri="{FF2B5EF4-FFF2-40B4-BE49-F238E27FC236}">
                <a16:creationId xmlns:a16="http://schemas.microsoft.com/office/drawing/2014/main" id="{9B2BE565-5B11-47FD-A328-172005970393}"/>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23</a:t>
            </a:r>
          </a:p>
        </p:txBody>
      </p:sp>
    </p:spTree>
    <p:extLst>
      <p:ext uri="{BB962C8B-B14F-4D97-AF65-F5344CB8AC3E}">
        <p14:creationId xmlns:p14="http://schemas.microsoft.com/office/powerpoint/2010/main" val="1935494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862B996-8C5B-420E-BE48-4E4EE06CF9B1}"/>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Übung: Umsätze selbst berechnen</a:t>
            </a:r>
          </a:p>
        </p:txBody>
      </p:sp>
      <p:sp>
        <p:nvSpPr>
          <p:cNvPr id="2" name="Rectangle 1">
            <a:extLst>
              <a:ext uri="{FF2B5EF4-FFF2-40B4-BE49-F238E27FC236}">
                <a16:creationId xmlns:a16="http://schemas.microsoft.com/office/drawing/2014/main" id="{1C02AC77-8920-4A3F-96BD-1FC5599CC250}"/>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Preise: [12, 8, 15, 10], Mengen: [2, 5, 1, 3]</a:t>
            </a:r>
          </a:p>
        </p:txBody>
      </p:sp>
      <p:sp>
        <p:nvSpPr>
          <p:cNvPr id="3" name="Rectangle 2">
            <a:extLst>
              <a:ext uri="{FF2B5EF4-FFF2-40B4-BE49-F238E27FC236}">
                <a16:creationId xmlns:a16="http://schemas.microsoft.com/office/drawing/2014/main" id="{7B760651-81CA-431C-BB65-6C033BCFE9A5}"/>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Mit einer Schleife Einzelumsätze und Gesamtumsatz berechnen</a:t>
            </a:r>
          </a:p>
        </p:txBody>
      </p:sp>
      <p:sp>
        <p:nvSpPr>
          <p:cNvPr id="4" name="Rectangle 3">
            <a:extLst>
              <a:ext uri="{FF2B5EF4-FFF2-40B4-BE49-F238E27FC236}">
                <a16:creationId xmlns:a16="http://schemas.microsoft.com/office/drawing/2014/main" id="{AA7F29C9-5040-4E17-B18B-F94A4E49AA0B}"/>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Zählen, wie viele Umsätze mindestens 30 Euro betragen</a:t>
            </a:r>
          </a:p>
        </p:txBody>
      </p:sp>
      <p:sp>
        <p:nvSpPr>
          <p:cNvPr id="5" name="Rectangle 4">
            <a:extLst>
              <a:ext uri="{FF2B5EF4-FFF2-40B4-BE49-F238E27FC236}">
                <a16:creationId xmlns:a16="http://schemas.microsoft.com/office/drawing/2014/main" id="{02D88ACA-5697-4245-8253-A1AB374E49CC}"/>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Erwartung: 109 Euro insgesamt und zwei passende Umsätze</a:t>
            </a:r>
          </a:p>
        </p:txBody>
      </p:sp>
      <p:sp>
        <p:nvSpPr>
          <p:cNvPr id="6" name="Rectangle 5">
            <a:extLst>
              <a:ext uri="{FF2B5EF4-FFF2-40B4-BE49-F238E27FC236}">
                <a16:creationId xmlns:a16="http://schemas.microsoft.com/office/drawing/2014/main" id="{89647D8E-66FE-48D6-AA37-9870A3EC990E}"/>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24</a:t>
            </a:r>
          </a:p>
        </p:txBody>
      </p:sp>
    </p:spTree>
    <p:extLst>
      <p:ext uri="{BB962C8B-B14F-4D97-AF65-F5344CB8AC3E}">
        <p14:creationId xmlns:p14="http://schemas.microsoft.com/office/powerpoint/2010/main" val="1935494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09C5C3-2668-43FB-A1C7-0C14E0433C71}"/>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Funktionen</a:t>
            </a:r>
          </a:p>
        </p:txBody>
      </p:sp>
      <p:sp>
        <p:nvSpPr>
          <p:cNvPr id="2" name="Rectangle 1">
            <a:extLst>
              <a:ext uri="{FF2B5EF4-FFF2-40B4-BE49-F238E27FC236}">
                <a16:creationId xmlns:a16="http://schemas.microsoft.com/office/drawing/2014/main" id="{3007C4DA-E48C-493E-81A8-21E3B97D6AA5}"/>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Eine Funktion bündelt eine wiederverwendbare Berechnung</a:t>
            </a:r>
          </a:p>
        </p:txBody>
      </p:sp>
      <p:sp>
        <p:nvSpPr>
          <p:cNvPr id="3" name="Rectangle 2">
            <a:extLst>
              <a:ext uri="{FF2B5EF4-FFF2-40B4-BE49-F238E27FC236}">
                <a16:creationId xmlns:a16="http://schemas.microsoft.com/office/drawing/2014/main" id="{C1DFA60C-1002-4459-A75B-81B8807DB400}"/>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Parameter liefern Eingaben. return liefert das Ergebnis.</a:t>
            </a:r>
          </a:p>
        </p:txBody>
      </p:sp>
      <p:sp>
        <p:nvSpPr>
          <p:cNvPr id="4" name="Rectangle 3">
            <a:extLst>
              <a:ext uri="{FF2B5EF4-FFF2-40B4-BE49-F238E27FC236}">
                <a16:creationId xmlns:a16="http://schemas.microsoft.com/office/drawing/2014/main" id="{126C68FE-169C-45E4-B85F-9F2BEE8C7649}"/>
              </a:ext>
            </a:extLst>
          </p:cNvPr>
          <p:cNvSpPr>
            <a:spLocks noGrp="1"/>
          </p:cNvSpPr>
          <p:nvPr/>
        </p:nvSpPr>
        <p:spPr>
          <a:xfrm>
            <a:off x="1047750" y="2647950"/>
            <a:ext cx="10382250" cy="152400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def netto(preis, rabatt=0.0):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preis * (1 - rabatt)</a:t>
            </a:r>
          </a:p>
          <a:p>
            <a:endParaRPr sz="1875" b="0">
              <a:solidFill>
                <a:srgbClr val="002C48"/>
              </a:solidFill>
              <a:latin typeface="Courier New"/>
              <a:ea typeface="Courier New"/>
              <a:cs typeface="Courier New"/>
            </a:endParaRP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betrag = netto(100, rabatt=0.1)</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print(betrag)  # 90.0</a:t>
            </a:r>
          </a:p>
        </p:txBody>
      </p:sp>
      <p:sp>
        <p:nvSpPr>
          <p:cNvPr id="5" name="Rectangle 4">
            <a:extLst>
              <a:ext uri="{FF2B5EF4-FFF2-40B4-BE49-F238E27FC236}">
                <a16:creationId xmlns:a16="http://schemas.microsoft.com/office/drawing/2014/main" id="{B86B0295-C719-4315-BF05-E664EB06B8EA}"/>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25</a:t>
            </a:r>
          </a:p>
        </p:txBody>
      </p:sp>
    </p:spTree>
    <p:extLst>
      <p:ext uri="{BB962C8B-B14F-4D97-AF65-F5344CB8AC3E}">
        <p14:creationId xmlns:p14="http://schemas.microsoft.com/office/powerpoint/2010/main" val="19354947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834D5C-E676-4C74-B12F-6B595DC10133}"/>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Verträge, Fehler und kleine Tests</a:t>
            </a:r>
          </a:p>
        </p:txBody>
      </p:sp>
      <p:sp>
        <p:nvSpPr>
          <p:cNvPr id="2" name="Rectangle 1">
            <a:extLst>
              <a:ext uri="{FF2B5EF4-FFF2-40B4-BE49-F238E27FC236}">
                <a16:creationId xmlns:a16="http://schemas.microsoft.com/office/drawing/2014/main" id="{1C0E042B-D216-442F-9F1E-5F3DFC9C428A}"/>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Typannotationen dokumentieren erwartete Typen</a:t>
            </a:r>
          </a:p>
        </p:txBody>
      </p:sp>
      <p:sp>
        <p:nvSpPr>
          <p:cNvPr id="3" name="Rectangle 2">
            <a:extLst>
              <a:ext uri="{FF2B5EF4-FFF2-40B4-BE49-F238E27FC236}">
                <a16:creationId xmlns:a16="http://schemas.microsoft.com/office/drawing/2014/main" id="{9943509F-634C-4DF6-B685-F7A2382BFD82}"/>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Validierung prüft fachliche Voraussetzungen zur Laufzeit</a:t>
            </a:r>
          </a:p>
        </p:txBody>
      </p:sp>
      <p:sp>
        <p:nvSpPr>
          <p:cNvPr id="4" name="Rectangle 3">
            <a:extLst>
              <a:ext uri="{FF2B5EF4-FFF2-40B4-BE49-F238E27FC236}">
                <a16:creationId xmlns:a16="http://schemas.microsoft.com/office/drawing/2014/main" id="{4879420F-AC4A-40A5-9F39-88215C439E3D}"/>
              </a:ext>
            </a:extLst>
          </p:cNvPr>
          <p:cNvSpPr>
            <a:spLocks noGrp="1"/>
          </p:cNvSpPr>
          <p:nvPr/>
        </p:nvSpPr>
        <p:spPr>
          <a:xfrm>
            <a:off x="1047750" y="25527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Tests prüfen Beispiele und Randfälle</a:t>
            </a:r>
          </a:p>
        </p:txBody>
      </p:sp>
      <p:sp>
        <p:nvSpPr>
          <p:cNvPr id="5" name="Rectangle 4">
            <a:extLst>
              <a:ext uri="{FF2B5EF4-FFF2-40B4-BE49-F238E27FC236}">
                <a16:creationId xmlns:a16="http://schemas.microsoft.com/office/drawing/2014/main" id="{A420A505-28CD-4497-8E36-091882A03A2F}"/>
              </a:ext>
            </a:extLst>
          </p:cNvPr>
          <p:cNvSpPr>
            <a:spLocks noGrp="1"/>
          </p:cNvSpPr>
          <p:nvPr/>
        </p:nvSpPr>
        <p:spPr>
          <a:xfrm>
            <a:off x="1047750" y="3143250"/>
            <a:ext cx="10382250" cy="207645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def netto(preis: float, rabatt: float = 0.0) -&gt; float: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if preis &lt; 0 or not 0 &lt;= rabatt &lt;= 1:</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raise ValueError("Preis oder Rabatt unzulässig")</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preis * (1 - rabatt)</a:t>
            </a:r>
          </a:p>
          <a:p>
            <a:endParaRPr sz="1875" b="0">
              <a:solidFill>
                <a:srgbClr val="002C48"/>
              </a:solidFill>
              <a:latin typeface="Courier New"/>
              <a:ea typeface="Courier New"/>
              <a:cs typeface="Courier New"/>
            </a:endParaRP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assert netto(100, 0.1) == 90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assert netto(100, 1.0) == 0</a:t>
            </a:r>
          </a:p>
        </p:txBody>
      </p:sp>
      <p:sp>
        <p:nvSpPr>
          <p:cNvPr id="6" name="Rectangle 5">
            <a:extLst>
              <a:ext uri="{FF2B5EF4-FFF2-40B4-BE49-F238E27FC236}">
                <a16:creationId xmlns:a16="http://schemas.microsoft.com/office/drawing/2014/main" id="{EEDCFA6E-702B-4A80-AFB9-4D15BBFACA42}"/>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26</a:t>
            </a:r>
          </a:p>
        </p:txBody>
      </p:sp>
    </p:spTree>
    <p:extLst>
      <p:ext uri="{BB962C8B-B14F-4D97-AF65-F5344CB8AC3E}">
        <p14:creationId xmlns:p14="http://schemas.microsoft.com/office/powerpoint/2010/main" val="19354947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721575C-542A-4A2C-9345-7A019FD77535}"/>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Fehler lesen und gezielt behandeln</a:t>
            </a:r>
          </a:p>
        </p:txBody>
      </p:sp>
      <p:sp>
        <p:nvSpPr>
          <p:cNvPr id="2" name="Rectangle 1">
            <a:extLst>
              <a:ext uri="{FF2B5EF4-FFF2-40B4-BE49-F238E27FC236}">
                <a16:creationId xmlns:a16="http://schemas.microsoft.com/office/drawing/2014/main" id="{2A9D2DF7-ADC4-4A92-A64D-708B02B011C6}"/>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SyntaxError: Python kann den Code nicht lesen</a:t>
            </a:r>
          </a:p>
        </p:txBody>
      </p:sp>
      <p:sp>
        <p:nvSpPr>
          <p:cNvPr id="3" name="Rectangle 2">
            <a:extLst>
              <a:ext uri="{FF2B5EF4-FFF2-40B4-BE49-F238E27FC236}">
                <a16:creationId xmlns:a16="http://schemas.microsoft.com/office/drawing/2014/main" id="{D0099C2C-06E7-4234-A371-D197F0987772}"/>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NameError: Ein Name ist unbekannt</a:t>
            </a:r>
          </a:p>
        </p:txBody>
      </p:sp>
      <p:sp>
        <p:nvSpPr>
          <p:cNvPr id="4" name="Rectangle 3">
            <a:extLst>
              <a:ext uri="{FF2B5EF4-FFF2-40B4-BE49-F238E27FC236}">
                <a16:creationId xmlns:a16="http://schemas.microsoft.com/office/drawing/2014/main" id="{90A5FFAB-7DF9-4DFA-B891-9D152BF7FFC2}"/>
              </a:ext>
            </a:extLst>
          </p:cNvPr>
          <p:cNvSpPr>
            <a:spLocks noGrp="1"/>
          </p:cNvSpPr>
          <p:nvPr/>
        </p:nvSpPr>
        <p:spPr>
          <a:xfrm>
            <a:off x="1047750" y="25527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TypeError / ValueError: Typ oder Wert passt nicht</a:t>
            </a:r>
          </a:p>
        </p:txBody>
      </p:sp>
      <p:sp>
        <p:nvSpPr>
          <p:cNvPr id="5" name="Rectangle 4">
            <a:extLst>
              <a:ext uri="{FF2B5EF4-FFF2-40B4-BE49-F238E27FC236}">
                <a16:creationId xmlns:a16="http://schemas.microsoft.com/office/drawing/2014/main" id="{5C36FAC3-B636-408C-A069-0D9B2FFFC7D1}"/>
              </a:ext>
            </a:extLst>
          </p:cNvPr>
          <p:cNvSpPr>
            <a:spLocks noGrp="1"/>
          </p:cNvSpPr>
          <p:nvPr/>
        </p:nvSpPr>
        <p:spPr>
          <a:xfrm>
            <a:off x="1047750" y="3143250"/>
            <a:ext cx="10382250" cy="152400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eingabe = "zwölf"</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try:</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preis = float(eingabe)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except ValueError:</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print("Bitte eine Zahl wie 12.5 eingeben")</a:t>
            </a:r>
          </a:p>
        </p:txBody>
      </p:sp>
      <p:sp>
        <p:nvSpPr>
          <p:cNvPr id="6" name="Rectangle 5">
            <a:extLst>
              <a:ext uri="{FF2B5EF4-FFF2-40B4-BE49-F238E27FC236}">
                <a16:creationId xmlns:a16="http://schemas.microsoft.com/office/drawing/2014/main" id="{1309600C-615C-4496-A944-351B1B9F0CBA}"/>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27</a:t>
            </a:r>
          </a:p>
        </p:txBody>
      </p:sp>
    </p:spTree>
    <p:extLst>
      <p:ext uri="{BB962C8B-B14F-4D97-AF65-F5344CB8AC3E}">
        <p14:creationId xmlns:p14="http://schemas.microsoft.com/office/powerpoint/2010/main" val="19354947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EFFD84-45E3-4FB0-A8B1-0BEBB1EE4513}"/>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Datenstrukturen im Überblick</a:t>
            </a:r>
          </a:p>
        </p:txBody>
      </p:sp>
      <p:sp>
        <p:nvSpPr>
          <p:cNvPr id="2" name="Rectangle 1">
            <a:extLst>
              <a:ext uri="{FF2B5EF4-FFF2-40B4-BE49-F238E27FC236}">
                <a16:creationId xmlns:a16="http://schemas.microsoft.com/office/drawing/2014/main" id="{72F6F1D9-7434-4687-95ED-DAF52E0B4CC1}"/>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list: veränderbare Folge, etwa Messwerte in zeitlicher Reihenfolge</a:t>
            </a:r>
          </a:p>
        </p:txBody>
      </p:sp>
      <p:sp>
        <p:nvSpPr>
          <p:cNvPr id="3" name="Rectangle 2">
            <a:extLst>
              <a:ext uri="{FF2B5EF4-FFF2-40B4-BE49-F238E27FC236}">
                <a16:creationId xmlns:a16="http://schemas.microsoft.com/office/drawing/2014/main" id="{140FF39E-19CA-4A6D-AE21-03167DEDF760}"/>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tuple: unveränderbare Folge, etwa ein Koordinatenpaar</a:t>
            </a:r>
          </a:p>
        </p:txBody>
      </p:sp>
      <p:sp>
        <p:nvSpPr>
          <p:cNvPr id="4" name="Rectangle 3">
            <a:extLst>
              <a:ext uri="{FF2B5EF4-FFF2-40B4-BE49-F238E27FC236}">
                <a16:creationId xmlns:a16="http://schemas.microsoft.com/office/drawing/2014/main" id="{C07FB022-C3A6-4940-9C96-45D3271AEA3C}"/>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dict: Zuordnung von Schlüsseln zu Werten, etwa Produktpreise</a:t>
            </a:r>
          </a:p>
        </p:txBody>
      </p:sp>
      <p:sp>
        <p:nvSpPr>
          <p:cNvPr id="5" name="Rectangle 4">
            <a:extLst>
              <a:ext uri="{FF2B5EF4-FFF2-40B4-BE49-F238E27FC236}">
                <a16:creationId xmlns:a16="http://schemas.microsoft.com/office/drawing/2014/main" id="{5A8EC4F6-E3CA-4E76-91E5-FFE2B4085060}"/>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set: eindeutige Elemente, etwa alle vorkommenden Kategorien</a:t>
            </a:r>
          </a:p>
        </p:txBody>
      </p:sp>
      <p:sp>
        <p:nvSpPr>
          <p:cNvPr id="6" name="Rectangle 5">
            <a:extLst>
              <a:ext uri="{FF2B5EF4-FFF2-40B4-BE49-F238E27FC236}">
                <a16:creationId xmlns:a16="http://schemas.microsoft.com/office/drawing/2014/main" id="{1082CACF-8010-432B-A7AC-2A9663E6B097}"/>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28</a:t>
            </a:r>
          </a:p>
        </p:txBody>
      </p:sp>
    </p:spTree>
    <p:extLst>
      <p:ext uri="{BB962C8B-B14F-4D97-AF65-F5344CB8AC3E}">
        <p14:creationId xmlns:p14="http://schemas.microsoft.com/office/powerpoint/2010/main" val="19354947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98A995A-D813-49DE-BDC4-AE3303B93594}"/>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Referenzen und Kopien</a:t>
            </a:r>
          </a:p>
        </p:txBody>
      </p:sp>
      <p:sp>
        <p:nvSpPr>
          <p:cNvPr id="2" name="Rectangle 1">
            <a:extLst>
              <a:ext uri="{FF2B5EF4-FFF2-40B4-BE49-F238E27FC236}">
                <a16:creationId xmlns:a16="http://schemas.microsoft.com/office/drawing/2014/main" id="{2DD67DE7-1BEC-471B-8E2A-8C92ADC1AD4A}"/>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Zuweisung kopiert bei Listen nicht deren Inhalt</a:t>
            </a:r>
          </a:p>
        </p:txBody>
      </p:sp>
      <p:sp>
        <p:nvSpPr>
          <p:cNvPr id="3" name="Rectangle 2">
            <a:extLst>
              <a:ext uri="{FF2B5EF4-FFF2-40B4-BE49-F238E27FC236}">
                <a16:creationId xmlns:a16="http://schemas.microsoft.com/office/drawing/2014/main" id="{A0568B16-3D3D-4AC1-8A98-7F49030DF70D}"/>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Eine flache Kopie erzeugt eine neue äußere Liste</a:t>
            </a:r>
          </a:p>
        </p:txBody>
      </p:sp>
      <p:sp>
        <p:nvSpPr>
          <p:cNvPr id="4" name="Rectangle 3">
            <a:extLst>
              <a:ext uri="{FF2B5EF4-FFF2-40B4-BE49-F238E27FC236}">
                <a16:creationId xmlns:a16="http://schemas.microsoft.com/office/drawing/2014/main" id="{4FA4311E-C8C0-416A-A3DD-611A13BEC5D0}"/>
              </a:ext>
            </a:extLst>
          </p:cNvPr>
          <p:cNvSpPr>
            <a:spLocks noGrp="1"/>
          </p:cNvSpPr>
          <p:nvPr/>
        </p:nvSpPr>
        <p:spPr>
          <a:xfrm>
            <a:off x="1047750" y="2647950"/>
            <a:ext cx="10382250" cy="207645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a = [1, 2]</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b = a</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b.append(3)</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print(a)  # [1, 2, 3]</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c = a.copy()</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c.append(4)</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print(a)  # [1, 2, 3]</a:t>
            </a:r>
          </a:p>
        </p:txBody>
      </p:sp>
      <p:sp>
        <p:nvSpPr>
          <p:cNvPr id="5" name="Rectangle 4">
            <a:extLst>
              <a:ext uri="{FF2B5EF4-FFF2-40B4-BE49-F238E27FC236}">
                <a16:creationId xmlns:a16="http://schemas.microsoft.com/office/drawing/2014/main" id="{0FDC3F6E-2807-4D3E-AA1E-4612074C091C}"/>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29</a:t>
            </a:r>
          </a:p>
        </p:txBody>
      </p:sp>
    </p:spTree>
    <p:extLst>
      <p:ext uri="{BB962C8B-B14F-4D97-AF65-F5344CB8AC3E}">
        <p14:creationId xmlns:p14="http://schemas.microsoft.com/office/powerpoint/2010/main" val="19354947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301394-4831-435B-B397-1B3295ABCE93}"/>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Hashmaps mit dict und Mengen mit set</a:t>
            </a:r>
          </a:p>
        </p:txBody>
      </p:sp>
      <p:sp>
        <p:nvSpPr>
          <p:cNvPr id="2" name="Rectangle 1">
            <a:extLst>
              <a:ext uri="{FF2B5EF4-FFF2-40B4-BE49-F238E27FC236}">
                <a16:creationId xmlns:a16="http://schemas.microsoft.com/office/drawing/2014/main" id="{2915CE47-270C-418F-B767-891317AA6F74}"/>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dict arbeitet in Python als Hashtabelle</a:t>
            </a:r>
          </a:p>
        </p:txBody>
      </p:sp>
      <p:sp>
        <p:nvSpPr>
          <p:cNvPr id="3" name="Rectangle 2">
            <a:extLst>
              <a:ext uri="{FF2B5EF4-FFF2-40B4-BE49-F238E27FC236}">
                <a16:creationId xmlns:a16="http://schemas.microsoft.com/office/drawing/2014/main" id="{4A28E367-2E1C-4F0F-8EF1-C45204CFD2E2}"/>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Ein Schlüssel kommt höchstens einmal vor</a:t>
            </a:r>
          </a:p>
        </p:txBody>
      </p:sp>
      <p:sp>
        <p:nvSpPr>
          <p:cNvPr id="4" name="Rectangle 3">
            <a:extLst>
              <a:ext uri="{FF2B5EF4-FFF2-40B4-BE49-F238E27FC236}">
                <a16:creationId xmlns:a16="http://schemas.microsoft.com/office/drawing/2014/main" id="{DA6D13FB-412D-437A-9869-3B76080CF379}"/>
              </a:ext>
            </a:extLst>
          </p:cNvPr>
          <p:cNvSpPr>
            <a:spLocks noGrp="1"/>
          </p:cNvSpPr>
          <p:nvPr/>
        </p:nvSpPr>
        <p:spPr>
          <a:xfrm>
            <a:off x="1047750" y="25527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dict erhält die Einfügereihenfolge. set hat keine garantierte Reihenfolge.</a:t>
            </a:r>
          </a:p>
        </p:txBody>
      </p:sp>
      <p:sp>
        <p:nvSpPr>
          <p:cNvPr id="5" name="Rectangle 4">
            <a:extLst>
              <a:ext uri="{FF2B5EF4-FFF2-40B4-BE49-F238E27FC236}">
                <a16:creationId xmlns:a16="http://schemas.microsoft.com/office/drawing/2014/main" id="{30D595B2-8898-4D39-93A7-A40F179A15EE}"/>
              </a:ext>
            </a:extLst>
          </p:cNvPr>
          <p:cNvSpPr>
            <a:spLocks noGrp="1"/>
          </p:cNvSpPr>
          <p:nvPr/>
        </p:nvSpPr>
        <p:spPr>
          <a:xfrm>
            <a:off x="1047750" y="3143250"/>
            <a:ext cx="10382250" cy="152400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preise = {"Sensor": 12.5, "Kabel": 3.0}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preise["Adapter"] = 7.0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preise["Sensor"] = 13.0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print(preise.get("Motor", 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print(set(["A", "B", "A"]))</a:t>
            </a:r>
          </a:p>
        </p:txBody>
      </p:sp>
      <p:sp>
        <p:nvSpPr>
          <p:cNvPr id="6" name="Rectangle 5">
            <a:extLst>
              <a:ext uri="{FF2B5EF4-FFF2-40B4-BE49-F238E27FC236}">
                <a16:creationId xmlns:a16="http://schemas.microsoft.com/office/drawing/2014/main" id="{242A2776-35ED-4B54-B55E-017C2F566A36}"/>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30</a:t>
            </a:r>
          </a:p>
        </p:txBody>
      </p:sp>
    </p:spTree>
    <p:extLst>
      <p:ext uri="{BB962C8B-B14F-4D97-AF65-F5344CB8AC3E}">
        <p14:creationId xmlns:p14="http://schemas.microsoft.com/office/powerpoint/2010/main" val="19354947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C02FEB5-A47B-4B97-9FCB-C0B85965CA7B}"/>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Stack und Queue mit Listen</a:t>
            </a:r>
          </a:p>
        </p:txBody>
      </p:sp>
      <p:sp>
        <p:nvSpPr>
          <p:cNvPr id="2" name="Rectangle 1">
            <a:extLst>
              <a:ext uri="{FF2B5EF4-FFF2-40B4-BE49-F238E27FC236}">
                <a16:creationId xmlns:a16="http://schemas.microsoft.com/office/drawing/2014/main" id="{19177478-7EE8-4A24-B5A9-BAB8FDEAF75A}"/>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Stack: zuletzt hinein, zuerst heraus. Queue: zuerst hinein, zuerst heraus.</a:t>
            </a:r>
          </a:p>
        </p:txBody>
      </p:sp>
      <p:sp>
        <p:nvSpPr>
          <p:cNvPr id="3" name="Rectangle 2">
            <a:extLst>
              <a:ext uri="{FF2B5EF4-FFF2-40B4-BE49-F238E27FC236}">
                <a16:creationId xmlns:a16="http://schemas.microsoft.com/office/drawing/2014/main" id="{4DF5F48B-8307-4642-BE24-E450CE0782AA}"/>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Wir verwenden zunächst nur Listenoperationen</a:t>
            </a:r>
          </a:p>
        </p:txBody>
      </p:sp>
      <p:sp>
        <p:nvSpPr>
          <p:cNvPr id="4" name="Rectangle 3">
            <a:extLst>
              <a:ext uri="{FF2B5EF4-FFF2-40B4-BE49-F238E27FC236}">
                <a16:creationId xmlns:a16="http://schemas.microsoft.com/office/drawing/2014/main" id="{B25802FF-14D2-4B94-AFB8-42744B564F98}"/>
              </a:ext>
            </a:extLst>
          </p:cNvPr>
          <p:cNvSpPr>
            <a:spLocks noGrp="1"/>
          </p:cNvSpPr>
          <p:nvPr/>
        </p:nvSpPr>
        <p:spPr>
          <a:xfrm>
            <a:off x="1047750" y="2647950"/>
            <a:ext cx="10382250" cy="207645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stack = []</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stack.append("A")</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stack.append("B")</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print(stack.pop())   # B</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queue = ["A", "B"]</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queue.append("C")</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print(queue.pop(0))  # A</a:t>
            </a:r>
          </a:p>
        </p:txBody>
      </p:sp>
      <p:sp>
        <p:nvSpPr>
          <p:cNvPr id="5" name="Rectangle 4">
            <a:extLst>
              <a:ext uri="{FF2B5EF4-FFF2-40B4-BE49-F238E27FC236}">
                <a16:creationId xmlns:a16="http://schemas.microsoft.com/office/drawing/2014/main" id="{F07D6E0A-82E7-45F6-A105-395EE49DFE52}"/>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31</a:t>
            </a:r>
          </a:p>
        </p:txBody>
      </p:sp>
    </p:spTree>
    <p:extLst>
      <p:ext uri="{BB962C8B-B14F-4D97-AF65-F5344CB8AC3E}">
        <p14:creationId xmlns:p14="http://schemas.microsoft.com/office/powerpoint/2010/main" val="19354947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2637C29-5722-4465-BEA1-0C5B17456833}"/>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Aufwand von Operationen</a:t>
            </a:r>
          </a:p>
        </p:txBody>
      </p:sp>
      <p:sp>
        <p:nvSpPr>
          <p:cNvPr id="2" name="Rectangle 1">
            <a:extLst>
              <a:ext uri="{FF2B5EF4-FFF2-40B4-BE49-F238E27FC236}">
                <a16:creationId xmlns:a16="http://schemas.microsoft.com/office/drawing/2014/main" id="{F3BC568F-7263-4C98-8502-D0A18B8975FE}"/>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O(1): Aufwand wächst nicht mit der Anzahl n der Elemente</a:t>
            </a:r>
          </a:p>
        </p:txBody>
      </p:sp>
      <p:sp>
        <p:nvSpPr>
          <p:cNvPr id="3" name="Rectangle 2">
            <a:extLst>
              <a:ext uri="{FF2B5EF4-FFF2-40B4-BE49-F238E27FC236}">
                <a16:creationId xmlns:a16="http://schemas.microsoft.com/office/drawing/2014/main" id="{60935F00-19A8-4366-BBDB-3750B929FCC5}"/>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O(log n): Suchraum schrumpft wiederholt um einen Faktor</a:t>
            </a:r>
          </a:p>
        </p:txBody>
      </p:sp>
      <p:sp>
        <p:nvSpPr>
          <p:cNvPr id="4" name="Rectangle 3">
            <a:extLst>
              <a:ext uri="{FF2B5EF4-FFF2-40B4-BE49-F238E27FC236}">
                <a16:creationId xmlns:a16="http://schemas.microsoft.com/office/drawing/2014/main" id="{41DA59B4-FEFE-4424-A5F7-09F0D5C63BD0}"/>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O(n): Aufwand wächst ungefähr proportional zu n</a:t>
            </a:r>
          </a:p>
        </p:txBody>
      </p:sp>
      <p:sp>
        <p:nvSpPr>
          <p:cNvPr id="5" name="Rectangle 4">
            <a:extLst>
              <a:ext uri="{FF2B5EF4-FFF2-40B4-BE49-F238E27FC236}">
                <a16:creationId xmlns:a16="http://schemas.microsoft.com/office/drawing/2014/main" id="{B1C0B6EB-27E2-4B7B-B867-CE2CC93C41AD}"/>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O(n log n): typisch für effizientes vergleichsbasiertes Sortieren</a:t>
            </a:r>
          </a:p>
        </p:txBody>
      </p:sp>
      <p:sp>
        <p:nvSpPr>
          <p:cNvPr id="6" name="Rectangle 5">
            <a:extLst>
              <a:ext uri="{FF2B5EF4-FFF2-40B4-BE49-F238E27FC236}">
                <a16:creationId xmlns:a16="http://schemas.microsoft.com/office/drawing/2014/main" id="{4799EF2D-659F-4325-86AB-34689E276341}"/>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O(n²): doppelte Durchläufe über wachsende Datenmengen</a:t>
            </a:r>
          </a:p>
        </p:txBody>
      </p:sp>
      <p:sp>
        <p:nvSpPr>
          <p:cNvPr id="7" name="Rectangle 6">
            <a:extLst>
              <a:ext uri="{FF2B5EF4-FFF2-40B4-BE49-F238E27FC236}">
                <a16:creationId xmlns:a16="http://schemas.microsoft.com/office/drawing/2014/main" id="{F7749640-89FA-4875-BB0D-D72FE919C600}"/>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32</a:t>
            </a:r>
          </a:p>
        </p:txBody>
      </p:sp>
    </p:spTree>
    <p:extLst>
      <p:ext uri="{BB962C8B-B14F-4D97-AF65-F5344CB8AC3E}">
        <p14:creationId xmlns:p14="http://schemas.microsoft.com/office/powerpoint/2010/main" val="19354947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7FF04FB-19CF-4700-8E70-18B7D8D4D7EB}"/>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Lineare Suche</a:t>
            </a:r>
          </a:p>
        </p:txBody>
      </p:sp>
      <p:sp>
        <p:nvSpPr>
          <p:cNvPr id="2" name="Rectangle 1">
            <a:extLst>
              <a:ext uri="{FF2B5EF4-FFF2-40B4-BE49-F238E27FC236}">
                <a16:creationId xmlns:a16="http://schemas.microsoft.com/office/drawing/2014/main" id="{AD8FAB20-41C5-40FD-AACF-959B069F2BA9}"/>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Beliebige Reihenfolge möglich</a:t>
            </a:r>
          </a:p>
        </p:txBody>
      </p:sp>
      <p:sp>
        <p:nvSpPr>
          <p:cNvPr id="3" name="Rectangle 2">
            <a:extLst>
              <a:ext uri="{FF2B5EF4-FFF2-40B4-BE49-F238E27FC236}">
                <a16:creationId xmlns:a16="http://schemas.microsoft.com/office/drawing/2014/main" id="{64225071-0B6B-4DD2-8D0B-2EE7164CDD37}"/>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Bis zu n Vergleiche. Laufzeit O(n).</a:t>
            </a:r>
          </a:p>
        </p:txBody>
      </p:sp>
      <p:sp>
        <p:nvSpPr>
          <p:cNvPr id="4" name="Rectangle 3">
            <a:extLst>
              <a:ext uri="{FF2B5EF4-FFF2-40B4-BE49-F238E27FC236}">
                <a16:creationId xmlns:a16="http://schemas.microsoft.com/office/drawing/2014/main" id="{E01E093D-1D64-4E45-894D-09FA5F83A1C7}"/>
              </a:ext>
            </a:extLst>
          </p:cNvPr>
          <p:cNvSpPr>
            <a:spLocks noGrp="1"/>
          </p:cNvSpPr>
          <p:nvPr/>
        </p:nvSpPr>
        <p:spPr>
          <a:xfrm>
            <a:off x="1047750" y="2647950"/>
            <a:ext cx="10382250" cy="207645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def linear_suche(werte, gesucht):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for i, wert in enumerate(werte):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if wert == gesucht: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i</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-1</a:t>
            </a:r>
          </a:p>
          <a:p>
            <a:endParaRPr sz="1875" b="0">
              <a:solidFill>
                <a:srgbClr val="002C48"/>
              </a:solidFill>
              <a:latin typeface="Courier New"/>
              <a:ea typeface="Courier New"/>
              <a:cs typeface="Courier New"/>
            </a:endParaRP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print(linear_suche([7, 2, 9], 2))  # 1</a:t>
            </a:r>
          </a:p>
        </p:txBody>
      </p:sp>
      <p:sp>
        <p:nvSpPr>
          <p:cNvPr id="5" name="Rectangle 4">
            <a:extLst>
              <a:ext uri="{FF2B5EF4-FFF2-40B4-BE49-F238E27FC236}">
                <a16:creationId xmlns:a16="http://schemas.microsoft.com/office/drawing/2014/main" id="{8A04BFA6-9B61-49F6-8202-DC73CDB1F410}"/>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33</a:t>
            </a:r>
          </a:p>
        </p:txBody>
      </p:sp>
    </p:spTree>
    <p:extLst>
      <p:ext uri="{BB962C8B-B14F-4D97-AF65-F5344CB8AC3E}">
        <p14:creationId xmlns:p14="http://schemas.microsoft.com/office/powerpoint/2010/main" val="19354947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A38C2C8-697B-4EF8-ACFF-064E0DEBD452}"/>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Binäre Suche: die Idee</a:t>
            </a:r>
          </a:p>
        </p:txBody>
      </p:sp>
      <p:sp>
        <p:nvSpPr>
          <p:cNvPr id="2" name="Rectangle 1">
            <a:extLst>
              <a:ext uri="{FF2B5EF4-FFF2-40B4-BE49-F238E27FC236}">
                <a16:creationId xmlns:a16="http://schemas.microsoft.com/office/drawing/2014/main" id="{6FBF978F-EDC6-48BE-90BD-4D5295427602}"/>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Voraussetzung: eine aufsteigend sortierte Liste</a:t>
            </a:r>
          </a:p>
        </p:txBody>
      </p:sp>
      <p:sp>
        <p:nvSpPr>
          <p:cNvPr id="3" name="Rectangle 2">
            <a:extLst>
              <a:ext uri="{FF2B5EF4-FFF2-40B4-BE49-F238E27FC236}">
                <a16:creationId xmlns:a16="http://schemas.microsoft.com/office/drawing/2014/main" id="{36190D6F-651C-4BB6-B0BD-59FB001B385A}"/>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Linke und rechte Grenze beschreiben den verbleibenden Suchbereich</a:t>
            </a:r>
          </a:p>
        </p:txBody>
      </p:sp>
      <p:sp>
        <p:nvSpPr>
          <p:cNvPr id="4" name="Rectangle 3">
            <a:extLst>
              <a:ext uri="{FF2B5EF4-FFF2-40B4-BE49-F238E27FC236}">
                <a16:creationId xmlns:a16="http://schemas.microsoft.com/office/drawing/2014/main" id="{89A256C0-58DD-4C88-943B-5AB40470E494}"/>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Vergleich mit der Mitte verwirft jeweils eine Hälfte</a:t>
            </a:r>
          </a:p>
        </p:txBody>
      </p:sp>
      <p:sp>
        <p:nvSpPr>
          <p:cNvPr id="5" name="Rectangle 4">
            <a:extLst>
              <a:ext uri="{FF2B5EF4-FFF2-40B4-BE49-F238E27FC236}">
                <a16:creationId xmlns:a16="http://schemas.microsoft.com/office/drawing/2014/main" id="{13ECDB08-830D-46C3-A341-8B09E6F15CE1}"/>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Beispiel: 11 in [2, 5, 8, 11, 17] suchen</a:t>
            </a:r>
          </a:p>
        </p:txBody>
      </p:sp>
      <p:sp>
        <p:nvSpPr>
          <p:cNvPr id="6" name="Rectangle 5">
            <a:extLst>
              <a:ext uri="{FF2B5EF4-FFF2-40B4-BE49-F238E27FC236}">
                <a16:creationId xmlns:a16="http://schemas.microsoft.com/office/drawing/2014/main" id="{50031447-AF87-4EF4-94B5-19F08E119E1B}"/>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Laufzeit O(log n), Sortieren ist ein zusätzlicher Vorbereitungsschritt</a:t>
            </a:r>
          </a:p>
        </p:txBody>
      </p:sp>
      <p:sp>
        <p:nvSpPr>
          <p:cNvPr id="7" name="Rectangle 6">
            <a:extLst>
              <a:ext uri="{FF2B5EF4-FFF2-40B4-BE49-F238E27FC236}">
                <a16:creationId xmlns:a16="http://schemas.microsoft.com/office/drawing/2014/main" id="{3550B66D-781F-40FE-B912-DF48848C5267}"/>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34</a:t>
            </a:r>
          </a:p>
        </p:txBody>
      </p:sp>
    </p:spTree>
    <p:extLst>
      <p:ext uri="{BB962C8B-B14F-4D97-AF65-F5344CB8AC3E}">
        <p14:creationId xmlns:p14="http://schemas.microsoft.com/office/powerpoint/2010/main" val="19354947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708EADC-E3D7-4F0E-A6A1-FFE48BF933DB}"/>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Binäre Suche selbst implementiert</a:t>
            </a:r>
          </a:p>
        </p:txBody>
      </p:sp>
      <p:sp>
        <p:nvSpPr>
          <p:cNvPr id="2" name="Rectangle 1">
            <a:extLst>
              <a:ext uri="{FF2B5EF4-FFF2-40B4-BE49-F238E27FC236}">
                <a16:creationId xmlns:a16="http://schemas.microsoft.com/office/drawing/2014/main" id="{49929404-535C-4CC5-8812-AB7CB3C301F3}"/>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-1 bedeutet hier „nicht gefunden“. Bei Duplikaten genügt ein Treffer.</a:t>
            </a:r>
          </a:p>
        </p:txBody>
      </p:sp>
      <p:sp>
        <p:nvSpPr>
          <p:cNvPr id="3" name="Rectangle 2">
            <a:extLst>
              <a:ext uri="{FF2B5EF4-FFF2-40B4-BE49-F238E27FC236}">
                <a16:creationId xmlns:a16="http://schemas.microsoft.com/office/drawing/2014/main" id="{6E306A48-E201-43CB-9046-24940B634629}"/>
              </a:ext>
            </a:extLst>
          </p:cNvPr>
          <p:cNvSpPr>
            <a:spLocks noGrp="1"/>
          </p:cNvSpPr>
          <p:nvPr/>
        </p:nvSpPr>
        <p:spPr>
          <a:xfrm>
            <a:off x="1047750" y="2152650"/>
            <a:ext cx="10382250" cy="3181350"/>
          </a:xfrm>
          <a:prstGeom prst="rect">
            <a:avLst/>
          </a:prstGeom>
          <a:noFill/>
          <a:ln w="0">
            <a:noFill/>
          </a:ln>
        </p:spPr>
        <p:txBody>
          <a:bodyPr lIns="0" tIns="0" rIns="0" bIns="0">
            <a:noAutofit/>
          </a:bodyPr>
          <a:lstStyle>
            <a:defPPr>
              <a:defRPr sz="1725" b="0">
                <a:solidFill>
                  <a:srgbClr val="002C48"/>
                </a:solidFill>
                <a:latin typeface="Courier New"/>
                <a:ea typeface="Courier New"/>
                <a:cs typeface="Courier New"/>
              </a:defRPr>
            </a:defPPr>
          </a:lstStyle>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def binaer_suche(a, ziel):</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links, rechts = 0, len(a) - 1</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while links &lt;= rechts:</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mitte = (links + rechts) // 2</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if a[mitte] == ziel:</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return mitte</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if a[mitte] &lt; ziel:</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links = mitte + 1</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else:</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rechts = mitte - 1</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return -1</a:t>
            </a:r>
          </a:p>
        </p:txBody>
      </p:sp>
      <p:sp>
        <p:nvSpPr>
          <p:cNvPr id="4" name="Rectangle 3">
            <a:extLst>
              <a:ext uri="{FF2B5EF4-FFF2-40B4-BE49-F238E27FC236}">
                <a16:creationId xmlns:a16="http://schemas.microsoft.com/office/drawing/2014/main" id="{4F81B1D5-76D0-4B63-B6C7-F6D03C3A3928}"/>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35</a:t>
            </a:r>
          </a:p>
        </p:txBody>
      </p:sp>
    </p:spTree>
    <p:extLst>
      <p:ext uri="{BB962C8B-B14F-4D97-AF65-F5344CB8AC3E}">
        <p14:creationId xmlns:p14="http://schemas.microsoft.com/office/powerpoint/2010/main" val="19354947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0DC6C53-9D90-4786-87BA-CBCD605CEA3E}"/>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Einfügen in eine sortierte Liste</a:t>
            </a:r>
          </a:p>
        </p:txBody>
      </p:sp>
      <p:sp>
        <p:nvSpPr>
          <p:cNvPr id="2" name="Rectangle 1">
            <a:extLst>
              <a:ext uri="{FF2B5EF4-FFF2-40B4-BE49-F238E27FC236}">
                <a16:creationId xmlns:a16="http://schemas.microsoft.com/office/drawing/2014/main" id="{15E7B604-D397-4C06-BD50-FA846BE7A2DF}"/>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Zunächst die Position suchen, dann größere Elemente verschieben</a:t>
            </a:r>
          </a:p>
        </p:txBody>
      </p:sp>
      <p:sp>
        <p:nvSpPr>
          <p:cNvPr id="3" name="Rectangle 2">
            <a:extLst>
              <a:ext uri="{FF2B5EF4-FFF2-40B4-BE49-F238E27FC236}">
                <a16:creationId xmlns:a16="http://schemas.microsoft.com/office/drawing/2014/main" id="{D76E88D2-C95E-48C0-ADC9-A92FE5DC6FC6}"/>
              </a:ext>
            </a:extLst>
          </p:cNvPr>
          <p:cNvSpPr>
            <a:spLocks noGrp="1"/>
          </p:cNvSpPr>
          <p:nvPr/>
        </p:nvSpPr>
        <p:spPr>
          <a:xfrm>
            <a:off x="1047750" y="2152650"/>
            <a:ext cx="10382250" cy="3181350"/>
          </a:xfrm>
          <a:prstGeom prst="rect">
            <a:avLst/>
          </a:prstGeom>
          <a:noFill/>
          <a:ln w="0">
            <a:noFill/>
          </a:ln>
        </p:spPr>
        <p:txBody>
          <a:bodyPr lIns="0" tIns="0" rIns="0" bIns="0">
            <a:noAutofit/>
          </a:bodyPr>
          <a:lstStyle>
            <a:defPPr>
              <a:defRPr sz="1725" b="0">
                <a:solidFill>
                  <a:srgbClr val="002C48"/>
                </a:solidFill>
                <a:latin typeface="Courier New"/>
                <a:ea typeface="Courier New"/>
                <a:cs typeface="Courier New"/>
              </a:defRPr>
            </a:defPPr>
          </a:lstStyle>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def einfuegen(a, wert):</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a.append(wert)</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i = len(a) - 2</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while i &gt;= 0 and a[i] &gt; wert:</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a[i + 1] = a[i]</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i -= 1</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a[i + 1] = wert</a:t>
            </a:r>
          </a:p>
          <a:p>
            <a:endParaRPr sz="1725" b="0">
              <a:solidFill>
                <a:srgbClr val="002C48"/>
              </a:solidFill>
              <a:latin typeface="Courier New"/>
              <a:ea typeface="Courier New"/>
              <a:cs typeface="Courier New"/>
            </a:endParaRP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zahlen = [2, 5, 8]</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einfuegen(zahlen, 6)</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print(zahlen)  # [2, 5, 6, 8]</a:t>
            </a:r>
          </a:p>
        </p:txBody>
      </p:sp>
      <p:sp>
        <p:nvSpPr>
          <p:cNvPr id="4" name="Rectangle 3">
            <a:extLst>
              <a:ext uri="{FF2B5EF4-FFF2-40B4-BE49-F238E27FC236}">
                <a16:creationId xmlns:a16="http://schemas.microsoft.com/office/drawing/2014/main" id="{B9E44B64-AAFA-4970-A267-F6AED1696AC2}"/>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36</a:t>
            </a:r>
          </a:p>
        </p:txBody>
      </p:sp>
    </p:spTree>
    <p:extLst>
      <p:ext uri="{BB962C8B-B14F-4D97-AF65-F5344CB8AC3E}">
        <p14:creationId xmlns:p14="http://schemas.microsoft.com/office/powerpoint/2010/main" val="19354947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7BF5D7C-4395-4DA6-BE9E-A993EF256838}"/>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Insertion Sort als Lernalgorithmus</a:t>
            </a:r>
          </a:p>
        </p:txBody>
      </p:sp>
      <p:sp>
        <p:nvSpPr>
          <p:cNvPr id="2" name="Rectangle 1">
            <a:extLst>
              <a:ext uri="{FF2B5EF4-FFF2-40B4-BE49-F238E27FC236}">
                <a16:creationId xmlns:a16="http://schemas.microsoft.com/office/drawing/2014/main" id="{E0168814-9792-4375-B835-630C0037EA97}"/>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Jedes neue Element wandert an seinen Platz im sortierten Präfix</a:t>
            </a:r>
          </a:p>
        </p:txBody>
      </p:sp>
      <p:sp>
        <p:nvSpPr>
          <p:cNvPr id="3" name="Rectangle 2">
            <a:extLst>
              <a:ext uri="{FF2B5EF4-FFF2-40B4-BE49-F238E27FC236}">
                <a16:creationId xmlns:a16="http://schemas.microsoft.com/office/drawing/2014/main" id="{19DBC688-A47F-4B22-8867-95F511D86059}"/>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Beispiel: [5, 2, 4] wird [2, 5, 4], dann [2, 4, 5]</a:t>
            </a:r>
          </a:p>
        </p:txBody>
      </p:sp>
      <p:sp>
        <p:nvSpPr>
          <p:cNvPr id="4" name="Rectangle 3">
            <a:extLst>
              <a:ext uri="{FF2B5EF4-FFF2-40B4-BE49-F238E27FC236}">
                <a16:creationId xmlns:a16="http://schemas.microsoft.com/office/drawing/2014/main" id="{2AAD201F-19BC-49CB-B890-55A5B435FDBB}"/>
              </a:ext>
            </a:extLst>
          </p:cNvPr>
          <p:cNvSpPr>
            <a:spLocks noGrp="1"/>
          </p:cNvSpPr>
          <p:nvPr/>
        </p:nvSpPr>
        <p:spPr>
          <a:xfrm>
            <a:off x="1047750" y="2647950"/>
            <a:ext cx="10382250" cy="262890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def insertion_sort(werte):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a = list(werte)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for i in range(1, len(a)):</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x, j = a[i], i - 1</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while j &gt;= 0 and a[j] &gt; x:</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a[j + 1] = a[j]</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j -= 1</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a[j + 1] = x</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a</a:t>
            </a:r>
          </a:p>
        </p:txBody>
      </p:sp>
      <p:sp>
        <p:nvSpPr>
          <p:cNvPr id="5" name="Rectangle 4">
            <a:extLst>
              <a:ext uri="{FF2B5EF4-FFF2-40B4-BE49-F238E27FC236}">
                <a16:creationId xmlns:a16="http://schemas.microsoft.com/office/drawing/2014/main" id="{16F83A67-20DF-41BF-97F3-1DA12CA20EDD}"/>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37</a:t>
            </a:r>
          </a:p>
        </p:txBody>
      </p:sp>
    </p:spTree>
    <p:extLst>
      <p:ext uri="{BB962C8B-B14F-4D97-AF65-F5344CB8AC3E}">
        <p14:creationId xmlns:p14="http://schemas.microsoft.com/office/powerpoint/2010/main" val="19354947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B1C9BC-03D9-4E3A-A410-667AF5BA2C95}"/>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Algorithmen mit Randfällen prüfen</a:t>
            </a:r>
          </a:p>
        </p:txBody>
      </p:sp>
      <p:sp>
        <p:nvSpPr>
          <p:cNvPr id="2" name="Rectangle 1">
            <a:extLst>
              <a:ext uri="{FF2B5EF4-FFF2-40B4-BE49-F238E27FC236}">
                <a16:creationId xmlns:a16="http://schemas.microsoft.com/office/drawing/2014/main" id="{2F3D9060-33D3-44F5-92D2-5DDF8F7DE366}"/>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Tests prüfen Verhalten bei leerer Eingabe, Duplikaten und fehlenden Werten</a:t>
            </a:r>
          </a:p>
        </p:txBody>
      </p:sp>
      <p:sp>
        <p:nvSpPr>
          <p:cNvPr id="3" name="Rectangle 2">
            <a:extLst>
              <a:ext uri="{FF2B5EF4-FFF2-40B4-BE49-F238E27FC236}">
                <a16:creationId xmlns:a16="http://schemas.microsoft.com/office/drawing/2014/main" id="{1C0E9742-6F52-4265-B4AD-BEA6E9A0420B}"/>
              </a:ext>
            </a:extLst>
          </p:cNvPr>
          <p:cNvSpPr>
            <a:spLocks noGrp="1"/>
          </p:cNvSpPr>
          <p:nvPr/>
        </p:nvSpPr>
        <p:spPr>
          <a:xfrm>
            <a:off x="1047750" y="2152650"/>
            <a:ext cx="10382250" cy="2352675"/>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assert linear_suche([], 3) == -1</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assert binaer_suche([2, 5, 8], 8) == 2</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assert binaer_suche([2, 5, 8], 4) == -1</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assert insertion_sort([5, 2, 4]) == [2, 4, 5]</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assert insertion_sort([3, 3, -1]) == [-1, 3, 3]</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a = []</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einfuegen(a, 4)</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assert a == [4]</a:t>
            </a:r>
          </a:p>
        </p:txBody>
      </p:sp>
      <p:sp>
        <p:nvSpPr>
          <p:cNvPr id="4" name="Rectangle 3">
            <a:extLst>
              <a:ext uri="{FF2B5EF4-FFF2-40B4-BE49-F238E27FC236}">
                <a16:creationId xmlns:a16="http://schemas.microsoft.com/office/drawing/2014/main" id="{DEB3A9D0-44BC-401D-A896-3504DD2D66C5}"/>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38</a:t>
            </a:r>
          </a:p>
        </p:txBody>
      </p:sp>
    </p:spTree>
    <p:extLst>
      <p:ext uri="{BB962C8B-B14F-4D97-AF65-F5344CB8AC3E}">
        <p14:creationId xmlns:p14="http://schemas.microsoft.com/office/powerpoint/2010/main" val="19354947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A91804F-A234-4825-8866-6C036DC7375F}"/>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Klassen und Objekte</a:t>
            </a:r>
          </a:p>
        </p:txBody>
      </p:sp>
      <p:sp>
        <p:nvSpPr>
          <p:cNvPr id="2" name="Rectangle 1">
            <a:extLst>
              <a:ext uri="{FF2B5EF4-FFF2-40B4-BE49-F238E27FC236}">
                <a16:creationId xmlns:a16="http://schemas.microsoft.com/office/drawing/2014/main" id="{F56CBA8E-4698-4E6E-843A-39F4D88EE801}"/>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Klasse: Bauplan für Zustand und Verhalten</a:t>
            </a:r>
          </a:p>
        </p:txBody>
      </p:sp>
      <p:sp>
        <p:nvSpPr>
          <p:cNvPr id="3" name="Rectangle 2">
            <a:extLst>
              <a:ext uri="{FF2B5EF4-FFF2-40B4-BE49-F238E27FC236}">
                <a16:creationId xmlns:a16="http://schemas.microsoft.com/office/drawing/2014/main" id="{BE02004E-FB9C-4B7F-80CD-DBFCC35D2B5F}"/>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Objekt: konkrete Instanz einer Klasse</a:t>
            </a:r>
          </a:p>
        </p:txBody>
      </p:sp>
      <p:sp>
        <p:nvSpPr>
          <p:cNvPr id="4" name="Rectangle 3">
            <a:extLst>
              <a:ext uri="{FF2B5EF4-FFF2-40B4-BE49-F238E27FC236}">
                <a16:creationId xmlns:a16="http://schemas.microsoft.com/office/drawing/2014/main" id="{1EAC0AFE-0FA5-4721-B6A2-FB362E001BDF}"/>
              </a:ext>
            </a:extLst>
          </p:cNvPr>
          <p:cNvSpPr>
            <a:spLocks noGrp="1"/>
          </p:cNvSpPr>
          <p:nvPr/>
        </p:nvSpPr>
        <p:spPr>
          <a:xfrm>
            <a:off x="1047750" y="25527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Attribute speichern Zustand. Methoden beschreiben Verhalten.</a:t>
            </a:r>
          </a:p>
        </p:txBody>
      </p:sp>
      <p:sp>
        <p:nvSpPr>
          <p:cNvPr id="5" name="Rectangle 4">
            <a:extLst>
              <a:ext uri="{FF2B5EF4-FFF2-40B4-BE49-F238E27FC236}">
                <a16:creationId xmlns:a16="http://schemas.microsoft.com/office/drawing/2014/main" id="{59B2D4FA-92FD-487C-A212-8CCA523B2EAD}"/>
              </a:ext>
            </a:extLst>
          </p:cNvPr>
          <p:cNvSpPr>
            <a:spLocks noGrp="1"/>
          </p:cNvSpPr>
          <p:nvPr/>
        </p:nvSpPr>
        <p:spPr>
          <a:xfrm>
            <a:off x="1047750" y="3143250"/>
            <a:ext cx="10382250" cy="207645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class Produkt: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def __init__(self, name, preis):</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self.name = name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self.preis = preis</a:t>
            </a:r>
          </a:p>
          <a:p>
            <a:endParaRPr sz="1875" b="0">
              <a:solidFill>
                <a:srgbClr val="002C48"/>
              </a:solidFill>
              <a:latin typeface="Courier New"/>
              <a:ea typeface="Courier New"/>
              <a:cs typeface="Courier New"/>
            </a:endParaRP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def umsatz(self, menge):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self.preis * menge</a:t>
            </a:r>
          </a:p>
        </p:txBody>
      </p:sp>
      <p:sp>
        <p:nvSpPr>
          <p:cNvPr id="6" name="Rectangle 5">
            <a:extLst>
              <a:ext uri="{FF2B5EF4-FFF2-40B4-BE49-F238E27FC236}">
                <a16:creationId xmlns:a16="http://schemas.microsoft.com/office/drawing/2014/main" id="{D5612638-A569-4752-9730-CB946B7899D3}"/>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39</a:t>
            </a:r>
          </a:p>
        </p:txBody>
      </p:sp>
    </p:spTree>
    <p:extLst>
      <p:ext uri="{BB962C8B-B14F-4D97-AF65-F5344CB8AC3E}">
        <p14:creationId xmlns:p14="http://schemas.microsoft.com/office/powerpoint/2010/main" val="19354947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D47784F-16AB-42B2-8725-BDFA5D7EC478}"/>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Objekte verwenden</a:t>
            </a:r>
          </a:p>
        </p:txBody>
      </p:sp>
      <p:sp>
        <p:nvSpPr>
          <p:cNvPr id="2" name="Rectangle 1">
            <a:extLst>
              <a:ext uri="{FF2B5EF4-FFF2-40B4-BE49-F238E27FC236}">
                <a16:creationId xmlns:a16="http://schemas.microsoft.com/office/drawing/2014/main" id="{B0076B48-F7DA-4299-87A3-4EA56E87C086}"/>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Jede Instanz besitzt ihren eigenen Zustand</a:t>
            </a:r>
          </a:p>
        </p:txBody>
      </p:sp>
      <p:sp>
        <p:nvSpPr>
          <p:cNvPr id="3" name="Rectangle 2">
            <a:extLst>
              <a:ext uri="{FF2B5EF4-FFF2-40B4-BE49-F238E27FC236}">
                <a16:creationId xmlns:a16="http://schemas.microsoft.com/office/drawing/2014/main" id="{811863A8-11E5-46CD-A717-A42D3F35F6FD}"/>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Kapselung bündelt zusammengehörige Daten und Operationen</a:t>
            </a:r>
          </a:p>
        </p:txBody>
      </p:sp>
      <p:sp>
        <p:nvSpPr>
          <p:cNvPr id="4" name="Rectangle 3">
            <a:extLst>
              <a:ext uri="{FF2B5EF4-FFF2-40B4-BE49-F238E27FC236}">
                <a16:creationId xmlns:a16="http://schemas.microsoft.com/office/drawing/2014/main" id="{B3265493-C0ED-4CC2-B320-07DBAB16564D}"/>
              </a:ext>
            </a:extLst>
          </p:cNvPr>
          <p:cNvSpPr>
            <a:spLocks noGrp="1"/>
          </p:cNvSpPr>
          <p:nvPr/>
        </p:nvSpPr>
        <p:spPr>
          <a:xfrm>
            <a:off x="1047750" y="2647950"/>
            <a:ext cx="10382250" cy="152400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sensor = Produkt("Sensor", 12.5)</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kabel = Produkt("Kabel", 3.0)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print(sensor.name)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print(sensor.umsatz(4))  # 50.0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print(kabel.umsatz(4))   # 12.0</a:t>
            </a:r>
          </a:p>
        </p:txBody>
      </p:sp>
      <p:sp>
        <p:nvSpPr>
          <p:cNvPr id="5" name="Rectangle 4">
            <a:extLst>
              <a:ext uri="{FF2B5EF4-FFF2-40B4-BE49-F238E27FC236}">
                <a16:creationId xmlns:a16="http://schemas.microsoft.com/office/drawing/2014/main" id="{446CAA0A-2195-44F4-B88B-7EA5762FFB48}"/>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40</a:t>
            </a:r>
          </a:p>
        </p:txBody>
      </p:sp>
    </p:spTree>
    <p:extLst>
      <p:ext uri="{BB962C8B-B14F-4D97-AF65-F5344CB8AC3E}">
        <p14:creationId xmlns:p14="http://schemas.microsoft.com/office/powerpoint/2010/main" val="19354947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7F5F37B-D3AB-4D34-88E5-DFDB84A0698D}"/>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Vererbung und Überschreiben</a:t>
            </a:r>
          </a:p>
        </p:txBody>
      </p:sp>
      <p:sp>
        <p:nvSpPr>
          <p:cNvPr id="2" name="Rectangle 1">
            <a:extLst>
              <a:ext uri="{FF2B5EF4-FFF2-40B4-BE49-F238E27FC236}">
                <a16:creationId xmlns:a16="http://schemas.microsoft.com/office/drawing/2014/main" id="{969C0F76-EF74-475B-B890-03AF5ED28D77}"/>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Digitalprodukt übernimmt Attribute und Methoden von Produkt</a:t>
            </a:r>
          </a:p>
        </p:txBody>
      </p:sp>
      <p:sp>
        <p:nvSpPr>
          <p:cNvPr id="3" name="Rectangle 2">
            <a:extLst>
              <a:ext uri="{FF2B5EF4-FFF2-40B4-BE49-F238E27FC236}">
                <a16:creationId xmlns:a16="http://schemas.microsoft.com/office/drawing/2014/main" id="{285C4E5C-867C-44BD-BF9D-0D31207C9B66}"/>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Eine eigene Methode kann das Verhalten der Basisklasse überschreiben</a:t>
            </a:r>
          </a:p>
        </p:txBody>
      </p:sp>
      <p:sp>
        <p:nvSpPr>
          <p:cNvPr id="4" name="Rectangle 3">
            <a:extLst>
              <a:ext uri="{FF2B5EF4-FFF2-40B4-BE49-F238E27FC236}">
                <a16:creationId xmlns:a16="http://schemas.microsoft.com/office/drawing/2014/main" id="{A42C58C8-B36E-47C5-B0AC-CB988C7520F5}"/>
              </a:ext>
            </a:extLst>
          </p:cNvPr>
          <p:cNvSpPr>
            <a:spLocks noGrp="1"/>
          </p:cNvSpPr>
          <p:nvPr/>
        </p:nvSpPr>
        <p:spPr>
          <a:xfrm>
            <a:off x="1047750" y="2647950"/>
            <a:ext cx="10382250" cy="207645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class Digitalprodukt(Produkt):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def __init__(self, name, preis, format):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super().__init__(name, preis)</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self.format = format</a:t>
            </a:r>
          </a:p>
          <a:p>
            <a:endParaRPr sz="1875" b="0">
              <a:solidFill>
                <a:srgbClr val="002C48"/>
              </a:solidFill>
              <a:latin typeface="Courier New"/>
              <a:ea typeface="Courier New"/>
              <a:cs typeface="Courier New"/>
            </a:endParaRP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def umsatz(self, menge):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super().umsatz(menge) * 0.9</a:t>
            </a:r>
          </a:p>
        </p:txBody>
      </p:sp>
      <p:sp>
        <p:nvSpPr>
          <p:cNvPr id="5" name="Rectangle 4">
            <a:extLst>
              <a:ext uri="{FF2B5EF4-FFF2-40B4-BE49-F238E27FC236}">
                <a16:creationId xmlns:a16="http://schemas.microsoft.com/office/drawing/2014/main" id="{86683161-BF4B-48D7-873D-5711126D54A9}"/>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41</a:t>
            </a:r>
          </a:p>
        </p:txBody>
      </p:sp>
    </p:spTree>
    <p:extLst>
      <p:ext uri="{BB962C8B-B14F-4D97-AF65-F5344CB8AC3E}">
        <p14:creationId xmlns:p14="http://schemas.microsoft.com/office/powerpoint/2010/main" val="19354947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41EB51F-3AA0-4E2A-86F3-BFFC60944EDE}"/>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Polymorphie: gleicher Aufruf, anderes Verhalten</a:t>
            </a:r>
          </a:p>
        </p:txBody>
      </p:sp>
      <p:sp>
        <p:nvSpPr>
          <p:cNvPr id="2" name="Rectangle 1">
            <a:extLst>
              <a:ext uri="{FF2B5EF4-FFF2-40B4-BE49-F238E27FC236}">
                <a16:creationId xmlns:a16="http://schemas.microsoft.com/office/drawing/2014/main" id="{C2B06CB5-1485-40BD-BFAB-0E89CF9FE206}"/>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Die Schleife verwendet dieselbe Methode für unterschiedliche Objekte</a:t>
            </a:r>
          </a:p>
        </p:txBody>
      </p:sp>
      <p:sp>
        <p:nvSpPr>
          <p:cNvPr id="3" name="Rectangle 2">
            <a:extLst>
              <a:ext uri="{FF2B5EF4-FFF2-40B4-BE49-F238E27FC236}">
                <a16:creationId xmlns:a16="http://schemas.microsoft.com/office/drawing/2014/main" id="{3C9D18C4-8430-45F1-9E72-3F6FE06738EE}"/>
              </a:ext>
            </a:extLst>
          </p:cNvPr>
          <p:cNvSpPr>
            <a:spLocks noGrp="1"/>
          </p:cNvSpPr>
          <p:nvPr/>
        </p:nvSpPr>
        <p:spPr>
          <a:xfrm>
            <a:off x="1047750" y="2152650"/>
            <a:ext cx="10382250" cy="1800225"/>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produkte = [Produkt("Sensor", 10),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Digitalprodukt("E-Book", 10, "PDF")]</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for produkt in produkte: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print(produkt.umsatz(2))</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20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18.0</a:t>
            </a:r>
          </a:p>
        </p:txBody>
      </p:sp>
      <p:sp>
        <p:nvSpPr>
          <p:cNvPr id="4" name="Rectangle 3">
            <a:extLst>
              <a:ext uri="{FF2B5EF4-FFF2-40B4-BE49-F238E27FC236}">
                <a16:creationId xmlns:a16="http://schemas.microsoft.com/office/drawing/2014/main" id="{D5019900-9691-459D-9754-833D06837783}"/>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42</a:t>
            </a:r>
          </a:p>
        </p:txBody>
      </p:sp>
    </p:spTree>
    <p:extLst>
      <p:ext uri="{BB962C8B-B14F-4D97-AF65-F5344CB8AC3E}">
        <p14:creationId xmlns:p14="http://schemas.microsoft.com/office/powerpoint/2010/main" val="19354947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1B283A-05BE-4A5E-9405-7558A75E89A3}"/>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Duck Typing ohne gemeinsame Basisklasse</a:t>
            </a:r>
          </a:p>
        </p:txBody>
      </p:sp>
      <p:sp>
        <p:nvSpPr>
          <p:cNvPr id="2" name="Rectangle 1">
            <a:extLst>
              <a:ext uri="{FF2B5EF4-FFF2-40B4-BE49-F238E27FC236}">
                <a16:creationId xmlns:a16="http://schemas.microsoft.com/office/drawing/2014/main" id="{57027F0A-1075-4B48-BF99-366D9777C4DB}"/>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Auch unabhängig definierte Klassen können dieselbe Schnittstelle anbieten</a:t>
            </a:r>
          </a:p>
        </p:txBody>
      </p:sp>
      <p:sp>
        <p:nvSpPr>
          <p:cNvPr id="3" name="Rectangle 2">
            <a:extLst>
              <a:ext uri="{FF2B5EF4-FFF2-40B4-BE49-F238E27FC236}">
                <a16:creationId xmlns:a16="http://schemas.microsoft.com/office/drawing/2014/main" id="{98417AE0-CBC8-48BE-8AAD-21E7D2193B8E}"/>
              </a:ext>
            </a:extLst>
          </p:cNvPr>
          <p:cNvSpPr>
            <a:spLocks noGrp="1"/>
          </p:cNvSpPr>
          <p:nvPr/>
        </p:nvSpPr>
        <p:spPr>
          <a:xfrm>
            <a:off x="1047750" y="2152650"/>
            <a:ext cx="10382250" cy="1800225"/>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class Pauschale: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def umsatz(self, menge):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50</a:t>
            </a:r>
          </a:p>
          <a:p>
            <a:endParaRPr sz="1875" b="0">
              <a:solidFill>
                <a:srgbClr val="002C48"/>
              </a:solidFill>
              <a:latin typeface="Courier New"/>
              <a:ea typeface="Courier New"/>
              <a:cs typeface="Courier New"/>
            </a:endParaRP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for objekt in [Produkt("Sensor", 10), Pauschale()]: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print(objekt.umsatz(2))  # 20, dann 50</a:t>
            </a:r>
          </a:p>
        </p:txBody>
      </p:sp>
      <p:sp>
        <p:nvSpPr>
          <p:cNvPr id="4" name="Rectangle 3">
            <a:extLst>
              <a:ext uri="{FF2B5EF4-FFF2-40B4-BE49-F238E27FC236}">
                <a16:creationId xmlns:a16="http://schemas.microsoft.com/office/drawing/2014/main" id="{98ACD10B-DB2B-4453-B490-DC7C55EE1740}"/>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43</a:t>
            </a:r>
          </a:p>
        </p:txBody>
      </p:sp>
    </p:spTree>
    <p:extLst>
      <p:ext uri="{BB962C8B-B14F-4D97-AF65-F5344CB8AC3E}">
        <p14:creationId xmlns:p14="http://schemas.microsoft.com/office/powerpoint/2010/main" val="19354947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A97E7B1-4881-4C1E-A220-9C1483410D79}"/>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Komposition: Objekte zusammensetzen</a:t>
            </a:r>
          </a:p>
        </p:txBody>
      </p:sp>
      <p:sp>
        <p:nvSpPr>
          <p:cNvPr id="2" name="Rectangle 1">
            <a:extLst>
              <a:ext uri="{FF2B5EF4-FFF2-40B4-BE49-F238E27FC236}">
                <a16:creationId xmlns:a16="http://schemas.microsoft.com/office/drawing/2014/main" id="{B192BA28-6AE0-46C3-95E9-2E2FBFF3B24D}"/>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Ein Warenkorb enthält Produkte. Er ist selbst kein Produkt.</a:t>
            </a:r>
          </a:p>
        </p:txBody>
      </p:sp>
      <p:sp>
        <p:nvSpPr>
          <p:cNvPr id="3" name="Rectangle 2">
            <a:extLst>
              <a:ext uri="{FF2B5EF4-FFF2-40B4-BE49-F238E27FC236}">
                <a16:creationId xmlns:a16="http://schemas.microsoft.com/office/drawing/2014/main" id="{6106E924-8EBE-4E84-80CF-17A7DDD95C49}"/>
              </a:ext>
            </a:extLst>
          </p:cNvPr>
          <p:cNvSpPr>
            <a:spLocks noGrp="1"/>
          </p:cNvSpPr>
          <p:nvPr/>
        </p:nvSpPr>
        <p:spPr>
          <a:xfrm>
            <a:off x="1047750" y="2152650"/>
            <a:ext cx="10382250" cy="3457575"/>
          </a:xfrm>
          <a:prstGeom prst="rect">
            <a:avLst/>
          </a:prstGeom>
          <a:noFill/>
          <a:ln w="0">
            <a:noFill/>
          </a:ln>
        </p:spPr>
        <p:txBody>
          <a:bodyPr lIns="0" tIns="0" rIns="0" bIns="0">
            <a:noAutofit/>
          </a:bodyPr>
          <a:lstStyle>
            <a:defPPr>
              <a:defRPr sz="1725" b="0">
                <a:solidFill>
                  <a:srgbClr val="002C48"/>
                </a:solidFill>
                <a:latin typeface="Courier New"/>
                <a:ea typeface="Courier New"/>
                <a:cs typeface="Courier New"/>
              </a:defRPr>
            </a:defPPr>
          </a:lstStyle>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class Warenkorb:</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def __init__(self):</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self.produkte = []</a:t>
            </a:r>
          </a:p>
          <a:p>
            <a:endParaRPr sz="1725" b="0">
              <a:solidFill>
                <a:srgbClr val="002C48"/>
              </a:solidFill>
              <a:latin typeface="Courier New"/>
              <a:ea typeface="Courier New"/>
              <a:cs typeface="Courier New"/>
            </a:endParaRP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def hinzufuegen(self, produkt):</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self.produkte.append(produkt)</a:t>
            </a:r>
          </a:p>
          <a:p>
            <a:endParaRPr sz="1725" b="0">
              <a:solidFill>
                <a:srgbClr val="002C48"/>
              </a:solidFill>
              <a:latin typeface="Courier New"/>
              <a:ea typeface="Courier New"/>
              <a:cs typeface="Courier New"/>
            </a:endParaRP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def gesamt(self):</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betrag = 0</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for p in self.produkte:</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betrag += p.umsatz(1)</a:t>
            </a:r>
          </a:p>
          <a:p>
            <a:pPr>
              <a:defRPr sz="1725" b="0">
                <a:solidFill>
                  <a:srgbClr val="002C48"/>
                </a:solidFill>
                <a:latin typeface="Courier New"/>
                <a:ea typeface="Courier New"/>
                <a:cs typeface="Courier New"/>
              </a:defRPr>
            </a:pPr>
            <a:r>
              <a:rPr sz="1725" b="0">
                <a:solidFill>
                  <a:srgbClr val="002C48"/>
                </a:solidFill>
                <a:latin typeface="Courier New"/>
                <a:ea typeface="Courier New"/>
                <a:cs typeface="Courier New"/>
              </a:rPr>
              <a:t>        return betrag</a:t>
            </a:r>
          </a:p>
        </p:txBody>
      </p:sp>
      <p:sp>
        <p:nvSpPr>
          <p:cNvPr id="4" name="Rectangle 3">
            <a:extLst>
              <a:ext uri="{FF2B5EF4-FFF2-40B4-BE49-F238E27FC236}">
                <a16:creationId xmlns:a16="http://schemas.microsoft.com/office/drawing/2014/main" id="{C96DDA61-5AB9-48CF-923D-41F10EB398FB}"/>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44</a:t>
            </a:r>
          </a:p>
        </p:txBody>
      </p:sp>
    </p:spTree>
    <p:extLst>
      <p:ext uri="{BB962C8B-B14F-4D97-AF65-F5344CB8AC3E}">
        <p14:creationId xmlns:p14="http://schemas.microsoft.com/office/powerpoint/2010/main" val="19354947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3654F-8F5F-45C5-B601-093C8BDAA00D}"/>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Binäre Suchbäume</a:t>
            </a:r>
          </a:p>
        </p:txBody>
      </p:sp>
      <p:sp>
        <p:nvSpPr>
          <p:cNvPr id="2" name="Rectangle 1">
            <a:extLst>
              <a:ext uri="{FF2B5EF4-FFF2-40B4-BE49-F238E27FC236}">
                <a16:creationId xmlns:a16="http://schemas.microsoft.com/office/drawing/2014/main" id="{4184636E-E767-4FCB-8512-85A464604BBD}"/>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Jeder Knoten speichert einen Wert und bis zu zwei Kinder</a:t>
            </a:r>
          </a:p>
        </p:txBody>
      </p:sp>
      <p:sp>
        <p:nvSpPr>
          <p:cNvPr id="3" name="Rectangle 2">
            <a:extLst>
              <a:ext uri="{FF2B5EF4-FFF2-40B4-BE49-F238E27FC236}">
                <a16:creationId xmlns:a16="http://schemas.microsoft.com/office/drawing/2014/main" id="{874616E0-8234-4F35-A327-B88A7E5E0700}"/>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Links liegen kleinere, rechts größere Werte</a:t>
            </a:r>
          </a:p>
        </p:txBody>
      </p:sp>
      <p:sp>
        <p:nvSpPr>
          <p:cNvPr id="4" name="Rectangle 3">
            <a:extLst>
              <a:ext uri="{FF2B5EF4-FFF2-40B4-BE49-F238E27FC236}">
                <a16:creationId xmlns:a16="http://schemas.microsoft.com/office/drawing/2014/main" id="{C8D3E11D-BBD7-4A36-A065-A1B6976BEDE2}"/>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Beispiel: Wurzel 8, Kinder 3 und 10, unter 3 die Werte 1 und 6</a:t>
            </a:r>
          </a:p>
        </p:txBody>
      </p:sp>
      <p:sp>
        <p:nvSpPr>
          <p:cNvPr id="5" name="Rectangle 4">
            <a:extLst>
              <a:ext uri="{FF2B5EF4-FFF2-40B4-BE49-F238E27FC236}">
                <a16:creationId xmlns:a16="http://schemas.microsoft.com/office/drawing/2014/main" id="{7DB5E3AC-C6F0-46CD-A678-1C75B3CA295D}"/>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Suche nach 6 besucht 8, dann 3, dann 6</a:t>
            </a:r>
          </a:p>
        </p:txBody>
      </p:sp>
      <p:sp>
        <p:nvSpPr>
          <p:cNvPr id="6" name="Rectangle 5">
            <a:extLst>
              <a:ext uri="{FF2B5EF4-FFF2-40B4-BE49-F238E27FC236}">
                <a16:creationId xmlns:a16="http://schemas.microsoft.com/office/drawing/2014/main" id="{95F80A57-E35E-4314-8542-AB5CEDC2C36E}"/>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Suche und Einfügen kosten O(h), abhängig von der Baumhöhe h</a:t>
            </a:r>
          </a:p>
        </p:txBody>
      </p:sp>
      <p:sp>
        <p:nvSpPr>
          <p:cNvPr id="7" name="Rectangle 6">
            <a:extLst>
              <a:ext uri="{FF2B5EF4-FFF2-40B4-BE49-F238E27FC236}">
                <a16:creationId xmlns:a16="http://schemas.microsoft.com/office/drawing/2014/main" id="{73E8E422-3FE5-4BC5-8BFD-10BB08592F24}"/>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45</a:t>
            </a:r>
          </a:p>
        </p:txBody>
      </p:sp>
    </p:spTree>
    <p:extLst>
      <p:ext uri="{BB962C8B-B14F-4D97-AF65-F5344CB8AC3E}">
        <p14:creationId xmlns:p14="http://schemas.microsoft.com/office/powerpoint/2010/main" val="19354947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2638C1-70DC-4CB6-91FE-7C4FC65FD132}"/>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Suchbaum: Knoten als Klasse</a:t>
            </a:r>
          </a:p>
        </p:txBody>
      </p:sp>
      <p:sp>
        <p:nvSpPr>
          <p:cNvPr id="2" name="Rectangle 1">
            <a:extLst>
              <a:ext uri="{FF2B5EF4-FFF2-40B4-BE49-F238E27FC236}">
                <a16:creationId xmlns:a16="http://schemas.microsoft.com/office/drawing/2014/main" id="{5463D65B-8267-4C30-9B9A-346025B4E915}"/>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Jeder Knoten enthält einen Wert und Verweise auf seine Kinder</a:t>
            </a:r>
          </a:p>
        </p:txBody>
      </p:sp>
      <p:sp>
        <p:nvSpPr>
          <p:cNvPr id="3" name="Rectangle 2">
            <a:extLst>
              <a:ext uri="{FF2B5EF4-FFF2-40B4-BE49-F238E27FC236}">
                <a16:creationId xmlns:a16="http://schemas.microsoft.com/office/drawing/2014/main" id="{A4C81EB4-3FAB-4CC1-84DD-37BD0B43DDAB}"/>
              </a:ext>
            </a:extLst>
          </p:cNvPr>
          <p:cNvSpPr>
            <a:spLocks noGrp="1"/>
          </p:cNvSpPr>
          <p:nvPr/>
        </p:nvSpPr>
        <p:spPr>
          <a:xfrm>
            <a:off x="1047750" y="2152650"/>
            <a:ext cx="10382250" cy="262890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class Knoten:</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def __init__(self, wert):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self.wert = wert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self.links = None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self.rechts = None</a:t>
            </a:r>
          </a:p>
          <a:p>
            <a:endParaRPr sz="1875" b="0">
              <a:solidFill>
                <a:srgbClr val="002C48"/>
              </a:solidFill>
              <a:latin typeface="Courier New"/>
              <a:ea typeface="Courier New"/>
              <a:cs typeface="Courier New"/>
            </a:endParaRP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wurzel = Knoten(8)</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wurzel.links = Knoten(3)</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wurzel.rechts = Knoten(10)</a:t>
            </a:r>
          </a:p>
        </p:txBody>
      </p:sp>
      <p:sp>
        <p:nvSpPr>
          <p:cNvPr id="4" name="Rectangle 3">
            <a:extLst>
              <a:ext uri="{FF2B5EF4-FFF2-40B4-BE49-F238E27FC236}">
                <a16:creationId xmlns:a16="http://schemas.microsoft.com/office/drawing/2014/main" id="{240ED5FF-B1B2-40A5-8A3A-57040DB7FBFD}"/>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46</a:t>
            </a:r>
          </a:p>
        </p:txBody>
      </p:sp>
    </p:spTree>
    <p:extLst>
      <p:ext uri="{BB962C8B-B14F-4D97-AF65-F5344CB8AC3E}">
        <p14:creationId xmlns:p14="http://schemas.microsoft.com/office/powerpoint/2010/main" val="19354947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0C0F68D-AF64-45B9-BCBD-33B5230FC4B1}"/>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Suche im Baum ohne Bibliothek</a:t>
            </a:r>
          </a:p>
        </p:txBody>
      </p:sp>
      <p:sp>
        <p:nvSpPr>
          <p:cNvPr id="2" name="Rectangle 1">
            <a:extLst>
              <a:ext uri="{FF2B5EF4-FFF2-40B4-BE49-F238E27FC236}">
                <a16:creationId xmlns:a16="http://schemas.microsoft.com/office/drawing/2014/main" id="{E67ECF36-70AE-4B7B-8BDD-AFD4EA52E9F1}"/>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Die Suche folgt pro Schritt genau einem Kind</a:t>
            </a:r>
          </a:p>
        </p:txBody>
      </p:sp>
      <p:sp>
        <p:nvSpPr>
          <p:cNvPr id="3" name="Rectangle 2">
            <a:extLst>
              <a:ext uri="{FF2B5EF4-FFF2-40B4-BE49-F238E27FC236}">
                <a16:creationId xmlns:a16="http://schemas.microsoft.com/office/drawing/2014/main" id="{E5641F12-8806-487F-93BA-ADE6EA31F605}"/>
              </a:ext>
            </a:extLst>
          </p:cNvPr>
          <p:cNvSpPr>
            <a:spLocks noGrp="1"/>
          </p:cNvSpPr>
          <p:nvPr/>
        </p:nvSpPr>
        <p:spPr>
          <a:xfrm>
            <a:off x="1047750" y="2152650"/>
            <a:ext cx="10382250" cy="262890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def baum_suche(knoten, ziel):</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while knoten is not None: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if ziel == knoten.wert: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True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if ziel &lt; knoten.wert: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knoten = knoten.links</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else: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knoten = knoten.rechts</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False</a:t>
            </a:r>
          </a:p>
        </p:txBody>
      </p:sp>
      <p:sp>
        <p:nvSpPr>
          <p:cNvPr id="4" name="Rectangle 3">
            <a:extLst>
              <a:ext uri="{FF2B5EF4-FFF2-40B4-BE49-F238E27FC236}">
                <a16:creationId xmlns:a16="http://schemas.microsoft.com/office/drawing/2014/main" id="{3C03D36C-68E7-4B90-9D92-4378738559EE}"/>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47</a:t>
            </a:r>
          </a:p>
        </p:txBody>
      </p:sp>
    </p:spTree>
    <p:extLst>
      <p:ext uri="{BB962C8B-B14F-4D97-AF65-F5344CB8AC3E}">
        <p14:creationId xmlns:p14="http://schemas.microsoft.com/office/powerpoint/2010/main" val="19354947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83211C-2C1F-4EC9-92DD-ADE0E7CE7EA0}"/>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Programmierstile und Ablauftechniken</a:t>
            </a:r>
          </a:p>
        </p:txBody>
      </p:sp>
      <p:sp>
        <p:nvSpPr>
          <p:cNvPr id="2" name="Rectangle 1">
            <a:extLst>
              <a:ext uri="{FF2B5EF4-FFF2-40B4-BE49-F238E27FC236}">
                <a16:creationId xmlns:a16="http://schemas.microsoft.com/office/drawing/2014/main" id="{D4BB9994-487B-4C9E-90BF-98F07109E862}"/>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Prozedural: Aufgaben durch Anweisungen und Funktionen zerlegen</a:t>
            </a:r>
          </a:p>
        </p:txBody>
      </p:sp>
      <p:sp>
        <p:nvSpPr>
          <p:cNvPr id="3" name="Rectangle 2">
            <a:extLst>
              <a:ext uri="{FF2B5EF4-FFF2-40B4-BE49-F238E27FC236}">
                <a16:creationId xmlns:a16="http://schemas.microsoft.com/office/drawing/2014/main" id="{26BDA378-4FC7-4BD5-B186-A9114EF063B9}"/>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Objektorientiert: Zustand und Verhalten in Objekten bündeln</a:t>
            </a:r>
          </a:p>
        </p:txBody>
      </p:sp>
      <p:sp>
        <p:nvSpPr>
          <p:cNvPr id="4" name="Rectangle 3">
            <a:extLst>
              <a:ext uri="{FF2B5EF4-FFF2-40B4-BE49-F238E27FC236}">
                <a16:creationId xmlns:a16="http://schemas.microsoft.com/office/drawing/2014/main" id="{ED7CDA9F-CD7C-4BA0-AA6F-ED40718CCD0A}"/>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Funktional: Werte durch möglichst nebenwirkungsfreie Funktionen abbilden</a:t>
            </a:r>
          </a:p>
        </p:txBody>
      </p:sp>
      <p:sp>
        <p:nvSpPr>
          <p:cNvPr id="5" name="Rectangle 4">
            <a:extLst>
              <a:ext uri="{FF2B5EF4-FFF2-40B4-BE49-F238E27FC236}">
                <a16:creationId xmlns:a16="http://schemas.microsoft.com/office/drawing/2014/main" id="{E33B65EA-5552-4DD0-A345-52F6E5761CBE}"/>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Iteration: Schritte wiederholen. Rekursion: Funktion ruft sich selbst auf.</a:t>
            </a:r>
          </a:p>
        </p:txBody>
      </p:sp>
      <p:sp>
        <p:nvSpPr>
          <p:cNvPr id="6" name="Rectangle 5">
            <a:extLst>
              <a:ext uri="{FF2B5EF4-FFF2-40B4-BE49-F238E27FC236}">
                <a16:creationId xmlns:a16="http://schemas.microsoft.com/office/drawing/2014/main" id="{0CF600D4-D666-44BF-91D1-089087E0015C}"/>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Iteration und Rekursion lassen sich mit mehreren Stilen kombinieren</a:t>
            </a:r>
          </a:p>
        </p:txBody>
      </p:sp>
      <p:sp>
        <p:nvSpPr>
          <p:cNvPr id="7" name="Rectangle 6">
            <a:extLst>
              <a:ext uri="{FF2B5EF4-FFF2-40B4-BE49-F238E27FC236}">
                <a16:creationId xmlns:a16="http://schemas.microsoft.com/office/drawing/2014/main" id="{1B5BC313-7F56-4732-9340-DFD648B5FB8D}"/>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48</a:t>
            </a:r>
          </a:p>
        </p:txBody>
      </p:sp>
    </p:spTree>
    <p:extLst>
      <p:ext uri="{BB962C8B-B14F-4D97-AF65-F5344CB8AC3E}">
        <p14:creationId xmlns:p14="http://schemas.microsoft.com/office/powerpoint/2010/main" val="19354947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9912E83-65A2-492A-A9A6-56F0049C93A6}"/>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Prozedural: Summe schrittweise berechnen</a:t>
            </a:r>
          </a:p>
        </p:txBody>
      </p:sp>
      <p:sp>
        <p:nvSpPr>
          <p:cNvPr id="2" name="Rectangle 1">
            <a:extLst>
              <a:ext uri="{FF2B5EF4-FFF2-40B4-BE49-F238E27FC236}">
                <a16:creationId xmlns:a16="http://schemas.microsoft.com/office/drawing/2014/main" id="{306E2CC0-E7A7-4EEC-B1B2-E845BD3D079C}"/>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Eine lokale Variable sammelt die Zwischenergebnisse</a:t>
            </a:r>
          </a:p>
        </p:txBody>
      </p:sp>
      <p:sp>
        <p:nvSpPr>
          <p:cNvPr id="3" name="Rectangle 2">
            <a:extLst>
              <a:ext uri="{FF2B5EF4-FFF2-40B4-BE49-F238E27FC236}">
                <a16:creationId xmlns:a16="http://schemas.microsoft.com/office/drawing/2014/main" id="{D07FA1F7-AD7C-41AA-BD23-04E1F30AAD02}"/>
              </a:ext>
            </a:extLst>
          </p:cNvPr>
          <p:cNvSpPr>
            <a:spLocks noGrp="1"/>
          </p:cNvSpPr>
          <p:nvPr/>
        </p:nvSpPr>
        <p:spPr>
          <a:xfrm>
            <a:off x="1047750" y="2152650"/>
            <a:ext cx="10382250" cy="207645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def quadratsumme(werte):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gesamt = 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for x in werte: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gesamt += x * x</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gesamt</a:t>
            </a:r>
          </a:p>
          <a:p>
            <a:endParaRPr sz="1875" b="0">
              <a:solidFill>
                <a:srgbClr val="002C48"/>
              </a:solidFill>
              <a:latin typeface="Courier New"/>
              <a:ea typeface="Courier New"/>
              <a:cs typeface="Courier New"/>
            </a:endParaRP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print(quadratsumme([1, 2, 3]))  # 14</a:t>
            </a:r>
          </a:p>
        </p:txBody>
      </p:sp>
      <p:sp>
        <p:nvSpPr>
          <p:cNvPr id="4" name="Rectangle 3">
            <a:extLst>
              <a:ext uri="{FF2B5EF4-FFF2-40B4-BE49-F238E27FC236}">
                <a16:creationId xmlns:a16="http://schemas.microsoft.com/office/drawing/2014/main" id="{CEDBD17F-37AF-4C77-8886-97B5B5956015}"/>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49</a:t>
            </a:r>
          </a:p>
        </p:txBody>
      </p:sp>
    </p:spTree>
    <p:extLst>
      <p:ext uri="{BB962C8B-B14F-4D97-AF65-F5344CB8AC3E}">
        <p14:creationId xmlns:p14="http://schemas.microsoft.com/office/powerpoint/2010/main" val="19354947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91B59E-484A-48A8-AA5A-233DC18FBBF3}"/>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Funktional: Funktionen und Abbildungen</a:t>
            </a:r>
          </a:p>
        </p:txBody>
      </p:sp>
      <p:sp>
        <p:nvSpPr>
          <p:cNvPr id="2" name="Rectangle 1">
            <a:extLst>
              <a:ext uri="{FF2B5EF4-FFF2-40B4-BE49-F238E27FC236}">
                <a16:creationId xmlns:a16="http://schemas.microsoft.com/office/drawing/2014/main" id="{4A6AC769-8500-4173-842F-629421D2889C}"/>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Funktionen können als Werte übergeben werden</a:t>
            </a:r>
          </a:p>
        </p:txBody>
      </p:sp>
      <p:sp>
        <p:nvSpPr>
          <p:cNvPr id="3" name="Rectangle 2">
            <a:extLst>
              <a:ext uri="{FF2B5EF4-FFF2-40B4-BE49-F238E27FC236}">
                <a16:creationId xmlns:a16="http://schemas.microsoft.com/office/drawing/2014/main" id="{82B792A5-DFEE-46F1-BF10-FCC9B9E74AB2}"/>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Eine reine Funktion verändert keinen äußeren Zustand</a:t>
            </a:r>
          </a:p>
        </p:txBody>
      </p:sp>
      <p:sp>
        <p:nvSpPr>
          <p:cNvPr id="4" name="Rectangle 3">
            <a:extLst>
              <a:ext uri="{FF2B5EF4-FFF2-40B4-BE49-F238E27FC236}">
                <a16:creationId xmlns:a16="http://schemas.microsoft.com/office/drawing/2014/main" id="{6B02E56A-2327-47C5-A578-09DE2272AF72}"/>
              </a:ext>
            </a:extLst>
          </p:cNvPr>
          <p:cNvSpPr>
            <a:spLocks noGrp="1"/>
          </p:cNvSpPr>
          <p:nvPr/>
        </p:nvSpPr>
        <p:spPr>
          <a:xfrm>
            <a:off x="1047750" y="2647950"/>
            <a:ext cx="10382250" cy="2352675"/>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def quadrat(x):</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x * x</a:t>
            </a:r>
          </a:p>
          <a:p>
            <a:endParaRPr sz="1875" b="0">
              <a:solidFill>
                <a:srgbClr val="002C48"/>
              </a:solidFill>
              <a:latin typeface="Courier New"/>
              <a:ea typeface="Courier New"/>
              <a:cs typeface="Courier New"/>
            </a:endParaRP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def anwenden(funktion, werte):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[funktion(x) for x in werte]</a:t>
            </a:r>
          </a:p>
          <a:p>
            <a:endParaRPr sz="1875" b="0">
              <a:solidFill>
                <a:srgbClr val="002C48"/>
              </a:solidFill>
              <a:latin typeface="Courier New"/>
              <a:ea typeface="Courier New"/>
              <a:cs typeface="Courier New"/>
            </a:endParaRP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print(anwenden(quadrat, [1, 2, 3]))  # [1, 4, 9]</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print(anwenden(lambda x: x + 1, [1, 2, 3]))</a:t>
            </a:r>
          </a:p>
        </p:txBody>
      </p:sp>
      <p:sp>
        <p:nvSpPr>
          <p:cNvPr id="5" name="Rectangle 4">
            <a:extLst>
              <a:ext uri="{FF2B5EF4-FFF2-40B4-BE49-F238E27FC236}">
                <a16:creationId xmlns:a16="http://schemas.microsoft.com/office/drawing/2014/main" id="{0977E408-96C1-42BC-AD06-6EA7360F11A0}"/>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50</a:t>
            </a:r>
          </a:p>
        </p:txBody>
      </p:sp>
    </p:spTree>
    <p:extLst>
      <p:ext uri="{BB962C8B-B14F-4D97-AF65-F5344CB8AC3E}">
        <p14:creationId xmlns:p14="http://schemas.microsoft.com/office/powerpoint/2010/main" val="19354947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EAF14BA-F4F0-4A9A-B6A8-679D2E118B89}"/>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Iteration: Fakultät mit einer Schleife</a:t>
            </a:r>
          </a:p>
        </p:txBody>
      </p:sp>
      <p:sp>
        <p:nvSpPr>
          <p:cNvPr id="2" name="Rectangle 1">
            <a:extLst>
              <a:ext uri="{FF2B5EF4-FFF2-40B4-BE49-F238E27FC236}">
                <a16:creationId xmlns:a16="http://schemas.microsoft.com/office/drawing/2014/main" id="{E5D58325-C392-48DE-8B31-B8BBDAF37A18}"/>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Für ganze n ≥ 0 gilt n! = 1 · 2 · … · n und 0! = 1</a:t>
            </a:r>
          </a:p>
        </p:txBody>
      </p:sp>
      <p:sp>
        <p:nvSpPr>
          <p:cNvPr id="3" name="Rectangle 2">
            <a:extLst>
              <a:ext uri="{FF2B5EF4-FFF2-40B4-BE49-F238E27FC236}">
                <a16:creationId xmlns:a16="http://schemas.microsoft.com/office/drawing/2014/main" id="{D940AA1C-E3DA-44E6-AB9F-0B7772644D2F}"/>
              </a:ext>
            </a:extLst>
          </p:cNvPr>
          <p:cNvSpPr>
            <a:spLocks noGrp="1"/>
          </p:cNvSpPr>
          <p:nvPr/>
        </p:nvSpPr>
        <p:spPr>
          <a:xfrm>
            <a:off x="1047750" y="2152650"/>
            <a:ext cx="10382250" cy="262890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def fakultaet_iterativ(n):</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if n &lt; 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raise ValueError("n muss nichtnegativ sein")</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ergebnis = 1</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for faktor in range(2, n + 1):</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ergebnis *= faktor</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ergebnis</a:t>
            </a:r>
          </a:p>
          <a:p>
            <a:endParaRPr sz="1875" b="0">
              <a:solidFill>
                <a:srgbClr val="002C48"/>
              </a:solidFill>
              <a:latin typeface="Courier New"/>
              <a:ea typeface="Courier New"/>
              <a:cs typeface="Courier New"/>
            </a:endParaRP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print(fakultaet_iterativ(4))  # 24</a:t>
            </a:r>
          </a:p>
        </p:txBody>
      </p:sp>
      <p:sp>
        <p:nvSpPr>
          <p:cNvPr id="4" name="Rectangle 3">
            <a:extLst>
              <a:ext uri="{FF2B5EF4-FFF2-40B4-BE49-F238E27FC236}">
                <a16:creationId xmlns:a16="http://schemas.microsoft.com/office/drawing/2014/main" id="{F1BCA698-AAD4-442C-A824-E986D9CCBB2A}"/>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51</a:t>
            </a:r>
          </a:p>
        </p:txBody>
      </p:sp>
    </p:spTree>
    <p:extLst>
      <p:ext uri="{BB962C8B-B14F-4D97-AF65-F5344CB8AC3E}">
        <p14:creationId xmlns:p14="http://schemas.microsoft.com/office/powerpoint/2010/main" val="19354947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B90D4AF-EF98-496D-BF73-A83382BCEF53}"/>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Rekursion: Fakultät durch Selbstaufruf</a:t>
            </a:r>
          </a:p>
        </p:txBody>
      </p:sp>
      <p:sp>
        <p:nvSpPr>
          <p:cNvPr id="2" name="Rectangle 1">
            <a:extLst>
              <a:ext uri="{FF2B5EF4-FFF2-40B4-BE49-F238E27FC236}">
                <a16:creationId xmlns:a16="http://schemas.microsoft.com/office/drawing/2014/main" id="{E7D2411A-60BE-436E-B29B-334B7520408A}"/>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Basisfall beendet die Rekursion. Jeder Aufruf nähert sich ihm.</a:t>
            </a:r>
          </a:p>
        </p:txBody>
      </p:sp>
      <p:sp>
        <p:nvSpPr>
          <p:cNvPr id="3" name="Rectangle 2">
            <a:extLst>
              <a:ext uri="{FF2B5EF4-FFF2-40B4-BE49-F238E27FC236}">
                <a16:creationId xmlns:a16="http://schemas.microsoft.com/office/drawing/2014/main" id="{BD161765-4717-467C-A9B2-F2D70634D343}"/>
              </a:ext>
            </a:extLst>
          </p:cNvPr>
          <p:cNvSpPr>
            <a:spLocks noGrp="1"/>
          </p:cNvSpPr>
          <p:nvPr/>
        </p:nvSpPr>
        <p:spPr>
          <a:xfrm>
            <a:off x="1047750" y="2152650"/>
            <a:ext cx="10382250" cy="2352675"/>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def fakultaet_rekursiv(n):</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if n &lt; 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raise ValueError("n muss nichtnegativ sein")</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if n &lt;= 1:</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1</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n * fakultaet_rekursiv(n - 1)</a:t>
            </a:r>
          </a:p>
          <a:p>
            <a:endParaRPr sz="1875" b="0">
              <a:solidFill>
                <a:srgbClr val="002C48"/>
              </a:solidFill>
              <a:latin typeface="Courier New"/>
              <a:ea typeface="Courier New"/>
              <a:cs typeface="Courier New"/>
            </a:endParaRP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print(fakultaet_rekursiv(4))  # 24</a:t>
            </a:r>
          </a:p>
        </p:txBody>
      </p:sp>
      <p:sp>
        <p:nvSpPr>
          <p:cNvPr id="4" name="Rectangle 3">
            <a:extLst>
              <a:ext uri="{FF2B5EF4-FFF2-40B4-BE49-F238E27FC236}">
                <a16:creationId xmlns:a16="http://schemas.microsoft.com/office/drawing/2014/main" id="{CB6B0EF5-4425-45DD-B9A6-7EA13067ABE5}"/>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52</a:t>
            </a:r>
          </a:p>
        </p:txBody>
      </p:sp>
    </p:spTree>
    <p:extLst>
      <p:ext uri="{BB962C8B-B14F-4D97-AF65-F5344CB8AC3E}">
        <p14:creationId xmlns:p14="http://schemas.microsoft.com/office/powerpoint/2010/main" val="19354947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0547196-652B-45E5-B94D-1C9674CF516B}"/>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Iteration und Rekursion im Vergleich</a:t>
            </a:r>
          </a:p>
        </p:txBody>
      </p:sp>
      <p:sp>
        <p:nvSpPr>
          <p:cNvPr id="2" name="Rectangle 1">
            <a:extLst>
              <a:ext uri="{FF2B5EF4-FFF2-40B4-BE49-F238E27FC236}">
                <a16:creationId xmlns:a16="http://schemas.microsoft.com/office/drawing/2014/main" id="{9DBCBFFF-6C88-40AF-925A-1B3385670802}"/>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Beide Fakultätsvarianten führen O(n) Multiplikationen aus</a:t>
            </a:r>
          </a:p>
        </p:txBody>
      </p:sp>
      <p:sp>
        <p:nvSpPr>
          <p:cNvPr id="3" name="Rectangle 2">
            <a:extLst>
              <a:ext uri="{FF2B5EF4-FFF2-40B4-BE49-F238E27FC236}">
                <a16:creationId xmlns:a16="http://schemas.microsoft.com/office/drawing/2014/main" id="{3B38F654-C0D9-41B7-A4A8-6088FCDB9542}"/>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Iteration speichert den Fortschritt in lokalen Variablen</a:t>
            </a:r>
          </a:p>
        </p:txBody>
      </p:sp>
      <p:sp>
        <p:nvSpPr>
          <p:cNvPr id="4" name="Rectangle 3">
            <a:extLst>
              <a:ext uri="{FF2B5EF4-FFF2-40B4-BE49-F238E27FC236}">
                <a16:creationId xmlns:a16="http://schemas.microsoft.com/office/drawing/2014/main" id="{DF777C07-29B8-4F7D-BAA2-AD491CDB0F8B}"/>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Rekursion benötigt hier O(n) zusätzliche Aufrufrahmen</a:t>
            </a:r>
          </a:p>
        </p:txBody>
      </p:sp>
      <p:sp>
        <p:nvSpPr>
          <p:cNvPr id="5" name="Rectangle 4">
            <a:extLst>
              <a:ext uri="{FF2B5EF4-FFF2-40B4-BE49-F238E27FC236}">
                <a16:creationId xmlns:a16="http://schemas.microsoft.com/office/drawing/2014/main" id="{5DAD05D5-7EE1-41AC-970F-EBD185FF31E8}"/>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Rekursion passt oft zu verschachtelten Strukturen wie Bäumen</a:t>
            </a:r>
          </a:p>
        </p:txBody>
      </p:sp>
      <p:sp>
        <p:nvSpPr>
          <p:cNvPr id="6" name="Rectangle 5">
            <a:extLst>
              <a:ext uri="{FF2B5EF4-FFF2-40B4-BE49-F238E27FC236}">
                <a16:creationId xmlns:a16="http://schemas.microsoft.com/office/drawing/2014/main" id="{DACF1530-9921-4273-8A98-5E61867AFCDB}"/>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Für lange lineare Abläufe ist eine Schleife häufig einfacher</a:t>
            </a:r>
          </a:p>
        </p:txBody>
      </p:sp>
      <p:sp>
        <p:nvSpPr>
          <p:cNvPr id="7" name="Rectangle 6">
            <a:extLst>
              <a:ext uri="{FF2B5EF4-FFF2-40B4-BE49-F238E27FC236}">
                <a16:creationId xmlns:a16="http://schemas.microsoft.com/office/drawing/2014/main" id="{58DEF336-EB22-4D28-81DA-6DAF52C88B22}"/>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53</a:t>
            </a:r>
          </a:p>
        </p:txBody>
      </p:sp>
    </p:spTree>
    <p:extLst>
      <p:ext uri="{BB962C8B-B14F-4D97-AF65-F5344CB8AC3E}">
        <p14:creationId xmlns:p14="http://schemas.microsoft.com/office/powerpoint/2010/main" val="19354947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AE567D5-D722-41A3-B261-453DFD51E9B9}"/>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Rekursiv in einen Suchbaum einfügen</a:t>
            </a:r>
          </a:p>
        </p:txBody>
      </p:sp>
      <p:sp>
        <p:nvSpPr>
          <p:cNvPr id="2" name="Rectangle 1">
            <a:extLst>
              <a:ext uri="{FF2B5EF4-FFF2-40B4-BE49-F238E27FC236}">
                <a16:creationId xmlns:a16="http://schemas.microsoft.com/office/drawing/2014/main" id="{4D9C2AC6-4AAE-4E8D-9A8E-8A4B47D99130}"/>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Die Funktion liefert die Wurzel des aktualisierten Teilbaums zurück</a:t>
            </a:r>
          </a:p>
        </p:txBody>
      </p:sp>
      <p:sp>
        <p:nvSpPr>
          <p:cNvPr id="3" name="Rectangle 2">
            <a:extLst>
              <a:ext uri="{FF2B5EF4-FFF2-40B4-BE49-F238E27FC236}">
                <a16:creationId xmlns:a16="http://schemas.microsoft.com/office/drawing/2014/main" id="{69E051F8-5EA8-4A65-B51F-9ECF95240D90}"/>
              </a:ext>
            </a:extLst>
          </p:cNvPr>
          <p:cNvSpPr>
            <a:spLocks noGrp="1"/>
          </p:cNvSpPr>
          <p:nvPr/>
        </p:nvSpPr>
        <p:spPr>
          <a:xfrm>
            <a:off x="1047750" y="2152650"/>
            <a:ext cx="10382250" cy="2352675"/>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def baum_einfuegen(knoten, wert):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if knoten is None: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Knoten(wert)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if wert &lt; knoten.wert: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knoten.links = baum_einfuegen(knoten.links, wert)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elif wert &gt; knoten.wert: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knoten.rechts = baum_einfuegen(knoten.rechts, wert)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 knoten</a:t>
            </a:r>
          </a:p>
        </p:txBody>
      </p:sp>
      <p:sp>
        <p:nvSpPr>
          <p:cNvPr id="4" name="Rectangle 3">
            <a:extLst>
              <a:ext uri="{FF2B5EF4-FFF2-40B4-BE49-F238E27FC236}">
                <a16:creationId xmlns:a16="http://schemas.microsoft.com/office/drawing/2014/main" id="{586D4F16-F87D-40B3-A199-0DC3AAA6CE13}"/>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54</a:t>
            </a:r>
          </a:p>
        </p:txBody>
      </p:sp>
    </p:spTree>
    <p:extLst>
      <p:ext uri="{BB962C8B-B14F-4D97-AF65-F5344CB8AC3E}">
        <p14:creationId xmlns:p14="http://schemas.microsoft.com/office/powerpoint/2010/main" val="19354947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F558D0-8BBB-4FD3-AD5E-E7C3CF4C0C10}"/>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Baum in sortierter Reihenfolge durchlaufen</a:t>
            </a:r>
          </a:p>
        </p:txBody>
      </p:sp>
      <p:sp>
        <p:nvSpPr>
          <p:cNvPr id="2" name="Rectangle 1">
            <a:extLst>
              <a:ext uri="{FF2B5EF4-FFF2-40B4-BE49-F238E27FC236}">
                <a16:creationId xmlns:a16="http://schemas.microsoft.com/office/drawing/2014/main" id="{1D64C7AE-139A-46D1-8102-89854E589C4B}"/>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Inorder: erst links, dann der Knoten, dann rechts</a:t>
            </a:r>
          </a:p>
        </p:txBody>
      </p:sp>
      <p:sp>
        <p:nvSpPr>
          <p:cNvPr id="3" name="Rectangle 2">
            <a:extLst>
              <a:ext uri="{FF2B5EF4-FFF2-40B4-BE49-F238E27FC236}">
                <a16:creationId xmlns:a16="http://schemas.microsoft.com/office/drawing/2014/main" id="{0B82CCD7-46D3-4BCC-86FE-9F925DC42E33}"/>
              </a:ext>
            </a:extLst>
          </p:cNvPr>
          <p:cNvSpPr>
            <a:spLocks noGrp="1"/>
          </p:cNvSpPr>
          <p:nvPr/>
        </p:nvSpPr>
        <p:spPr>
          <a:xfrm>
            <a:off x="1047750" y="2152650"/>
            <a:ext cx="10382250" cy="262890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def inorder(knoten):</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if knoten is None: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return</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inorder(knoten.links)</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print(knoten.wert)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inorder(knoten.rechts)</a:t>
            </a:r>
          </a:p>
          <a:p>
            <a:endParaRPr sz="1875" b="0">
              <a:solidFill>
                <a:srgbClr val="002C48"/>
              </a:solidFill>
              <a:latin typeface="Courier New"/>
              <a:ea typeface="Courier New"/>
              <a:cs typeface="Courier New"/>
            </a:endParaRP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wurzel = baum_einfuegen(wurzel, 6)</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inorder(wurzel)  # 3, 6, 8, 10 in getrennten Zeilen</a:t>
            </a:r>
          </a:p>
        </p:txBody>
      </p:sp>
      <p:sp>
        <p:nvSpPr>
          <p:cNvPr id="4" name="Rectangle 3">
            <a:extLst>
              <a:ext uri="{FF2B5EF4-FFF2-40B4-BE49-F238E27FC236}">
                <a16:creationId xmlns:a16="http://schemas.microsoft.com/office/drawing/2014/main" id="{476AD77A-E595-4503-8FAD-7D763A51BF7F}"/>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55</a:t>
            </a:r>
          </a:p>
        </p:txBody>
      </p:sp>
    </p:spTree>
    <p:extLst>
      <p:ext uri="{BB962C8B-B14F-4D97-AF65-F5344CB8AC3E}">
        <p14:creationId xmlns:p14="http://schemas.microsoft.com/office/powerpoint/2010/main" val="19354947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E4451B-9CF3-4A63-8867-9B173CFAD979}"/>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Übung D: passende Datenstruktur</a:t>
            </a:r>
          </a:p>
        </p:txBody>
      </p:sp>
      <p:sp>
        <p:nvSpPr>
          <p:cNvPr id="2" name="Rectangle 1">
            <a:extLst>
              <a:ext uri="{FF2B5EF4-FFF2-40B4-BE49-F238E27FC236}">
                <a16:creationId xmlns:a16="http://schemas.microsoft.com/office/drawing/2014/main" id="{098D56BC-A159-4085-BA41-AE86F6769436}"/>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Produktpreis anhand einer Artikelnummer finden: welche Struktur?</a:t>
            </a:r>
          </a:p>
        </p:txBody>
      </p:sp>
      <p:sp>
        <p:nvSpPr>
          <p:cNvPr id="3" name="Rectangle 2">
            <a:extLst>
              <a:ext uri="{FF2B5EF4-FFF2-40B4-BE49-F238E27FC236}">
                <a16:creationId xmlns:a16="http://schemas.microsoft.com/office/drawing/2014/main" id="{83D4125A-9842-4FF3-A889-45D4222091F1}"/>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Die letzte Bearbeitung rückgängig machen: welche Struktur?</a:t>
            </a:r>
          </a:p>
        </p:txBody>
      </p:sp>
      <p:sp>
        <p:nvSpPr>
          <p:cNvPr id="4" name="Rectangle 3">
            <a:extLst>
              <a:ext uri="{FF2B5EF4-FFF2-40B4-BE49-F238E27FC236}">
                <a16:creationId xmlns:a16="http://schemas.microsoft.com/office/drawing/2014/main" id="{662DDC8C-8775-4714-8EDE-FE6FCF8B762E}"/>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Viele Werte einmal suchen oder wiederholt suchen: Unterschied?</a:t>
            </a:r>
          </a:p>
        </p:txBody>
      </p:sp>
      <p:sp>
        <p:nvSpPr>
          <p:cNvPr id="5" name="Rectangle 4">
            <a:extLst>
              <a:ext uri="{FF2B5EF4-FFF2-40B4-BE49-F238E27FC236}">
                <a16:creationId xmlns:a16="http://schemas.microsoft.com/office/drawing/2014/main" id="{CED43499-C2C2-4CE5-AEF9-7496B800CC66}"/>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Zusatz: Suchbaum mit 1, 2, 3, 4, 5 befüllen. Was passiert?</a:t>
            </a:r>
          </a:p>
        </p:txBody>
      </p:sp>
      <p:sp>
        <p:nvSpPr>
          <p:cNvPr id="6" name="Rectangle 5">
            <a:extLst>
              <a:ext uri="{FF2B5EF4-FFF2-40B4-BE49-F238E27FC236}">
                <a16:creationId xmlns:a16="http://schemas.microsoft.com/office/drawing/2014/main" id="{211837D6-993B-4E78-A7D0-EA4660A94E4B}"/>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56</a:t>
            </a:r>
          </a:p>
        </p:txBody>
      </p:sp>
    </p:spTree>
    <p:extLst>
      <p:ext uri="{BB962C8B-B14F-4D97-AF65-F5344CB8AC3E}">
        <p14:creationId xmlns:p14="http://schemas.microsoft.com/office/powerpoint/2010/main" val="19354947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5C9CD34-362A-43B2-95F9-3D638F0D1CD6}"/>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Übung: Stile und Objekte vergleichen</a:t>
            </a:r>
          </a:p>
        </p:txBody>
      </p:sp>
      <p:sp>
        <p:nvSpPr>
          <p:cNvPr id="2" name="Rectangle 1">
            <a:extLst>
              <a:ext uri="{FF2B5EF4-FFF2-40B4-BE49-F238E27FC236}">
                <a16:creationId xmlns:a16="http://schemas.microsoft.com/office/drawing/2014/main" id="{420D030A-5C0C-4F50-BE25-79347405BBAA}"/>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Fakultät iterativ und rekursiv für 0, 1 und 5 prüfen</a:t>
            </a:r>
          </a:p>
        </p:txBody>
      </p:sp>
      <p:sp>
        <p:nvSpPr>
          <p:cNvPr id="3" name="Rectangle 2">
            <a:extLst>
              <a:ext uri="{FF2B5EF4-FFF2-40B4-BE49-F238E27FC236}">
                <a16:creationId xmlns:a16="http://schemas.microsoft.com/office/drawing/2014/main" id="{77A5E9C4-9050-4826-AD11-CE92FF0663F2}"/>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Digitalprodukt und Produkt im selben Warenkorb verwenden</a:t>
            </a:r>
          </a:p>
        </p:txBody>
      </p:sp>
      <p:sp>
        <p:nvSpPr>
          <p:cNvPr id="4" name="Rectangle 3">
            <a:extLst>
              <a:ext uri="{FF2B5EF4-FFF2-40B4-BE49-F238E27FC236}">
                <a16:creationId xmlns:a16="http://schemas.microsoft.com/office/drawing/2014/main" id="{C2DC682D-E716-4596-938E-8184AB587076}"/>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Einen Baum mit 1, 2, 3, 4, 5 aufbauen und nach 5 suchen</a:t>
            </a:r>
          </a:p>
        </p:txBody>
      </p:sp>
      <p:sp>
        <p:nvSpPr>
          <p:cNvPr id="5" name="Rectangle 4">
            <a:extLst>
              <a:ext uri="{FF2B5EF4-FFF2-40B4-BE49-F238E27FC236}">
                <a16:creationId xmlns:a16="http://schemas.microsoft.com/office/drawing/2014/main" id="{D3628BD0-C73A-45B8-86FD-E32543182DEF}"/>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Erklären: Warum braucht Polymorphie keine if-Abfrage nach dem Typ?</a:t>
            </a:r>
          </a:p>
        </p:txBody>
      </p:sp>
      <p:sp>
        <p:nvSpPr>
          <p:cNvPr id="6" name="Rectangle 5">
            <a:extLst>
              <a:ext uri="{FF2B5EF4-FFF2-40B4-BE49-F238E27FC236}">
                <a16:creationId xmlns:a16="http://schemas.microsoft.com/office/drawing/2014/main" id="{81D6709F-E53A-4C96-8B56-D99860247E4D}"/>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57</a:t>
            </a:r>
          </a:p>
        </p:txBody>
      </p:sp>
    </p:spTree>
    <p:extLst>
      <p:ext uri="{BB962C8B-B14F-4D97-AF65-F5344CB8AC3E}">
        <p14:creationId xmlns:p14="http://schemas.microsoft.com/office/powerpoint/2010/main" val="19354947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87A90A8-BAEA-4FD1-AE5C-209E0EE9CDAE}"/>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Module und Bibliotheken importieren</a:t>
            </a:r>
          </a:p>
        </p:txBody>
      </p:sp>
      <p:sp>
        <p:nvSpPr>
          <p:cNvPr id="2" name="Rectangle 1">
            <a:extLst>
              <a:ext uri="{FF2B5EF4-FFF2-40B4-BE49-F238E27FC236}">
                <a16:creationId xmlns:a16="http://schemas.microsoft.com/office/drawing/2014/main" id="{EFC35B1C-1E3C-460F-8533-BE8107A3C318}"/>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Ein Modul bündelt Python-Code, etwa in einer .py-Datei</a:t>
            </a:r>
          </a:p>
        </p:txBody>
      </p:sp>
      <p:sp>
        <p:nvSpPr>
          <p:cNvPr id="3" name="Rectangle 2">
            <a:extLst>
              <a:ext uri="{FF2B5EF4-FFF2-40B4-BE49-F238E27FC236}">
                <a16:creationId xmlns:a16="http://schemas.microsoft.com/office/drawing/2014/main" id="{F5E4ACCA-747A-4DAE-AAC8-C946A61BFD71}"/>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import bindet ein Modul ein. from importiert einzelne Namen.</a:t>
            </a:r>
          </a:p>
        </p:txBody>
      </p:sp>
      <p:sp>
        <p:nvSpPr>
          <p:cNvPr id="4" name="Rectangle 3">
            <a:extLst>
              <a:ext uri="{FF2B5EF4-FFF2-40B4-BE49-F238E27FC236}">
                <a16:creationId xmlns:a16="http://schemas.microsoft.com/office/drawing/2014/main" id="{66ABBF95-7989-4D0C-9FDE-C0DAB36A79C3}"/>
              </a:ext>
            </a:extLst>
          </p:cNvPr>
          <p:cNvSpPr>
            <a:spLocks noGrp="1"/>
          </p:cNvSpPr>
          <p:nvPr/>
        </p:nvSpPr>
        <p:spPr>
          <a:xfrm>
            <a:off x="1047750" y="25527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Ein Alias verkürzt den Namen, ohne die Funktionalität zu ändern</a:t>
            </a:r>
          </a:p>
        </p:txBody>
      </p:sp>
      <p:sp>
        <p:nvSpPr>
          <p:cNvPr id="5" name="Rectangle 4">
            <a:extLst>
              <a:ext uri="{FF2B5EF4-FFF2-40B4-BE49-F238E27FC236}">
                <a16:creationId xmlns:a16="http://schemas.microsoft.com/office/drawing/2014/main" id="{2DAB76FF-943C-42B9-886C-8FB41B222959}"/>
              </a:ext>
            </a:extLst>
          </p:cNvPr>
          <p:cNvSpPr>
            <a:spLocks noGrp="1"/>
          </p:cNvSpPr>
          <p:nvPr/>
        </p:nvSpPr>
        <p:spPr>
          <a:xfrm>
            <a:off x="1047750" y="3143250"/>
            <a:ext cx="10382250" cy="1247775"/>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import math</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from math import sqrt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import math as m</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print(math.sqrt(9), sqrt(9), m.sqrt(9))</a:t>
            </a:r>
          </a:p>
        </p:txBody>
      </p:sp>
      <p:sp>
        <p:nvSpPr>
          <p:cNvPr id="6" name="Rectangle 5">
            <a:extLst>
              <a:ext uri="{FF2B5EF4-FFF2-40B4-BE49-F238E27FC236}">
                <a16:creationId xmlns:a16="http://schemas.microsoft.com/office/drawing/2014/main" id="{3F60034A-2AF1-47B9-8595-064686AEEF47}"/>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58</a:t>
            </a:r>
          </a:p>
        </p:txBody>
      </p:sp>
    </p:spTree>
    <p:extLst>
      <p:ext uri="{BB962C8B-B14F-4D97-AF65-F5344CB8AC3E}">
        <p14:creationId xmlns:p14="http://schemas.microsoft.com/office/powerpoint/2010/main" val="19354947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90D3CFA-674D-4BAF-838A-9681E706FD43}"/>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Zusätzliche Pakete installieren</a:t>
            </a:r>
          </a:p>
        </p:txBody>
      </p:sp>
      <p:sp>
        <p:nvSpPr>
          <p:cNvPr id="2" name="Rectangle 1">
            <a:extLst>
              <a:ext uri="{FF2B5EF4-FFF2-40B4-BE49-F238E27FC236}">
                <a16:creationId xmlns:a16="http://schemas.microsoft.com/office/drawing/2014/main" id="{489AFD30-5A17-4A33-A9E7-AB70259DEE69}"/>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Im Terminal der aktivierten Projektumgebung:</a:t>
            </a:r>
          </a:p>
        </p:txBody>
      </p:sp>
      <p:sp>
        <p:nvSpPr>
          <p:cNvPr id="3" name="Rectangle 2">
            <a:extLst>
              <a:ext uri="{FF2B5EF4-FFF2-40B4-BE49-F238E27FC236}">
                <a16:creationId xmlns:a16="http://schemas.microsoft.com/office/drawing/2014/main" id="{BD90443A-0A08-4A97-A822-76D4469F42F3}"/>
              </a:ext>
            </a:extLst>
          </p:cNvPr>
          <p:cNvSpPr>
            <a:spLocks noGrp="1"/>
          </p:cNvSpPr>
          <p:nvPr/>
        </p:nvSpPr>
        <p:spPr>
          <a:xfrm>
            <a:off x="1047750" y="2152650"/>
            <a:ext cx="10382250" cy="695325"/>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python -m pip install pandas matplotlib</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python -m pip freeze &gt; requirements.txt</a:t>
            </a:r>
          </a:p>
        </p:txBody>
      </p:sp>
      <p:sp>
        <p:nvSpPr>
          <p:cNvPr id="4" name="Rectangle 3">
            <a:extLst>
              <a:ext uri="{FF2B5EF4-FFF2-40B4-BE49-F238E27FC236}">
                <a16:creationId xmlns:a16="http://schemas.microsoft.com/office/drawing/2014/main" id="{81173AF2-E472-4BAD-A4B8-A2E328199C86}"/>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59</a:t>
            </a:r>
          </a:p>
        </p:txBody>
      </p:sp>
    </p:spTree>
    <p:extLst>
      <p:ext uri="{BB962C8B-B14F-4D97-AF65-F5344CB8AC3E}">
        <p14:creationId xmlns:p14="http://schemas.microsoft.com/office/powerpoint/2010/main" val="19354947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F87C886-282E-4F06-A84D-AD09B110D19D}"/>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pandas und Matplotlib</a:t>
            </a:r>
          </a:p>
        </p:txBody>
      </p:sp>
      <p:sp>
        <p:nvSpPr>
          <p:cNvPr id="2" name="Rectangle 1">
            <a:extLst>
              <a:ext uri="{FF2B5EF4-FFF2-40B4-BE49-F238E27FC236}">
                <a16:creationId xmlns:a16="http://schemas.microsoft.com/office/drawing/2014/main" id="{3F729ECB-95FE-4EB5-81A5-D0B2ACD18FE2}"/>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pandas: Tabellen mit benannten Spalten und Datenoperationen</a:t>
            </a:r>
          </a:p>
        </p:txBody>
      </p:sp>
      <p:sp>
        <p:nvSpPr>
          <p:cNvPr id="3" name="Rectangle 2">
            <a:extLst>
              <a:ext uri="{FF2B5EF4-FFF2-40B4-BE49-F238E27FC236}">
                <a16:creationId xmlns:a16="http://schemas.microsoft.com/office/drawing/2014/main" id="{33571A14-835C-4EB2-8BED-C7625FB9AE6D}"/>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Matplotlib: Diagramme und beschriftete Achsen</a:t>
            </a:r>
          </a:p>
        </p:txBody>
      </p:sp>
      <p:sp>
        <p:nvSpPr>
          <p:cNvPr id="4" name="Rectangle 3">
            <a:extLst>
              <a:ext uri="{FF2B5EF4-FFF2-40B4-BE49-F238E27FC236}">
                <a16:creationId xmlns:a16="http://schemas.microsoft.com/office/drawing/2014/main" id="{5DEDAE6F-719E-4919-A93E-5250902C81C3}"/>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NumPy: numerische Arrays, häufig Grundlage anderer Bibliotheken</a:t>
            </a:r>
          </a:p>
        </p:txBody>
      </p:sp>
      <p:sp>
        <p:nvSpPr>
          <p:cNvPr id="5" name="Rectangle 4">
            <a:extLst>
              <a:ext uri="{FF2B5EF4-FFF2-40B4-BE49-F238E27FC236}">
                <a16:creationId xmlns:a16="http://schemas.microsoft.com/office/drawing/2014/main" id="{06791720-1A9D-48E8-B234-F559F2CA4793}"/>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Zuerst haben wir die Abläufe selbst implementiert</a:t>
            </a:r>
          </a:p>
        </p:txBody>
      </p:sp>
      <p:sp>
        <p:nvSpPr>
          <p:cNvPr id="6" name="Rectangle 5">
            <a:extLst>
              <a:ext uri="{FF2B5EF4-FFF2-40B4-BE49-F238E27FC236}">
                <a16:creationId xmlns:a16="http://schemas.microsoft.com/office/drawing/2014/main" id="{6AC409AE-2649-4FED-9437-E70B26CA8192}"/>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Jetzt verwenden wir Bibliotheken für wiederkehrende Analyseaufgaben</a:t>
            </a:r>
          </a:p>
        </p:txBody>
      </p:sp>
      <p:sp>
        <p:nvSpPr>
          <p:cNvPr id="7" name="Rectangle 6">
            <a:extLst>
              <a:ext uri="{FF2B5EF4-FFF2-40B4-BE49-F238E27FC236}">
                <a16:creationId xmlns:a16="http://schemas.microsoft.com/office/drawing/2014/main" id="{D1AB6DE4-18C1-423A-8526-639AE991CDB8}"/>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60</a:t>
            </a:r>
          </a:p>
        </p:txBody>
      </p:sp>
    </p:spTree>
    <p:extLst>
      <p:ext uri="{BB962C8B-B14F-4D97-AF65-F5344CB8AC3E}">
        <p14:creationId xmlns:p14="http://schemas.microsoft.com/office/powerpoint/2010/main" val="19354947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41A5D3-293B-4102-AFE4-4EE4D172B38D}"/>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pandas: eine Tabelle erzeugen</a:t>
            </a:r>
          </a:p>
        </p:txBody>
      </p:sp>
      <p:sp>
        <p:nvSpPr>
          <p:cNvPr id="2" name="Rectangle 1">
            <a:extLst>
              <a:ext uri="{FF2B5EF4-FFF2-40B4-BE49-F238E27FC236}">
                <a16:creationId xmlns:a16="http://schemas.microsoft.com/office/drawing/2014/main" id="{2C88899E-D561-48CD-9689-0AB8289967E8}"/>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Eine Zeile beschreibt hier einen Verkauf</a:t>
            </a:r>
          </a:p>
        </p:txBody>
      </p:sp>
      <p:sp>
        <p:nvSpPr>
          <p:cNvPr id="3" name="Rectangle 2">
            <a:extLst>
              <a:ext uri="{FF2B5EF4-FFF2-40B4-BE49-F238E27FC236}">
                <a16:creationId xmlns:a16="http://schemas.microsoft.com/office/drawing/2014/main" id="{D562119A-E4CA-4DFD-87C7-28B05E2122BA}"/>
              </a:ext>
            </a:extLst>
          </p:cNvPr>
          <p:cNvSpPr>
            <a:spLocks noGrp="1"/>
          </p:cNvSpPr>
          <p:nvPr/>
        </p:nvSpPr>
        <p:spPr>
          <a:xfrm>
            <a:off x="1047750" y="2152650"/>
            <a:ext cx="10382250" cy="2352675"/>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import pandas as pd</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verkauf = pd.DataFrame({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"produkt": ["Sensor", "Kabel", "Sensor"],</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"preis": [12.5, 3.0, 12.5],</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"menge": [2, 4, 1]</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verkauf["umsatz"] = verkauf["preis"] * verkauf["menge"]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print(verkauf)</a:t>
            </a:r>
          </a:p>
        </p:txBody>
      </p:sp>
      <p:sp>
        <p:nvSpPr>
          <p:cNvPr id="4" name="Rectangle 3">
            <a:extLst>
              <a:ext uri="{FF2B5EF4-FFF2-40B4-BE49-F238E27FC236}">
                <a16:creationId xmlns:a16="http://schemas.microsoft.com/office/drawing/2014/main" id="{645DC781-4E73-42BF-8609-441070636FD8}"/>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61</a:t>
            </a:r>
          </a:p>
        </p:txBody>
      </p:sp>
    </p:spTree>
    <p:extLst>
      <p:ext uri="{BB962C8B-B14F-4D97-AF65-F5344CB8AC3E}">
        <p14:creationId xmlns:p14="http://schemas.microsoft.com/office/powerpoint/2010/main" val="19354947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F0EEE6D-39D1-4FAC-8908-812FB4DA22E7}"/>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pandas: filtern und gruppieren</a:t>
            </a:r>
          </a:p>
        </p:txBody>
      </p:sp>
      <p:sp>
        <p:nvSpPr>
          <p:cNvPr id="2" name="Rectangle 1">
            <a:extLst>
              <a:ext uri="{FF2B5EF4-FFF2-40B4-BE49-F238E27FC236}">
                <a16:creationId xmlns:a16="http://schemas.microsoft.com/office/drawing/2014/main" id="{980CD9B6-3200-4B12-AD86-FFECB8898198}"/>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Filter wählen Zeilen aus. Gruppierung fasst ähnliche Zeilen zusammen.</a:t>
            </a:r>
          </a:p>
        </p:txBody>
      </p:sp>
      <p:sp>
        <p:nvSpPr>
          <p:cNvPr id="3" name="Rectangle 2">
            <a:extLst>
              <a:ext uri="{FF2B5EF4-FFF2-40B4-BE49-F238E27FC236}">
                <a16:creationId xmlns:a16="http://schemas.microsoft.com/office/drawing/2014/main" id="{3E7C4CEF-D1F4-4AD5-8C60-B515EF16E5EF}"/>
              </a:ext>
            </a:extLst>
          </p:cNvPr>
          <p:cNvSpPr>
            <a:spLocks noGrp="1"/>
          </p:cNvSpPr>
          <p:nvPr/>
        </p:nvSpPr>
        <p:spPr>
          <a:xfrm>
            <a:off x="1047750" y="2152650"/>
            <a:ext cx="10382250" cy="152400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print(verkauf[verkauf["umsatz"] &gt;= 20])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umsaetze = verkauf.groupby("produkt")["umsatz"].sum()</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print(umsaetze)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Kabel     12.0</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Sensor    37.5</a:t>
            </a:r>
          </a:p>
        </p:txBody>
      </p:sp>
      <p:sp>
        <p:nvSpPr>
          <p:cNvPr id="4" name="Rectangle 3">
            <a:extLst>
              <a:ext uri="{FF2B5EF4-FFF2-40B4-BE49-F238E27FC236}">
                <a16:creationId xmlns:a16="http://schemas.microsoft.com/office/drawing/2014/main" id="{D10352A4-7961-4FA3-9E8E-06279A079B9D}"/>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62</a:t>
            </a:r>
          </a:p>
        </p:txBody>
      </p:sp>
    </p:spTree>
    <p:extLst>
      <p:ext uri="{BB962C8B-B14F-4D97-AF65-F5344CB8AC3E}">
        <p14:creationId xmlns:p14="http://schemas.microsoft.com/office/powerpoint/2010/main" val="19354947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D4B8841-1F0F-4FF9-87E1-23BAB6B18EB7}"/>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CSV und Datenqualität</a:t>
            </a:r>
          </a:p>
        </p:txBody>
      </p:sp>
      <p:sp>
        <p:nvSpPr>
          <p:cNvPr id="2" name="Rectangle 1">
            <a:extLst>
              <a:ext uri="{FF2B5EF4-FFF2-40B4-BE49-F238E27FC236}">
                <a16:creationId xmlns:a16="http://schemas.microsoft.com/office/drawing/2014/main" id="{6F3E58A9-2B5C-4A3D-9206-981D68B2FF14}"/>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CSV-Dateien enthalten tabellarische Daten als Text</a:t>
            </a:r>
          </a:p>
        </p:txBody>
      </p:sp>
      <p:sp>
        <p:nvSpPr>
          <p:cNvPr id="3" name="Rectangle 2">
            <a:extLst>
              <a:ext uri="{FF2B5EF4-FFF2-40B4-BE49-F238E27FC236}">
                <a16:creationId xmlns:a16="http://schemas.microsoft.com/office/drawing/2014/main" id="{CA411850-7152-4624-9BFD-10596D5D8B5C}"/>
              </a:ext>
            </a:extLst>
          </p:cNvPr>
          <p:cNvSpPr>
            <a:spLocks noGrp="1"/>
          </p:cNvSpPr>
          <p:nvPr/>
        </p:nvSpPr>
        <p:spPr>
          <a:xfrm>
            <a:off x="1047750" y="20574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Trennzeichen, Dezimalformat und Spaltentypen prüfen</a:t>
            </a:r>
          </a:p>
        </p:txBody>
      </p:sp>
      <p:sp>
        <p:nvSpPr>
          <p:cNvPr id="4" name="Rectangle 3">
            <a:extLst>
              <a:ext uri="{FF2B5EF4-FFF2-40B4-BE49-F238E27FC236}">
                <a16:creationId xmlns:a16="http://schemas.microsoft.com/office/drawing/2014/main" id="{7C34D904-432C-4ACB-AA64-4F580BE96811}"/>
              </a:ext>
            </a:extLst>
          </p:cNvPr>
          <p:cNvSpPr>
            <a:spLocks noGrp="1"/>
          </p:cNvSpPr>
          <p:nvPr/>
        </p:nvSpPr>
        <p:spPr>
          <a:xfrm>
            <a:off x="1047750" y="2647950"/>
            <a:ext cx="10382250" cy="152400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verkauf.to_csv("verkauf.csv", index=False)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gelesen = pd.read_csv("verkauf.csv")</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print(gelesen.head())</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gelesen.info()</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print(gelesen.isna().sum())</a:t>
            </a:r>
          </a:p>
        </p:txBody>
      </p:sp>
      <p:sp>
        <p:nvSpPr>
          <p:cNvPr id="5" name="Rectangle 4">
            <a:extLst>
              <a:ext uri="{FF2B5EF4-FFF2-40B4-BE49-F238E27FC236}">
                <a16:creationId xmlns:a16="http://schemas.microsoft.com/office/drawing/2014/main" id="{18E87894-EE14-45C5-94C6-69A78AE859E9}"/>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63</a:t>
            </a:r>
          </a:p>
        </p:txBody>
      </p:sp>
    </p:spTree>
    <p:extLst>
      <p:ext uri="{BB962C8B-B14F-4D97-AF65-F5344CB8AC3E}">
        <p14:creationId xmlns:p14="http://schemas.microsoft.com/office/powerpoint/2010/main" val="19354947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35CE86-CE18-47E8-8B5C-924FD36F1E44}"/>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Matplotlib: Umsatz nach Produkt</a:t>
            </a:r>
          </a:p>
        </p:txBody>
      </p:sp>
      <p:sp>
        <p:nvSpPr>
          <p:cNvPr id="2" name="Rectangle 1">
            <a:extLst>
              <a:ext uri="{FF2B5EF4-FFF2-40B4-BE49-F238E27FC236}">
                <a16:creationId xmlns:a16="http://schemas.microsoft.com/office/drawing/2014/main" id="{7F22D385-93E4-4336-A994-7345202C0562}"/>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1950" b="0">
                <a:solidFill>
                  <a:srgbClr val="000000"/>
                </a:solidFill>
                <a:latin typeface="Arial"/>
                <a:ea typeface="Arial"/>
                <a:cs typeface="Arial"/>
              </a:defRPr>
            </a:defPPr>
          </a:lstStyle>
          <a:p>
            <a:pPr>
              <a:defRPr sz="1950" b="0">
                <a:solidFill>
                  <a:srgbClr val="000000"/>
                </a:solidFill>
                <a:latin typeface="Arial"/>
                <a:ea typeface="Arial"/>
                <a:cs typeface="Arial"/>
              </a:defRPr>
            </a:pPr>
            <a:r>
              <a:rPr sz="1950" b="0">
                <a:solidFill>
                  <a:srgbClr val="000000"/>
                </a:solidFill>
                <a:latin typeface="Arial"/>
                <a:ea typeface="Arial"/>
                <a:cs typeface="Arial"/>
              </a:rPr>
              <a:t>Die gruppierten Werte werden als Balkendiagramm dargestellt</a:t>
            </a:r>
          </a:p>
        </p:txBody>
      </p:sp>
      <p:sp>
        <p:nvSpPr>
          <p:cNvPr id="3" name="Rectangle 2">
            <a:extLst>
              <a:ext uri="{FF2B5EF4-FFF2-40B4-BE49-F238E27FC236}">
                <a16:creationId xmlns:a16="http://schemas.microsoft.com/office/drawing/2014/main" id="{74F8730B-9256-49B2-850E-F53497F9927A}"/>
              </a:ext>
            </a:extLst>
          </p:cNvPr>
          <p:cNvSpPr>
            <a:spLocks noGrp="1"/>
          </p:cNvSpPr>
          <p:nvPr/>
        </p:nvSpPr>
        <p:spPr>
          <a:xfrm>
            <a:off x="1047750" y="2152650"/>
            <a:ext cx="10382250" cy="2076450"/>
          </a:xfrm>
          <a:prstGeom prst="rect">
            <a:avLst/>
          </a:prstGeom>
          <a:noFill/>
          <a:ln w="0">
            <a:noFill/>
          </a:ln>
        </p:spPr>
        <p:txBody>
          <a:bodyPr lIns="0" tIns="0" rIns="0" bIns="0">
            <a:noAutofit/>
          </a:bodyPr>
          <a:lstStyle>
            <a:defPPr>
              <a:defRPr sz="1875" b="0">
                <a:solidFill>
                  <a:srgbClr val="002C48"/>
                </a:solidFill>
                <a:latin typeface="Courier New"/>
                <a:ea typeface="Courier New"/>
                <a:cs typeface="Courier New"/>
              </a:defRPr>
            </a:defPPr>
          </a:lstStyle>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import matplotlib.pyplot as plt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fig, ax = plt.subplots()</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ax.bar(umsaetze.index, umsaetze.values)</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ax.set(xlabel="Produkt", ylabel="Umsatz (Euro)",</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       title="Umsatz unserer Beispielverkäufe")</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fig.tight_layout()</a:t>
            </a:r>
          </a:p>
          <a:p>
            <a:pPr>
              <a:defRPr sz="1875" b="0">
                <a:solidFill>
                  <a:srgbClr val="002C48"/>
                </a:solidFill>
                <a:latin typeface="Courier New"/>
                <a:ea typeface="Courier New"/>
                <a:cs typeface="Courier New"/>
              </a:defRPr>
            </a:pPr>
            <a:r>
              <a:rPr sz="1875" b="0">
                <a:solidFill>
                  <a:srgbClr val="002C48"/>
                </a:solidFill>
                <a:latin typeface="Courier New"/>
                <a:ea typeface="Courier New"/>
                <a:cs typeface="Courier New"/>
              </a:rPr>
              <a:t>plt.show()</a:t>
            </a:r>
          </a:p>
        </p:txBody>
      </p:sp>
      <p:sp>
        <p:nvSpPr>
          <p:cNvPr id="4" name="Rectangle 3">
            <a:extLst>
              <a:ext uri="{FF2B5EF4-FFF2-40B4-BE49-F238E27FC236}">
                <a16:creationId xmlns:a16="http://schemas.microsoft.com/office/drawing/2014/main" id="{3AFA10A0-4133-4DDF-9457-4050DC22FC9B}"/>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64</a:t>
            </a:r>
          </a:p>
        </p:txBody>
      </p:sp>
    </p:spTree>
    <p:extLst>
      <p:ext uri="{BB962C8B-B14F-4D97-AF65-F5344CB8AC3E}">
        <p14:creationId xmlns:p14="http://schemas.microsoft.com/office/powerpoint/2010/main" val="19354947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98579C0-6F41-4CB7-8F48-80307A3C9BF2}"/>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Übung: eigene kleine Datenanalyse</a:t>
            </a:r>
          </a:p>
        </p:txBody>
      </p:sp>
      <p:sp>
        <p:nvSpPr>
          <p:cNvPr id="2" name="Rectangle 1">
            <a:extLst>
              <a:ext uri="{FF2B5EF4-FFF2-40B4-BE49-F238E27FC236}">
                <a16:creationId xmlns:a16="http://schemas.microsoft.com/office/drawing/2014/main" id="{53D243C3-EA24-4C7E-9476-0967E9DC28EB}"/>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Eine zusätzliche Verkaufszeile für einen Adapter ergänzen</a:t>
            </a:r>
          </a:p>
        </p:txBody>
      </p:sp>
      <p:sp>
        <p:nvSpPr>
          <p:cNvPr id="3" name="Rectangle 2">
            <a:extLst>
              <a:ext uri="{FF2B5EF4-FFF2-40B4-BE49-F238E27FC236}">
                <a16:creationId xmlns:a16="http://schemas.microsoft.com/office/drawing/2014/main" id="{9CEC3F11-4136-474A-ACB3-34F394AE9A54}"/>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Umsatz pro Zeile und Gesamtumsatz je Produkt berechnen</a:t>
            </a:r>
          </a:p>
        </p:txBody>
      </p:sp>
      <p:sp>
        <p:nvSpPr>
          <p:cNvPr id="4" name="Rectangle 3">
            <a:extLst>
              <a:ext uri="{FF2B5EF4-FFF2-40B4-BE49-F238E27FC236}">
                <a16:creationId xmlns:a16="http://schemas.microsoft.com/office/drawing/2014/main" id="{80356FC3-48C6-4EF3-A35A-843A9C7021CF}"/>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Ein beschriftetes Balkendiagramm erzeugen</a:t>
            </a:r>
          </a:p>
        </p:txBody>
      </p:sp>
      <p:sp>
        <p:nvSpPr>
          <p:cNvPr id="5" name="Rectangle 4">
            <a:extLst>
              <a:ext uri="{FF2B5EF4-FFF2-40B4-BE49-F238E27FC236}">
                <a16:creationId xmlns:a16="http://schemas.microsoft.com/office/drawing/2014/main" id="{7C30D938-C37A-49C7-806C-138267E94578}"/>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Zwei Sätze zur Aussage und zu den Grenzen der Daten schreiben</a:t>
            </a:r>
          </a:p>
        </p:txBody>
      </p:sp>
      <p:sp>
        <p:nvSpPr>
          <p:cNvPr id="6" name="Rectangle 5">
            <a:extLst>
              <a:ext uri="{FF2B5EF4-FFF2-40B4-BE49-F238E27FC236}">
                <a16:creationId xmlns:a16="http://schemas.microsoft.com/office/drawing/2014/main" id="{EEEBEC05-FBB8-4480-9446-CAE50EB27489}"/>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65</a:t>
            </a:r>
          </a:p>
        </p:txBody>
      </p:sp>
    </p:spTree>
    <p:extLst>
      <p:ext uri="{BB962C8B-B14F-4D97-AF65-F5344CB8AC3E}">
        <p14:creationId xmlns:p14="http://schemas.microsoft.com/office/powerpoint/2010/main" val="19354947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AB7DBFF-621C-4E91-B1DE-BFC833DDDB94}"/>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Key Takeaways</a:t>
            </a:r>
          </a:p>
        </p:txBody>
      </p:sp>
      <p:sp>
        <p:nvSpPr>
          <p:cNvPr id="2" name="Rectangle 1">
            <a:extLst>
              <a:ext uri="{FF2B5EF4-FFF2-40B4-BE49-F238E27FC236}">
                <a16:creationId xmlns:a16="http://schemas.microsoft.com/office/drawing/2014/main" id="{C683D0DD-9547-4984-B38B-7DC0B47FB69D}"/>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Python unterstützt mehrere Programmierstile in derselben Sprache</a:t>
            </a:r>
          </a:p>
        </p:txBody>
      </p:sp>
      <p:sp>
        <p:nvSpPr>
          <p:cNvPr id="3" name="Rectangle 2">
            <a:extLst>
              <a:ext uri="{FF2B5EF4-FFF2-40B4-BE49-F238E27FC236}">
                <a16:creationId xmlns:a16="http://schemas.microsoft.com/office/drawing/2014/main" id="{BDE6DEB2-08E3-447E-84A8-BAD00239EC5D}"/>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Eine passende Umgebung macht Ausführung und Abhängigkeiten nachvollziehbar</a:t>
            </a:r>
          </a:p>
        </p:txBody>
      </p:sp>
      <p:sp>
        <p:nvSpPr>
          <p:cNvPr id="4" name="Rectangle 3">
            <a:extLst>
              <a:ext uri="{FF2B5EF4-FFF2-40B4-BE49-F238E27FC236}">
                <a16:creationId xmlns:a16="http://schemas.microsoft.com/office/drawing/2014/main" id="{8D1296EF-BDC7-4234-A32F-57AC039BDED0}"/>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Eigene Implementierungen zeigen, wie Suche und Sortierung arbeiten</a:t>
            </a:r>
          </a:p>
        </p:txBody>
      </p:sp>
      <p:sp>
        <p:nvSpPr>
          <p:cNvPr id="5" name="Rectangle 4">
            <a:extLst>
              <a:ext uri="{FF2B5EF4-FFF2-40B4-BE49-F238E27FC236}">
                <a16:creationId xmlns:a16="http://schemas.microsoft.com/office/drawing/2014/main" id="{549D7A9F-9E80-4FEF-88F3-1899284C003A}"/>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Klassen, Vererbung und Polymorphie strukturieren Verhalten</a:t>
            </a:r>
          </a:p>
        </p:txBody>
      </p:sp>
      <p:sp>
        <p:nvSpPr>
          <p:cNvPr id="6" name="Rectangle 5">
            <a:extLst>
              <a:ext uri="{FF2B5EF4-FFF2-40B4-BE49-F238E27FC236}">
                <a16:creationId xmlns:a16="http://schemas.microsoft.com/office/drawing/2014/main" id="{BA355891-07E4-4A01-9A73-65538D31749A}"/>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pandas und Matplotlib vereinfachen Tabellenarbeit und Visualisierung</a:t>
            </a:r>
          </a:p>
        </p:txBody>
      </p:sp>
      <p:sp>
        <p:nvSpPr>
          <p:cNvPr id="7" name="Rectangle 6">
            <a:extLst>
              <a:ext uri="{FF2B5EF4-FFF2-40B4-BE49-F238E27FC236}">
                <a16:creationId xmlns:a16="http://schemas.microsoft.com/office/drawing/2014/main" id="{3DB56FEB-5D3F-49BE-9DE9-B0EEAEFC0C67}"/>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66</a:t>
            </a:r>
          </a:p>
        </p:txBody>
      </p:sp>
    </p:spTree>
    <p:extLst>
      <p:ext uri="{BB962C8B-B14F-4D97-AF65-F5344CB8AC3E}">
        <p14:creationId xmlns:p14="http://schemas.microsoft.com/office/powerpoint/2010/main" val="19354947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2D6AD67-C8EF-4ADE-AFA2-F91930237B1B}"/>
              </a:ext>
            </a:extLst>
          </p:cNvPr>
          <p:cNvSpPr>
            <a:spLocks noGrp="1"/>
          </p:cNvSpPr>
          <p:nvPr/>
        </p:nvSpPr>
        <p:spPr>
          <a:xfrm>
            <a:off x="1047750" y="523875"/>
            <a:ext cx="7477125" cy="809625"/>
          </a:xfrm>
          <a:prstGeom prst="rect">
            <a:avLst/>
          </a:prstGeom>
          <a:noFill/>
          <a:ln w="0">
            <a:noFill/>
          </a:ln>
        </p:spPr>
        <p:txBody>
          <a:bodyPr lIns="0" tIns="0" rIns="0" bIns="0">
            <a:noAutofit/>
          </a:bodyPr>
          <a:lstStyle>
            <a:defPPr>
              <a:defRPr sz="2400" b="1">
                <a:solidFill>
                  <a:srgbClr val="D50C2F"/>
                </a:solidFill>
                <a:latin typeface="Arial"/>
                <a:ea typeface="Arial"/>
                <a:cs typeface="Arial"/>
              </a:defRPr>
            </a:defPPr>
          </a:lstStyle>
          <a:p>
            <a:pPr>
              <a:defRPr sz="2400" b="1">
                <a:solidFill>
                  <a:srgbClr val="D50C2F"/>
                </a:solidFill>
                <a:latin typeface="Arial"/>
                <a:ea typeface="Arial"/>
                <a:cs typeface="Arial"/>
              </a:defRPr>
            </a:pPr>
            <a:r>
              <a:rPr sz="2400" b="1">
                <a:solidFill>
                  <a:srgbClr val="D50C2F"/>
                </a:solidFill>
                <a:latin typeface="Arial"/>
                <a:ea typeface="Arial"/>
                <a:cs typeface="Arial"/>
              </a:rPr>
              <a:t>Dokumentation und weitere Schritte</a:t>
            </a:r>
          </a:p>
        </p:txBody>
      </p:sp>
      <p:sp>
        <p:nvSpPr>
          <p:cNvPr id="2" name="Rectangle 1">
            <a:extLst>
              <a:ext uri="{FF2B5EF4-FFF2-40B4-BE49-F238E27FC236}">
                <a16:creationId xmlns:a16="http://schemas.microsoft.com/office/drawing/2014/main" id="{2A6F9DBB-18AC-443E-A317-D660E432DB01}"/>
              </a:ext>
            </a:extLst>
          </p:cNvPr>
          <p:cNvSpPr>
            <a:spLocks noGrp="1"/>
          </p:cNvSpPr>
          <p:nvPr/>
        </p:nvSpPr>
        <p:spPr>
          <a:xfrm>
            <a:off x="1047750" y="15621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Python: docs.python.org/3/tutorial</a:t>
            </a:r>
          </a:p>
        </p:txBody>
      </p:sp>
      <p:sp>
        <p:nvSpPr>
          <p:cNvPr id="3" name="Rectangle 2">
            <a:extLst>
              <a:ext uri="{FF2B5EF4-FFF2-40B4-BE49-F238E27FC236}">
                <a16:creationId xmlns:a16="http://schemas.microsoft.com/office/drawing/2014/main" id="{F2DA9CC9-E0B4-41B2-9EE5-E5401B2AC62F}"/>
              </a:ext>
            </a:extLst>
          </p:cNvPr>
          <p:cNvSpPr>
            <a:spLocks noGrp="1"/>
          </p:cNvSpPr>
          <p:nvPr/>
        </p:nvSpPr>
        <p:spPr>
          <a:xfrm>
            <a:off x="1047750" y="218122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Setup: code.visualstudio.com/docs/python/python-tutorial</a:t>
            </a:r>
          </a:p>
        </p:txBody>
      </p:sp>
      <p:sp>
        <p:nvSpPr>
          <p:cNvPr id="4" name="Rectangle 3">
            <a:extLst>
              <a:ext uri="{FF2B5EF4-FFF2-40B4-BE49-F238E27FC236}">
                <a16:creationId xmlns:a16="http://schemas.microsoft.com/office/drawing/2014/main" id="{F7F8B726-487B-489C-86E3-7FACF25CDDDC}"/>
              </a:ext>
            </a:extLst>
          </p:cNvPr>
          <p:cNvSpPr>
            <a:spLocks noGrp="1"/>
          </p:cNvSpPr>
          <p:nvPr/>
        </p:nvSpPr>
        <p:spPr>
          <a:xfrm>
            <a:off x="1047750" y="280035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Umgebungen: docs.python.org/3/library/venv.html</a:t>
            </a:r>
          </a:p>
        </p:txBody>
      </p:sp>
      <p:sp>
        <p:nvSpPr>
          <p:cNvPr id="5" name="Rectangle 4">
            <a:extLst>
              <a:ext uri="{FF2B5EF4-FFF2-40B4-BE49-F238E27FC236}">
                <a16:creationId xmlns:a16="http://schemas.microsoft.com/office/drawing/2014/main" id="{2CA7A78D-AF7A-457E-A344-E227EB89DEB3}"/>
              </a:ext>
            </a:extLst>
          </p:cNvPr>
          <p:cNvSpPr>
            <a:spLocks noGrp="1"/>
          </p:cNvSpPr>
          <p:nvPr/>
        </p:nvSpPr>
        <p:spPr>
          <a:xfrm>
            <a:off x="1047750" y="3419475"/>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Tabellen: pandas.pydata.org/docs/getting_started</a:t>
            </a:r>
          </a:p>
        </p:txBody>
      </p:sp>
      <p:sp>
        <p:nvSpPr>
          <p:cNvPr id="6" name="Rectangle 5">
            <a:extLst>
              <a:ext uri="{FF2B5EF4-FFF2-40B4-BE49-F238E27FC236}">
                <a16:creationId xmlns:a16="http://schemas.microsoft.com/office/drawing/2014/main" id="{464AB237-DADC-47AE-AC00-31C7627B35BA}"/>
              </a:ext>
            </a:extLst>
          </p:cNvPr>
          <p:cNvSpPr>
            <a:spLocks noGrp="1"/>
          </p:cNvSpPr>
          <p:nvPr/>
        </p:nvSpPr>
        <p:spPr>
          <a:xfrm>
            <a:off x="1047750" y="4038600"/>
            <a:ext cx="10382250" cy="400050"/>
          </a:xfrm>
          <a:prstGeom prst="rect">
            <a:avLst/>
          </a:prstGeom>
          <a:noFill/>
          <a:ln w="0">
            <a:noFill/>
          </a:ln>
        </p:spPr>
        <p:txBody>
          <a:bodyPr lIns="0" tIns="0" rIns="0" bIns="0">
            <a:noAutofit/>
          </a:bodyPr>
          <a:lstStyle>
            <a:defPPr>
              <a:defRPr sz="2100" b="0">
                <a:solidFill>
                  <a:srgbClr val="000000"/>
                </a:solidFill>
                <a:latin typeface="Arial"/>
                <a:ea typeface="Arial"/>
                <a:cs typeface="Arial"/>
              </a:defRPr>
            </a:defPPr>
          </a:lstStyle>
          <a:p>
            <a:pPr>
              <a:defRPr sz="2100" b="0">
                <a:solidFill>
                  <a:srgbClr val="000000"/>
                </a:solidFill>
                <a:latin typeface="Arial"/>
                <a:ea typeface="Arial"/>
                <a:cs typeface="Arial"/>
              </a:defRPr>
            </a:pPr>
            <a:r>
              <a:rPr sz="2100" b="0">
                <a:solidFill>
                  <a:srgbClr val="000000"/>
                </a:solidFill>
                <a:latin typeface="Arial"/>
                <a:ea typeface="Arial"/>
                <a:cs typeface="Arial"/>
              </a:rPr>
              <a:t>Grafiken: matplotlib.org/stable/users/explain/quick_start.html</a:t>
            </a:r>
          </a:p>
        </p:txBody>
      </p:sp>
      <p:sp>
        <p:nvSpPr>
          <p:cNvPr id="7" name="Rectangle 6">
            <a:extLst>
              <a:ext uri="{FF2B5EF4-FFF2-40B4-BE49-F238E27FC236}">
                <a16:creationId xmlns:a16="http://schemas.microsoft.com/office/drawing/2014/main" id="{7AC32823-9D53-4B39-A6E9-23BBA25BA0C3}"/>
              </a:ext>
            </a:extLst>
          </p:cNvPr>
          <p:cNvSpPr>
            <a:spLocks noGrp="1"/>
          </p:cNvSpPr>
          <p:nvPr/>
        </p:nvSpPr>
        <p:spPr>
          <a:xfrm>
            <a:off x="11430000" y="6429375"/>
            <a:ext cx="381000" cy="209550"/>
          </a:xfrm>
          <a:prstGeom prst="rect">
            <a:avLst/>
          </a:prstGeom>
          <a:noFill/>
          <a:ln w="0">
            <a:noFill/>
          </a:ln>
        </p:spPr>
        <p:txBody>
          <a:bodyPr lIns="0" tIns="0" rIns="0" bIns="0">
            <a:noAutofit/>
          </a:bodyPr>
          <a:lstStyle>
            <a:defPPr>
              <a:defRPr sz="1200" b="0">
                <a:solidFill>
                  <a:srgbClr val="6F6F6F"/>
                </a:solidFill>
                <a:latin typeface="Arial"/>
                <a:ea typeface="Arial"/>
                <a:cs typeface="Arial"/>
              </a:defRPr>
            </a:defPPr>
          </a:lstStyle>
          <a:p>
            <a:pPr>
              <a:defRPr sz="1200" b="0">
                <a:solidFill>
                  <a:srgbClr val="6F6F6F"/>
                </a:solidFill>
                <a:latin typeface="Arial"/>
                <a:ea typeface="Arial"/>
                <a:cs typeface="Arial"/>
              </a:defRPr>
            </a:pPr>
            <a:r>
              <a:rPr sz="1200" b="0">
                <a:solidFill>
                  <a:srgbClr val="6F6F6F"/>
                </a:solidFill>
                <a:latin typeface="Arial"/>
                <a:ea typeface="Arial"/>
                <a:cs typeface="Arial"/>
              </a:rPr>
              <a:t>67</a:t>
            </a:r>
          </a:p>
        </p:txBody>
      </p:sp>
    </p:spTree>
    <p:extLst>
      <p:ext uri="{BB962C8B-B14F-4D97-AF65-F5344CB8AC3E}">
        <p14:creationId xmlns:p14="http://schemas.microsoft.com/office/powerpoint/2010/main" val="1935494770"/>
      </p:ext>
    </p:extLst>
  </p:cSld>
  <p:clrMapOvr>
    <a:masterClrMapping/>
  </p:clrMapOvr>
</p:sld>
</file>

<file path=ppt/theme/theme1.xml><?xml version="1.0" encoding="utf-8"?>
<a:theme xmlns:a="http://schemas.openxmlformats.org/drawingml/2006/main" name="Folienmaster Standard PPT">
  <a:themeElements>
    <a:clrScheme name="HWR Berlin">
      <a:dk1>
        <a:srgbClr val="000000"/>
      </a:dk1>
      <a:lt1>
        <a:sysClr val="window" lastClr="FFFFFF"/>
      </a:lt1>
      <a:dk2>
        <a:srgbClr val="D50C2F"/>
      </a:dk2>
      <a:lt2>
        <a:srgbClr val="6E6E6E"/>
      </a:lt2>
      <a:accent1>
        <a:srgbClr val="002C48"/>
      </a:accent1>
      <a:accent2>
        <a:srgbClr val="661326"/>
      </a:accent2>
      <a:accent3>
        <a:srgbClr val="A96F21"/>
      </a:accent3>
      <a:accent4>
        <a:srgbClr val="004799"/>
      </a:accent4>
      <a:accent5>
        <a:srgbClr val="2E6E2B"/>
      </a:accent5>
      <a:accent6>
        <a:srgbClr val="005940"/>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WR Berli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olienmaster Standard PPT">
  <a:themeElements>
    <a:clrScheme name="HWR Berlin">
      <a:dk1>
        <a:srgbClr val="000000"/>
      </a:dk1>
      <a:lt1>
        <a:sysClr val="window" lastClr="FFFFFF"/>
      </a:lt1>
      <a:dk2>
        <a:srgbClr val="D50C2F"/>
      </a:dk2>
      <a:lt2>
        <a:srgbClr val="6E6E6E"/>
      </a:lt2>
      <a:accent1>
        <a:srgbClr val="002C48"/>
      </a:accent1>
      <a:accent2>
        <a:srgbClr val="661326"/>
      </a:accent2>
      <a:accent3>
        <a:srgbClr val="A96F21"/>
      </a:accent3>
      <a:accent4>
        <a:srgbClr val="004799"/>
      </a:accent4>
      <a:accent5>
        <a:srgbClr val="2E6E2B"/>
      </a:accent5>
      <a:accent6>
        <a:srgbClr val="005940"/>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WR Berli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6461</Words>
  <Application>Microsoft Macintosh PowerPoint</Application>
  <DocSecurity>0</DocSecurity>
  <PresentationFormat>Widescreen</PresentationFormat>
  <Paragraphs>676</Paragraphs>
  <Slides>67</Slides>
  <Notes>67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67</vt:i4>
      </vt:variant>
    </vt:vector>
  </HeadingPairs>
  <TitlesOfParts>
    <vt:vector size="71" baseType="lpstr">
      <vt:lpstr>Arial</vt:lpstr>
      <vt:lpstr>Courier New</vt:lpstr>
      <vt:lpstr>Wingdings</vt:lpstr>
      <vt:lpstr>Folienmaster Standard PPT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Schlesinger, Sebastian</cp:lastModifiedBy>
  <cp:revision>1</cp:revision>
  <dcterms:created xsi:type="dcterms:W3CDTF">2026-10-15T20:47:50Z</dcterms:created>
  <dcterms:modified xsi:type="dcterms:W3CDTF">2026-10-15T20:53:14Z</dcterms:modified>
</cp:coreProperties>
</file>